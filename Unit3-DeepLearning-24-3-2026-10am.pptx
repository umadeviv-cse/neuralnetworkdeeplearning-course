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0"/>
  </p:notesMasterIdLst>
  <p:handoutMasterIdLst>
    <p:handoutMasterId r:id="rId91"/>
  </p:handoutMasterIdLst>
  <p:sldIdLst>
    <p:sldId id="256" r:id="rId2"/>
    <p:sldId id="349" r:id="rId3"/>
    <p:sldId id="696" r:id="rId4"/>
    <p:sldId id="700" r:id="rId5"/>
    <p:sldId id="745" r:id="rId6"/>
    <p:sldId id="796" r:id="rId7"/>
    <p:sldId id="746" r:id="rId8"/>
    <p:sldId id="747" r:id="rId9"/>
    <p:sldId id="797" r:id="rId10"/>
    <p:sldId id="798" r:id="rId11"/>
    <p:sldId id="799" r:id="rId12"/>
    <p:sldId id="748" r:id="rId13"/>
    <p:sldId id="751" r:id="rId14"/>
    <p:sldId id="752" r:id="rId15"/>
    <p:sldId id="749" r:id="rId16"/>
    <p:sldId id="753" r:id="rId17"/>
    <p:sldId id="755" r:id="rId18"/>
    <p:sldId id="801" r:id="rId19"/>
    <p:sldId id="754" r:id="rId20"/>
    <p:sldId id="807" r:id="rId21"/>
    <p:sldId id="756" r:id="rId22"/>
    <p:sldId id="757" r:id="rId23"/>
    <p:sldId id="758" r:id="rId24"/>
    <p:sldId id="759" r:id="rId25"/>
    <p:sldId id="760" r:id="rId26"/>
    <p:sldId id="765" r:id="rId27"/>
    <p:sldId id="767" r:id="rId28"/>
    <p:sldId id="773" r:id="rId29"/>
    <p:sldId id="775" r:id="rId30"/>
    <p:sldId id="800" r:id="rId31"/>
    <p:sldId id="776" r:id="rId32"/>
    <p:sldId id="768" r:id="rId33"/>
    <p:sldId id="774" r:id="rId34"/>
    <p:sldId id="778" r:id="rId35"/>
    <p:sldId id="779" r:id="rId36"/>
    <p:sldId id="777" r:id="rId37"/>
    <p:sldId id="781" r:id="rId38"/>
    <p:sldId id="784" r:id="rId39"/>
    <p:sldId id="785" r:id="rId40"/>
    <p:sldId id="782" r:id="rId41"/>
    <p:sldId id="786" r:id="rId42"/>
    <p:sldId id="787" r:id="rId43"/>
    <p:sldId id="783" r:id="rId44"/>
    <p:sldId id="788" r:id="rId45"/>
    <p:sldId id="789" r:id="rId46"/>
    <p:sldId id="792" r:id="rId47"/>
    <p:sldId id="790" r:id="rId48"/>
    <p:sldId id="791" r:id="rId49"/>
    <p:sldId id="793" r:id="rId50"/>
    <p:sldId id="794" r:id="rId51"/>
    <p:sldId id="795" r:id="rId52"/>
    <p:sldId id="769" r:id="rId53"/>
    <p:sldId id="802" r:id="rId54"/>
    <p:sldId id="804" r:id="rId55"/>
    <p:sldId id="803" r:id="rId56"/>
    <p:sldId id="805" r:id="rId57"/>
    <p:sldId id="764" r:id="rId58"/>
    <p:sldId id="762" r:id="rId59"/>
    <p:sldId id="763" r:id="rId60"/>
    <p:sldId id="351" r:id="rId61"/>
    <p:sldId id="887" r:id="rId62"/>
    <p:sldId id="888" r:id="rId63"/>
    <p:sldId id="889" r:id="rId64"/>
    <p:sldId id="890" r:id="rId65"/>
    <p:sldId id="891" r:id="rId66"/>
    <p:sldId id="352" r:id="rId67"/>
    <p:sldId id="892" r:id="rId68"/>
    <p:sldId id="894" r:id="rId69"/>
    <p:sldId id="893" r:id="rId70"/>
    <p:sldId id="895" r:id="rId71"/>
    <p:sldId id="896" r:id="rId72"/>
    <p:sldId id="353" r:id="rId73"/>
    <p:sldId id="897" r:id="rId74"/>
    <p:sldId id="898" r:id="rId75"/>
    <p:sldId id="899" r:id="rId76"/>
    <p:sldId id="354" r:id="rId77"/>
    <p:sldId id="900" r:id="rId78"/>
    <p:sldId id="901" r:id="rId79"/>
    <p:sldId id="902" r:id="rId80"/>
    <p:sldId id="903" r:id="rId81"/>
    <p:sldId id="904" r:id="rId82"/>
    <p:sldId id="905" r:id="rId83"/>
    <p:sldId id="906" r:id="rId84"/>
    <p:sldId id="355" r:id="rId85"/>
    <p:sldId id="356" r:id="rId86"/>
    <p:sldId id="350" r:id="rId87"/>
    <p:sldId id="806" r:id="rId88"/>
    <p:sldId id="305"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3366"/>
    <a:srgbClr val="0000FF"/>
    <a:srgbClr val="FF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613" autoAdjust="0"/>
  </p:normalViewPr>
  <p:slideViewPr>
    <p:cSldViewPr>
      <p:cViewPr varScale="1">
        <p:scale>
          <a:sx n="90" d="100"/>
          <a:sy n="90" d="100"/>
        </p:scale>
        <p:origin x="1356" y="78"/>
      </p:cViewPr>
      <p:guideLst>
        <p:guide orient="horz" pos="2160"/>
        <p:guide pos="3840"/>
      </p:guideLst>
    </p:cSldViewPr>
  </p:slideViewPr>
  <p:notesTextViewPr>
    <p:cViewPr>
      <p:scale>
        <a:sx n="1" d="1"/>
        <a:sy n="1" d="1"/>
      </p:scale>
      <p:origin x="0" y="0"/>
    </p:cViewPr>
  </p:notesTextViewPr>
  <p:sorterViewPr>
    <p:cViewPr>
      <p:scale>
        <a:sx n="100" d="100"/>
        <a:sy n="100" d="100"/>
      </p:scale>
      <p:origin x="0" y="-1817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3/24/2026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3/24/2026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38D3E4-A11F-4202-B7F2-F7B0418B84A9}" type="slidenum">
              <a:rPr lang="en-US" smtClean="0"/>
              <a:t>3</a:t>
            </a:fld>
            <a:endParaRPr lang="en-US"/>
          </a:p>
        </p:txBody>
      </p:sp>
    </p:spTree>
    <p:extLst>
      <p:ext uri="{BB962C8B-B14F-4D97-AF65-F5344CB8AC3E}">
        <p14:creationId xmlns:p14="http://schemas.microsoft.com/office/powerpoint/2010/main" val="2673540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4</a:t>
            </a:fld>
            <a:endParaRPr lang="en-US">
              <a:solidFill>
                <a:prstClr val="black"/>
              </a:solidFill>
            </a:endParaRPr>
          </a:p>
        </p:txBody>
      </p:sp>
    </p:spTree>
    <p:extLst>
      <p:ext uri="{BB962C8B-B14F-4D97-AF65-F5344CB8AC3E}">
        <p14:creationId xmlns:p14="http://schemas.microsoft.com/office/powerpoint/2010/main" val="52468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6E9DA-9BB0-81EF-06B1-D882FE169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94C73-BE5E-0157-DC3C-4CC7ABC6F7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FECFFC4-946A-CF51-EAF4-071C07A2B4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BDA97-3418-7F57-90FC-35AEA3A6DD95}"/>
              </a:ext>
            </a:extLst>
          </p:cNvPr>
          <p:cNvSpPr>
            <a:spLocks noGrp="1"/>
          </p:cNvSpPr>
          <p:nvPr>
            <p:ph type="sldNum" sz="quarter" idx="10"/>
          </p:nvPr>
        </p:nvSpPr>
        <p:spPr/>
        <p:txBody>
          <a:bodyPr/>
          <a:lstStyle/>
          <a:p>
            <a:fld id="{C74CF1EF-08E9-4CAE-8B3C-D98EE6374704}" type="slidenum">
              <a:rPr lang="en-US" smtClean="0"/>
              <a:t>6</a:t>
            </a:fld>
            <a:endParaRPr lang="en-US"/>
          </a:p>
        </p:txBody>
      </p:sp>
    </p:spTree>
    <p:extLst>
      <p:ext uri="{BB962C8B-B14F-4D97-AF65-F5344CB8AC3E}">
        <p14:creationId xmlns:p14="http://schemas.microsoft.com/office/powerpoint/2010/main" val="152083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18</a:t>
            </a:fld>
            <a:endParaRPr lang="en-US"/>
          </a:p>
        </p:txBody>
      </p:sp>
    </p:spTree>
    <p:extLst>
      <p:ext uri="{BB962C8B-B14F-4D97-AF65-F5344CB8AC3E}">
        <p14:creationId xmlns:p14="http://schemas.microsoft.com/office/powerpoint/2010/main" val="1198664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modeling the data, a low bias and high variance scenario is referred to as overfitting. To handle this, regularization techniques trade more bias for less variance. Effective regularization is one that strikes the optimal balance between bias and variation, with the final result being a notable decrease in variance at the least possible cost to bias. This would imply low variation without significantly raising the bias value, to put it another way.</a:t>
            </a:r>
          </a:p>
          <a:p>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Additionally, Regularization orders possible models from weakest overfit to biggest and adds penalties to more complicated models. Regularization makes the assumption that the least weights could result in simpler models and help prevent overfitting.</a:t>
            </a:r>
          </a:p>
          <a:p>
            <a:r>
              <a:rPr lang="en-US" sz="1200" b="0" i="0" kern="1200" dirty="0">
                <a:solidFill>
                  <a:schemeClr val="tx1"/>
                </a:solidFill>
                <a:effectLst/>
                <a:latin typeface="+mn-lt"/>
                <a:ea typeface="+mn-ea"/>
                <a:cs typeface="+mn-cs"/>
              </a:rPr>
              <a:t>‍</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21</a:t>
            </a:fld>
            <a:endParaRPr lang="en-US"/>
          </a:p>
        </p:txBody>
      </p:sp>
    </p:spTree>
    <p:extLst>
      <p:ext uri="{BB962C8B-B14F-4D97-AF65-F5344CB8AC3E}">
        <p14:creationId xmlns:p14="http://schemas.microsoft.com/office/powerpoint/2010/main" val="3404418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rtl="0"/>
            <a:r>
              <a:rPr lang="en-US" b="0" i="0" dirty="0">
                <a:solidFill>
                  <a:srgbClr val="0A0A0A"/>
                </a:solidFill>
                <a:effectLst/>
                <a:latin typeface="Google Sans"/>
              </a:rPr>
              <a:t>where </a:t>
            </a:r>
          </a:p>
          <a:p>
            <a:r>
              <a:rPr lang="en-US" b="0" i="0" dirty="0">
                <a:solidFill>
                  <a:srgbClr val="0A0A0A"/>
                </a:solidFill>
                <a:effectLst/>
                <a:latin typeface="Google Sans"/>
              </a:rPr>
              <a:t> (lambda or alpha) controls the strength of the regularization.</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22</a:t>
            </a:fld>
            <a:endParaRPr lang="en-US"/>
          </a:p>
        </p:txBody>
      </p:sp>
    </p:spTree>
    <p:extLst>
      <p:ext uri="{BB962C8B-B14F-4D97-AF65-F5344CB8AC3E}">
        <p14:creationId xmlns:p14="http://schemas.microsoft.com/office/powerpoint/2010/main" val="267910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23</a:t>
            </a:fld>
            <a:endParaRPr lang="en-US"/>
          </a:p>
        </p:txBody>
      </p:sp>
    </p:spTree>
    <p:extLst>
      <p:ext uri="{BB962C8B-B14F-4D97-AF65-F5344CB8AC3E}">
        <p14:creationId xmlns:p14="http://schemas.microsoft.com/office/powerpoint/2010/main" val="3963317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lgn="l">
              <a:buNone/>
            </a:pP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800199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https://medium.com/the-ml-intuition/l1-vs-l2-regularization-vs-weight-decay-key-differences-every-ml-engineer-must-know-5f13625301cf</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25</a:t>
            </a:fld>
            <a:endParaRPr lang="en-US"/>
          </a:p>
        </p:txBody>
      </p:sp>
    </p:spTree>
    <p:extLst>
      <p:ext uri="{BB962C8B-B14F-4D97-AF65-F5344CB8AC3E}">
        <p14:creationId xmlns:p14="http://schemas.microsoft.com/office/powerpoint/2010/main" val="686855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91F9-9C66-56A2-045C-A7FB4C44B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A1463-171A-8EA3-B800-8CD6757C3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2F2276-AA2D-CEC9-B7FF-C4B7D04679E5}"/>
              </a:ext>
            </a:extLst>
          </p:cNvPr>
          <p:cNvSpPr>
            <a:spLocks noGrp="1"/>
          </p:cNvSpPr>
          <p:nvPr>
            <p:ph type="body" idx="1"/>
          </p:nvPr>
        </p:nvSpPr>
        <p:spPr/>
        <p:txBody>
          <a:bodyPr/>
          <a:lstStyle/>
          <a:p>
            <a:r>
              <a:rPr lang="en-US" dirty="0"/>
              <a:t>We can see that the addition of the weight decay term has modified the learning rule to multiplicatively shrink the weight vector by a constant factor on each step, just before performing the usual gradient update. This describes what happens in a single step</a:t>
            </a:r>
            <a:endParaRPr lang="en-IN" dirty="0"/>
          </a:p>
        </p:txBody>
      </p:sp>
      <p:sp>
        <p:nvSpPr>
          <p:cNvPr id="4" name="Slide Number Placeholder 3">
            <a:extLst>
              <a:ext uri="{FF2B5EF4-FFF2-40B4-BE49-F238E27FC236}">
                <a16:creationId xmlns:a16="http://schemas.microsoft.com/office/drawing/2014/main" id="{19D31EC1-6038-657B-2FAF-F2D9308CE76E}"/>
              </a:ext>
            </a:extLst>
          </p:cNvPr>
          <p:cNvSpPr>
            <a:spLocks noGrp="1"/>
          </p:cNvSpPr>
          <p:nvPr>
            <p:ph type="sldNum" sz="quarter" idx="5"/>
          </p:nvPr>
        </p:nvSpPr>
        <p:spPr/>
        <p:txBody>
          <a:bodyPr/>
          <a:lstStyle/>
          <a:p>
            <a:fld id="{C1EDAD17-33F0-4D65-82A5-1BBB03DED615}" type="slidenum">
              <a:rPr lang="en-US" smtClean="0"/>
              <a:t>30</a:t>
            </a:fld>
            <a:endParaRPr lang="en-US"/>
          </a:p>
        </p:txBody>
      </p:sp>
    </p:spTree>
    <p:extLst>
      <p:ext uri="{BB962C8B-B14F-4D97-AF65-F5344CB8AC3E}">
        <p14:creationId xmlns:p14="http://schemas.microsoft.com/office/powerpoint/2010/main" val="3268911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31</a:t>
            </a:fld>
            <a:endParaRPr lang="en-US"/>
          </a:p>
        </p:txBody>
      </p:sp>
    </p:spTree>
    <p:extLst>
      <p:ext uri="{BB962C8B-B14F-4D97-AF65-F5344CB8AC3E}">
        <p14:creationId xmlns:p14="http://schemas.microsoft.com/office/powerpoint/2010/main" val="1548702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w∗ → </a:t>
                </a:r>
                <a:r>
                  <a:rPr lang="en-IN" dirty="0" err="1"/>
                  <a:t>center</a:t>
                </a:r>
                <a:r>
                  <a:rPr lang="en-IN" dirty="0"/>
                  <a:t> (minimum point)</a:t>
                </a:r>
              </a:p>
              <a:p>
                <a14:m>
                  <m:oMath xmlns:m="http://schemas.openxmlformats.org/officeDocument/2006/math">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𝑤</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oMath>
                </a14:m>
                <a:r>
                  <a:rPr lang="ar-AE" dirty="0"/>
                  <a:t>→ </a:t>
                </a:r>
                <a:r>
                  <a:rPr lang="en-IN" dirty="0"/>
                  <a:t>displacement vector</a:t>
                </a:r>
              </a:p>
              <a:p>
                <a14:m>
                  <m:oMath xmlns:m="http://schemas.openxmlformats.org/officeDocument/2006/math">
                    <m:sSup>
                      <m:sSupPr>
                        <m:ctrlPr>
                          <a:rPr lang="ar-AE" sz="1200" i="1" kern="1200" smtClean="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oMath>
                </a14:m>
                <a:r>
                  <a:rPr lang="ar-AE" dirty="0"/>
                  <a:t>= </a:t>
                </a:r>
                <a:r>
                  <a:rPr lang="en-IN" dirty="0" err="1"/>
                  <a:t>center</a:t>
                </a:r>
                <a:r>
                  <a:rPr lang="en-IN" dirty="0"/>
                  <a:t> of a bowl</a:t>
                </a:r>
              </a:p>
              <a:p>
                <a14:m>
                  <m:oMath xmlns:m="http://schemas.openxmlformats.org/officeDocument/2006/math">
                    <m:r>
                      <a:rPr lang="en-IN" sz="1200" i="1" kern="1200">
                        <a:solidFill>
                          <a:schemeClr val="tx1"/>
                        </a:solidFill>
                        <a:latin typeface="Cambria Math" panose="02040503050406030204" pitchFamily="18" charset="0"/>
                        <a:ea typeface="+mn-ea"/>
                        <a:cs typeface="+mn-cs"/>
                      </a:rPr>
                      <m:t>𝑤</m:t>
                    </m:r>
                  </m:oMath>
                </a14:m>
                <a:r>
                  <a:rPr lang="en-IN" dirty="0"/>
                  <a:t>= your current position</a:t>
                </a:r>
              </a:p>
              <a:p>
                <a:endParaRPr lang="en-IN" dirty="0"/>
              </a:p>
            </p:txBody>
          </p:sp>
        </mc:Choice>
        <mc:Fallback xmlns="">
          <p:sp>
            <p:nvSpPr>
              <p:cNvPr id="3" name="Notes Placeholder 2"/>
              <p:cNvSpPr>
                <a:spLocks noGrp="1"/>
              </p:cNvSpPr>
              <p:nvPr>
                <p:ph type="body" idx="1"/>
              </p:nvPr>
            </p:nvSpPr>
            <p:spPr/>
            <p:txBody>
              <a:bodyPr/>
              <a:lstStyle/>
              <a:p>
                <a:r>
                  <a:rPr lang="en-IN" dirty="0"/>
                  <a:t>w∗ → </a:t>
                </a:r>
                <a:r>
                  <a:rPr lang="en-IN" dirty="0" err="1"/>
                  <a:t>center</a:t>
                </a:r>
                <a:r>
                  <a:rPr lang="en-IN" dirty="0"/>
                  <a:t> (minimum point)</a:t>
                </a:r>
              </a:p>
              <a:p>
                <a:r>
                  <a:rPr lang="ar-AE" sz="1200" i="0" kern="1200">
                    <a:solidFill>
                      <a:schemeClr val="tx1"/>
                    </a:solidFill>
                    <a:latin typeface="+mn-lt"/>
                    <a:ea typeface="+mn-ea"/>
                    <a:cs typeface="+mn-cs"/>
                  </a:rPr>
                  <a:t>(𝑤−𝑤^∗ )</a:t>
                </a:r>
                <a:r>
                  <a:rPr lang="ar-AE" dirty="0"/>
                  <a:t>→ </a:t>
                </a:r>
                <a:r>
                  <a:rPr lang="en-IN" dirty="0"/>
                  <a:t>displacement vector</a:t>
                </a:r>
              </a:p>
              <a:p>
                <a:r>
                  <a:rPr lang="ar-AE" sz="1200" i="0" kern="1200">
                    <a:solidFill>
                      <a:schemeClr val="tx1"/>
                    </a:solidFill>
                    <a:latin typeface="+mn-lt"/>
                    <a:ea typeface="+mn-ea"/>
                    <a:cs typeface="+mn-cs"/>
                  </a:rPr>
                  <a:t>𝑤^∗</a:t>
                </a:r>
                <a:r>
                  <a:rPr lang="ar-AE" dirty="0"/>
                  <a:t>= </a:t>
                </a:r>
                <a:r>
                  <a:rPr lang="en-IN" dirty="0" err="1"/>
                  <a:t>center</a:t>
                </a:r>
                <a:r>
                  <a:rPr lang="en-IN" dirty="0"/>
                  <a:t> of a bowl</a:t>
                </a:r>
              </a:p>
              <a:p>
                <a:r>
                  <a:rPr lang="en-IN" sz="1200" i="0" kern="1200">
                    <a:solidFill>
                      <a:schemeClr val="tx1"/>
                    </a:solidFill>
                    <a:latin typeface="+mn-lt"/>
                    <a:ea typeface="+mn-ea"/>
                    <a:cs typeface="+mn-cs"/>
                  </a:rPr>
                  <a:t>𝑤</a:t>
                </a:r>
                <a:r>
                  <a:rPr lang="en-IN" dirty="0"/>
                  <a:t>= your current position</a:t>
                </a:r>
              </a:p>
              <a:p>
                <a:endParaRPr lang="en-IN" dirty="0"/>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977010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At minimum: </a:t>
                </a:r>
                <a14:m>
                  <m:oMath xmlns:m="http://schemas.openxmlformats.org/officeDocument/2006/math">
                    <m:r>
                      <a:rPr lang="en-IN" sz="1200" b="0" i="0" kern="1200" smtClean="0">
                        <a:solidFill>
                          <a:schemeClr val="tx1"/>
                        </a:solidFill>
                        <a:latin typeface="Cambria Math" panose="02040503050406030204" pitchFamily="18" charset="0"/>
                        <a:ea typeface="+mn-ea"/>
                        <a:cs typeface="+mn-cs"/>
                      </a:rPr>
                      <m:t> </m:t>
                    </m:r>
                    <m:r>
                      <m:rPr>
                        <m:sty m:val="p"/>
                      </m:rP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𝐽</m:t>
                    </m:r>
                    <m:d>
                      <m:dPr>
                        <m:ctrlPr>
                          <a:rPr lang="ar-AE" sz="1200" i="1" kern="1200">
                            <a:solidFill>
                              <a:schemeClr val="tx1"/>
                            </a:solidFill>
                            <a:latin typeface="Cambria Math" panose="02040503050406030204" pitchFamily="18" charset="0"/>
                            <a:ea typeface="+mn-ea"/>
                            <a:cs typeface="+mn-cs"/>
                          </a:rPr>
                        </m:ctrlPr>
                      </m:dPr>
                      <m:e>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a14:m>
                <a:endParaRPr lang="ar-AE" dirty="0"/>
              </a:p>
              <a:p>
                <a:endParaRPr lang="en-IN" dirty="0"/>
              </a:p>
            </p:txBody>
          </p:sp>
        </mc:Choice>
        <mc:Fallback xmlns="">
          <p:sp>
            <p:nvSpPr>
              <p:cNvPr id="3" name="Notes Placeholder 2"/>
              <p:cNvSpPr>
                <a:spLocks noGrp="1"/>
              </p:cNvSpPr>
              <p:nvPr>
                <p:ph type="body" idx="1"/>
              </p:nvPr>
            </p:nvSpPr>
            <p:spPr/>
            <p:txBody>
              <a:bodyPr/>
              <a:lstStyle/>
              <a:p>
                <a:r>
                  <a:rPr lang="en-IN" dirty="0"/>
                  <a:t>At minimum: </a:t>
                </a:r>
                <a:r>
                  <a:rPr lang="en-IN" sz="1200" b="0" i="0" kern="1200">
                    <a:solidFill>
                      <a:schemeClr val="tx1"/>
                    </a:solidFill>
                    <a:latin typeface="Cambria Math" panose="02040503050406030204" pitchFamily="18" charset="0"/>
                    <a:ea typeface="+mn-ea"/>
                    <a:cs typeface="+mn-cs"/>
                  </a:rPr>
                  <a:t> </a:t>
                </a:r>
                <a:r>
                  <a:rPr lang="en-IN" sz="1200" i="0" kern="1200">
                    <a:solidFill>
                      <a:schemeClr val="tx1"/>
                    </a:solidFill>
                    <a:latin typeface="+mn-lt"/>
                    <a:ea typeface="+mn-ea"/>
                    <a:cs typeface="+mn-cs"/>
                  </a:rPr>
                  <a:t>∇𝐽</a:t>
                </a:r>
                <a:r>
                  <a:rPr lang="ar-AE" sz="1200" i="0" kern="1200">
                    <a:solidFill>
                      <a:schemeClr val="tx1"/>
                    </a:solidFill>
                    <a:latin typeface="+mn-lt"/>
                    <a:ea typeface="+mn-ea"/>
                    <a:cs typeface="+mn-cs"/>
                  </a:rPr>
                  <a:t>(𝑤^∗ )=0</a:t>
                </a:r>
                <a:endParaRPr lang="ar-AE" dirty="0"/>
              </a:p>
              <a:p>
                <a:endParaRPr lang="en-IN" dirty="0"/>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34</a:t>
            </a:fld>
            <a:endParaRPr lang="en-US"/>
          </a:p>
        </p:txBody>
      </p:sp>
    </p:spTree>
    <p:extLst>
      <p:ext uri="{BB962C8B-B14F-4D97-AF65-F5344CB8AC3E}">
        <p14:creationId xmlns:p14="http://schemas.microsoft.com/office/powerpoint/2010/main" val="22959230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463E-7E9D-0BFA-8A04-BF710087C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D35A8-F27E-F02D-F042-0DE50FC59CEC}"/>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38F657C-7835-1CB8-8200-65B08D6BF189}"/>
                  </a:ext>
                </a:extLst>
              </p:cNvPr>
              <p:cNvSpPr>
                <a:spLocks noGrp="1"/>
              </p:cNvSpPr>
              <p:nvPr>
                <p:ph type="body" idx="1"/>
              </p:nvPr>
            </p:nvSpPr>
            <p:spPr/>
            <p:txBody>
              <a:bodyPr/>
              <a:lstStyle/>
              <a:p>
                <a:r>
                  <a:rPr lang="en-IN" dirty="0"/>
                  <a:t>At minimum: </a:t>
                </a:r>
                <a14:m>
                  <m:oMath xmlns:m="http://schemas.openxmlformats.org/officeDocument/2006/math">
                    <m:r>
                      <a:rPr lang="en-IN" sz="1200" b="0" i="0" kern="1200" smtClean="0">
                        <a:solidFill>
                          <a:schemeClr val="tx1"/>
                        </a:solidFill>
                        <a:latin typeface="Cambria Math" panose="02040503050406030204" pitchFamily="18" charset="0"/>
                        <a:ea typeface="+mn-ea"/>
                        <a:cs typeface="+mn-cs"/>
                      </a:rPr>
                      <m:t> </m:t>
                    </m:r>
                    <m:r>
                      <m:rPr>
                        <m:sty m:val="p"/>
                      </m:rP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𝐽</m:t>
                    </m:r>
                    <m:d>
                      <m:dPr>
                        <m:ctrlPr>
                          <a:rPr lang="ar-AE" sz="1200" i="1" kern="1200">
                            <a:solidFill>
                              <a:schemeClr val="tx1"/>
                            </a:solidFill>
                            <a:latin typeface="Cambria Math" panose="02040503050406030204" pitchFamily="18" charset="0"/>
                            <a:ea typeface="+mn-ea"/>
                            <a:cs typeface="+mn-cs"/>
                          </a:rPr>
                        </m:ctrlPr>
                      </m:dPr>
                      <m:e>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a14:m>
                <a:endParaRPr lang="ar-AE" dirty="0"/>
              </a:p>
              <a:p>
                <a:endParaRPr lang="en-IN" dirty="0"/>
              </a:p>
            </p:txBody>
          </p:sp>
        </mc:Choice>
        <mc:Fallback xmlns="">
          <p:sp>
            <p:nvSpPr>
              <p:cNvPr id="3" name="Notes Placeholder 2">
                <a:extLst>
                  <a:ext uri="{FF2B5EF4-FFF2-40B4-BE49-F238E27FC236}">
                    <a16:creationId xmlns:a16="http://schemas.microsoft.com/office/drawing/2014/main" id="{D38F657C-7835-1CB8-8200-65B08D6BF189}"/>
                  </a:ext>
                </a:extLst>
              </p:cNvPr>
              <p:cNvSpPr>
                <a:spLocks noGrp="1"/>
              </p:cNvSpPr>
              <p:nvPr>
                <p:ph type="body" idx="1"/>
              </p:nvPr>
            </p:nvSpPr>
            <p:spPr/>
            <p:txBody>
              <a:bodyPr/>
              <a:lstStyle/>
              <a:p>
                <a:r>
                  <a:rPr lang="en-IN" dirty="0"/>
                  <a:t>At minimum: </a:t>
                </a:r>
                <a:r>
                  <a:rPr lang="en-IN" sz="1200" b="0" i="0" kern="1200">
                    <a:solidFill>
                      <a:schemeClr val="tx1"/>
                    </a:solidFill>
                    <a:latin typeface="Cambria Math" panose="02040503050406030204" pitchFamily="18" charset="0"/>
                    <a:ea typeface="+mn-ea"/>
                    <a:cs typeface="+mn-cs"/>
                  </a:rPr>
                  <a:t> </a:t>
                </a:r>
                <a:r>
                  <a:rPr lang="en-IN" sz="1200" i="0" kern="1200">
                    <a:solidFill>
                      <a:schemeClr val="tx1"/>
                    </a:solidFill>
                    <a:latin typeface="+mn-lt"/>
                    <a:ea typeface="+mn-ea"/>
                    <a:cs typeface="+mn-cs"/>
                  </a:rPr>
                  <a:t>∇𝐽</a:t>
                </a:r>
                <a:r>
                  <a:rPr lang="ar-AE" sz="1200" i="0" kern="1200">
                    <a:solidFill>
                      <a:schemeClr val="tx1"/>
                    </a:solidFill>
                    <a:latin typeface="+mn-lt"/>
                    <a:ea typeface="+mn-ea"/>
                    <a:cs typeface="+mn-cs"/>
                  </a:rPr>
                  <a:t>(𝑤^∗ )=0</a:t>
                </a:r>
                <a:endParaRPr lang="ar-AE" dirty="0"/>
              </a:p>
              <a:p>
                <a:endParaRPr lang="en-IN" dirty="0"/>
              </a:p>
            </p:txBody>
          </p:sp>
        </mc:Fallback>
      </mc:AlternateContent>
      <p:sp>
        <p:nvSpPr>
          <p:cNvPr id="4" name="Slide Number Placeholder 3">
            <a:extLst>
              <a:ext uri="{FF2B5EF4-FFF2-40B4-BE49-F238E27FC236}">
                <a16:creationId xmlns:a16="http://schemas.microsoft.com/office/drawing/2014/main" id="{3CA60E0F-FE1B-850A-4BF7-5C5B68DB8DB3}"/>
              </a:ext>
            </a:extLst>
          </p:cNvPr>
          <p:cNvSpPr>
            <a:spLocks noGrp="1"/>
          </p:cNvSpPr>
          <p:nvPr>
            <p:ph type="sldNum" sz="quarter" idx="5"/>
          </p:nvPr>
        </p:nvSpPr>
        <p:spPr/>
        <p:txBody>
          <a:bodyPr/>
          <a:lstStyle/>
          <a:p>
            <a:fld id="{C1EDAD17-33F0-4D65-82A5-1BBB03DED615}" type="slidenum">
              <a:rPr lang="en-US" smtClean="0"/>
              <a:t>35</a:t>
            </a:fld>
            <a:endParaRPr lang="en-US"/>
          </a:p>
        </p:txBody>
      </p:sp>
    </p:spTree>
    <p:extLst>
      <p:ext uri="{BB962C8B-B14F-4D97-AF65-F5344CB8AC3E}">
        <p14:creationId xmlns:p14="http://schemas.microsoft.com/office/powerpoint/2010/main" val="2859192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36</a:t>
            </a:fld>
            <a:endParaRPr lang="en-US"/>
          </a:p>
        </p:txBody>
      </p:sp>
    </p:spTree>
    <p:extLst>
      <p:ext uri="{BB962C8B-B14F-4D97-AF65-F5344CB8AC3E}">
        <p14:creationId xmlns:p14="http://schemas.microsoft.com/office/powerpoint/2010/main" val="249247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44</a:t>
            </a:fld>
            <a:endParaRPr lang="en-US"/>
          </a:p>
        </p:txBody>
      </p:sp>
    </p:spTree>
    <p:extLst>
      <p:ext uri="{BB962C8B-B14F-4D97-AF65-F5344CB8AC3E}">
        <p14:creationId xmlns:p14="http://schemas.microsoft.com/office/powerpoint/2010/main" val="3928243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1850283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48</a:t>
            </a:fld>
            <a:endParaRPr lang="en-US"/>
          </a:p>
        </p:txBody>
      </p:sp>
    </p:spTree>
    <p:extLst>
      <p:ext uri="{BB962C8B-B14F-4D97-AF65-F5344CB8AC3E}">
        <p14:creationId xmlns:p14="http://schemas.microsoft.com/office/powerpoint/2010/main" val="1920327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73189-8536-E1F0-718B-4AFFC347D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67FD5-52CE-86C7-F73F-ED78FA09BE4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EBBE311-1604-9694-3090-E8391CBDEF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D44944-D30D-049F-36AE-1EB9A7C34C1A}"/>
              </a:ext>
            </a:extLst>
          </p:cNvPr>
          <p:cNvSpPr>
            <a:spLocks noGrp="1"/>
          </p:cNvSpPr>
          <p:nvPr>
            <p:ph type="sldNum" sz="quarter" idx="5"/>
          </p:nvPr>
        </p:nvSpPr>
        <p:spPr/>
        <p:txBody>
          <a:bodyPr/>
          <a:lstStyle/>
          <a:p>
            <a:fld id="{C1EDAD17-33F0-4D65-82A5-1BBB03DED615}" type="slidenum">
              <a:rPr lang="en-US" smtClean="0"/>
              <a:t>49</a:t>
            </a:fld>
            <a:endParaRPr lang="en-US"/>
          </a:p>
        </p:txBody>
      </p:sp>
    </p:spTree>
    <p:extLst>
      <p:ext uri="{BB962C8B-B14F-4D97-AF65-F5344CB8AC3E}">
        <p14:creationId xmlns:p14="http://schemas.microsoft.com/office/powerpoint/2010/main" val="2569947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70B9C-E89A-AA93-EA1A-5E2E5034B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E830A-058F-16F1-7FF9-53747C8F4DD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6E8F1C-ACFE-CEC6-C425-F5203930BB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F9A08E-763E-58DF-506D-F6C5E84E2927}"/>
              </a:ext>
            </a:extLst>
          </p:cNvPr>
          <p:cNvSpPr>
            <a:spLocks noGrp="1"/>
          </p:cNvSpPr>
          <p:nvPr>
            <p:ph type="sldNum" sz="quarter" idx="5"/>
          </p:nvPr>
        </p:nvSpPr>
        <p:spPr/>
        <p:txBody>
          <a:bodyPr/>
          <a:lstStyle/>
          <a:p>
            <a:fld id="{C1EDAD17-33F0-4D65-82A5-1BBB03DED615}" type="slidenum">
              <a:rPr lang="en-US" smtClean="0"/>
              <a:t>50</a:t>
            </a:fld>
            <a:endParaRPr lang="en-US"/>
          </a:p>
        </p:txBody>
      </p:sp>
    </p:spTree>
    <p:extLst>
      <p:ext uri="{BB962C8B-B14F-4D97-AF65-F5344CB8AC3E}">
        <p14:creationId xmlns:p14="http://schemas.microsoft.com/office/powerpoint/2010/main" val="32917492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3677075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55</a:t>
            </a:fld>
            <a:endParaRPr lang="en-US"/>
          </a:p>
        </p:txBody>
      </p:sp>
    </p:spTree>
    <p:extLst>
      <p:ext uri="{BB962C8B-B14F-4D97-AF65-F5344CB8AC3E}">
        <p14:creationId xmlns:p14="http://schemas.microsoft.com/office/powerpoint/2010/main" val="2037406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CA0D6-0A5B-808C-4A3A-FD203430B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F9FD6-2418-120C-B09D-53CDF82CC30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8DE5F4-4A6C-F5B0-8BAC-08F43E39FB1B}"/>
              </a:ext>
            </a:extLst>
          </p:cNvPr>
          <p:cNvSpPr>
            <a:spLocks noGrp="1"/>
          </p:cNvSpPr>
          <p:nvPr>
            <p:ph type="body" idx="1"/>
          </p:nvPr>
        </p:nvSpPr>
        <p:spPr/>
        <p:txBody>
          <a:bodyPr/>
          <a:lstStyle/>
          <a:p>
            <a:r>
              <a:rPr lang="en-IN" dirty="0"/>
              <a:t>https://medium.com/the-ml-intuition/l1-vs-l2-regularization-vs-weight-decay-key-differences-every-ml-engineer-must-know-5f13625301cf</a:t>
            </a:r>
          </a:p>
        </p:txBody>
      </p:sp>
      <p:sp>
        <p:nvSpPr>
          <p:cNvPr id="4" name="Slide Number Placeholder 3">
            <a:extLst>
              <a:ext uri="{FF2B5EF4-FFF2-40B4-BE49-F238E27FC236}">
                <a16:creationId xmlns:a16="http://schemas.microsoft.com/office/drawing/2014/main" id="{42D1E1F8-CEC9-36DE-D357-F754F9E1CE91}"/>
              </a:ext>
            </a:extLst>
          </p:cNvPr>
          <p:cNvSpPr>
            <a:spLocks noGrp="1"/>
          </p:cNvSpPr>
          <p:nvPr>
            <p:ph type="sldNum" sz="quarter" idx="5"/>
          </p:nvPr>
        </p:nvSpPr>
        <p:spPr/>
        <p:txBody>
          <a:bodyPr/>
          <a:lstStyle/>
          <a:p>
            <a:fld id="{C1EDAD17-33F0-4D65-82A5-1BBB03DED615}" type="slidenum">
              <a:rPr lang="en-US" smtClean="0"/>
              <a:t>57</a:t>
            </a:fld>
            <a:endParaRPr lang="en-US"/>
          </a:p>
        </p:txBody>
      </p:sp>
    </p:spTree>
    <p:extLst>
      <p:ext uri="{BB962C8B-B14F-4D97-AF65-F5344CB8AC3E}">
        <p14:creationId xmlns:p14="http://schemas.microsoft.com/office/powerpoint/2010/main" val="35794710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In </a:t>
                </a:r>
                <a14:m>
                  <m:oMath xmlns:m="http://schemas.openxmlformats.org/officeDocument/2006/math">
                    <m: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𝑤</m:t>
                    </m:r>
                    <m:sSubSup>
                      <m:sSubSupPr>
                        <m:ctrlPr>
                          <a:rPr lang="ar-AE" sz="1200" i="1" kern="1200">
                            <a:solidFill>
                              <a:schemeClr val="tx1"/>
                            </a:solidFill>
                            <a:latin typeface="Cambria Math" panose="02040503050406030204" pitchFamily="18" charset="0"/>
                            <a:ea typeface="+mn-ea"/>
                            <a:cs typeface="+mn-cs"/>
                          </a:rPr>
                        </m:ctrlPr>
                      </m:sSubSupPr>
                      <m:e>
                        <m:r>
                          <a:rPr lang="ar-AE" sz="1200" i="0" kern="1200">
                            <a:solidFill>
                              <a:schemeClr val="tx1"/>
                            </a:solidFill>
                            <a:latin typeface="Cambria Math" panose="02040503050406030204" pitchFamily="18" charset="0"/>
                            <a:ea typeface="+mn-ea"/>
                            <a:cs typeface="+mn-cs"/>
                          </a:rPr>
                          <m:t>∥</m:t>
                        </m:r>
                      </m:e>
                      <m:sub>
                        <m:r>
                          <a:rPr lang="ar-AE" sz="1200" i="0" kern="1200">
                            <a:solidFill>
                              <a:schemeClr val="tx1"/>
                            </a:solidFill>
                            <a:latin typeface="Cambria Math" panose="02040503050406030204" pitchFamily="18" charset="0"/>
                            <a:ea typeface="+mn-ea"/>
                            <a:cs typeface="+mn-cs"/>
                          </a:rPr>
                          <m:t>2</m:t>
                        </m:r>
                      </m:sub>
                      <m:sup>
                        <m:r>
                          <a:rPr lang="ar-AE" sz="1200" i="0" kern="1200">
                            <a:solidFill>
                              <a:schemeClr val="tx1"/>
                            </a:solidFill>
                            <a:latin typeface="Cambria Math" panose="02040503050406030204" pitchFamily="18" charset="0"/>
                            <a:ea typeface="+mn-ea"/>
                            <a:cs typeface="+mn-cs"/>
                          </a:rPr>
                          <m:t>2</m:t>
                        </m:r>
                      </m:sup>
                    </m:sSubSup>
                  </m:oMath>
                </a14:m>
                <a:r>
                  <a:rPr lang="ar-AE" dirty="0"/>
                  <a:t>, </a:t>
                </a:r>
                <a:r>
                  <a:rPr lang="en-IN" dirty="0"/>
                  <a:t>the subscript 2 denotes the L2 norm, and the exponent 2 means squaring it, resulting in the sum of squared weights.</a:t>
                </a:r>
              </a:p>
            </p:txBody>
          </p:sp>
        </mc:Choice>
        <mc:Fallback xmlns="">
          <p:sp>
            <p:nvSpPr>
              <p:cNvPr id="3" name="Notes Placeholder 2"/>
              <p:cNvSpPr>
                <a:spLocks noGrp="1"/>
              </p:cNvSpPr>
              <p:nvPr>
                <p:ph type="body" idx="1"/>
              </p:nvPr>
            </p:nvSpPr>
            <p:spPr/>
            <p:txBody>
              <a:bodyPr/>
              <a:lstStyle/>
              <a:p>
                <a:r>
                  <a:rPr lang="en-IN" dirty="0"/>
                  <a:t>In </a:t>
                </a:r>
                <a:r>
                  <a:rPr lang="en-IN" sz="1200" i="0" kern="1200">
                    <a:solidFill>
                      <a:schemeClr val="tx1"/>
                    </a:solidFill>
                    <a:latin typeface="+mn-lt"/>
                    <a:ea typeface="+mn-ea"/>
                    <a:cs typeface="+mn-cs"/>
                  </a:rPr>
                  <a:t>∥𝑤</a:t>
                </a:r>
                <a:r>
                  <a:rPr lang="ar-AE" sz="1200" i="0" kern="1200">
                    <a:solidFill>
                      <a:schemeClr val="tx1"/>
                    </a:solidFill>
                    <a:latin typeface="+mn-lt"/>
                    <a:ea typeface="+mn-ea"/>
                    <a:cs typeface="+mn-cs"/>
                  </a:rPr>
                  <a:t>∥_2^2</a:t>
                </a:r>
                <a:r>
                  <a:rPr lang="ar-AE" dirty="0"/>
                  <a:t>, </a:t>
                </a:r>
                <a:r>
                  <a:rPr lang="en-IN" dirty="0"/>
                  <a:t>the subscript 2 denotes the L2 norm, and the exponent 2 means squaring it, resulting in the sum of squared weights.</a:t>
                </a:r>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58</a:t>
            </a:fld>
            <a:endParaRPr lang="en-US"/>
          </a:p>
        </p:txBody>
      </p:sp>
    </p:spTree>
    <p:extLst>
      <p:ext uri="{BB962C8B-B14F-4D97-AF65-F5344CB8AC3E}">
        <p14:creationId xmlns:p14="http://schemas.microsoft.com/office/powerpoint/2010/main" val="3821478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a:t>https://medium.com/analytics-vidhya/regularization-understanding-l1-and-l2-regularization-for-deep-learning-a7b9e4a409bf</a:t>
            </a:r>
          </a:p>
        </p:txBody>
      </p:sp>
      <p:sp>
        <p:nvSpPr>
          <p:cNvPr id="4" name="Slide Number Placeholder 3"/>
          <p:cNvSpPr>
            <a:spLocks noGrp="1"/>
          </p:cNvSpPr>
          <p:nvPr>
            <p:ph type="sldNum" sz="quarter" idx="5"/>
          </p:nvPr>
        </p:nvSpPr>
        <p:spPr/>
        <p:txBody>
          <a:bodyPr/>
          <a:lstStyle/>
          <a:p>
            <a:fld id="{C1EDAD17-33F0-4D65-82A5-1BBB03DED615}" type="slidenum">
              <a:rPr lang="en-US" smtClean="0"/>
              <a:t>59</a:t>
            </a:fld>
            <a:endParaRPr lang="en-US"/>
          </a:p>
        </p:txBody>
      </p:sp>
    </p:spTree>
    <p:extLst>
      <p:ext uri="{BB962C8B-B14F-4D97-AF65-F5344CB8AC3E}">
        <p14:creationId xmlns:p14="http://schemas.microsoft.com/office/powerpoint/2010/main" val="1172892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https://www.comet.com/site/blog/4-techniques-to-tackle-overfitting-in-deep-neural-networks/</a:t>
            </a:r>
          </a:p>
        </p:txBody>
      </p:sp>
      <p:sp>
        <p:nvSpPr>
          <p:cNvPr id="4" name="Slide Number Placeholder 3"/>
          <p:cNvSpPr>
            <a:spLocks noGrp="1"/>
          </p:cNvSpPr>
          <p:nvPr>
            <p:ph type="sldNum" sz="quarter" idx="5"/>
          </p:nvPr>
        </p:nvSpPr>
        <p:spPr/>
        <p:txBody>
          <a:bodyPr/>
          <a:lstStyle/>
          <a:p>
            <a:fld id="{C1EDAD17-33F0-4D65-82A5-1BBB03DED615}" type="slidenum">
              <a:rPr lang="en-US" smtClean="0"/>
              <a:t>61</a:t>
            </a:fld>
            <a:endParaRPr lang="en-US"/>
          </a:p>
        </p:txBody>
      </p:sp>
    </p:spTree>
    <p:extLst>
      <p:ext uri="{BB962C8B-B14F-4D97-AF65-F5344CB8AC3E}">
        <p14:creationId xmlns:p14="http://schemas.microsoft.com/office/powerpoint/2010/main" val="33092919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67</a:t>
            </a:fld>
            <a:endParaRPr lang="en-US"/>
          </a:p>
        </p:txBody>
      </p:sp>
    </p:spTree>
    <p:extLst>
      <p:ext uri="{BB962C8B-B14F-4D97-AF65-F5344CB8AC3E}">
        <p14:creationId xmlns:p14="http://schemas.microsoft.com/office/powerpoint/2010/main" val="39812170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68</a:t>
            </a:fld>
            <a:endParaRPr lang="en-US"/>
          </a:p>
        </p:txBody>
      </p:sp>
    </p:spTree>
    <p:extLst>
      <p:ext uri="{BB962C8B-B14F-4D97-AF65-F5344CB8AC3E}">
        <p14:creationId xmlns:p14="http://schemas.microsoft.com/office/powerpoint/2010/main" val="32662128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69</a:t>
            </a:fld>
            <a:endParaRPr lang="en-US"/>
          </a:p>
        </p:txBody>
      </p:sp>
    </p:spTree>
    <p:extLst>
      <p:ext uri="{BB962C8B-B14F-4D97-AF65-F5344CB8AC3E}">
        <p14:creationId xmlns:p14="http://schemas.microsoft.com/office/powerpoint/2010/main" val="14904931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70</a:t>
            </a:fld>
            <a:endParaRPr lang="en-US"/>
          </a:p>
        </p:txBody>
      </p:sp>
    </p:spTree>
    <p:extLst>
      <p:ext uri="{BB962C8B-B14F-4D97-AF65-F5344CB8AC3E}">
        <p14:creationId xmlns:p14="http://schemas.microsoft.com/office/powerpoint/2010/main" val="41884587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71</a:t>
            </a:fld>
            <a:endParaRPr lang="en-US"/>
          </a:p>
        </p:txBody>
      </p:sp>
    </p:spTree>
    <p:extLst>
      <p:ext uri="{BB962C8B-B14F-4D97-AF65-F5344CB8AC3E}">
        <p14:creationId xmlns:p14="http://schemas.microsoft.com/office/powerpoint/2010/main" val="36290439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74</a:t>
            </a:fld>
            <a:endParaRPr lang="en-US"/>
          </a:p>
        </p:txBody>
      </p:sp>
    </p:spTree>
    <p:extLst>
      <p:ext uri="{BB962C8B-B14F-4D97-AF65-F5344CB8AC3E}">
        <p14:creationId xmlns:p14="http://schemas.microsoft.com/office/powerpoint/2010/main" val="921941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88</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24 March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24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24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24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24 March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24 March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24 March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24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24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24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24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24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24 March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6.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4.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5.png"/><Relationship Id="rId7"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6.png"/><Relationship Id="rId9" Type="http://schemas.openxmlformats.org/officeDocument/2006/relationships/image" Target="../media/image53.png"/></Relationships>
</file>

<file path=ppt/slides/_rels/slide3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5.png"/><Relationship Id="rId7"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4.png"/></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61.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9.png"/><Relationship Id="rId7" Type="http://schemas.openxmlformats.org/officeDocument/2006/relationships/image" Target="../media/image61.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7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5.png"/></Relationships>
</file>

<file path=ppt/slides/_rels/slide45.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46.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2.png"/><Relationship Id="rId7" Type="http://schemas.openxmlformats.org/officeDocument/2006/relationships/image" Target="../media/image85.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1.png"/><Relationship Id="rId9" Type="http://schemas.openxmlformats.org/officeDocument/2006/relationships/image" Target="../media/image87.png"/></Relationships>
</file>

<file path=ppt/slides/_rels/slide4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49.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2.png"/><Relationship Id="rId7" Type="http://schemas.openxmlformats.org/officeDocument/2006/relationships/image" Target="../media/image9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9" Type="http://schemas.openxmlformats.org/officeDocument/2006/relationships/image" Target="../media/image99.png"/></Relationships>
</file>

<file path=ppt/slides/_rels/slide50.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5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5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Unit-3</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Deep Learning: </a:t>
            </a:r>
            <a:r>
              <a:rPr lang="en-US" sz="2000" dirty="0">
                <a:solidFill>
                  <a:srgbClr val="262626"/>
                </a:solidFill>
                <a:latin typeface="Inter"/>
              </a:rPr>
              <a:t>Introduction, Parameter Norm Penalties - L2 Parameter Regularization, Dataset Augmentation, Semi-Supervised Learning, Multi-Task Learning, Early Stopping, Parameter Tying and Parameter Sharing, Sparse Representations, Dropout</a:t>
            </a:r>
            <a:endParaRPr lang="en-IN" sz="3600" dirty="0"/>
          </a:p>
          <a:p>
            <a:pPr algn="just"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Deep Learning ?</a:t>
            </a:r>
            <a:endParaRPr lang="en-US" dirty="0"/>
          </a:p>
        </p:txBody>
      </p:sp>
      <p:pic>
        <p:nvPicPr>
          <p:cNvPr id="7" name="Image1"/>
          <p:cNvPicPr/>
          <p:nvPr/>
        </p:nvPicPr>
        <p:blipFill>
          <a:blip r:embed="rId3">
            <a:lum/>
            <a:alphaModFix/>
          </a:blip>
          <a:srcRect/>
          <a:stretch>
            <a:fillRect/>
          </a:stretch>
        </p:blipFill>
        <p:spPr>
          <a:xfrm>
            <a:off x="2514600" y="1236094"/>
            <a:ext cx="6869748" cy="3699510"/>
          </a:xfrm>
          <a:prstGeom prst="rect">
            <a:avLst/>
          </a:prstGeom>
        </p:spPr>
      </p:pic>
      <p:sp>
        <p:nvSpPr>
          <p:cNvPr id="3" name="TextBox 2"/>
          <p:cNvSpPr txBox="1"/>
          <p:nvPr/>
        </p:nvSpPr>
        <p:spPr>
          <a:xfrm>
            <a:off x="2209801" y="3471295"/>
            <a:ext cx="1640193" cy="646331"/>
          </a:xfrm>
          <a:prstGeom prst="rect">
            <a:avLst/>
          </a:prstGeom>
          <a:noFill/>
        </p:spPr>
        <p:txBody>
          <a:bodyPr wrap="none" rtlCol="0">
            <a:spAutoFit/>
          </a:bodyPr>
          <a:lstStyle/>
          <a:p>
            <a:r>
              <a:rPr lang="en-US" dirty="0"/>
              <a:t>(Artificial </a:t>
            </a:r>
          </a:p>
          <a:p>
            <a:r>
              <a:rPr lang="en-US" dirty="0"/>
              <a:t>Intelligence)</a:t>
            </a:r>
          </a:p>
        </p:txBody>
      </p:sp>
      <p:sp>
        <p:nvSpPr>
          <p:cNvPr id="9" name="TextBox 8"/>
          <p:cNvSpPr txBox="1"/>
          <p:nvPr/>
        </p:nvSpPr>
        <p:spPr>
          <a:xfrm>
            <a:off x="5725622" y="4944070"/>
            <a:ext cx="4942379" cy="923330"/>
          </a:xfrm>
          <a:prstGeom prst="rect">
            <a:avLst/>
          </a:prstGeom>
          <a:noFill/>
        </p:spPr>
        <p:txBody>
          <a:bodyPr wrap="none" rtlCol="0">
            <a:spAutoFit/>
          </a:bodyPr>
          <a:lstStyle/>
          <a:p>
            <a:r>
              <a:rPr lang="en-IN" b="1" dirty="0"/>
              <a:t>Deep Learning </a:t>
            </a:r>
            <a:r>
              <a:rPr lang="en-IN" dirty="0"/>
              <a:t>is a category of</a:t>
            </a:r>
          </a:p>
          <a:p>
            <a:r>
              <a:rPr lang="en-IN" dirty="0"/>
              <a:t>machine learning models (=algorithms)</a:t>
            </a:r>
          </a:p>
          <a:p>
            <a:r>
              <a:rPr lang="en-IN" dirty="0"/>
              <a:t>that use </a:t>
            </a:r>
            <a:r>
              <a:rPr lang="en-IN" b="1" dirty="0">
                <a:solidFill>
                  <a:srgbClr val="0000FF"/>
                </a:solidFill>
              </a:rPr>
              <a:t>multi-layer neural networks</a:t>
            </a:r>
            <a:r>
              <a:rPr lang="en-IN" dirty="0"/>
              <a:t>.</a:t>
            </a:r>
            <a:endParaRPr lang="en-US" dirty="0"/>
          </a:p>
        </p:txBody>
      </p:sp>
      <p:sp>
        <p:nvSpPr>
          <p:cNvPr id="8" name="Slide Number Placeholder 7">
            <a:extLst>
              <a:ext uri="{FF2B5EF4-FFF2-40B4-BE49-F238E27FC236}">
                <a16:creationId xmlns:a16="http://schemas.microsoft.com/office/drawing/2014/main" id="{75FCF6DB-BF13-2B27-9767-61A4A00AE48B}"/>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810116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Difference between</a:t>
            </a:r>
          </a:p>
        </p:txBody>
      </p:sp>
      <p:sp>
        <p:nvSpPr>
          <p:cNvPr id="9219" name="Rectangle 3"/>
          <p:cNvSpPr>
            <a:spLocks noGrp="1" noChangeArrowheads="1"/>
          </p:cNvSpPr>
          <p:nvPr>
            <p:ph type="subTitle" idx="1"/>
          </p:nvPr>
        </p:nvSpPr>
        <p:spPr>
          <a:xfrm>
            <a:off x="1981200" y="3200400"/>
            <a:ext cx="8382000" cy="1600200"/>
          </a:xfrm>
        </p:spPr>
        <p:txBody>
          <a:bodyPr/>
          <a:lstStyle/>
          <a:p>
            <a:pPr algn="ctr">
              <a:lnSpc>
                <a:spcPct val="80000"/>
              </a:lnSpc>
            </a:pPr>
            <a:r>
              <a:rPr lang="en-US" altLang="en-US" dirty="0"/>
              <a:t>Traditional Machine Learning (ML)</a:t>
            </a:r>
          </a:p>
          <a:p>
            <a:pPr algn="ctr">
              <a:lnSpc>
                <a:spcPct val="80000"/>
              </a:lnSpc>
            </a:pPr>
            <a:r>
              <a:rPr lang="en-US" altLang="en-US" dirty="0"/>
              <a:t>And</a:t>
            </a:r>
          </a:p>
          <a:p>
            <a:pPr algn="ctr">
              <a:lnSpc>
                <a:spcPct val="80000"/>
              </a:lnSpc>
            </a:pPr>
            <a:r>
              <a:rPr lang="en-US" altLang="en-US" dirty="0"/>
              <a:t>Deep Learning (DL)</a:t>
            </a:r>
          </a:p>
        </p:txBody>
      </p:sp>
      <p:sp>
        <p:nvSpPr>
          <p:cNvPr id="5" name="AutoShape 2" descr="Image result for active learning classroom strategies"/>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Slide Number Placeholder 6">
            <a:extLst>
              <a:ext uri="{FF2B5EF4-FFF2-40B4-BE49-F238E27FC236}">
                <a16:creationId xmlns:a16="http://schemas.microsoft.com/office/drawing/2014/main" id="{13740D88-6618-16F2-2A6D-EE3CD1E7300D}"/>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429130209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Difference between Traditional ML and DL</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0"/>
            <a:ext cx="7957766"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Content Placeholder 6"/>
          <p:cNvGraphicFramePr>
            <a:graphicFrameLocks/>
          </p:cNvGraphicFramePr>
          <p:nvPr/>
        </p:nvGraphicFramePr>
        <p:xfrm>
          <a:off x="2057400" y="4704080"/>
          <a:ext cx="8001000" cy="101092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370840">
                <a:tc>
                  <a:txBody>
                    <a:bodyPr/>
                    <a:lstStyle/>
                    <a:p>
                      <a:pPr algn="ctr"/>
                      <a:r>
                        <a:rPr lang="en-US" b="1" dirty="0">
                          <a:solidFill>
                            <a:schemeClr val="tx1"/>
                          </a:solidFill>
                        </a:rPr>
                        <a:t>Traditional Machine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chemeClr val="tx1"/>
                          </a:solidFill>
                        </a:rPr>
                        <a:t>Deep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1800" b="0" i="0" kern="1200" dirty="0">
                          <a:solidFill>
                            <a:schemeClr val="dk1"/>
                          </a:solidFill>
                          <a:effectLst/>
                          <a:latin typeface="+mn-lt"/>
                          <a:ea typeface="+mn-ea"/>
                          <a:cs typeface="+mn-cs"/>
                        </a:rPr>
                        <a:t>We</a:t>
                      </a:r>
                      <a:r>
                        <a:rPr lang="en-US" sz="1800" b="0" i="0" kern="1200" baseline="0" dirty="0">
                          <a:solidFill>
                            <a:schemeClr val="dk1"/>
                          </a:solidFill>
                          <a:effectLst/>
                          <a:latin typeface="+mn-lt"/>
                          <a:ea typeface="+mn-ea"/>
                          <a:cs typeface="+mn-cs"/>
                        </a:rPr>
                        <a:t> need to </a:t>
                      </a:r>
                      <a:r>
                        <a:rPr lang="en-US" sz="1800" b="0" i="0" kern="1200" dirty="0">
                          <a:solidFill>
                            <a:schemeClr val="dk1"/>
                          </a:solidFill>
                          <a:effectLst/>
                          <a:latin typeface="+mn-lt"/>
                          <a:ea typeface="+mn-ea"/>
                          <a:cs typeface="+mn-cs"/>
                        </a:rPr>
                        <a:t>hand-craft the features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i="0" kern="1200" dirty="0">
                          <a:solidFill>
                            <a:schemeClr val="dk1"/>
                          </a:solidFill>
                          <a:effectLst/>
                          <a:latin typeface="+mn-lt"/>
                          <a:ea typeface="+mn-ea"/>
                          <a:cs typeface="+mn-cs"/>
                        </a:rPr>
                        <a:t>Feature engineering is done automatically </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3" name="Slide Number Placeholder 2">
            <a:extLst>
              <a:ext uri="{FF2B5EF4-FFF2-40B4-BE49-F238E27FC236}">
                <a16:creationId xmlns:a16="http://schemas.microsoft.com/office/drawing/2014/main" id="{02651765-A4EF-5F4F-5E29-9063D8F22473}"/>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546369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C3BF-C39D-F5B3-37B6-8C0B2F6238DF}"/>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B6D4E1-2078-6FEC-4414-089982403147}"/>
              </a:ext>
            </a:extLst>
          </p:cNvPr>
          <p:cNvSpPr>
            <a:spLocks noGrp="1" noChangeArrowheads="1"/>
          </p:cNvSpPr>
          <p:nvPr>
            <p:ph type="ctrTitle"/>
          </p:nvPr>
        </p:nvSpPr>
        <p:spPr/>
        <p:txBody>
          <a:bodyPr/>
          <a:lstStyle/>
          <a:p>
            <a:pPr eaLnBrk="1" hangingPunct="1"/>
            <a:r>
              <a:rPr lang="en-US" altLang="en-US" sz="2800" dirty="0"/>
              <a:t>Unit-3</a:t>
            </a:r>
          </a:p>
        </p:txBody>
      </p:sp>
      <p:sp>
        <p:nvSpPr>
          <p:cNvPr id="9219" name="Rectangle 3">
            <a:extLst>
              <a:ext uri="{FF2B5EF4-FFF2-40B4-BE49-F238E27FC236}">
                <a16:creationId xmlns:a16="http://schemas.microsoft.com/office/drawing/2014/main" id="{63B29DCA-83F1-8950-3AEA-F649B71B3583}"/>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Deep Learning: </a:t>
            </a:r>
            <a:r>
              <a:rPr lang="en-US" sz="2000" dirty="0">
                <a:solidFill>
                  <a:srgbClr val="0000CC"/>
                </a:solidFill>
                <a:latin typeface="Inter"/>
              </a:rPr>
              <a:t>Introduction, Parameter Norm Penalties - L2 Parameter Regularization, </a:t>
            </a:r>
            <a:r>
              <a:rPr lang="en-US" sz="2000" dirty="0">
                <a:solidFill>
                  <a:srgbClr val="262626"/>
                </a:solidFill>
                <a:latin typeface="Inter"/>
              </a:rPr>
              <a:t>Dataset Augmentation, Semi-Supervised Learning, Multi-Task Learning, Early Stopping, Parameter Tying and Parameter Sharing, Sparse Representations, Dropout</a:t>
            </a:r>
            <a:endParaRPr lang="en-IN" sz="3600" dirty="0"/>
          </a:p>
          <a:p>
            <a:pPr algn="just"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7D79AE95-A7B8-64EB-8F97-8514F4A89D87}"/>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181866072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6B642-0001-4440-A963-D67A2151F1AE}"/>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CDC5F708-A330-4811-BA47-01573B7A6F82}"/>
              </a:ext>
            </a:extLst>
          </p:cNvPr>
          <p:cNvSpPr>
            <a:spLocks noGrp="1"/>
          </p:cNvSpPr>
          <p:nvPr>
            <p:ph idx="1"/>
          </p:nvPr>
        </p:nvSpPr>
        <p:spPr/>
        <p:txBody>
          <a:bodyPr/>
          <a:lstStyle/>
          <a:p>
            <a:pPr marL="0" indent="0">
              <a:buNone/>
            </a:pPr>
            <a:r>
              <a:rPr lang="en-US" dirty="0"/>
              <a:t>Bias, Variance, Overfitting, Underfitting</a:t>
            </a:r>
            <a:endParaRPr lang="en-IN" dirty="0"/>
          </a:p>
        </p:txBody>
      </p:sp>
      <p:sp>
        <p:nvSpPr>
          <p:cNvPr id="5" name="Slide Number Placeholder 4">
            <a:extLst>
              <a:ext uri="{FF2B5EF4-FFF2-40B4-BE49-F238E27FC236}">
                <a16:creationId xmlns:a16="http://schemas.microsoft.com/office/drawing/2014/main" id="{0980CAFF-715F-4FE4-FBA1-D5E9A5016EDA}"/>
              </a:ext>
            </a:extLst>
          </p:cNvPr>
          <p:cNvSpPr>
            <a:spLocks noGrp="1"/>
          </p:cNvSpPr>
          <p:nvPr>
            <p:ph type="sldNum" sz="quarter" idx="12"/>
          </p:nvPr>
        </p:nvSpPr>
        <p:spPr/>
        <p:txBody>
          <a:bodyPr/>
          <a:lstStyle/>
          <a:p>
            <a:fld id="{BB2CE0DE-867F-455F-B20B-96D381B4AB71}" type="slidenum">
              <a:rPr lang="en-US" smtClean="0"/>
              <a:t>7</a:t>
            </a:fld>
            <a:endParaRPr lang="en-US"/>
          </a:p>
        </p:txBody>
      </p:sp>
    </p:spTree>
    <p:extLst>
      <p:ext uri="{BB962C8B-B14F-4D97-AF65-F5344CB8AC3E}">
        <p14:creationId xmlns:p14="http://schemas.microsoft.com/office/powerpoint/2010/main" val="1513346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D8BD76F7-E86F-4D40-8210-ED4EFD52AF9A}"/>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4E756512-6007-4253-B778-6C054702CD69}"/>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4D3CF752-D9C2-D2BF-BDB4-86E849D8D379}"/>
              </a:ext>
            </a:extLst>
          </p:cNvPr>
          <p:cNvSpPr txBox="1"/>
          <p:nvPr/>
        </p:nvSpPr>
        <p:spPr>
          <a:xfrm>
            <a:off x="247768" y="4731870"/>
            <a:ext cx="11878188" cy="369332"/>
          </a:xfrm>
          <a:prstGeom prst="rect">
            <a:avLst/>
          </a:prstGeom>
          <a:noFill/>
        </p:spPr>
        <p:txBody>
          <a:bodyPr wrap="none" rtlCol="0">
            <a:spAutoFit/>
          </a:bodyPr>
          <a:lstStyle/>
          <a:p>
            <a:r>
              <a:rPr lang="en-US" b="1" dirty="0"/>
              <a:t>Bias: </a:t>
            </a:r>
            <a:r>
              <a:rPr lang="en-US" dirty="0"/>
              <a:t>Inability of machine Learning (ML) model to truly capture the relationship of the training data.</a:t>
            </a:r>
          </a:p>
        </p:txBody>
      </p:sp>
      <p:sp>
        <p:nvSpPr>
          <p:cNvPr id="3" name="Slide Number Placeholder 2">
            <a:extLst>
              <a:ext uri="{FF2B5EF4-FFF2-40B4-BE49-F238E27FC236}">
                <a16:creationId xmlns:a16="http://schemas.microsoft.com/office/drawing/2014/main" id="{76F35898-F3D3-6EE9-7174-20278CCEEDFC}"/>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3857759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C2F67-7B7D-A64C-D6D1-26051AD9B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4FA0D-FD80-CCAD-7710-5E128F99EDED}"/>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F349CC5A-84FF-9273-F587-D6B7D7E39638}"/>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A770EBB0-D964-892D-66C4-8065E1600F6F}"/>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29E4A273-D6C9-391C-8678-3EA0C6A9A9CE}"/>
              </a:ext>
            </a:extLst>
          </p:cNvPr>
          <p:cNvSpPr txBox="1"/>
          <p:nvPr/>
        </p:nvSpPr>
        <p:spPr>
          <a:xfrm>
            <a:off x="247768" y="4731870"/>
            <a:ext cx="11218520" cy="584775"/>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p:txBody>
      </p:sp>
      <p:sp>
        <p:nvSpPr>
          <p:cNvPr id="3" name="TextBox 2">
            <a:extLst>
              <a:ext uri="{FF2B5EF4-FFF2-40B4-BE49-F238E27FC236}">
                <a16:creationId xmlns:a16="http://schemas.microsoft.com/office/drawing/2014/main" id="{EBB12844-DB09-3DF4-3808-E0DBECFDE1EA}"/>
              </a:ext>
            </a:extLst>
          </p:cNvPr>
          <p:cNvSpPr txBox="1"/>
          <p:nvPr/>
        </p:nvSpPr>
        <p:spPr>
          <a:xfrm>
            <a:off x="1600200" y="3288269"/>
            <a:ext cx="1274708" cy="369332"/>
          </a:xfrm>
          <a:prstGeom prst="rect">
            <a:avLst/>
          </a:prstGeom>
          <a:noFill/>
        </p:spPr>
        <p:txBody>
          <a:bodyPr wrap="none" rtlCol="0">
            <a:spAutoFit/>
          </a:bodyPr>
          <a:lstStyle/>
          <a:p>
            <a:r>
              <a:rPr lang="en-IN" dirty="0"/>
              <a:t>High Bias</a:t>
            </a:r>
          </a:p>
        </p:txBody>
      </p:sp>
      <p:sp>
        <p:nvSpPr>
          <p:cNvPr id="7" name="TextBox 6">
            <a:extLst>
              <a:ext uri="{FF2B5EF4-FFF2-40B4-BE49-F238E27FC236}">
                <a16:creationId xmlns:a16="http://schemas.microsoft.com/office/drawing/2014/main" id="{91D3E388-A625-1F0F-3D43-13AF6D85355F}"/>
              </a:ext>
            </a:extLst>
          </p:cNvPr>
          <p:cNvSpPr txBox="1"/>
          <p:nvPr/>
        </p:nvSpPr>
        <p:spPr>
          <a:xfrm>
            <a:off x="8783692" y="3288269"/>
            <a:ext cx="1204176" cy="369332"/>
          </a:xfrm>
          <a:prstGeom prst="rect">
            <a:avLst/>
          </a:prstGeom>
          <a:noFill/>
        </p:spPr>
        <p:txBody>
          <a:bodyPr wrap="none" rtlCol="0">
            <a:spAutoFit/>
          </a:bodyPr>
          <a:lstStyle/>
          <a:p>
            <a:r>
              <a:rPr lang="en-IN" dirty="0"/>
              <a:t>Low Bias</a:t>
            </a:r>
          </a:p>
        </p:txBody>
      </p:sp>
      <p:sp>
        <p:nvSpPr>
          <p:cNvPr id="8" name="Slide Number Placeholder 7">
            <a:extLst>
              <a:ext uri="{FF2B5EF4-FFF2-40B4-BE49-F238E27FC236}">
                <a16:creationId xmlns:a16="http://schemas.microsoft.com/office/drawing/2014/main" id="{5DA4ECAF-6DED-F7D7-0BEE-2CAD3C822CB4}"/>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99314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34BEB-A975-9625-C847-76067D527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6678C-0411-1996-B35C-5173F16C0678}"/>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FEB3F93B-15CA-83AA-3176-07E04699F8B7}"/>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6E533A09-3546-0FD6-154A-D71A36FA86A5}"/>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34E07AA9-E8F1-4676-0C38-EF54241BBA1F}"/>
              </a:ext>
            </a:extLst>
          </p:cNvPr>
          <p:cNvSpPr txBox="1"/>
          <p:nvPr/>
        </p:nvSpPr>
        <p:spPr>
          <a:xfrm>
            <a:off x="247768" y="4731870"/>
            <a:ext cx="11218520" cy="1077218"/>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a:p>
            <a:r>
              <a:rPr lang="en-US" sz="1600" b="1" dirty="0"/>
              <a:t>Overfitting: </a:t>
            </a:r>
            <a:r>
              <a:rPr lang="en-US" sz="1600" dirty="0"/>
              <a:t>ML model of training data is performing well but  on test data it is not doing well.</a:t>
            </a:r>
          </a:p>
          <a:p>
            <a:r>
              <a:rPr lang="en-US" sz="1600" b="1" dirty="0"/>
              <a:t>Underfitting:</a:t>
            </a:r>
            <a:r>
              <a:rPr lang="en-US" sz="1600" dirty="0"/>
              <a:t> ML model is not capturing the relationship in the training data.</a:t>
            </a:r>
            <a:endParaRPr lang="en-IN" sz="1600" dirty="0"/>
          </a:p>
        </p:txBody>
      </p:sp>
      <p:sp>
        <p:nvSpPr>
          <p:cNvPr id="3" name="TextBox 2">
            <a:extLst>
              <a:ext uri="{FF2B5EF4-FFF2-40B4-BE49-F238E27FC236}">
                <a16:creationId xmlns:a16="http://schemas.microsoft.com/office/drawing/2014/main" id="{637D6245-5053-6FCC-11E8-4C15B0EF2D3E}"/>
              </a:ext>
            </a:extLst>
          </p:cNvPr>
          <p:cNvSpPr txBox="1"/>
          <p:nvPr/>
        </p:nvSpPr>
        <p:spPr>
          <a:xfrm>
            <a:off x="1447800" y="3258234"/>
            <a:ext cx="1696618" cy="646331"/>
          </a:xfrm>
          <a:prstGeom prst="rect">
            <a:avLst/>
          </a:prstGeom>
          <a:noFill/>
        </p:spPr>
        <p:txBody>
          <a:bodyPr wrap="none" rtlCol="0">
            <a:spAutoFit/>
          </a:bodyPr>
          <a:lstStyle/>
          <a:p>
            <a:r>
              <a:rPr lang="en-IN" dirty="0"/>
              <a:t>High Bias</a:t>
            </a:r>
          </a:p>
          <a:p>
            <a:r>
              <a:rPr lang="en-IN" dirty="0"/>
              <a:t>Low variance</a:t>
            </a:r>
          </a:p>
        </p:txBody>
      </p:sp>
      <p:sp>
        <p:nvSpPr>
          <p:cNvPr id="7" name="TextBox 6">
            <a:extLst>
              <a:ext uri="{FF2B5EF4-FFF2-40B4-BE49-F238E27FC236}">
                <a16:creationId xmlns:a16="http://schemas.microsoft.com/office/drawing/2014/main" id="{1A2709E1-6794-43C3-20C5-C64B3AD581C5}"/>
              </a:ext>
            </a:extLst>
          </p:cNvPr>
          <p:cNvSpPr txBox="1"/>
          <p:nvPr/>
        </p:nvSpPr>
        <p:spPr>
          <a:xfrm>
            <a:off x="8783692" y="3288269"/>
            <a:ext cx="1781193" cy="646331"/>
          </a:xfrm>
          <a:prstGeom prst="rect">
            <a:avLst/>
          </a:prstGeom>
          <a:noFill/>
        </p:spPr>
        <p:txBody>
          <a:bodyPr wrap="none" rtlCol="0">
            <a:spAutoFit/>
          </a:bodyPr>
          <a:lstStyle/>
          <a:p>
            <a:r>
              <a:rPr lang="en-IN" dirty="0"/>
              <a:t>Low Bias</a:t>
            </a:r>
          </a:p>
          <a:p>
            <a:r>
              <a:rPr lang="en-IN" dirty="0"/>
              <a:t>High Variance</a:t>
            </a:r>
          </a:p>
        </p:txBody>
      </p:sp>
      <p:sp>
        <p:nvSpPr>
          <p:cNvPr id="8" name="Slide Number Placeholder 7">
            <a:extLst>
              <a:ext uri="{FF2B5EF4-FFF2-40B4-BE49-F238E27FC236}">
                <a16:creationId xmlns:a16="http://schemas.microsoft.com/office/drawing/2014/main" id="{D962CDC1-B69F-D13B-312A-F0DA74CC93A2}"/>
              </a:ext>
            </a:extLst>
          </p:cNvPr>
          <p:cNvSpPr>
            <a:spLocks noGrp="1"/>
          </p:cNvSpPr>
          <p:nvPr>
            <p:ph type="sldNum" sz="quarter" idx="12"/>
          </p:nvPr>
        </p:nvSpPr>
        <p:spPr/>
        <p:txBody>
          <a:bodyPr/>
          <a:lstStyle/>
          <a:p>
            <a:fld id="{BB2CE0DE-867F-455F-B20B-96D381B4AB71}" type="slidenum">
              <a:rPr lang="en-US" smtClean="0"/>
              <a:t>10</a:t>
            </a:fld>
            <a:endParaRPr lang="en-US"/>
          </a:p>
        </p:txBody>
      </p:sp>
    </p:spTree>
    <p:extLst>
      <p:ext uri="{BB962C8B-B14F-4D97-AF65-F5344CB8AC3E}">
        <p14:creationId xmlns:p14="http://schemas.microsoft.com/office/powerpoint/2010/main" val="179397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D7A30-D0FE-D72D-95EF-7CD898E58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9E928-60E4-8F7C-908F-0C9940C1A45F}"/>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9BC7F31F-1D23-3043-5C3E-965ADFDDC3BB}"/>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0BAAC968-A325-F897-B373-55306F419277}"/>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93A535C1-7660-6B48-4EBC-155A166D0E8C}"/>
              </a:ext>
            </a:extLst>
          </p:cNvPr>
          <p:cNvSpPr txBox="1"/>
          <p:nvPr/>
        </p:nvSpPr>
        <p:spPr>
          <a:xfrm>
            <a:off x="247768" y="4731870"/>
            <a:ext cx="11218520" cy="1077218"/>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a:p>
            <a:r>
              <a:rPr lang="en-US" sz="1600" b="1" dirty="0"/>
              <a:t>Overfitting: </a:t>
            </a:r>
            <a:r>
              <a:rPr lang="en-US" sz="1600" dirty="0"/>
              <a:t>ML model of training data is performing well but  on test data it is not doing well.</a:t>
            </a:r>
          </a:p>
          <a:p>
            <a:r>
              <a:rPr lang="en-US" sz="1600" b="1" dirty="0"/>
              <a:t>Underfitting:</a:t>
            </a:r>
            <a:r>
              <a:rPr lang="en-US" sz="1600" dirty="0"/>
              <a:t> ML model is not capturing the relationship in the training data.</a:t>
            </a:r>
            <a:endParaRPr lang="en-IN" sz="1600" dirty="0"/>
          </a:p>
        </p:txBody>
      </p:sp>
      <p:sp>
        <p:nvSpPr>
          <p:cNvPr id="3" name="TextBox 2">
            <a:extLst>
              <a:ext uri="{FF2B5EF4-FFF2-40B4-BE49-F238E27FC236}">
                <a16:creationId xmlns:a16="http://schemas.microsoft.com/office/drawing/2014/main" id="{DF609F42-C345-5C8C-BA90-D64874F4DCF9}"/>
              </a:ext>
            </a:extLst>
          </p:cNvPr>
          <p:cNvSpPr txBox="1"/>
          <p:nvPr/>
        </p:nvSpPr>
        <p:spPr>
          <a:xfrm>
            <a:off x="1447800" y="3258234"/>
            <a:ext cx="1696618" cy="646331"/>
          </a:xfrm>
          <a:prstGeom prst="rect">
            <a:avLst/>
          </a:prstGeom>
          <a:noFill/>
        </p:spPr>
        <p:txBody>
          <a:bodyPr wrap="none" rtlCol="0">
            <a:spAutoFit/>
          </a:bodyPr>
          <a:lstStyle/>
          <a:p>
            <a:r>
              <a:rPr lang="en-IN" dirty="0"/>
              <a:t>High Bias</a:t>
            </a:r>
          </a:p>
          <a:p>
            <a:r>
              <a:rPr lang="en-IN" dirty="0"/>
              <a:t>Low variance</a:t>
            </a:r>
          </a:p>
        </p:txBody>
      </p:sp>
      <p:sp>
        <p:nvSpPr>
          <p:cNvPr id="7" name="TextBox 6">
            <a:extLst>
              <a:ext uri="{FF2B5EF4-FFF2-40B4-BE49-F238E27FC236}">
                <a16:creationId xmlns:a16="http://schemas.microsoft.com/office/drawing/2014/main" id="{B2DA8BE1-7900-63AE-88E6-A92F455739F6}"/>
              </a:ext>
            </a:extLst>
          </p:cNvPr>
          <p:cNvSpPr txBox="1"/>
          <p:nvPr/>
        </p:nvSpPr>
        <p:spPr>
          <a:xfrm>
            <a:off x="8783692" y="3288269"/>
            <a:ext cx="1781193" cy="646331"/>
          </a:xfrm>
          <a:prstGeom prst="rect">
            <a:avLst/>
          </a:prstGeom>
          <a:noFill/>
        </p:spPr>
        <p:txBody>
          <a:bodyPr wrap="none" rtlCol="0">
            <a:spAutoFit/>
          </a:bodyPr>
          <a:lstStyle/>
          <a:p>
            <a:r>
              <a:rPr lang="en-IN" dirty="0"/>
              <a:t>Low Bias</a:t>
            </a:r>
          </a:p>
          <a:p>
            <a:r>
              <a:rPr lang="en-IN" dirty="0"/>
              <a:t>High Variance</a:t>
            </a:r>
          </a:p>
        </p:txBody>
      </p:sp>
      <p:sp>
        <p:nvSpPr>
          <p:cNvPr id="8" name="TextBox 7">
            <a:extLst>
              <a:ext uri="{FF2B5EF4-FFF2-40B4-BE49-F238E27FC236}">
                <a16:creationId xmlns:a16="http://schemas.microsoft.com/office/drawing/2014/main" id="{8F45BE9F-C189-EC84-8844-6EB781068C6F}"/>
              </a:ext>
            </a:extLst>
          </p:cNvPr>
          <p:cNvSpPr txBox="1"/>
          <p:nvPr/>
        </p:nvSpPr>
        <p:spPr>
          <a:xfrm>
            <a:off x="5172882" y="3241301"/>
            <a:ext cx="1696618" cy="646331"/>
          </a:xfrm>
          <a:prstGeom prst="rect">
            <a:avLst/>
          </a:prstGeom>
          <a:noFill/>
        </p:spPr>
        <p:txBody>
          <a:bodyPr wrap="none" rtlCol="0">
            <a:spAutoFit/>
          </a:bodyPr>
          <a:lstStyle/>
          <a:p>
            <a:r>
              <a:rPr lang="en-IN" dirty="0"/>
              <a:t>Low Bias</a:t>
            </a:r>
          </a:p>
          <a:p>
            <a:r>
              <a:rPr lang="en-IN" dirty="0"/>
              <a:t>Low variance</a:t>
            </a:r>
          </a:p>
        </p:txBody>
      </p:sp>
      <p:sp>
        <p:nvSpPr>
          <p:cNvPr id="10" name="TextBox 9">
            <a:extLst>
              <a:ext uri="{FF2B5EF4-FFF2-40B4-BE49-F238E27FC236}">
                <a16:creationId xmlns:a16="http://schemas.microsoft.com/office/drawing/2014/main" id="{12EAAAF9-000F-F7E6-1FE4-B28A80EACA7B}"/>
              </a:ext>
            </a:extLst>
          </p:cNvPr>
          <p:cNvSpPr txBox="1"/>
          <p:nvPr/>
        </p:nvSpPr>
        <p:spPr>
          <a:xfrm>
            <a:off x="1425222" y="3984711"/>
            <a:ext cx="1561646" cy="369332"/>
          </a:xfrm>
          <a:prstGeom prst="rect">
            <a:avLst/>
          </a:prstGeom>
          <a:noFill/>
        </p:spPr>
        <p:txBody>
          <a:bodyPr wrap="none" rtlCol="0">
            <a:spAutoFit/>
          </a:bodyPr>
          <a:lstStyle/>
          <a:p>
            <a:r>
              <a:rPr lang="en-IN" dirty="0"/>
              <a:t>Underfitting</a:t>
            </a:r>
          </a:p>
        </p:txBody>
      </p:sp>
      <p:sp>
        <p:nvSpPr>
          <p:cNvPr id="11" name="TextBox 10">
            <a:extLst>
              <a:ext uri="{FF2B5EF4-FFF2-40B4-BE49-F238E27FC236}">
                <a16:creationId xmlns:a16="http://schemas.microsoft.com/office/drawing/2014/main" id="{0A1F579D-C1DD-27E1-17E0-1ABFB159937C}"/>
              </a:ext>
            </a:extLst>
          </p:cNvPr>
          <p:cNvSpPr txBox="1"/>
          <p:nvPr/>
        </p:nvSpPr>
        <p:spPr>
          <a:xfrm>
            <a:off x="8811914" y="3929378"/>
            <a:ext cx="1418530" cy="369332"/>
          </a:xfrm>
          <a:prstGeom prst="rect">
            <a:avLst/>
          </a:prstGeom>
          <a:noFill/>
        </p:spPr>
        <p:txBody>
          <a:bodyPr wrap="none" rtlCol="0">
            <a:spAutoFit/>
          </a:bodyPr>
          <a:lstStyle/>
          <a:p>
            <a:r>
              <a:rPr lang="en-IN" dirty="0"/>
              <a:t>Overfitting</a:t>
            </a:r>
          </a:p>
        </p:txBody>
      </p:sp>
      <p:sp>
        <p:nvSpPr>
          <p:cNvPr id="12" name="Slide Number Placeholder 11">
            <a:extLst>
              <a:ext uri="{FF2B5EF4-FFF2-40B4-BE49-F238E27FC236}">
                <a16:creationId xmlns:a16="http://schemas.microsoft.com/office/drawing/2014/main" id="{15278D22-2C4F-C531-2E98-DFB3CF8BE7F5}"/>
              </a:ext>
            </a:extLst>
          </p:cNvPr>
          <p:cNvSpPr>
            <a:spLocks noGrp="1"/>
          </p:cNvSpPr>
          <p:nvPr>
            <p:ph type="sldNum" sz="quarter" idx="12"/>
          </p:nvPr>
        </p:nvSpPr>
        <p:spPr/>
        <p:txBody>
          <a:bodyPr/>
          <a:lstStyle/>
          <a:p>
            <a:fld id="{BB2CE0DE-867F-455F-B20B-96D381B4AB71}" type="slidenum">
              <a:rPr lang="en-US" smtClean="0"/>
              <a:t>11</a:t>
            </a:fld>
            <a:endParaRPr lang="en-US"/>
          </a:p>
        </p:txBody>
      </p:sp>
    </p:spTree>
    <p:extLst>
      <p:ext uri="{BB962C8B-B14F-4D97-AF65-F5344CB8AC3E}">
        <p14:creationId xmlns:p14="http://schemas.microsoft.com/office/powerpoint/2010/main" val="348653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800" dirty="0"/>
              <a:t>Bias, Variance, Overfitting, Underfitting</a:t>
            </a:r>
            <a:endParaRPr lang="en-IN" sz="2800" dirty="0"/>
          </a:p>
        </p:txBody>
      </p:sp>
      <p:sp>
        <p:nvSpPr>
          <p:cNvPr id="3" name="Content Placeholder 2">
            <a:extLst>
              <a:ext uri="{FF2B5EF4-FFF2-40B4-BE49-F238E27FC236}">
                <a16:creationId xmlns:a16="http://schemas.microsoft.com/office/drawing/2014/main" id="{4E331CA5-E4CA-47F6-A84E-EFF7A3C4DC32}"/>
              </a:ext>
            </a:extLst>
          </p:cNvPr>
          <p:cNvSpPr>
            <a:spLocks noGrp="1"/>
          </p:cNvSpPr>
          <p:nvPr>
            <p:ph idx="1"/>
          </p:nvPr>
        </p:nvSpPr>
        <p:spPr/>
        <p:txBody>
          <a:bodyPr/>
          <a:lstStyle/>
          <a:p>
            <a:pPr marL="0" indent="0">
              <a:buNone/>
            </a:pPr>
            <a:r>
              <a:rPr lang="en-US" sz="2000" b="1" dirty="0"/>
              <a:t>Bias: </a:t>
            </a:r>
            <a:r>
              <a:rPr lang="en-US" sz="2000" dirty="0"/>
              <a:t>Inability of machine Learning (ML) model to truly capture the relationship of the training data.</a:t>
            </a:r>
          </a:p>
          <a:p>
            <a:pPr marL="0" indent="0">
              <a:buNone/>
            </a:pPr>
            <a:r>
              <a:rPr lang="en-US" sz="2000" b="1" dirty="0"/>
              <a:t>Variance: </a:t>
            </a:r>
            <a:r>
              <a:rPr lang="en-US" sz="2000" dirty="0"/>
              <a:t>Variance of ML model is high when the difference between Training error and Test error is High.</a:t>
            </a:r>
          </a:p>
          <a:p>
            <a:pPr marL="0" indent="0">
              <a:buNone/>
            </a:pPr>
            <a:r>
              <a:rPr lang="en-US" sz="2000" b="1" dirty="0"/>
              <a:t>Overfitting: </a:t>
            </a:r>
            <a:r>
              <a:rPr lang="en-US" sz="2000" dirty="0"/>
              <a:t>ML model of training data is performing well but  on test data it is not doing well.</a:t>
            </a:r>
          </a:p>
          <a:p>
            <a:pPr marL="0" indent="0">
              <a:buNone/>
            </a:pPr>
            <a:r>
              <a:rPr lang="en-US" sz="2000" b="1" dirty="0"/>
              <a:t>Underfitting:</a:t>
            </a:r>
            <a:r>
              <a:rPr lang="en-US" sz="2000" dirty="0"/>
              <a:t> ML model is not capturing the relationship in the training data.</a:t>
            </a:r>
            <a:endParaRPr lang="en-IN" sz="2000" dirty="0"/>
          </a:p>
        </p:txBody>
      </p:sp>
      <p:sp>
        <p:nvSpPr>
          <p:cNvPr id="5" name="Slide Number Placeholder 4">
            <a:extLst>
              <a:ext uri="{FF2B5EF4-FFF2-40B4-BE49-F238E27FC236}">
                <a16:creationId xmlns:a16="http://schemas.microsoft.com/office/drawing/2014/main" id="{8492DE00-C084-B6B1-BED5-67BD3BC6F57A}"/>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102768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0E2F1-3A3E-4584-BF3C-B2791AF51C38}"/>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36441C2E-27D8-4B95-A0B7-CA6A742D2D2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ACF8801C-E6D8-4FD8-A3C2-7CA383A6ECDC}"/>
              </a:ext>
            </a:extLst>
          </p:cNvPr>
          <p:cNvPicPr>
            <a:picLocks noChangeAspect="1"/>
          </p:cNvPicPr>
          <p:nvPr/>
        </p:nvPicPr>
        <p:blipFill>
          <a:blip r:embed="rId2"/>
          <a:stretch>
            <a:fillRect/>
          </a:stretch>
        </p:blipFill>
        <p:spPr>
          <a:xfrm>
            <a:off x="1773576" y="895744"/>
            <a:ext cx="3395885" cy="2514600"/>
          </a:xfrm>
          <a:prstGeom prst="rect">
            <a:avLst/>
          </a:prstGeom>
        </p:spPr>
      </p:pic>
      <p:pic>
        <p:nvPicPr>
          <p:cNvPr id="6" name="Picture 5">
            <a:extLst>
              <a:ext uri="{FF2B5EF4-FFF2-40B4-BE49-F238E27FC236}">
                <a16:creationId xmlns:a16="http://schemas.microsoft.com/office/drawing/2014/main" id="{EC83AA16-AD67-49FA-BA5A-04F5EF7D07BA}"/>
              </a:ext>
            </a:extLst>
          </p:cNvPr>
          <p:cNvPicPr>
            <a:picLocks noChangeAspect="1"/>
          </p:cNvPicPr>
          <p:nvPr/>
        </p:nvPicPr>
        <p:blipFill>
          <a:blip r:embed="rId3"/>
          <a:stretch>
            <a:fillRect/>
          </a:stretch>
        </p:blipFill>
        <p:spPr>
          <a:xfrm>
            <a:off x="5257800" y="1005458"/>
            <a:ext cx="4876800" cy="1507713"/>
          </a:xfrm>
          <a:prstGeom prst="rect">
            <a:avLst/>
          </a:prstGeom>
        </p:spPr>
      </p:pic>
      <p:pic>
        <p:nvPicPr>
          <p:cNvPr id="7" name="Picture 6">
            <a:extLst>
              <a:ext uri="{FF2B5EF4-FFF2-40B4-BE49-F238E27FC236}">
                <a16:creationId xmlns:a16="http://schemas.microsoft.com/office/drawing/2014/main" id="{75777503-C464-4133-A77C-65EBE07B9402}"/>
              </a:ext>
            </a:extLst>
          </p:cNvPr>
          <p:cNvPicPr>
            <a:picLocks noChangeAspect="1"/>
          </p:cNvPicPr>
          <p:nvPr/>
        </p:nvPicPr>
        <p:blipFill>
          <a:blip r:embed="rId4"/>
          <a:stretch>
            <a:fillRect/>
          </a:stretch>
        </p:blipFill>
        <p:spPr>
          <a:xfrm>
            <a:off x="1143000" y="3453301"/>
            <a:ext cx="6549612" cy="2892400"/>
          </a:xfrm>
          <a:prstGeom prst="rect">
            <a:avLst/>
          </a:prstGeom>
        </p:spPr>
      </p:pic>
      <p:sp>
        <p:nvSpPr>
          <p:cNvPr id="8" name="TextBox 7">
            <a:extLst>
              <a:ext uri="{FF2B5EF4-FFF2-40B4-BE49-F238E27FC236}">
                <a16:creationId xmlns:a16="http://schemas.microsoft.com/office/drawing/2014/main" id="{5C8570EF-67C4-47F0-8C43-3C108936A4CF}"/>
              </a:ext>
            </a:extLst>
          </p:cNvPr>
          <p:cNvSpPr txBox="1"/>
          <p:nvPr/>
        </p:nvSpPr>
        <p:spPr>
          <a:xfrm>
            <a:off x="7797562" y="4715470"/>
            <a:ext cx="2373727" cy="923330"/>
          </a:xfrm>
          <a:prstGeom prst="rect">
            <a:avLst/>
          </a:prstGeom>
          <a:noFill/>
        </p:spPr>
        <p:txBody>
          <a:bodyPr wrap="none" rtlCol="0">
            <a:spAutoFit/>
          </a:bodyPr>
          <a:lstStyle/>
          <a:p>
            <a:r>
              <a:rPr lang="en-US" dirty="0">
                <a:solidFill>
                  <a:srgbClr val="242424"/>
                </a:solidFill>
                <a:latin typeface="source-serif-pro"/>
              </a:rPr>
              <a:t>We use regularization </a:t>
            </a:r>
          </a:p>
          <a:p>
            <a:r>
              <a:rPr lang="en-US" dirty="0">
                <a:solidFill>
                  <a:srgbClr val="242424"/>
                </a:solidFill>
                <a:latin typeface="source-serif-pro"/>
              </a:rPr>
              <a:t>like the to prevent the </a:t>
            </a:r>
          </a:p>
          <a:p>
            <a:r>
              <a:rPr lang="en-US" dirty="0">
                <a:solidFill>
                  <a:srgbClr val="242424"/>
                </a:solidFill>
                <a:latin typeface="source-serif-pro"/>
              </a:rPr>
              <a:t>model from overfitting.</a:t>
            </a:r>
            <a:endParaRPr lang="en-IN" dirty="0"/>
          </a:p>
        </p:txBody>
      </p:sp>
      <p:sp>
        <p:nvSpPr>
          <p:cNvPr id="9" name="TextBox 8">
            <a:extLst>
              <a:ext uri="{FF2B5EF4-FFF2-40B4-BE49-F238E27FC236}">
                <a16:creationId xmlns:a16="http://schemas.microsoft.com/office/drawing/2014/main" id="{856CE4DA-84B4-46D5-BDDB-A61DB5DBBA06}"/>
              </a:ext>
            </a:extLst>
          </p:cNvPr>
          <p:cNvSpPr txBox="1"/>
          <p:nvPr/>
        </p:nvSpPr>
        <p:spPr>
          <a:xfrm>
            <a:off x="1752601" y="6385082"/>
            <a:ext cx="6867586" cy="215444"/>
          </a:xfrm>
          <a:prstGeom prst="rect">
            <a:avLst/>
          </a:prstGeom>
          <a:noFill/>
        </p:spPr>
        <p:txBody>
          <a:bodyPr wrap="none" rtlCol="0">
            <a:spAutoFit/>
          </a:bodyPr>
          <a:lstStyle/>
          <a:p>
            <a:r>
              <a:rPr lang="en-US" sz="800" dirty="0"/>
              <a:t>Ref. https://medium.com/intuition/understanding-l1-and-l2-regularization-with-analytical-and-probabilistic-views-8386285210fc</a:t>
            </a:r>
            <a:endParaRPr lang="en-IN" sz="800" dirty="0"/>
          </a:p>
        </p:txBody>
      </p:sp>
      <p:sp>
        <p:nvSpPr>
          <p:cNvPr id="10" name="Slide Number Placeholder 9">
            <a:extLst>
              <a:ext uri="{FF2B5EF4-FFF2-40B4-BE49-F238E27FC236}">
                <a16:creationId xmlns:a16="http://schemas.microsoft.com/office/drawing/2014/main" id="{FF79E543-BEB2-B365-5F87-B9E55CE64EF6}"/>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2723532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45A34-AC31-475A-BEE3-C0D517D3296E}"/>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59188B5C-E6F3-4A16-8063-62FFC65A9F62}"/>
              </a:ext>
            </a:extLst>
          </p:cNvPr>
          <p:cNvSpPr>
            <a:spLocks noGrp="1"/>
          </p:cNvSpPr>
          <p:nvPr>
            <p:ph idx="1"/>
          </p:nvPr>
        </p:nvSpPr>
        <p:spPr/>
        <p:txBody>
          <a:bodyPr/>
          <a:lstStyle/>
          <a:p>
            <a:pPr marL="0" indent="0">
              <a:buNone/>
            </a:pPr>
            <a:r>
              <a:rPr lang="en-US" sz="2000" dirty="0">
                <a:solidFill>
                  <a:srgbClr val="242424"/>
                </a:solidFill>
                <a:latin typeface="source-serif-pro"/>
              </a:rPr>
              <a:t>How can we do regularization? Theoretically, we add the regularization term to the objective function and optimize the parameters based on it, as shown below.</a:t>
            </a:r>
            <a:endParaRPr lang="en-IN" sz="2000" dirty="0"/>
          </a:p>
        </p:txBody>
      </p:sp>
      <p:pic>
        <p:nvPicPr>
          <p:cNvPr id="5" name="Picture 4">
            <a:extLst>
              <a:ext uri="{FF2B5EF4-FFF2-40B4-BE49-F238E27FC236}">
                <a16:creationId xmlns:a16="http://schemas.microsoft.com/office/drawing/2014/main" id="{D2590251-D3E9-4EA6-ABA3-A9CB7D76FE99}"/>
              </a:ext>
            </a:extLst>
          </p:cNvPr>
          <p:cNvPicPr>
            <a:picLocks noChangeAspect="1"/>
          </p:cNvPicPr>
          <p:nvPr/>
        </p:nvPicPr>
        <p:blipFill>
          <a:blip r:embed="rId2"/>
          <a:stretch>
            <a:fillRect/>
          </a:stretch>
        </p:blipFill>
        <p:spPr>
          <a:xfrm>
            <a:off x="381000" y="1905001"/>
            <a:ext cx="7754029" cy="4419600"/>
          </a:xfrm>
          <a:prstGeom prst="rect">
            <a:avLst/>
          </a:prstGeom>
        </p:spPr>
      </p:pic>
      <p:sp>
        <p:nvSpPr>
          <p:cNvPr id="6" name="TextBox 5">
            <a:extLst>
              <a:ext uri="{FF2B5EF4-FFF2-40B4-BE49-F238E27FC236}">
                <a16:creationId xmlns:a16="http://schemas.microsoft.com/office/drawing/2014/main" id="{94771156-0C5A-41E8-8A84-4AD1FBBEA934}"/>
              </a:ext>
            </a:extLst>
          </p:cNvPr>
          <p:cNvSpPr txBox="1"/>
          <p:nvPr/>
        </p:nvSpPr>
        <p:spPr>
          <a:xfrm>
            <a:off x="1847436" y="6400801"/>
            <a:ext cx="6867586" cy="215444"/>
          </a:xfrm>
          <a:prstGeom prst="rect">
            <a:avLst/>
          </a:prstGeom>
          <a:noFill/>
        </p:spPr>
        <p:txBody>
          <a:bodyPr wrap="none" rtlCol="0">
            <a:spAutoFit/>
          </a:bodyPr>
          <a:lstStyle/>
          <a:p>
            <a:r>
              <a:rPr lang="en-US" sz="800" dirty="0"/>
              <a:t>Ref. https://medium.com/intuition/understanding-l1-and-l2-regularization-with-analytical-and-probabilistic-views-8386285210fc</a:t>
            </a:r>
            <a:endParaRPr lang="en-IN" sz="800" dirty="0"/>
          </a:p>
        </p:txBody>
      </p:sp>
      <p:pic>
        <p:nvPicPr>
          <p:cNvPr id="7" name="Picture 6">
            <a:extLst>
              <a:ext uri="{FF2B5EF4-FFF2-40B4-BE49-F238E27FC236}">
                <a16:creationId xmlns:a16="http://schemas.microsoft.com/office/drawing/2014/main" id="{4628D046-D913-A368-F52D-968CBCAB5550}"/>
              </a:ext>
            </a:extLst>
          </p:cNvPr>
          <p:cNvPicPr>
            <a:picLocks noChangeAspect="1"/>
          </p:cNvPicPr>
          <p:nvPr/>
        </p:nvPicPr>
        <p:blipFill>
          <a:blip r:embed="rId3"/>
          <a:stretch>
            <a:fillRect/>
          </a:stretch>
        </p:blipFill>
        <p:spPr>
          <a:xfrm>
            <a:off x="8247918" y="4089401"/>
            <a:ext cx="4011815" cy="1240294"/>
          </a:xfrm>
          <a:prstGeom prst="rect">
            <a:avLst/>
          </a:prstGeom>
        </p:spPr>
      </p:pic>
      <p:sp>
        <p:nvSpPr>
          <p:cNvPr id="8" name="Slide Number Placeholder 7">
            <a:extLst>
              <a:ext uri="{FF2B5EF4-FFF2-40B4-BE49-F238E27FC236}">
                <a16:creationId xmlns:a16="http://schemas.microsoft.com/office/drawing/2014/main" id="{5265FF78-23A3-025F-B031-86741BC40190}"/>
              </a:ext>
            </a:extLst>
          </p:cNvPr>
          <p:cNvSpPr>
            <a:spLocks noGrp="1"/>
          </p:cNvSpPr>
          <p:nvPr>
            <p:ph type="sldNum" sz="quarter" idx="12"/>
          </p:nvPr>
        </p:nvSpPr>
        <p:spPr/>
        <p:txBody>
          <a:bodyPr/>
          <a:lstStyle/>
          <a:p>
            <a:fld id="{BB2CE0DE-867F-455F-B20B-96D381B4AB71}" type="slidenum">
              <a:rPr lang="en-US" smtClean="0"/>
              <a:t>14</a:t>
            </a:fld>
            <a:endParaRPr lang="en-US"/>
          </a:p>
        </p:txBody>
      </p:sp>
    </p:spTree>
    <p:extLst>
      <p:ext uri="{BB962C8B-B14F-4D97-AF65-F5344CB8AC3E}">
        <p14:creationId xmlns:p14="http://schemas.microsoft.com/office/powerpoint/2010/main" val="1699436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F6383-49DE-4F8A-BED7-8807E9C3579C}"/>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194D7149-81B8-4868-B37A-CD67F3C8D7C0}"/>
              </a:ext>
            </a:extLst>
          </p:cNvPr>
          <p:cNvSpPr>
            <a:spLocks noGrp="1"/>
          </p:cNvSpPr>
          <p:nvPr>
            <p:ph idx="1"/>
          </p:nvPr>
        </p:nvSpPr>
        <p:spPr/>
        <p:txBody>
          <a:bodyPr/>
          <a:lstStyle/>
          <a:p>
            <a:pPr marL="0" indent="0">
              <a:buNone/>
            </a:pPr>
            <a:r>
              <a:rPr lang="en-US" sz="2000" dirty="0"/>
              <a:t>Generalization: Ability of the ML model to perform well on unseen data (or test data) is called Generalization. </a:t>
            </a:r>
          </a:p>
          <a:p>
            <a:pPr marL="0" indent="0">
              <a:buNone/>
            </a:pPr>
            <a:r>
              <a:rPr lang="en-US" sz="2000" dirty="0"/>
              <a:t>Generalization or Test error should be less.</a:t>
            </a:r>
            <a:endParaRPr lang="en-IN" sz="2000" dirty="0"/>
          </a:p>
        </p:txBody>
      </p:sp>
      <p:sp>
        <p:nvSpPr>
          <p:cNvPr id="5" name="Slide Number Placeholder 4">
            <a:extLst>
              <a:ext uri="{FF2B5EF4-FFF2-40B4-BE49-F238E27FC236}">
                <a16:creationId xmlns:a16="http://schemas.microsoft.com/office/drawing/2014/main" id="{B58BC32D-541E-36A6-B69B-39F32383289E}"/>
              </a:ext>
            </a:extLst>
          </p:cNvPr>
          <p:cNvSpPr>
            <a:spLocks noGrp="1"/>
          </p:cNvSpPr>
          <p:nvPr>
            <p:ph type="sldNum" sz="quarter" idx="12"/>
          </p:nvPr>
        </p:nvSpPr>
        <p:spPr/>
        <p:txBody>
          <a:bodyPr/>
          <a:lstStyle/>
          <a:p>
            <a:fld id="{BB2CE0DE-867F-455F-B20B-96D381B4AB71}" type="slidenum">
              <a:rPr lang="en-US" smtClean="0"/>
              <a:t>15</a:t>
            </a:fld>
            <a:endParaRPr lang="en-US"/>
          </a:p>
        </p:txBody>
      </p:sp>
    </p:spTree>
    <p:extLst>
      <p:ext uri="{BB962C8B-B14F-4D97-AF65-F5344CB8AC3E}">
        <p14:creationId xmlns:p14="http://schemas.microsoft.com/office/powerpoint/2010/main" val="1832451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98F1-1B01-48D5-80C7-55B2C84B110D}"/>
              </a:ext>
            </a:extLst>
          </p:cNvPr>
          <p:cNvSpPr>
            <a:spLocks noGrp="1"/>
          </p:cNvSpPr>
          <p:nvPr>
            <p:ph type="title"/>
          </p:nvPr>
        </p:nvSpPr>
        <p:spPr/>
        <p:txBody>
          <a:bodyPr/>
          <a:lstStyle/>
          <a:p>
            <a:r>
              <a:rPr lang="en-US" sz="2400" dirty="0"/>
              <a:t>Why Overfitting happens in Neural networks ?</a:t>
            </a:r>
            <a:endParaRPr lang="en-IN" sz="2400" dirty="0"/>
          </a:p>
        </p:txBody>
      </p:sp>
      <p:pic>
        <p:nvPicPr>
          <p:cNvPr id="6" name="Picture 5">
            <a:extLst>
              <a:ext uri="{FF2B5EF4-FFF2-40B4-BE49-F238E27FC236}">
                <a16:creationId xmlns:a16="http://schemas.microsoft.com/office/drawing/2014/main" id="{9C712B97-6459-49E5-97FA-E7FFE8B059AA}"/>
              </a:ext>
            </a:extLst>
          </p:cNvPr>
          <p:cNvPicPr>
            <a:picLocks noChangeAspect="1"/>
          </p:cNvPicPr>
          <p:nvPr/>
        </p:nvPicPr>
        <p:blipFill>
          <a:blip r:embed="rId2"/>
          <a:stretch>
            <a:fillRect/>
          </a:stretch>
        </p:blipFill>
        <p:spPr>
          <a:xfrm>
            <a:off x="1904564" y="1143001"/>
            <a:ext cx="3540125" cy="2484409"/>
          </a:xfrm>
          <a:prstGeom prst="rect">
            <a:avLst/>
          </a:prstGeom>
        </p:spPr>
      </p:pic>
      <p:sp>
        <p:nvSpPr>
          <p:cNvPr id="7" name="TextBox 6">
            <a:extLst>
              <a:ext uri="{FF2B5EF4-FFF2-40B4-BE49-F238E27FC236}">
                <a16:creationId xmlns:a16="http://schemas.microsoft.com/office/drawing/2014/main" id="{26554BD0-8A53-4FA6-8A85-3CE9B5CCADB5}"/>
              </a:ext>
            </a:extLst>
          </p:cNvPr>
          <p:cNvSpPr txBox="1"/>
          <p:nvPr/>
        </p:nvSpPr>
        <p:spPr>
          <a:xfrm>
            <a:off x="1524001" y="6541284"/>
            <a:ext cx="3395481" cy="230832"/>
          </a:xfrm>
          <a:prstGeom prst="rect">
            <a:avLst/>
          </a:prstGeom>
          <a:noFill/>
        </p:spPr>
        <p:txBody>
          <a:bodyPr wrap="none" rtlCol="0">
            <a:spAutoFit/>
          </a:bodyPr>
          <a:lstStyle/>
          <a:p>
            <a:r>
              <a:rPr lang="en-US" sz="900" dirty="0"/>
              <a:t>Ref.: https://www.youtube.com/watch?v=4xRonrhtkzc</a:t>
            </a:r>
            <a:endParaRPr lang="en-IN" sz="900" dirty="0"/>
          </a:p>
        </p:txBody>
      </p:sp>
      <p:pic>
        <p:nvPicPr>
          <p:cNvPr id="9" name="Picture 8">
            <a:extLst>
              <a:ext uri="{FF2B5EF4-FFF2-40B4-BE49-F238E27FC236}">
                <a16:creationId xmlns:a16="http://schemas.microsoft.com/office/drawing/2014/main" id="{C870FAEA-4E63-43D9-9A8E-6E3EB35FC260}"/>
              </a:ext>
            </a:extLst>
          </p:cNvPr>
          <p:cNvPicPr>
            <a:picLocks noChangeAspect="1"/>
          </p:cNvPicPr>
          <p:nvPr/>
        </p:nvPicPr>
        <p:blipFill>
          <a:blip r:embed="rId3"/>
          <a:stretch>
            <a:fillRect/>
          </a:stretch>
        </p:blipFill>
        <p:spPr>
          <a:xfrm>
            <a:off x="6277596" y="1143001"/>
            <a:ext cx="3599208" cy="2484409"/>
          </a:xfrm>
          <a:prstGeom prst="rect">
            <a:avLst/>
          </a:prstGeom>
        </p:spPr>
      </p:pic>
      <p:pic>
        <p:nvPicPr>
          <p:cNvPr id="11" name="Picture 10">
            <a:extLst>
              <a:ext uri="{FF2B5EF4-FFF2-40B4-BE49-F238E27FC236}">
                <a16:creationId xmlns:a16="http://schemas.microsoft.com/office/drawing/2014/main" id="{650C8D23-5ED8-4F00-865F-3C4BB125CEBC}"/>
              </a:ext>
            </a:extLst>
          </p:cNvPr>
          <p:cNvPicPr>
            <a:picLocks noChangeAspect="1"/>
          </p:cNvPicPr>
          <p:nvPr/>
        </p:nvPicPr>
        <p:blipFill>
          <a:blip r:embed="rId4"/>
          <a:stretch>
            <a:fillRect/>
          </a:stretch>
        </p:blipFill>
        <p:spPr>
          <a:xfrm>
            <a:off x="1548809" y="3824731"/>
            <a:ext cx="3088836" cy="2139691"/>
          </a:xfrm>
          <a:prstGeom prst="rect">
            <a:avLst/>
          </a:prstGeom>
        </p:spPr>
      </p:pic>
      <p:pic>
        <p:nvPicPr>
          <p:cNvPr id="13" name="Picture 12">
            <a:extLst>
              <a:ext uri="{FF2B5EF4-FFF2-40B4-BE49-F238E27FC236}">
                <a16:creationId xmlns:a16="http://schemas.microsoft.com/office/drawing/2014/main" id="{D73CC2E8-1120-4597-A704-8FDDA79AD388}"/>
              </a:ext>
            </a:extLst>
          </p:cNvPr>
          <p:cNvPicPr>
            <a:picLocks noChangeAspect="1"/>
          </p:cNvPicPr>
          <p:nvPr/>
        </p:nvPicPr>
        <p:blipFill>
          <a:blip r:embed="rId5"/>
          <a:stretch>
            <a:fillRect/>
          </a:stretch>
        </p:blipFill>
        <p:spPr>
          <a:xfrm>
            <a:off x="4733178" y="3814839"/>
            <a:ext cx="3088836" cy="2156670"/>
          </a:xfrm>
          <a:prstGeom prst="rect">
            <a:avLst/>
          </a:prstGeom>
        </p:spPr>
      </p:pic>
      <p:pic>
        <p:nvPicPr>
          <p:cNvPr id="15" name="Picture 14">
            <a:extLst>
              <a:ext uri="{FF2B5EF4-FFF2-40B4-BE49-F238E27FC236}">
                <a16:creationId xmlns:a16="http://schemas.microsoft.com/office/drawing/2014/main" id="{CE8B7BA2-BE96-4E46-BA78-CC82CEC23344}"/>
              </a:ext>
            </a:extLst>
          </p:cNvPr>
          <p:cNvPicPr>
            <a:picLocks noChangeAspect="1"/>
          </p:cNvPicPr>
          <p:nvPr/>
        </p:nvPicPr>
        <p:blipFill>
          <a:blip r:embed="rId6"/>
          <a:stretch>
            <a:fillRect/>
          </a:stretch>
        </p:blipFill>
        <p:spPr>
          <a:xfrm>
            <a:off x="7895805" y="3856009"/>
            <a:ext cx="2747387" cy="2156670"/>
          </a:xfrm>
          <a:prstGeom prst="rect">
            <a:avLst/>
          </a:prstGeom>
        </p:spPr>
      </p:pic>
      <p:sp>
        <p:nvSpPr>
          <p:cNvPr id="3" name="Slide Number Placeholder 2">
            <a:extLst>
              <a:ext uri="{FF2B5EF4-FFF2-40B4-BE49-F238E27FC236}">
                <a16:creationId xmlns:a16="http://schemas.microsoft.com/office/drawing/2014/main" id="{2F03727A-19F4-82DB-7136-45047FA48144}"/>
              </a:ext>
            </a:extLst>
          </p:cNvPr>
          <p:cNvSpPr>
            <a:spLocks noGrp="1"/>
          </p:cNvSpPr>
          <p:nvPr>
            <p:ph type="sldNum" sz="quarter" idx="12"/>
          </p:nvPr>
        </p:nvSpPr>
        <p:spPr/>
        <p:txBody>
          <a:bodyPr/>
          <a:lstStyle/>
          <a:p>
            <a:fld id="{BB2CE0DE-867F-455F-B20B-96D381B4AB71}" type="slidenum">
              <a:rPr lang="en-US" smtClean="0"/>
              <a:t>16</a:t>
            </a:fld>
            <a:endParaRPr lang="en-US"/>
          </a:p>
        </p:txBody>
      </p:sp>
    </p:spTree>
    <p:extLst>
      <p:ext uri="{BB962C8B-B14F-4D97-AF65-F5344CB8AC3E}">
        <p14:creationId xmlns:p14="http://schemas.microsoft.com/office/powerpoint/2010/main" val="2188191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9184-2179-4625-80F7-7B2435CE0ECA}"/>
              </a:ext>
            </a:extLst>
          </p:cNvPr>
          <p:cNvSpPr>
            <a:spLocks noGrp="1"/>
          </p:cNvSpPr>
          <p:nvPr>
            <p:ph type="title"/>
          </p:nvPr>
        </p:nvSpPr>
        <p:spPr/>
        <p:txBody>
          <a:bodyPr/>
          <a:lstStyle/>
          <a:p>
            <a:r>
              <a:rPr lang="en-US" dirty="0"/>
              <a:t>Background: For Regularization</a:t>
            </a:r>
            <a:endParaRPr lang="en-IN" dirty="0"/>
          </a:p>
        </p:txBody>
      </p:sp>
      <p:pic>
        <p:nvPicPr>
          <p:cNvPr id="5" name="Picture 4">
            <a:extLst>
              <a:ext uri="{FF2B5EF4-FFF2-40B4-BE49-F238E27FC236}">
                <a16:creationId xmlns:a16="http://schemas.microsoft.com/office/drawing/2014/main" id="{34E82C9A-5C42-4930-9CCD-13EFD264B129}"/>
              </a:ext>
            </a:extLst>
          </p:cNvPr>
          <p:cNvPicPr>
            <a:picLocks noChangeAspect="1"/>
          </p:cNvPicPr>
          <p:nvPr/>
        </p:nvPicPr>
        <p:blipFill>
          <a:blip r:embed="rId2"/>
          <a:stretch>
            <a:fillRect/>
          </a:stretch>
        </p:blipFill>
        <p:spPr>
          <a:xfrm>
            <a:off x="2046288" y="1490330"/>
            <a:ext cx="3648075" cy="2400300"/>
          </a:xfrm>
          <a:prstGeom prst="rect">
            <a:avLst/>
          </a:prstGeom>
        </p:spPr>
      </p:pic>
      <p:pic>
        <p:nvPicPr>
          <p:cNvPr id="6" name="Picture 5">
            <a:extLst>
              <a:ext uri="{FF2B5EF4-FFF2-40B4-BE49-F238E27FC236}">
                <a16:creationId xmlns:a16="http://schemas.microsoft.com/office/drawing/2014/main" id="{7C54A61C-B515-451B-94FC-7338A9AA6EDE}"/>
              </a:ext>
            </a:extLst>
          </p:cNvPr>
          <p:cNvPicPr>
            <a:picLocks noChangeAspect="1"/>
          </p:cNvPicPr>
          <p:nvPr/>
        </p:nvPicPr>
        <p:blipFill>
          <a:blip r:embed="rId3"/>
          <a:stretch>
            <a:fillRect/>
          </a:stretch>
        </p:blipFill>
        <p:spPr>
          <a:xfrm>
            <a:off x="2098675" y="4154016"/>
            <a:ext cx="3543300" cy="2362200"/>
          </a:xfrm>
          <a:prstGeom prst="rect">
            <a:avLst/>
          </a:prstGeom>
        </p:spPr>
      </p:pic>
      <p:pic>
        <p:nvPicPr>
          <p:cNvPr id="7" name="Picture 6">
            <a:extLst>
              <a:ext uri="{FF2B5EF4-FFF2-40B4-BE49-F238E27FC236}">
                <a16:creationId xmlns:a16="http://schemas.microsoft.com/office/drawing/2014/main" id="{B09F5867-518E-453D-AF54-F75AB3E21228}"/>
              </a:ext>
            </a:extLst>
          </p:cNvPr>
          <p:cNvPicPr>
            <a:picLocks noChangeAspect="1"/>
          </p:cNvPicPr>
          <p:nvPr/>
        </p:nvPicPr>
        <p:blipFill>
          <a:blip r:embed="rId4"/>
          <a:stretch>
            <a:fillRect/>
          </a:stretch>
        </p:blipFill>
        <p:spPr>
          <a:xfrm>
            <a:off x="6406782" y="1490330"/>
            <a:ext cx="3648075" cy="2400300"/>
          </a:xfrm>
          <a:prstGeom prst="rect">
            <a:avLst/>
          </a:prstGeom>
        </p:spPr>
      </p:pic>
      <p:pic>
        <p:nvPicPr>
          <p:cNvPr id="8" name="Picture 7">
            <a:extLst>
              <a:ext uri="{FF2B5EF4-FFF2-40B4-BE49-F238E27FC236}">
                <a16:creationId xmlns:a16="http://schemas.microsoft.com/office/drawing/2014/main" id="{FAA033F5-3ADC-41F4-BA9B-30E41DBE42D1}"/>
              </a:ext>
            </a:extLst>
          </p:cNvPr>
          <p:cNvPicPr>
            <a:picLocks noChangeAspect="1"/>
          </p:cNvPicPr>
          <p:nvPr/>
        </p:nvPicPr>
        <p:blipFill>
          <a:blip r:embed="rId5"/>
          <a:stretch>
            <a:fillRect/>
          </a:stretch>
        </p:blipFill>
        <p:spPr>
          <a:xfrm>
            <a:off x="6454406" y="4136295"/>
            <a:ext cx="3600450" cy="2362200"/>
          </a:xfrm>
          <a:prstGeom prst="rect">
            <a:avLst/>
          </a:prstGeom>
        </p:spPr>
      </p:pic>
      <p:sp>
        <p:nvSpPr>
          <p:cNvPr id="9" name="TextBox 8">
            <a:extLst>
              <a:ext uri="{FF2B5EF4-FFF2-40B4-BE49-F238E27FC236}">
                <a16:creationId xmlns:a16="http://schemas.microsoft.com/office/drawing/2014/main" id="{4267F772-EE3C-42B4-8260-C1892EA3CF4D}"/>
              </a:ext>
            </a:extLst>
          </p:cNvPr>
          <p:cNvSpPr txBox="1"/>
          <p:nvPr/>
        </p:nvSpPr>
        <p:spPr>
          <a:xfrm>
            <a:off x="2046288" y="6529629"/>
            <a:ext cx="7572907" cy="230832"/>
          </a:xfrm>
          <a:prstGeom prst="rect">
            <a:avLst/>
          </a:prstGeom>
          <a:noFill/>
        </p:spPr>
        <p:txBody>
          <a:bodyPr wrap="none" rtlCol="0">
            <a:spAutoFit/>
          </a:bodyPr>
          <a:lstStyle/>
          <a:p>
            <a:r>
              <a:rPr lang="en-US" sz="900" dirty="0"/>
              <a:t>Ref.: https://colab.research.google.com/drive/1PObj5KrXLDDmHjoJ1x0bVmxAFbif5s7q?usp=sharing#scrollTo=njwsZuvWVyIT</a:t>
            </a:r>
            <a:endParaRPr lang="en-IN" sz="900" dirty="0"/>
          </a:p>
        </p:txBody>
      </p:sp>
      <p:sp>
        <p:nvSpPr>
          <p:cNvPr id="10" name="TextBox 9">
            <a:extLst>
              <a:ext uri="{FF2B5EF4-FFF2-40B4-BE49-F238E27FC236}">
                <a16:creationId xmlns:a16="http://schemas.microsoft.com/office/drawing/2014/main" id="{98BA7E0A-6D1F-402F-AD03-3D6CC5E6895C}"/>
              </a:ext>
            </a:extLst>
          </p:cNvPr>
          <p:cNvSpPr txBox="1"/>
          <p:nvPr/>
        </p:nvSpPr>
        <p:spPr>
          <a:xfrm>
            <a:off x="2536882" y="1120998"/>
            <a:ext cx="2666884" cy="369332"/>
          </a:xfrm>
          <a:prstGeom prst="rect">
            <a:avLst/>
          </a:prstGeom>
          <a:noFill/>
        </p:spPr>
        <p:txBody>
          <a:bodyPr wrap="none" rtlCol="0">
            <a:spAutoFit/>
          </a:bodyPr>
          <a:lstStyle/>
          <a:p>
            <a:r>
              <a:rPr lang="en-US" dirty="0"/>
              <a:t>Before Regularization</a:t>
            </a:r>
            <a:endParaRPr lang="en-IN" dirty="0"/>
          </a:p>
        </p:txBody>
      </p:sp>
      <p:sp>
        <p:nvSpPr>
          <p:cNvPr id="11" name="TextBox 10">
            <a:extLst>
              <a:ext uri="{FF2B5EF4-FFF2-40B4-BE49-F238E27FC236}">
                <a16:creationId xmlns:a16="http://schemas.microsoft.com/office/drawing/2014/main" id="{86B8C936-978D-47E0-9148-FB2CC5EE4244}"/>
              </a:ext>
            </a:extLst>
          </p:cNvPr>
          <p:cNvSpPr txBox="1"/>
          <p:nvPr/>
        </p:nvSpPr>
        <p:spPr>
          <a:xfrm>
            <a:off x="6743759" y="1120998"/>
            <a:ext cx="2479333" cy="369332"/>
          </a:xfrm>
          <a:prstGeom prst="rect">
            <a:avLst/>
          </a:prstGeom>
          <a:noFill/>
        </p:spPr>
        <p:txBody>
          <a:bodyPr wrap="none" rtlCol="0">
            <a:spAutoFit/>
          </a:bodyPr>
          <a:lstStyle/>
          <a:p>
            <a:r>
              <a:rPr lang="en-US" dirty="0"/>
              <a:t>After Regularization</a:t>
            </a:r>
            <a:endParaRPr lang="en-IN" dirty="0"/>
          </a:p>
        </p:txBody>
      </p:sp>
      <p:sp>
        <p:nvSpPr>
          <p:cNvPr id="12" name="TextBox 11">
            <a:extLst>
              <a:ext uri="{FF2B5EF4-FFF2-40B4-BE49-F238E27FC236}">
                <a16:creationId xmlns:a16="http://schemas.microsoft.com/office/drawing/2014/main" id="{9B90A589-8603-46C0-B295-F18FCB32140E}"/>
              </a:ext>
            </a:extLst>
          </p:cNvPr>
          <p:cNvSpPr txBox="1"/>
          <p:nvPr/>
        </p:nvSpPr>
        <p:spPr>
          <a:xfrm>
            <a:off x="2743200" y="3890630"/>
            <a:ext cx="2571538" cy="261610"/>
          </a:xfrm>
          <a:prstGeom prst="rect">
            <a:avLst/>
          </a:prstGeom>
          <a:noFill/>
        </p:spPr>
        <p:txBody>
          <a:bodyPr wrap="none" rtlCol="0">
            <a:spAutoFit/>
          </a:bodyPr>
          <a:lstStyle/>
          <a:p>
            <a:r>
              <a:rPr lang="en-US" sz="1100" dirty="0"/>
              <a:t>Training vs. Validation Loss curve</a:t>
            </a:r>
            <a:endParaRPr lang="en-IN" sz="1100" dirty="0"/>
          </a:p>
        </p:txBody>
      </p:sp>
      <p:sp>
        <p:nvSpPr>
          <p:cNvPr id="13" name="TextBox 12">
            <a:extLst>
              <a:ext uri="{FF2B5EF4-FFF2-40B4-BE49-F238E27FC236}">
                <a16:creationId xmlns:a16="http://schemas.microsoft.com/office/drawing/2014/main" id="{7837608D-CF07-4D0C-9F9C-BF859FB13BA4}"/>
              </a:ext>
            </a:extLst>
          </p:cNvPr>
          <p:cNvSpPr txBox="1"/>
          <p:nvPr/>
        </p:nvSpPr>
        <p:spPr>
          <a:xfrm>
            <a:off x="6994974" y="3913315"/>
            <a:ext cx="2571538" cy="261610"/>
          </a:xfrm>
          <a:prstGeom prst="rect">
            <a:avLst/>
          </a:prstGeom>
          <a:noFill/>
        </p:spPr>
        <p:txBody>
          <a:bodyPr wrap="none" rtlCol="0">
            <a:spAutoFit/>
          </a:bodyPr>
          <a:lstStyle/>
          <a:p>
            <a:r>
              <a:rPr lang="en-US" sz="1100" dirty="0"/>
              <a:t>Training vs. Validation Loss curve</a:t>
            </a:r>
            <a:endParaRPr lang="en-IN" sz="1100" dirty="0"/>
          </a:p>
        </p:txBody>
      </p:sp>
      <p:sp>
        <p:nvSpPr>
          <p:cNvPr id="3" name="Slide Number Placeholder 2">
            <a:extLst>
              <a:ext uri="{FF2B5EF4-FFF2-40B4-BE49-F238E27FC236}">
                <a16:creationId xmlns:a16="http://schemas.microsoft.com/office/drawing/2014/main" id="{E724AB64-A9AA-AAC3-F89C-D70A1AC4932D}"/>
              </a:ext>
            </a:extLst>
          </p:cNvPr>
          <p:cNvSpPr>
            <a:spLocks noGrp="1"/>
          </p:cNvSpPr>
          <p:nvPr>
            <p:ph type="sldNum" sz="quarter" idx="12"/>
          </p:nvPr>
        </p:nvSpPr>
        <p:spPr/>
        <p:txBody>
          <a:bodyPr/>
          <a:lstStyle/>
          <a:p>
            <a:fld id="{BB2CE0DE-867F-455F-B20B-96D381B4AB71}" type="slidenum">
              <a:rPr lang="en-US" smtClean="0"/>
              <a:t>17</a:t>
            </a:fld>
            <a:endParaRPr lang="en-US"/>
          </a:p>
        </p:txBody>
      </p:sp>
    </p:spTree>
    <p:extLst>
      <p:ext uri="{BB962C8B-B14F-4D97-AF65-F5344CB8AC3E}">
        <p14:creationId xmlns:p14="http://schemas.microsoft.com/office/powerpoint/2010/main" val="1733764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260BE-F3AF-EA2F-14E9-3F3CA108FC12}"/>
              </a:ext>
            </a:extLst>
          </p:cNvPr>
          <p:cNvSpPr>
            <a:spLocks noGrp="1"/>
          </p:cNvSpPr>
          <p:nvPr>
            <p:ph type="title"/>
          </p:nvPr>
        </p:nvSpPr>
        <p:spPr/>
        <p:txBody>
          <a:bodyPr/>
          <a:lstStyle/>
          <a:p>
            <a:r>
              <a:rPr lang="en-IN" dirty="0"/>
              <a:t>Loss and complexity</a:t>
            </a:r>
          </a:p>
        </p:txBody>
      </p:sp>
      <p:sp>
        <p:nvSpPr>
          <p:cNvPr id="3" name="Content Placeholder 2">
            <a:extLst>
              <a:ext uri="{FF2B5EF4-FFF2-40B4-BE49-F238E27FC236}">
                <a16:creationId xmlns:a16="http://schemas.microsoft.com/office/drawing/2014/main" id="{6DB7FF5B-C2A3-3D04-6455-2E92C3BF03FC}"/>
              </a:ext>
            </a:extLst>
          </p:cNvPr>
          <p:cNvSpPr>
            <a:spLocks noGrp="1"/>
          </p:cNvSpPr>
          <p:nvPr>
            <p:ph idx="1"/>
          </p:nvPr>
        </p:nvSpPr>
        <p:spPr/>
        <p:txBody>
          <a:bodyPr/>
          <a:lstStyle/>
          <a:p>
            <a:pPr algn="just"/>
            <a:r>
              <a:rPr lang="en-US" sz="2000" kern="1200" dirty="0">
                <a:solidFill>
                  <a:schemeClr val="tx1"/>
                </a:solidFill>
              </a:rPr>
              <a:t>The only goal when training a ML model was to minimize loss; </a:t>
            </a:r>
          </a:p>
          <a:p>
            <a:pPr algn="just"/>
            <a:r>
              <a:rPr lang="en-US" sz="2000" kern="1200" dirty="0">
                <a:solidFill>
                  <a:schemeClr val="tx1"/>
                </a:solidFill>
              </a:rPr>
              <a:t>that is: minimize(loss)</a:t>
            </a:r>
          </a:p>
          <a:p>
            <a:pPr algn="just"/>
            <a:endParaRPr lang="en-US" sz="2000" kern="1200" dirty="0">
              <a:solidFill>
                <a:schemeClr val="tx1"/>
              </a:solidFill>
            </a:endParaRPr>
          </a:p>
          <a:p>
            <a:pPr algn="just"/>
            <a:r>
              <a:rPr lang="en-US" sz="2000" kern="1200" dirty="0">
                <a:solidFill>
                  <a:schemeClr val="tx1"/>
                </a:solidFill>
              </a:rPr>
              <a:t>Models focused solely on minimizing loss tend to overfit. A better training optimization algorithm minimizes some combination of loss and complexity: </a:t>
            </a:r>
            <a:r>
              <a:rPr lang="en-US" sz="2000" kern="1200" dirty="0" err="1">
                <a:solidFill>
                  <a:schemeClr val="tx1"/>
                </a:solidFill>
              </a:rPr>
              <a:t>mimimize</a:t>
            </a:r>
            <a:r>
              <a:rPr lang="en-US" sz="2000" kern="1200" dirty="0">
                <a:solidFill>
                  <a:schemeClr val="tx1"/>
                </a:solidFill>
              </a:rPr>
              <a:t>(</a:t>
            </a:r>
            <a:r>
              <a:rPr lang="en-US" sz="2000" kern="1200" dirty="0" err="1">
                <a:solidFill>
                  <a:schemeClr val="tx1"/>
                </a:solidFill>
              </a:rPr>
              <a:t>loss+complexity</a:t>
            </a:r>
            <a:r>
              <a:rPr lang="en-US" sz="2000" kern="1200" dirty="0">
                <a:solidFill>
                  <a:schemeClr val="tx1"/>
                </a:solidFill>
              </a:rPr>
              <a:t>)</a:t>
            </a:r>
          </a:p>
          <a:p>
            <a:pPr algn="just"/>
            <a:endParaRPr lang="en-US" sz="2000" kern="1200" dirty="0">
              <a:solidFill>
                <a:schemeClr val="tx1"/>
              </a:solidFill>
            </a:endParaRPr>
          </a:p>
          <a:p>
            <a:pPr algn="just"/>
            <a:r>
              <a:rPr lang="en-US" sz="2000" kern="1200" dirty="0">
                <a:solidFill>
                  <a:schemeClr val="tx1"/>
                </a:solidFill>
              </a:rPr>
              <a:t>Unfortunately, loss and complexity are typically inversely related. As complexity increases, loss decreases. As complexity decreases, loss increases. You should find a reasonable middle ground where the model makes good predictions on both the training data and real-world data. That is, your model should find a reasonable compromise between loss and complexity.</a:t>
            </a:r>
          </a:p>
          <a:p>
            <a:pPr algn="just"/>
            <a:endParaRPr lang="en-IN" sz="2000" dirty="0"/>
          </a:p>
          <a:p>
            <a:pPr marL="0" indent="0" algn="just">
              <a:buNone/>
            </a:pPr>
            <a:endParaRPr lang="en-IN" sz="2000" dirty="0"/>
          </a:p>
        </p:txBody>
      </p:sp>
      <p:sp>
        <p:nvSpPr>
          <p:cNvPr id="4" name="Slide Number Placeholder 3">
            <a:extLst>
              <a:ext uri="{FF2B5EF4-FFF2-40B4-BE49-F238E27FC236}">
                <a16:creationId xmlns:a16="http://schemas.microsoft.com/office/drawing/2014/main" id="{3CF47788-7A1A-61AF-FB6E-92673F2D063B}"/>
              </a:ext>
            </a:extLst>
          </p:cNvPr>
          <p:cNvSpPr>
            <a:spLocks noGrp="1"/>
          </p:cNvSpPr>
          <p:nvPr>
            <p:ph type="sldNum" sz="quarter" idx="12"/>
          </p:nvPr>
        </p:nvSpPr>
        <p:spPr/>
        <p:txBody>
          <a:bodyPr/>
          <a:lstStyle/>
          <a:p>
            <a:fld id="{BB2CE0DE-867F-455F-B20B-96D381B4AB71}" type="slidenum">
              <a:rPr lang="en-US" smtClean="0"/>
              <a:t>18</a:t>
            </a:fld>
            <a:endParaRPr lang="en-US"/>
          </a:p>
        </p:txBody>
      </p:sp>
      <p:sp>
        <p:nvSpPr>
          <p:cNvPr id="8" name="TextBox 7">
            <a:extLst>
              <a:ext uri="{FF2B5EF4-FFF2-40B4-BE49-F238E27FC236}">
                <a16:creationId xmlns:a16="http://schemas.microsoft.com/office/drawing/2014/main" id="{C6F180D1-0F49-6C6B-4770-4011A58B6B44}"/>
              </a:ext>
            </a:extLst>
          </p:cNvPr>
          <p:cNvSpPr txBox="1"/>
          <p:nvPr/>
        </p:nvSpPr>
        <p:spPr>
          <a:xfrm>
            <a:off x="766233" y="6093769"/>
            <a:ext cx="5833648" cy="230832"/>
          </a:xfrm>
          <a:prstGeom prst="rect">
            <a:avLst/>
          </a:prstGeom>
          <a:noFill/>
        </p:spPr>
        <p:txBody>
          <a:bodyPr wrap="none" rtlCol="0">
            <a:spAutoFit/>
          </a:bodyPr>
          <a:lstStyle/>
          <a:p>
            <a:r>
              <a:rPr lang="en-IN" sz="900" dirty="0"/>
              <a:t>Ref. https://developers.google.com/machine-learning/crash-course/overfitting/model-complexity</a:t>
            </a:r>
          </a:p>
        </p:txBody>
      </p:sp>
    </p:spTree>
    <p:extLst>
      <p:ext uri="{BB962C8B-B14F-4D97-AF65-F5344CB8AC3E}">
        <p14:creationId xmlns:p14="http://schemas.microsoft.com/office/powerpoint/2010/main" val="2448942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A9107-09FC-4185-95F1-CB0BA105D84C}"/>
              </a:ext>
            </a:extLst>
          </p:cNvPr>
          <p:cNvSpPr>
            <a:spLocks noGrp="1"/>
          </p:cNvSpPr>
          <p:nvPr>
            <p:ph type="title"/>
          </p:nvPr>
        </p:nvSpPr>
        <p:spPr/>
        <p:txBody>
          <a:bodyPr/>
          <a:lstStyle/>
          <a:p>
            <a:r>
              <a:rPr lang="en-US" dirty="0"/>
              <a:t>Methods to avoid Overfitting</a:t>
            </a:r>
            <a:endParaRPr lang="en-IN" dirty="0"/>
          </a:p>
        </p:txBody>
      </p:sp>
      <p:sp>
        <p:nvSpPr>
          <p:cNvPr id="3" name="Content Placeholder 2">
            <a:extLst>
              <a:ext uri="{FF2B5EF4-FFF2-40B4-BE49-F238E27FC236}">
                <a16:creationId xmlns:a16="http://schemas.microsoft.com/office/drawing/2014/main" id="{D4F23F2C-BBC7-4E71-9274-02A0F817E172}"/>
              </a:ext>
            </a:extLst>
          </p:cNvPr>
          <p:cNvSpPr>
            <a:spLocks noGrp="1"/>
          </p:cNvSpPr>
          <p:nvPr>
            <p:ph idx="1"/>
          </p:nvPr>
        </p:nvSpPr>
        <p:spPr/>
        <p:txBody>
          <a:bodyPr/>
          <a:lstStyle/>
          <a:p>
            <a:pPr marL="0" indent="0">
              <a:buNone/>
            </a:pPr>
            <a:r>
              <a:rPr lang="en-US" sz="2400" dirty="0"/>
              <a:t>1. Adding More data: Data Augmentation</a:t>
            </a:r>
          </a:p>
          <a:p>
            <a:pPr marL="0" indent="0">
              <a:buNone/>
            </a:pPr>
            <a:r>
              <a:rPr lang="en-US" sz="2400" dirty="0"/>
              <a:t>2. Reducing Complexity of the Model</a:t>
            </a:r>
          </a:p>
          <a:p>
            <a:pPr marL="438150" lvl="1" indent="0">
              <a:buNone/>
            </a:pPr>
            <a:r>
              <a:rPr lang="en-US" sz="2000" dirty="0"/>
              <a:t>2.1 Drop out</a:t>
            </a:r>
          </a:p>
          <a:p>
            <a:pPr marL="438150" lvl="1" indent="0">
              <a:buNone/>
            </a:pPr>
            <a:r>
              <a:rPr lang="en-US" sz="2000" dirty="0"/>
              <a:t>2.2 Early Stopping</a:t>
            </a:r>
          </a:p>
          <a:p>
            <a:pPr marL="438150" lvl="1" indent="0">
              <a:buNone/>
            </a:pPr>
            <a:r>
              <a:rPr lang="en-US" sz="2000" dirty="0"/>
              <a:t>2.3 Regularization</a:t>
            </a:r>
          </a:p>
          <a:p>
            <a:pPr marL="835025" lvl="2" indent="0">
              <a:buNone/>
            </a:pPr>
            <a:r>
              <a:rPr lang="en-US" sz="1700" dirty="0"/>
              <a:t>2.3.1. L1 Regularization </a:t>
            </a:r>
          </a:p>
          <a:p>
            <a:pPr marL="835025" lvl="2" indent="0">
              <a:buNone/>
            </a:pPr>
            <a:r>
              <a:rPr lang="en-US" sz="1700" dirty="0"/>
              <a:t>2.3.2. L2 Regularization </a:t>
            </a:r>
          </a:p>
          <a:p>
            <a:pPr marL="835025" lvl="2" indent="0">
              <a:buNone/>
            </a:pPr>
            <a:r>
              <a:rPr lang="en-US" sz="1700" dirty="0"/>
              <a:t>2.3.3. L1+L2 Regularization </a:t>
            </a:r>
          </a:p>
          <a:p>
            <a:pPr marL="0" indent="0">
              <a:buNone/>
            </a:pPr>
            <a:endParaRPr lang="en-US" sz="2400" dirty="0"/>
          </a:p>
          <a:p>
            <a:pPr marL="0" indent="0">
              <a:buNone/>
            </a:pPr>
            <a:endParaRPr lang="en-US" sz="2400" dirty="0"/>
          </a:p>
          <a:p>
            <a:pPr marL="0" indent="0">
              <a:buNone/>
            </a:pPr>
            <a:r>
              <a:rPr lang="en-US" sz="2400" dirty="0"/>
              <a:t> </a:t>
            </a:r>
          </a:p>
          <a:p>
            <a:pPr marL="0" indent="0">
              <a:buNone/>
            </a:pPr>
            <a:endParaRPr lang="en-IN" sz="2400" dirty="0"/>
          </a:p>
        </p:txBody>
      </p:sp>
      <p:sp>
        <p:nvSpPr>
          <p:cNvPr id="5" name="Slide Number Placeholder 4">
            <a:extLst>
              <a:ext uri="{FF2B5EF4-FFF2-40B4-BE49-F238E27FC236}">
                <a16:creationId xmlns:a16="http://schemas.microsoft.com/office/drawing/2014/main" id="{758F0994-CB8E-8317-ECC1-2309A425DC13}"/>
              </a:ext>
            </a:extLst>
          </p:cNvPr>
          <p:cNvSpPr>
            <a:spLocks noGrp="1"/>
          </p:cNvSpPr>
          <p:nvPr>
            <p:ph type="sldNum" sz="quarter" idx="12"/>
          </p:nvPr>
        </p:nvSpPr>
        <p:spPr/>
        <p:txBody>
          <a:bodyPr/>
          <a:lstStyle/>
          <a:p>
            <a:fld id="{BB2CE0DE-867F-455F-B20B-96D381B4AB71}" type="slidenum">
              <a:rPr lang="en-US" smtClean="0"/>
              <a:t>19</a:t>
            </a:fld>
            <a:endParaRPr lang="en-US"/>
          </a:p>
        </p:txBody>
      </p:sp>
    </p:spTree>
    <p:extLst>
      <p:ext uri="{BB962C8B-B14F-4D97-AF65-F5344CB8AC3E}">
        <p14:creationId xmlns:p14="http://schemas.microsoft.com/office/powerpoint/2010/main" val="3025931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4CC02-2FC1-C293-8199-5112F0A65D0D}"/>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44FF7E55-BDE8-4650-BCA0-2CA55428F784}"/>
              </a:ext>
            </a:extLst>
          </p:cNvPr>
          <p:cNvSpPr>
            <a:spLocks noGrp="1"/>
          </p:cNvSpPr>
          <p:nvPr>
            <p:ph idx="1"/>
          </p:nvPr>
        </p:nvSpPr>
        <p:spPr/>
        <p:txBody>
          <a:bodyPr/>
          <a:lstStyle/>
          <a:p>
            <a:r>
              <a:rPr lang="en-US" sz="3200" dirty="0"/>
              <a:t>Can over fitting happen in a neural network? If yes how to deal with over fitting in a neural network.</a:t>
            </a:r>
          </a:p>
          <a:p>
            <a:endParaRPr lang="en-IN" dirty="0"/>
          </a:p>
        </p:txBody>
      </p:sp>
      <p:sp>
        <p:nvSpPr>
          <p:cNvPr id="4" name="Slide Number Placeholder 3">
            <a:extLst>
              <a:ext uri="{FF2B5EF4-FFF2-40B4-BE49-F238E27FC236}">
                <a16:creationId xmlns:a16="http://schemas.microsoft.com/office/drawing/2014/main" id="{CA667750-A6D1-C220-0F2A-51116604AA9E}"/>
              </a:ext>
            </a:extLst>
          </p:cNvPr>
          <p:cNvSpPr>
            <a:spLocks noGrp="1"/>
          </p:cNvSpPr>
          <p:nvPr>
            <p:ph type="sldNum" sz="quarter" idx="12"/>
          </p:nvPr>
        </p:nvSpPr>
        <p:spPr/>
        <p:txBody>
          <a:bodyPr/>
          <a:lstStyle/>
          <a:p>
            <a:fld id="{BB2CE0DE-867F-455F-B20B-96D381B4AB71}" type="slidenum">
              <a:rPr lang="en-US" smtClean="0"/>
              <a:t>20</a:t>
            </a:fld>
            <a:endParaRPr lang="en-US"/>
          </a:p>
        </p:txBody>
      </p:sp>
    </p:spTree>
    <p:extLst>
      <p:ext uri="{BB962C8B-B14F-4D97-AF65-F5344CB8AC3E}">
        <p14:creationId xmlns:p14="http://schemas.microsoft.com/office/powerpoint/2010/main" val="4162100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E130-02AA-4D6B-A4C1-DBB00D50D69A}"/>
              </a:ext>
            </a:extLst>
          </p:cNvPr>
          <p:cNvSpPr>
            <a:spLocks noGrp="1"/>
          </p:cNvSpPr>
          <p:nvPr>
            <p:ph type="title"/>
          </p:nvPr>
        </p:nvSpPr>
        <p:spPr/>
        <p:txBody>
          <a:bodyPr/>
          <a:lstStyle/>
          <a:p>
            <a:r>
              <a:rPr lang="en-US" dirty="0"/>
              <a:t>Regularization</a:t>
            </a:r>
            <a:endParaRPr lang="en-IN" dirty="0"/>
          </a:p>
        </p:txBody>
      </p:sp>
      <p:sp>
        <p:nvSpPr>
          <p:cNvPr id="3" name="Content Placeholder 2">
            <a:extLst>
              <a:ext uri="{FF2B5EF4-FFF2-40B4-BE49-F238E27FC236}">
                <a16:creationId xmlns:a16="http://schemas.microsoft.com/office/drawing/2014/main" id="{2B5C2C8F-0432-4416-AF5E-FF328D4FBB3D}"/>
              </a:ext>
            </a:extLst>
          </p:cNvPr>
          <p:cNvSpPr>
            <a:spLocks noGrp="1"/>
          </p:cNvSpPr>
          <p:nvPr>
            <p:ph idx="1"/>
          </p:nvPr>
        </p:nvSpPr>
        <p:spPr/>
        <p:txBody>
          <a:bodyPr/>
          <a:lstStyle/>
          <a:p>
            <a:endParaRPr lang="en-US" dirty="0"/>
          </a:p>
          <a:p>
            <a:endParaRPr lang="en-IN" dirty="0"/>
          </a:p>
          <a:p>
            <a:endParaRPr lang="en-IN" dirty="0"/>
          </a:p>
          <a:p>
            <a:endParaRPr lang="en-IN" dirty="0"/>
          </a:p>
          <a:p>
            <a:endParaRPr lang="en-IN" dirty="0"/>
          </a:p>
          <a:p>
            <a:endParaRPr lang="en-IN" dirty="0"/>
          </a:p>
          <a:p>
            <a:pPr marL="0" indent="0" algn="just">
              <a:buNone/>
            </a:pPr>
            <a:r>
              <a:rPr lang="en-US" sz="2000" kern="1200" dirty="0">
                <a:solidFill>
                  <a:schemeClr val="tx1"/>
                </a:solidFill>
              </a:rPr>
              <a:t>Regularization is a collection of strategies that can assist prevent overfitting in neural networks and improve their accuracy by modifying the learning procedure slightly such that the model generalizes more successfully. The model then performs better on the unobserved data as a result.</a:t>
            </a:r>
            <a:endParaRPr lang="en-IN" sz="2000" dirty="0"/>
          </a:p>
          <a:p>
            <a:endParaRPr lang="en-IN" dirty="0"/>
          </a:p>
          <a:p>
            <a:endParaRPr lang="en-IN" dirty="0"/>
          </a:p>
          <a:p>
            <a:endParaRPr lang="en-IN" dirty="0"/>
          </a:p>
          <a:p>
            <a:endParaRPr lang="en-IN" dirty="0"/>
          </a:p>
          <a:p>
            <a:endParaRPr lang="en-IN" dirty="0"/>
          </a:p>
        </p:txBody>
      </p:sp>
      <p:pic>
        <p:nvPicPr>
          <p:cNvPr id="6" name="Picture 5">
            <a:extLst>
              <a:ext uri="{FF2B5EF4-FFF2-40B4-BE49-F238E27FC236}">
                <a16:creationId xmlns:a16="http://schemas.microsoft.com/office/drawing/2014/main" id="{EAB563F8-77E9-4C26-96CE-9665766A6F8F}"/>
              </a:ext>
            </a:extLst>
          </p:cNvPr>
          <p:cNvPicPr>
            <a:picLocks noChangeAspect="1"/>
          </p:cNvPicPr>
          <p:nvPr/>
        </p:nvPicPr>
        <p:blipFill>
          <a:blip r:embed="rId3"/>
          <a:stretch>
            <a:fillRect/>
          </a:stretch>
        </p:blipFill>
        <p:spPr>
          <a:xfrm>
            <a:off x="769055" y="1219200"/>
            <a:ext cx="9213145" cy="2972215"/>
          </a:xfrm>
          <a:prstGeom prst="rect">
            <a:avLst/>
          </a:prstGeom>
        </p:spPr>
      </p:pic>
      <p:sp>
        <p:nvSpPr>
          <p:cNvPr id="5" name="TextBox 4">
            <a:extLst>
              <a:ext uri="{FF2B5EF4-FFF2-40B4-BE49-F238E27FC236}">
                <a16:creationId xmlns:a16="http://schemas.microsoft.com/office/drawing/2014/main" id="{F4437835-FA46-5FD3-DAA4-964837A55876}"/>
              </a:ext>
            </a:extLst>
          </p:cNvPr>
          <p:cNvSpPr txBox="1"/>
          <p:nvPr/>
        </p:nvSpPr>
        <p:spPr>
          <a:xfrm>
            <a:off x="1752600" y="5105400"/>
            <a:ext cx="76200" cy="369332"/>
          </a:xfrm>
          <a:prstGeom prst="rect">
            <a:avLst/>
          </a:prstGeom>
          <a:noFill/>
        </p:spPr>
        <p:txBody>
          <a:bodyPr wrap="square" rtlCol="0">
            <a:spAutoFit/>
          </a:bodyPr>
          <a:lstStyle/>
          <a:p>
            <a:endParaRPr lang="en-IN" dirty="0"/>
          </a:p>
        </p:txBody>
      </p:sp>
      <p:sp>
        <p:nvSpPr>
          <p:cNvPr id="7" name="Slide Number Placeholder 6">
            <a:extLst>
              <a:ext uri="{FF2B5EF4-FFF2-40B4-BE49-F238E27FC236}">
                <a16:creationId xmlns:a16="http://schemas.microsoft.com/office/drawing/2014/main" id="{1977BFCD-09E1-CC74-B604-CECEBEDD86ED}"/>
              </a:ext>
            </a:extLst>
          </p:cNvPr>
          <p:cNvSpPr>
            <a:spLocks noGrp="1"/>
          </p:cNvSpPr>
          <p:nvPr>
            <p:ph type="sldNum" sz="quarter" idx="12"/>
          </p:nvPr>
        </p:nvSpPr>
        <p:spPr/>
        <p:txBody>
          <a:bodyPr/>
          <a:lstStyle/>
          <a:p>
            <a:fld id="{BB2CE0DE-867F-455F-B20B-96D381B4AB71}" type="slidenum">
              <a:rPr lang="en-US" smtClean="0"/>
              <a:t>21</a:t>
            </a:fld>
            <a:endParaRPr lang="en-US"/>
          </a:p>
        </p:txBody>
      </p:sp>
    </p:spTree>
    <p:extLst>
      <p:ext uri="{BB962C8B-B14F-4D97-AF65-F5344CB8AC3E}">
        <p14:creationId xmlns:p14="http://schemas.microsoft.com/office/powerpoint/2010/main" val="1725987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1A7A-4B8E-440F-9615-67D09E5E31D1}"/>
              </a:ext>
            </a:extLst>
          </p:cNvPr>
          <p:cNvSpPr>
            <a:spLocks noGrp="1"/>
          </p:cNvSpPr>
          <p:nvPr>
            <p:ph type="title"/>
          </p:nvPr>
        </p:nvSpPr>
        <p:spPr/>
        <p:txBody>
          <a:bodyPr/>
          <a:lstStyle/>
          <a:p>
            <a:r>
              <a:rPr lang="en-US" dirty="0"/>
              <a:t>Parameter Norm Penalties</a:t>
            </a:r>
            <a:endParaRPr lang="en-IN" dirty="0"/>
          </a:p>
        </p:txBody>
      </p:sp>
      <p:sp>
        <p:nvSpPr>
          <p:cNvPr id="3" name="Content Placeholder 2">
            <a:extLst>
              <a:ext uri="{FF2B5EF4-FFF2-40B4-BE49-F238E27FC236}">
                <a16:creationId xmlns:a16="http://schemas.microsoft.com/office/drawing/2014/main" id="{9BDE97D2-91DD-41CE-9263-EDAEBC75EB7E}"/>
              </a:ext>
            </a:extLst>
          </p:cNvPr>
          <p:cNvSpPr>
            <a:spLocks noGrp="1"/>
          </p:cNvSpPr>
          <p:nvPr>
            <p:ph idx="1"/>
          </p:nvPr>
        </p:nvSpPr>
        <p:spPr/>
        <p:txBody>
          <a:bodyPr/>
          <a:lstStyle/>
          <a:p>
            <a:pPr marL="0" indent="0" algn="just">
              <a:buNone/>
            </a:pPr>
            <a:r>
              <a:rPr lang="en-US" sz="2000" dirty="0">
                <a:solidFill>
                  <a:schemeClr val="tx1">
                    <a:lumMod val="95000"/>
                    <a:lumOff val="5000"/>
                  </a:schemeClr>
                </a:solidFill>
              </a:rPr>
              <a:t>Regularization is a set of techniques used in machine learning to prevent overfitting by adding a penalty term to the model's loss function, which discourages excessive model complexity. By penalizing large weight coefficients, regularization forces the model to learn smoother, more generalizable patterns rather than memorizing noise in the training data</a:t>
            </a:r>
            <a:endParaRPr lang="en-IN" sz="2000" dirty="0">
              <a:solidFill>
                <a:schemeClr val="tx1">
                  <a:lumMod val="95000"/>
                  <a:lumOff val="5000"/>
                </a:schemeClr>
              </a:solidFill>
            </a:endParaRPr>
          </a:p>
        </p:txBody>
      </p:sp>
      <p:pic>
        <p:nvPicPr>
          <p:cNvPr id="9" name="Picture 8">
            <a:extLst>
              <a:ext uri="{FF2B5EF4-FFF2-40B4-BE49-F238E27FC236}">
                <a16:creationId xmlns:a16="http://schemas.microsoft.com/office/drawing/2014/main" id="{BA27BCCD-AAB3-4E04-A6D5-A0B6D719B0CD}"/>
              </a:ext>
            </a:extLst>
          </p:cNvPr>
          <p:cNvPicPr>
            <a:picLocks noChangeAspect="1"/>
          </p:cNvPicPr>
          <p:nvPr/>
        </p:nvPicPr>
        <p:blipFill>
          <a:blip r:embed="rId3"/>
          <a:stretch>
            <a:fillRect/>
          </a:stretch>
        </p:blipFill>
        <p:spPr>
          <a:xfrm>
            <a:off x="1981200" y="3506447"/>
            <a:ext cx="6236674" cy="609600"/>
          </a:xfrm>
          <a:prstGeom prst="rect">
            <a:avLst/>
          </a:prstGeom>
        </p:spPr>
      </p:pic>
      <p:pic>
        <p:nvPicPr>
          <p:cNvPr id="14" name="Picture 13">
            <a:extLst>
              <a:ext uri="{FF2B5EF4-FFF2-40B4-BE49-F238E27FC236}">
                <a16:creationId xmlns:a16="http://schemas.microsoft.com/office/drawing/2014/main" id="{852AEF76-C33F-4BE9-941B-7A42C2A10AEB}"/>
              </a:ext>
            </a:extLst>
          </p:cNvPr>
          <p:cNvPicPr>
            <a:picLocks noChangeAspect="1"/>
          </p:cNvPicPr>
          <p:nvPr/>
        </p:nvPicPr>
        <p:blipFill>
          <a:blip r:embed="rId4"/>
          <a:stretch>
            <a:fillRect/>
          </a:stretch>
        </p:blipFill>
        <p:spPr>
          <a:xfrm>
            <a:off x="2514600" y="4389802"/>
            <a:ext cx="8153400" cy="303754"/>
          </a:xfrm>
          <a:prstGeom prst="rect">
            <a:avLst/>
          </a:prstGeom>
        </p:spPr>
      </p:pic>
      <p:sp>
        <p:nvSpPr>
          <p:cNvPr id="5" name="Slide Number Placeholder 4">
            <a:extLst>
              <a:ext uri="{FF2B5EF4-FFF2-40B4-BE49-F238E27FC236}">
                <a16:creationId xmlns:a16="http://schemas.microsoft.com/office/drawing/2014/main" id="{79C4A5E2-B50E-20E8-D007-43D37072E892}"/>
              </a:ext>
            </a:extLst>
          </p:cNvPr>
          <p:cNvSpPr>
            <a:spLocks noGrp="1"/>
          </p:cNvSpPr>
          <p:nvPr>
            <p:ph type="sldNum" sz="quarter" idx="12"/>
          </p:nvPr>
        </p:nvSpPr>
        <p:spPr/>
        <p:txBody>
          <a:bodyPr/>
          <a:lstStyle/>
          <a:p>
            <a:fld id="{BB2CE0DE-867F-455F-B20B-96D381B4AB71}" type="slidenum">
              <a:rPr lang="en-US" smtClean="0"/>
              <a:t>22</a:t>
            </a:fld>
            <a:endParaRPr lang="en-US"/>
          </a:p>
        </p:txBody>
      </p:sp>
    </p:spTree>
    <p:extLst>
      <p:ext uri="{BB962C8B-B14F-4D97-AF65-F5344CB8AC3E}">
        <p14:creationId xmlns:p14="http://schemas.microsoft.com/office/powerpoint/2010/main" val="1454763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1A7A-4B8E-440F-9615-67D09E5E31D1}"/>
              </a:ext>
            </a:extLst>
          </p:cNvPr>
          <p:cNvSpPr>
            <a:spLocks noGrp="1"/>
          </p:cNvSpPr>
          <p:nvPr>
            <p:ph type="title"/>
          </p:nvPr>
        </p:nvSpPr>
        <p:spPr/>
        <p:txBody>
          <a:bodyPr/>
          <a:lstStyle/>
          <a:p>
            <a:r>
              <a:rPr lang="en-US" dirty="0"/>
              <a:t>Parameter Norm Penalties</a:t>
            </a:r>
            <a:endParaRPr lang="en-IN" dirty="0"/>
          </a:p>
        </p:txBody>
      </p:sp>
      <p:sp>
        <p:nvSpPr>
          <p:cNvPr id="3" name="Content Placeholder 2">
            <a:extLst>
              <a:ext uri="{FF2B5EF4-FFF2-40B4-BE49-F238E27FC236}">
                <a16:creationId xmlns:a16="http://schemas.microsoft.com/office/drawing/2014/main" id="{9BDE97D2-91DD-41CE-9263-EDAEBC75EB7E}"/>
              </a:ext>
            </a:extLst>
          </p:cNvPr>
          <p:cNvSpPr>
            <a:spLocks noGrp="1"/>
          </p:cNvSpPr>
          <p:nvPr>
            <p:ph idx="1"/>
          </p:nvPr>
        </p:nvSpPr>
        <p:spPr/>
        <p:txBody>
          <a:bodyPr/>
          <a:lstStyle/>
          <a:p>
            <a:pPr marL="0" indent="0" algn="just">
              <a:buNone/>
            </a:pPr>
            <a:endParaRPr lang="en-IN" sz="1600" dirty="0">
              <a:solidFill>
                <a:schemeClr val="tx1">
                  <a:lumMod val="95000"/>
                  <a:lumOff val="5000"/>
                </a:schemeClr>
              </a:solidFill>
            </a:endParaRPr>
          </a:p>
        </p:txBody>
      </p:sp>
      <p:pic>
        <p:nvPicPr>
          <p:cNvPr id="6" name="Picture 5">
            <a:extLst>
              <a:ext uri="{FF2B5EF4-FFF2-40B4-BE49-F238E27FC236}">
                <a16:creationId xmlns:a16="http://schemas.microsoft.com/office/drawing/2014/main" id="{BC62CAB7-725E-4BDE-B86D-5EAF4AB4AACB}"/>
              </a:ext>
            </a:extLst>
          </p:cNvPr>
          <p:cNvPicPr>
            <a:picLocks noChangeAspect="1"/>
          </p:cNvPicPr>
          <p:nvPr/>
        </p:nvPicPr>
        <p:blipFill>
          <a:blip r:embed="rId3"/>
          <a:stretch>
            <a:fillRect/>
          </a:stretch>
        </p:blipFill>
        <p:spPr>
          <a:xfrm>
            <a:off x="779625" y="1219200"/>
            <a:ext cx="9278775" cy="3886200"/>
          </a:xfrm>
          <a:prstGeom prst="rect">
            <a:avLst/>
          </a:prstGeom>
        </p:spPr>
      </p:pic>
      <p:sp>
        <p:nvSpPr>
          <p:cNvPr id="5" name="Slide Number Placeholder 4">
            <a:extLst>
              <a:ext uri="{FF2B5EF4-FFF2-40B4-BE49-F238E27FC236}">
                <a16:creationId xmlns:a16="http://schemas.microsoft.com/office/drawing/2014/main" id="{BC50D06B-7C48-1A0F-7D92-45BE87C2D5BE}"/>
              </a:ext>
            </a:extLst>
          </p:cNvPr>
          <p:cNvSpPr>
            <a:spLocks noGrp="1"/>
          </p:cNvSpPr>
          <p:nvPr>
            <p:ph type="sldNum" sz="quarter" idx="12"/>
          </p:nvPr>
        </p:nvSpPr>
        <p:spPr/>
        <p:txBody>
          <a:bodyPr/>
          <a:lstStyle/>
          <a:p>
            <a:fld id="{BB2CE0DE-867F-455F-B20B-96D381B4AB71}" type="slidenum">
              <a:rPr lang="en-US" smtClean="0"/>
              <a:t>23</a:t>
            </a:fld>
            <a:endParaRPr lang="en-US"/>
          </a:p>
        </p:txBody>
      </p:sp>
    </p:spTree>
    <p:extLst>
      <p:ext uri="{BB962C8B-B14F-4D97-AF65-F5344CB8AC3E}">
        <p14:creationId xmlns:p14="http://schemas.microsoft.com/office/powerpoint/2010/main" val="403428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790DF-4AB1-4544-994B-BFC4206DFB76}"/>
              </a:ext>
            </a:extLst>
          </p:cNvPr>
          <p:cNvSpPr>
            <a:spLocks noGrp="1"/>
          </p:cNvSpPr>
          <p:nvPr>
            <p:ph type="title"/>
          </p:nvPr>
        </p:nvSpPr>
        <p:spPr/>
        <p:txBody>
          <a:bodyPr/>
          <a:lstStyle/>
          <a:p>
            <a:r>
              <a:rPr lang="en-US" sz="2800" b="1" dirty="0">
                <a:solidFill>
                  <a:srgbClr val="001D35"/>
                </a:solidFill>
                <a:latin typeface="Google Sans"/>
              </a:rPr>
              <a:t>Primary Types of Regularization Penalty Terms</a:t>
            </a:r>
            <a:endParaRPr lang="en-IN" sz="2800" dirty="0"/>
          </a:p>
        </p:txBody>
      </p:sp>
      <p:sp>
        <p:nvSpPr>
          <p:cNvPr id="3" name="Content Placeholder 2">
            <a:extLst>
              <a:ext uri="{FF2B5EF4-FFF2-40B4-BE49-F238E27FC236}">
                <a16:creationId xmlns:a16="http://schemas.microsoft.com/office/drawing/2014/main" id="{73C9A1D1-D113-450D-9C83-AC5BBD7AFA3E}"/>
              </a:ext>
            </a:extLst>
          </p:cNvPr>
          <p:cNvSpPr>
            <a:spLocks noGrp="1"/>
          </p:cNvSpPr>
          <p:nvPr>
            <p:ph idx="1"/>
          </p:nvPr>
        </p:nvSpPr>
        <p:spPr/>
        <p:txBody>
          <a:bodyPr/>
          <a:lstStyle/>
          <a:p>
            <a:pPr marL="0" indent="0">
              <a:buNone/>
            </a:pPr>
            <a:r>
              <a:rPr lang="en-US" i="0" dirty="0">
                <a:solidFill>
                  <a:srgbClr val="001D35"/>
                </a:solidFill>
                <a:effectLst/>
                <a:latin typeface="Google Sans"/>
              </a:rPr>
              <a:t>1. L2 Regularization (Ridge Regression)</a:t>
            </a:r>
          </a:p>
          <a:p>
            <a:pPr marL="0" indent="0">
              <a:buNone/>
            </a:pPr>
            <a:endParaRPr lang="en-IN" i="0" dirty="0">
              <a:solidFill>
                <a:srgbClr val="001D35"/>
              </a:solidFill>
              <a:effectLst/>
              <a:latin typeface="Google Sans"/>
            </a:endParaRPr>
          </a:p>
          <a:p>
            <a:pPr marL="0" indent="0">
              <a:buNone/>
            </a:pPr>
            <a:r>
              <a:rPr lang="en-IN" i="0" dirty="0">
                <a:solidFill>
                  <a:srgbClr val="001D35"/>
                </a:solidFill>
                <a:effectLst/>
                <a:latin typeface="Google Sans"/>
              </a:rPr>
              <a:t>2.  L1 Regularization (Lasso Regression)</a:t>
            </a:r>
          </a:p>
          <a:p>
            <a:pPr marL="0" indent="0">
              <a:buNone/>
            </a:pPr>
            <a:br>
              <a:rPr lang="en-IN" dirty="0"/>
            </a:br>
            <a:endParaRPr lang="en-IN" dirty="0"/>
          </a:p>
          <a:p>
            <a:endParaRPr lang="en-IN" dirty="0"/>
          </a:p>
        </p:txBody>
      </p:sp>
      <p:sp>
        <p:nvSpPr>
          <p:cNvPr id="5" name="Slide Number Placeholder 4">
            <a:extLst>
              <a:ext uri="{FF2B5EF4-FFF2-40B4-BE49-F238E27FC236}">
                <a16:creationId xmlns:a16="http://schemas.microsoft.com/office/drawing/2014/main" id="{E7227359-B40D-DE27-D1A1-DEBA33F5D368}"/>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4012120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4CCED-7B26-12C9-E62F-3E39A44307FA}"/>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0B9A07F4-BE96-1983-9597-FFECE0C739B1}"/>
              </a:ext>
            </a:extLst>
          </p:cNvPr>
          <p:cNvPicPr>
            <a:picLocks noChangeAspect="1"/>
          </p:cNvPicPr>
          <p:nvPr/>
        </p:nvPicPr>
        <p:blipFill>
          <a:blip r:embed="rId3"/>
          <a:stretch>
            <a:fillRect/>
          </a:stretch>
        </p:blipFill>
        <p:spPr>
          <a:xfrm>
            <a:off x="1869724" y="2716489"/>
            <a:ext cx="3790950" cy="1034953"/>
          </a:xfrm>
          <a:prstGeom prst="rect">
            <a:avLst/>
          </a:prstGeom>
        </p:spPr>
      </p:pic>
      <p:sp>
        <p:nvSpPr>
          <p:cNvPr id="6" name="TextBox 5">
            <a:extLst>
              <a:ext uri="{FF2B5EF4-FFF2-40B4-BE49-F238E27FC236}">
                <a16:creationId xmlns:a16="http://schemas.microsoft.com/office/drawing/2014/main" id="{669CB3BD-E768-1A54-43D3-5CFCDAE78AF7}"/>
              </a:ext>
            </a:extLst>
          </p:cNvPr>
          <p:cNvSpPr txBox="1"/>
          <p:nvPr/>
        </p:nvSpPr>
        <p:spPr>
          <a:xfrm>
            <a:off x="3975203" y="3834770"/>
            <a:ext cx="2270943" cy="646331"/>
          </a:xfrm>
          <a:prstGeom prst="rect">
            <a:avLst/>
          </a:prstGeom>
          <a:noFill/>
        </p:spPr>
        <p:txBody>
          <a:bodyPr wrap="none" rtlCol="0">
            <a:spAutoFit/>
          </a:bodyPr>
          <a:lstStyle/>
          <a:p>
            <a:r>
              <a:rPr lang="en-US" dirty="0"/>
              <a:t>L1 Regularization </a:t>
            </a:r>
          </a:p>
          <a:p>
            <a:r>
              <a:rPr lang="en-US" dirty="0"/>
              <a:t>added to Loss</a:t>
            </a:r>
            <a:endParaRPr lang="en-IN" dirty="0"/>
          </a:p>
        </p:txBody>
      </p:sp>
      <p:pic>
        <p:nvPicPr>
          <p:cNvPr id="7" name="Picture 6">
            <a:extLst>
              <a:ext uri="{FF2B5EF4-FFF2-40B4-BE49-F238E27FC236}">
                <a16:creationId xmlns:a16="http://schemas.microsoft.com/office/drawing/2014/main" id="{7B69689A-34A6-167E-08B4-734CFAB4687E}"/>
              </a:ext>
            </a:extLst>
          </p:cNvPr>
          <p:cNvPicPr>
            <a:picLocks noChangeAspect="1"/>
          </p:cNvPicPr>
          <p:nvPr/>
        </p:nvPicPr>
        <p:blipFill>
          <a:blip r:embed="rId4"/>
          <a:stretch>
            <a:fillRect/>
          </a:stretch>
        </p:blipFill>
        <p:spPr>
          <a:xfrm>
            <a:off x="6539089" y="2681461"/>
            <a:ext cx="3790950" cy="1064336"/>
          </a:xfrm>
          <a:prstGeom prst="rect">
            <a:avLst/>
          </a:prstGeom>
        </p:spPr>
      </p:pic>
      <p:sp>
        <p:nvSpPr>
          <p:cNvPr id="8" name="TextBox 7">
            <a:extLst>
              <a:ext uri="{FF2B5EF4-FFF2-40B4-BE49-F238E27FC236}">
                <a16:creationId xmlns:a16="http://schemas.microsoft.com/office/drawing/2014/main" id="{F8810FCF-C064-A5BB-B996-3C48790FB3C4}"/>
              </a:ext>
            </a:extLst>
          </p:cNvPr>
          <p:cNvSpPr txBox="1"/>
          <p:nvPr/>
        </p:nvSpPr>
        <p:spPr>
          <a:xfrm>
            <a:off x="8922927" y="3694757"/>
            <a:ext cx="2270943" cy="646331"/>
          </a:xfrm>
          <a:prstGeom prst="rect">
            <a:avLst/>
          </a:prstGeom>
          <a:noFill/>
        </p:spPr>
        <p:txBody>
          <a:bodyPr wrap="none" rtlCol="0">
            <a:spAutoFit/>
          </a:bodyPr>
          <a:lstStyle/>
          <a:p>
            <a:r>
              <a:rPr lang="en-US" dirty="0"/>
              <a:t>L2 Regularization </a:t>
            </a:r>
          </a:p>
          <a:p>
            <a:r>
              <a:rPr lang="en-US" dirty="0"/>
              <a:t>added to Loss</a:t>
            </a:r>
            <a:endParaRPr lang="en-IN" dirty="0"/>
          </a:p>
        </p:txBody>
      </p:sp>
      <p:pic>
        <p:nvPicPr>
          <p:cNvPr id="10" name="Picture 9">
            <a:extLst>
              <a:ext uri="{FF2B5EF4-FFF2-40B4-BE49-F238E27FC236}">
                <a16:creationId xmlns:a16="http://schemas.microsoft.com/office/drawing/2014/main" id="{CFF16FCD-D884-5740-6DEB-C5361C0F3459}"/>
              </a:ext>
            </a:extLst>
          </p:cNvPr>
          <p:cNvPicPr>
            <a:picLocks noChangeAspect="1"/>
          </p:cNvPicPr>
          <p:nvPr/>
        </p:nvPicPr>
        <p:blipFill>
          <a:blip r:embed="rId5"/>
          <a:stretch>
            <a:fillRect/>
          </a:stretch>
        </p:blipFill>
        <p:spPr>
          <a:xfrm>
            <a:off x="3352800" y="1118816"/>
            <a:ext cx="4048690" cy="504895"/>
          </a:xfrm>
          <a:prstGeom prst="rect">
            <a:avLst/>
          </a:prstGeom>
        </p:spPr>
      </p:pic>
      <p:cxnSp>
        <p:nvCxnSpPr>
          <p:cNvPr id="12" name="Straight Arrow Connector 11">
            <a:extLst>
              <a:ext uri="{FF2B5EF4-FFF2-40B4-BE49-F238E27FC236}">
                <a16:creationId xmlns:a16="http://schemas.microsoft.com/office/drawing/2014/main" id="{71390464-B6BE-5A42-8D8C-DB396E92DCC7}"/>
              </a:ext>
            </a:extLst>
          </p:cNvPr>
          <p:cNvCxnSpPr/>
          <p:nvPr/>
        </p:nvCxnSpPr>
        <p:spPr bwMode="auto">
          <a:xfrm flipH="1">
            <a:off x="4648200" y="1676400"/>
            <a:ext cx="2209800"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5721CBF-DF39-4524-B888-CE442EFB5680}"/>
              </a:ext>
            </a:extLst>
          </p:cNvPr>
          <p:cNvCxnSpPr>
            <a:cxnSpLocks/>
          </p:cNvCxnSpPr>
          <p:nvPr/>
        </p:nvCxnSpPr>
        <p:spPr bwMode="auto">
          <a:xfrm>
            <a:off x="6934200" y="1676400"/>
            <a:ext cx="2743200"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TextBox 14">
            <a:extLst>
              <a:ext uri="{FF2B5EF4-FFF2-40B4-BE49-F238E27FC236}">
                <a16:creationId xmlns:a16="http://schemas.microsoft.com/office/drawing/2014/main" id="{4FDBC52A-82E1-1D95-16CF-276DA26D3920}"/>
              </a:ext>
            </a:extLst>
          </p:cNvPr>
          <p:cNvSpPr txBox="1"/>
          <p:nvPr/>
        </p:nvSpPr>
        <p:spPr>
          <a:xfrm>
            <a:off x="1685292" y="4747582"/>
            <a:ext cx="8998938" cy="338554"/>
          </a:xfrm>
          <a:prstGeom prst="rect">
            <a:avLst/>
          </a:prstGeom>
          <a:noFill/>
        </p:spPr>
        <p:txBody>
          <a:bodyPr wrap="none" rtlCol="0">
            <a:spAutoFit/>
          </a:bodyPr>
          <a:lstStyle/>
          <a:p>
            <a:r>
              <a:rPr lang="en-US" sz="1600" dirty="0"/>
              <a:t>Norm penalty Ω penalizes only weights at each layer and leaves biases unregularized</a:t>
            </a:r>
            <a:endParaRPr lang="en-IN" sz="1600" dirty="0"/>
          </a:p>
        </p:txBody>
      </p:sp>
      <p:sp>
        <p:nvSpPr>
          <p:cNvPr id="16" name="TextBox 15">
            <a:extLst>
              <a:ext uri="{FF2B5EF4-FFF2-40B4-BE49-F238E27FC236}">
                <a16:creationId xmlns:a16="http://schemas.microsoft.com/office/drawing/2014/main" id="{8C7B8402-716D-9FC9-CDB8-F2673E6D1069}"/>
              </a:ext>
            </a:extLst>
          </p:cNvPr>
          <p:cNvSpPr txBox="1"/>
          <p:nvPr/>
        </p:nvSpPr>
        <p:spPr>
          <a:xfrm>
            <a:off x="1705048" y="5420303"/>
            <a:ext cx="5928098" cy="646331"/>
          </a:xfrm>
          <a:prstGeom prst="rect">
            <a:avLst/>
          </a:prstGeom>
          <a:noFill/>
        </p:spPr>
        <p:txBody>
          <a:bodyPr wrap="none" rtlCol="0">
            <a:spAutoFit/>
          </a:bodyPr>
          <a:lstStyle/>
          <a:p>
            <a:r>
              <a:rPr lang="en-US" dirty="0"/>
              <a:t>W indicates all weights affected by norm penalty </a:t>
            </a:r>
          </a:p>
          <a:p>
            <a:r>
              <a:rPr lang="en-US" dirty="0"/>
              <a:t>θ denotes both w and biases.</a:t>
            </a:r>
            <a:endParaRPr lang="en-IN" dirty="0"/>
          </a:p>
        </p:txBody>
      </p:sp>
      <p:sp>
        <p:nvSpPr>
          <p:cNvPr id="9" name="TextBox 8">
            <a:extLst>
              <a:ext uri="{FF2B5EF4-FFF2-40B4-BE49-F238E27FC236}">
                <a16:creationId xmlns:a16="http://schemas.microsoft.com/office/drawing/2014/main" id="{3A44F9EB-7F87-33B8-C3E7-077985A0AA8A}"/>
              </a:ext>
            </a:extLst>
          </p:cNvPr>
          <p:cNvSpPr txBox="1"/>
          <p:nvPr/>
        </p:nvSpPr>
        <p:spPr>
          <a:xfrm>
            <a:off x="8547633" y="1685748"/>
            <a:ext cx="3021533" cy="646331"/>
          </a:xfrm>
          <a:prstGeom prst="rect">
            <a:avLst/>
          </a:prstGeom>
          <a:noFill/>
        </p:spPr>
        <p:txBody>
          <a:bodyPr wrap="none" rtlCol="0">
            <a:spAutoFit/>
          </a:bodyPr>
          <a:lstStyle/>
          <a:p>
            <a:r>
              <a:rPr lang="en-IN" dirty="0"/>
              <a:t>Parameter Norm Penalty</a:t>
            </a:r>
          </a:p>
          <a:p>
            <a:endParaRPr lang="en-IN" dirty="0"/>
          </a:p>
        </p:txBody>
      </p:sp>
      <p:sp>
        <p:nvSpPr>
          <p:cNvPr id="3" name="Slide Number Placeholder 2">
            <a:extLst>
              <a:ext uri="{FF2B5EF4-FFF2-40B4-BE49-F238E27FC236}">
                <a16:creationId xmlns:a16="http://schemas.microsoft.com/office/drawing/2014/main" id="{CC146CA3-DD64-1622-BFA3-962AA9E8FBCD}"/>
              </a:ext>
            </a:extLst>
          </p:cNvPr>
          <p:cNvSpPr>
            <a:spLocks noGrp="1"/>
          </p:cNvSpPr>
          <p:nvPr>
            <p:ph type="sldNum" sz="quarter" idx="12"/>
          </p:nvPr>
        </p:nvSpPr>
        <p:spPr/>
        <p:txBody>
          <a:bodyPr/>
          <a:lstStyle/>
          <a:p>
            <a:fld id="{BB2CE0DE-867F-455F-B20B-96D381B4AB71}" type="slidenum">
              <a:rPr lang="en-US" smtClean="0"/>
              <a:t>25</a:t>
            </a:fld>
            <a:endParaRPr lang="en-US"/>
          </a:p>
        </p:txBody>
      </p:sp>
    </p:spTree>
    <p:extLst>
      <p:ext uri="{BB962C8B-B14F-4D97-AF65-F5344CB8AC3E}">
        <p14:creationId xmlns:p14="http://schemas.microsoft.com/office/powerpoint/2010/main" val="2152439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B91B-230F-C064-2C98-8315FA8FFF83}"/>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0F357406-1473-B9DD-1BAE-D19F6055AEF1}"/>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5E760482-F8FE-A00E-DED8-E021D0FB42C6}"/>
              </a:ext>
            </a:extLst>
          </p:cNvPr>
          <p:cNvPicPr>
            <a:picLocks noChangeAspect="1"/>
          </p:cNvPicPr>
          <p:nvPr/>
        </p:nvPicPr>
        <p:blipFill>
          <a:blip r:embed="rId2"/>
          <a:stretch>
            <a:fillRect/>
          </a:stretch>
        </p:blipFill>
        <p:spPr>
          <a:xfrm>
            <a:off x="771877" y="1207911"/>
            <a:ext cx="9144000" cy="4174803"/>
          </a:xfrm>
          <a:prstGeom prst="rect">
            <a:avLst/>
          </a:prstGeom>
        </p:spPr>
      </p:pic>
      <p:sp>
        <p:nvSpPr>
          <p:cNvPr id="5" name="Slide Number Placeholder 4">
            <a:extLst>
              <a:ext uri="{FF2B5EF4-FFF2-40B4-BE49-F238E27FC236}">
                <a16:creationId xmlns:a16="http://schemas.microsoft.com/office/drawing/2014/main" id="{56FBA5E2-F558-A4A8-E4AB-3FC5033BA864}"/>
              </a:ext>
            </a:extLst>
          </p:cNvPr>
          <p:cNvSpPr>
            <a:spLocks noGrp="1"/>
          </p:cNvSpPr>
          <p:nvPr>
            <p:ph type="sldNum" sz="quarter" idx="12"/>
          </p:nvPr>
        </p:nvSpPr>
        <p:spPr/>
        <p:txBody>
          <a:bodyPr/>
          <a:lstStyle/>
          <a:p>
            <a:fld id="{BB2CE0DE-867F-455F-B20B-96D381B4AB71}" type="slidenum">
              <a:rPr lang="en-US" smtClean="0"/>
              <a:t>26</a:t>
            </a:fld>
            <a:endParaRPr lang="en-US"/>
          </a:p>
        </p:txBody>
      </p:sp>
    </p:spTree>
    <p:extLst>
      <p:ext uri="{BB962C8B-B14F-4D97-AF65-F5344CB8AC3E}">
        <p14:creationId xmlns:p14="http://schemas.microsoft.com/office/powerpoint/2010/main" val="1366803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90E95-DF92-99A9-210D-AF1968F11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77B50-748B-FF03-17DD-B358BE370771}"/>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F951B6B7-8163-0F32-A4BD-F395EA7C70F2}"/>
              </a:ext>
            </a:extLst>
          </p:cNvPr>
          <p:cNvSpPr>
            <a:spLocks noGrp="1"/>
          </p:cNvSpPr>
          <p:nvPr>
            <p:ph idx="1"/>
          </p:nvPr>
        </p:nvSpPr>
        <p:spPr/>
        <p:txBody>
          <a:bodyPr/>
          <a:lstStyle/>
          <a:p>
            <a:pPr marL="0" indent="0" algn="just">
              <a:buNone/>
            </a:pPr>
            <a:r>
              <a:rPr lang="en-US" sz="2000" dirty="0"/>
              <a:t>We can gain some insight into the behavior of weight decay regularization by studying the gradient of the regularized objective function. To simplify the presentation, we assume no bias parameter, so θ is just w. Such a model has the following total objective function:</a:t>
            </a:r>
            <a:endParaRPr lang="en-IN" sz="2000" dirty="0"/>
          </a:p>
        </p:txBody>
      </p:sp>
      <p:pic>
        <p:nvPicPr>
          <p:cNvPr id="7" name="Picture 6">
            <a:extLst>
              <a:ext uri="{FF2B5EF4-FFF2-40B4-BE49-F238E27FC236}">
                <a16:creationId xmlns:a16="http://schemas.microsoft.com/office/drawing/2014/main" id="{3B945963-C2F6-DDCB-A746-BFAAF51D58BA}"/>
              </a:ext>
            </a:extLst>
          </p:cNvPr>
          <p:cNvPicPr>
            <a:picLocks noChangeAspect="1"/>
          </p:cNvPicPr>
          <p:nvPr/>
        </p:nvPicPr>
        <p:blipFill>
          <a:blip r:embed="rId2"/>
          <a:stretch>
            <a:fillRect/>
          </a:stretch>
        </p:blipFill>
        <p:spPr>
          <a:xfrm>
            <a:off x="2971800" y="2902900"/>
            <a:ext cx="5764568" cy="1001996"/>
          </a:xfrm>
          <a:prstGeom prst="rect">
            <a:avLst/>
          </a:prstGeom>
        </p:spPr>
      </p:pic>
      <p:pic>
        <p:nvPicPr>
          <p:cNvPr id="9" name="Picture 8">
            <a:extLst>
              <a:ext uri="{FF2B5EF4-FFF2-40B4-BE49-F238E27FC236}">
                <a16:creationId xmlns:a16="http://schemas.microsoft.com/office/drawing/2014/main" id="{BBC67DEE-771A-5AA8-4220-7B7D047B0249}"/>
              </a:ext>
            </a:extLst>
          </p:cNvPr>
          <p:cNvPicPr>
            <a:picLocks noChangeAspect="1"/>
          </p:cNvPicPr>
          <p:nvPr/>
        </p:nvPicPr>
        <p:blipFill>
          <a:blip r:embed="rId3"/>
          <a:stretch>
            <a:fillRect/>
          </a:stretch>
        </p:blipFill>
        <p:spPr>
          <a:xfrm>
            <a:off x="1524001" y="4495800"/>
            <a:ext cx="3658111" cy="1552792"/>
          </a:xfrm>
          <a:prstGeom prst="rect">
            <a:avLst/>
          </a:prstGeom>
        </p:spPr>
      </p:pic>
      <p:pic>
        <p:nvPicPr>
          <p:cNvPr id="11" name="Picture 10">
            <a:extLst>
              <a:ext uri="{FF2B5EF4-FFF2-40B4-BE49-F238E27FC236}">
                <a16:creationId xmlns:a16="http://schemas.microsoft.com/office/drawing/2014/main" id="{9767BE4E-78FD-25F4-9D75-A814C88721F9}"/>
              </a:ext>
            </a:extLst>
          </p:cNvPr>
          <p:cNvPicPr>
            <a:picLocks noChangeAspect="1"/>
          </p:cNvPicPr>
          <p:nvPr/>
        </p:nvPicPr>
        <p:blipFill>
          <a:blip r:embed="rId4"/>
          <a:stretch>
            <a:fillRect/>
          </a:stretch>
        </p:blipFill>
        <p:spPr>
          <a:xfrm>
            <a:off x="5496236" y="5276960"/>
            <a:ext cx="2449322" cy="1001996"/>
          </a:xfrm>
          <a:prstGeom prst="rect">
            <a:avLst/>
          </a:prstGeom>
        </p:spPr>
      </p:pic>
      <p:sp>
        <p:nvSpPr>
          <p:cNvPr id="12" name="TextBox 11">
            <a:extLst>
              <a:ext uri="{FF2B5EF4-FFF2-40B4-BE49-F238E27FC236}">
                <a16:creationId xmlns:a16="http://schemas.microsoft.com/office/drawing/2014/main" id="{E351EAF1-83CD-17C9-0296-B7EA55A86EB4}"/>
              </a:ext>
            </a:extLst>
          </p:cNvPr>
          <p:cNvSpPr txBox="1"/>
          <p:nvPr/>
        </p:nvSpPr>
        <p:spPr>
          <a:xfrm>
            <a:off x="5315811" y="4368762"/>
            <a:ext cx="5259493" cy="707886"/>
          </a:xfrm>
          <a:prstGeom prst="rect">
            <a:avLst/>
          </a:prstGeom>
          <a:noFill/>
        </p:spPr>
        <p:txBody>
          <a:bodyPr wrap="square" rtlCol="0">
            <a:spAutoFit/>
          </a:bodyPr>
          <a:lstStyle/>
          <a:p>
            <a:r>
              <a:rPr lang="en-US" sz="2000" dirty="0"/>
              <a:t>L2 regularization always uses </a:t>
            </a:r>
          </a:p>
          <a:p>
            <a:r>
              <a:rPr lang="en-US" sz="2000" dirty="0"/>
              <a:t>squared weights</a:t>
            </a:r>
            <a:endParaRPr lang="en-IN" sz="2000" dirty="0"/>
          </a:p>
        </p:txBody>
      </p:sp>
      <p:sp>
        <p:nvSpPr>
          <p:cNvPr id="5" name="Slide Number Placeholder 4">
            <a:extLst>
              <a:ext uri="{FF2B5EF4-FFF2-40B4-BE49-F238E27FC236}">
                <a16:creationId xmlns:a16="http://schemas.microsoft.com/office/drawing/2014/main" id="{C1F100D5-2C1C-6B38-C049-EEA52820A367}"/>
              </a:ext>
            </a:extLst>
          </p:cNvPr>
          <p:cNvSpPr>
            <a:spLocks noGrp="1"/>
          </p:cNvSpPr>
          <p:nvPr>
            <p:ph type="sldNum" sz="quarter" idx="12"/>
          </p:nvPr>
        </p:nvSpPr>
        <p:spPr/>
        <p:txBody>
          <a:bodyPr/>
          <a:lstStyle/>
          <a:p>
            <a:fld id="{BB2CE0DE-867F-455F-B20B-96D381B4AB71}" type="slidenum">
              <a:rPr lang="en-US" smtClean="0"/>
              <a:t>27</a:t>
            </a:fld>
            <a:endParaRPr lang="en-US"/>
          </a:p>
        </p:txBody>
      </p:sp>
    </p:spTree>
    <p:extLst>
      <p:ext uri="{BB962C8B-B14F-4D97-AF65-F5344CB8AC3E}">
        <p14:creationId xmlns:p14="http://schemas.microsoft.com/office/powerpoint/2010/main" val="2017636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DFC31-DC96-85D3-6336-A88E8874F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75A0B-4E1C-05B2-141A-137AFD587F0C}"/>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EE9CD80C-39B2-8DCA-6FD4-8E9696C9FD72}"/>
              </a:ext>
            </a:extLst>
          </p:cNvPr>
          <p:cNvSpPr>
            <a:spLocks noGrp="1"/>
          </p:cNvSpPr>
          <p:nvPr>
            <p:ph idx="1"/>
          </p:nvPr>
        </p:nvSpPr>
        <p:spPr/>
        <p:txBody>
          <a:bodyPr/>
          <a:lstStyle/>
          <a:p>
            <a:pPr marL="0" indent="0" algn="just">
              <a:buNone/>
            </a:pPr>
            <a:endParaRPr lang="en-IN" sz="2000" dirty="0"/>
          </a:p>
        </p:txBody>
      </p:sp>
      <p:pic>
        <p:nvPicPr>
          <p:cNvPr id="7" name="Picture 6">
            <a:extLst>
              <a:ext uri="{FF2B5EF4-FFF2-40B4-BE49-F238E27FC236}">
                <a16:creationId xmlns:a16="http://schemas.microsoft.com/office/drawing/2014/main" id="{9B7BD72E-85A8-D1B7-B55A-D3FCA423C768}"/>
              </a:ext>
            </a:extLst>
          </p:cNvPr>
          <p:cNvPicPr>
            <a:picLocks noChangeAspect="1"/>
          </p:cNvPicPr>
          <p:nvPr/>
        </p:nvPicPr>
        <p:blipFill>
          <a:blip r:embed="rId2"/>
          <a:stretch>
            <a:fillRect/>
          </a:stretch>
        </p:blipFill>
        <p:spPr>
          <a:xfrm>
            <a:off x="2133600" y="1219200"/>
            <a:ext cx="8719916" cy="1515694"/>
          </a:xfrm>
          <a:prstGeom prst="rect">
            <a:avLst/>
          </a:prstGeom>
        </p:spPr>
      </p:pic>
      <p:pic>
        <p:nvPicPr>
          <p:cNvPr id="6" name="Picture 5">
            <a:extLst>
              <a:ext uri="{FF2B5EF4-FFF2-40B4-BE49-F238E27FC236}">
                <a16:creationId xmlns:a16="http://schemas.microsoft.com/office/drawing/2014/main" id="{19A84A28-BAD2-DB61-71D0-17CE9917EF3B}"/>
              </a:ext>
            </a:extLst>
          </p:cNvPr>
          <p:cNvPicPr>
            <a:picLocks noChangeAspect="1"/>
          </p:cNvPicPr>
          <p:nvPr/>
        </p:nvPicPr>
        <p:blipFill>
          <a:blip r:embed="rId3"/>
          <a:stretch>
            <a:fillRect/>
          </a:stretch>
        </p:blipFill>
        <p:spPr>
          <a:xfrm>
            <a:off x="1524000" y="3200400"/>
            <a:ext cx="9539956" cy="1515694"/>
          </a:xfrm>
          <a:prstGeom prst="rect">
            <a:avLst/>
          </a:prstGeom>
        </p:spPr>
      </p:pic>
      <p:sp>
        <p:nvSpPr>
          <p:cNvPr id="5" name="Slide Number Placeholder 4">
            <a:extLst>
              <a:ext uri="{FF2B5EF4-FFF2-40B4-BE49-F238E27FC236}">
                <a16:creationId xmlns:a16="http://schemas.microsoft.com/office/drawing/2014/main" id="{DC81A44C-DB75-AD4E-0909-11758E96EBA2}"/>
              </a:ext>
            </a:extLst>
          </p:cNvPr>
          <p:cNvSpPr>
            <a:spLocks noGrp="1"/>
          </p:cNvSpPr>
          <p:nvPr>
            <p:ph type="sldNum" sz="quarter" idx="12"/>
          </p:nvPr>
        </p:nvSpPr>
        <p:spPr/>
        <p:txBody>
          <a:bodyPr/>
          <a:lstStyle/>
          <a:p>
            <a:fld id="{BB2CE0DE-867F-455F-B20B-96D381B4AB71}" type="slidenum">
              <a:rPr lang="en-US" smtClean="0"/>
              <a:t>28</a:t>
            </a:fld>
            <a:endParaRPr lang="en-US"/>
          </a:p>
        </p:txBody>
      </p:sp>
    </p:spTree>
    <p:extLst>
      <p:ext uri="{BB962C8B-B14F-4D97-AF65-F5344CB8AC3E}">
        <p14:creationId xmlns:p14="http://schemas.microsoft.com/office/powerpoint/2010/main" val="1873001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E9CDB-4A06-2D54-209E-D505DC3DD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A854D-1BE4-E49E-94F3-926649AB62A3}"/>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C96D2504-A1B2-694F-3EF0-23AD2D933A67}"/>
              </a:ext>
            </a:extLst>
          </p:cNvPr>
          <p:cNvPicPr>
            <a:picLocks noChangeAspect="1"/>
          </p:cNvPicPr>
          <p:nvPr/>
        </p:nvPicPr>
        <p:blipFill>
          <a:blip r:embed="rId2"/>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0F596BE6-3E63-3F6D-D407-0E6B2B08B51F}"/>
              </a:ext>
            </a:extLst>
          </p:cNvPr>
          <p:cNvPicPr>
            <a:picLocks noChangeAspect="1"/>
          </p:cNvPicPr>
          <p:nvPr/>
        </p:nvPicPr>
        <p:blipFill>
          <a:blip r:embed="rId3"/>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7AFFC83E-E585-8FA6-0806-8BB6A4B0432C}"/>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520D1F14-30A0-8E4A-EC72-24B76A799B20}"/>
              </a:ext>
            </a:extLst>
          </p:cNvPr>
          <p:cNvPicPr>
            <a:picLocks noChangeAspect="1"/>
          </p:cNvPicPr>
          <p:nvPr/>
        </p:nvPicPr>
        <p:blipFill>
          <a:blip r:embed="rId4"/>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77FE2D68-E73D-9B41-97A2-769AD1771255}"/>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4C48D5A8-2FE8-10C2-B0EB-E2659AD8DE5F}"/>
              </a:ext>
            </a:extLst>
          </p:cNvPr>
          <p:cNvPicPr>
            <a:picLocks noChangeAspect="1"/>
          </p:cNvPicPr>
          <p:nvPr/>
        </p:nvPicPr>
        <p:blipFill>
          <a:blip r:embed="rId5"/>
          <a:stretch>
            <a:fillRect/>
          </a:stretch>
        </p:blipFill>
        <p:spPr>
          <a:xfrm>
            <a:off x="2024566" y="5555030"/>
            <a:ext cx="4833434" cy="517383"/>
          </a:xfrm>
          <a:prstGeom prst="rect">
            <a:avLst/>
          </a:prstGeom>
        </p:spPr>
      </p:pic>
      <p:sp>
        <p:nvSpPr>
          <p:cNvPr id="14" name="TextBox 13">
            <a:extLst>
              <a:ext uri="{FF2B5EF4-FFF2-40B4-BE49-F238E27FC236}">
                <a16:creationId xmlns:a16="http://schemas.microsoft.com/office/drawing/2014/main" id="{2A585167-00EF-C1D8-3209-BB82809F7E7E}"/>
              </a:ext>
            </a:extLst>
          </p:cNvPr>
          <p:cNvSpPr txBox="1"/>
          <p:nvPr/>
        </p:nvSpPr>
        <p:spPr>
          <a:xfrm>
            <a:off x="2021745" y="5033297"/>
            <a:ext cx="4325095" cy="369332"/>
          </a:xfrm>
          <a:prstGeom prst="rect">
            <a:avLst/>
          </a:prstGeom>
          <a:noFill/>
        </p:spPr>
        <p:txBody>
          <a:bodyPr wrap="none" rtlCol="0">
            <a:spAutoFit/>
          </a:bodyPr>
          <a:lstStyle/>
          <a:p>
            <a:r>
              <a:rPr lang="en-US" dirty="0"/>
              <a:t>Written another way, the update is:</a:t>
            </a:r>
            <a:endParaRPr lang="en-IN" dirty="0"/>
          </a:p>
        </p:txBody>
      </p:sp>
      <p:sp>
        <p:nvSpPr>
          <p:cNvPr id="3" name="Slide Number Placeholder 2">
            <a:extLst>
              <a:ext uri="{FF2B5EF4-FFF2-40B4-BE49-F238E27FC236}">
                <a16:creationId xmlns:a16="http://schemas.microsoft.com/office/drawing/2014/main" id="{E53615FB-A0B8-5617-5D71-4111E199A099}"/>
              </a:ext>
            </a:extLst>
          </p:cNvPr>
          <p:cNvSpPr>
            <a:spLocks noGrp="1"/>
          </p:cNvSpPr>
          <p:nvPr>
            <p:ph type="sldNum" sz="quarter" idx="12"/>
          </p:nvPr>
        </p:nvSpPr>
        <p:spPr/>
        <p:txBody>
          <a:bodyPr/>
          <a:lstStyle/>
          <a:p>
            <a:fld id="{BB2CE0DE-867F-455F-B20B-96D381B4AB71}" type="slidenum">
              <a:rPr lang="en-US" smtClean="0"/>
              <a:t>29</a:t>
            </a:fld>
            <a:endParaRPr lang="en-US"/>
          </a:p>
        </p:txBody>
      </p:sp>
    </p:spTree>
    <p:extLst>
      <p:ext uri="{BB962C8B-B14F-4D97-AF65-F5344CB8AC3E}">
        <p14:creationId xmlns:p14="http://schemas.microsoft.com/office/powerpoint/2010/main" val="3965977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451F2-450B-2E63-EB21-F81006494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97DB88-B385-8B4C-FA7C-D25D83239A7D}"/>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8273AC93-D140-FB83-536A-F45DC2BC52C2}"/>
              </a:ext>
            </a:extLst>
          </p:cNvPr>
          <p:cNvPicPr>
            <a:picLocks noChangeAspect="1"/>
          </p:cNvPicPr>
          <p:nvPr/>
        </p:nvPicPr>
        <p:blipFill>
          <a:blip r:embed="rId3"/>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91D5861E-8543-3DBC-8493-B8134C1D7175}"/>
              </a:ext>
            </a:extLst>
          </p:cNvPr>
          <p:cNvPicPr>
            <a:picLocks noChangeAspect="1"/>
          </p:cNvPicPr>
          <p:nvPr/>
        </p:nvPicPr>
        <p:blipFill>
          <a:blip r:embed="rId4"/>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324394F4-B8C1-9F2B-77F6-B3F57F5EE395}"/>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AA18946B-A16E-F621-39F9-B42262E5A53F}"/>
              </a:ext>
            </a:extLst>
          </p:cNvPr>
          <p:cNvPicPr>
            <a:picLocks noChangeAspect="1"/>
          </p:cNvPicPr>
          <p:nvPr/>
        </p:nvPicPr>
        <p:blipFill>
          <a:blip r:embed="rId5"/>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CAB76CDE-E9C8-1184-B0FB-99233ED8F330}"/>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7F806CA6-CA5F-00F3-D739-92384211C424}"/>
              </a:ext>
            </a:extLst>
          </p:cNvPr>
          <p:cNvPicPr>
            <a:picLocks noChangeAspect="1"/>
          </p:cNvPicPr>
          <p:nvPr/>
        </p:nvPicPr>
        <p:blipFill>
          <a:blip r:embed="rId6"/>
          <a:stretch>
            <a:fillRect/>
          </a:stretch>
        </p:blipFill>
        <p:spPr>
          <a:xfrm>
            <a:off x="1767574" y="5491649"/>
            <a:ext cx="4833434" cy="517383"/>
          </a:xfrm>
          <a:prstGeom prst="rect">
            <a:avLst/>
          </a:prstGeom>
        </p:spPr>
      </p:pic>
      <p:sp>
        <p:nvSpPr>
          <p:cNvPr id="14" name="TextBox 13">
            <a:extLst>
              <a:ext uri="{FF2B5EF4-FFF2-40B4-BE49-F238E27FC236}">
                <a16:creationId xmlns:a16="http://schemas.microsoft.com/office/drawing/2014/main" id="{6E75F3A7-AFE7-AE3A-405A-AB1DE3B8D1E4}"/>
              </a:ext>
            </a:extLst>
          </p:cNvPr>
          <p:cNvSpPr txBox="1"/>
          <p:nvPr/>
        </p:nvSpPr>
        <p:spPr>
          <a:xfrm>
            <a:off x="2021745" y="5033297"/>
            <a:ext cx="4325095" cy="369332"/>
          </a:xfrm>
          <a:prstGeom prst="rect">
            <a:avLst/>
          </a:prstGeom>
          <a:noFill/>
        </p:spPr>
        <p:txBody>
          <a:bodyPr wrap="none" rtlCol="0">
            <a:spAutoFit/>
          </a:bodyPr>
          <a:lstStyle/>
          <a:p>
            <a:r>
              <a:rPr lang="en-US" dirty="0"/>
              <a:t>Written another way, the update is:</a:t>
            </a:r>
            <a:endParaRPr lang="en-IN" dirty="0"/>
          </a:p>
        </p:txBody>
      </p:sp>
      <p:pic>
        <p:nvPicPr>
          <p:cNvPr id="9" name="Picture 8">
            <a:extLst>
              <a:ext uri="{FF2B5EF4-FFF2-40B4-BE49-F238E27FC236}">
                <a16:creationId xmlns:a16="http://schemas.microsoft.com/office/drawing/2014/main" id="{2156E4E0-ABCB-1619-1D43-68117F1447E4}"/>
              </a:ext>
            </a:extLst>
          </p:cNvPr>
          <p:cNvPicPr>
            <a:picLocks noChangeAspect="1"/>
          </p:cNvPicPr>
          <p:nvPr/>
        </p:nvPicPr>
        <p:blipFill>
          <a:blip r:embed="rId7"/>
          <a:stretch>
            <a:fillRect/>
          </a:stretch>
        </p:blipFill>
        <p:spPr>
          <a:xfrm>
            <a:off x="6892626" y="5301382"/>
            <a:ext cx="3553321" cy="947018"/>
          </a:xfrm>
          <a:prstGeom prst="rect">
            <a:avLst/>
          </a:prstGeom>
        </p:spPr>
      </p:pic>
      <p:sp>
        <p:nvSpPr>
          <p:cNvPr id="3" name="Slide Number Placeholder 2">
            <a:extLst>
              <a:ext uri="{FF2B5EF4-FFF2-40B4-BE49-F238E27FC236}">
                <a16:creationId xmlns:a16="http://schemas.microsoft.com/office/drawing/2014/main" id="{791A0941-CA6D-B625-C07A-3B81C51539F4}"/>
              </a:ext>
            </a:extLst>
          </p:cNvPr>
          <p:cNvSpPr>
            <a:spLocks noGrp="1"/>
          </p:cNvSpPr>
          <p:nvPr>
            <p:ph type="sldNum" sz="quarter" idx="12"/>
          </p:nvPr>
        </p:nvSpPr>
        <p:spPr/>
        <p:txBody>
          <a:bodyPr/>
          <a:lstStyle/>
          <a:p>
            <a:fld id="{BB2CE0DE-867F-455F-B20B-96D381B4AB71}" type="slidenum">
              <a:rPr lang="en-US" smtClean="0"/>
              <a:t>30</a:t>
            </a:fld>
            <a:endParaRPr lang="en-US"/>
          </a:p>
        </p:txBody>
      </p:sp>
    </p:spTree>
    <p:extLst>
      <p:ext uri="{BB962C8B-B14F-4D97-AF65-F5344CB8AC3E}">
        <p14:creationId xmlns:p14="http://schemas.microsoft.com/office/powerpoint/2010/main" val="2580897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7A2DF-76A8-FB94-2BB2-E5215B94B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4C92-9DEF-0209-B2AB-60EB54204C41}"/>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CE70B2FB-04F7-F614-E2E6-F65D69872EDB}"/>
              </a:ext>
            </a:extLst>
          </p:cNvPr>
          <p:cNvPicPr>
            <a:picLocks noChangeAspect="1"/>
          </p:cNvPicPr>
          <p:nvPr/>
        </p:nvPicPr>
        <p:blipFill>
          <a:blip r:embed="rId3"/>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646B6357-16D6-1AE2-4053-E3DD96D913AA}"/>
              </a:ext>
            </a:extLst>
          </p:cNvPr>
          <p:cNvPicPr>
            <a:picLocks noChangeAspect="1"/>
          </p:cNvPicPr>
          <p:nvPr/>
        </p:nvPicPr>
        <p:blipFill>
          <a:blip r:embed="rId4"/>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75243D75-74C0-AF94-CE11-593E6A915D20}"/>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4699308E-6ABA-AD24-DC8B-1895265F3BAD}"/>
              </a:ext>
            </a:extLst>
          </p:cNvPr>
          <p:cNvPicPr>
            <a:picLocks noChangeAspect="1"/>
          </p:cNvPicPr>
          <p:nvPr/>
        </p:nvPicPr>
        <p:blipFill>
          <a:blip r:embed="rId5"/>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5193614E-5F07-1026-C47B-19357DFA9C94}"/>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A5CEA3FC-D70D-564D-9818-B16C23DF220D}"/>
              </a:ext>
            </a:extLst>
          </p:cNvPr>
          <p:cNvPicPr>
            <a:picLocks noChangeAspect="1"/>
          </p:cNvPicPr>
          <p:nvPr/>
        </p:nvPicPr>
        <p:blipFill>
          <a:blip r:embed="rId6"/>
          <a:stretch>
            <a:fillRect/>
          </a:stretch>
        </p:blipFill>
        <p:spPr>
          <a:xfrm>
            <a:off x="1844505" y="5209285"/>
            <a:ext cx="4833434" cy="517383"/>
          </a:xfrm>
          <a:prstGeom prst="rect">
            <a:avLst/>
          </a:prstGeom>
        </p:spPr>
      </p:pic>
      <p:sp>
        <p:nvSpPr>
          <p:cNvPr id="14" name="TextBox 13">
            <a:extLst>
              <a:ext uri="{FF2B5EF4-FFF2-40B4-BE49-F238E27FC236}">
                <a16:creationId xmlns:a16="http://schemas.microsoft.com/office/drawing/2014/main" id="{82AD9FE8-6099-748F-8188-C6B8BAABAFE9}"/>
              </a:ext>
            </a:extLst>
          </p:cNvPr>
          <p:cNvSpPr txBox="1"/>
          <p:nvPr/>
        </p:nvSpPr>
        <p:spPr>
          <a:xfrm>
            <a:off x="2098675" y="4783326"/>
            <a:ext cx="4325095" cy="369332"/>
          </a:xfrm>
          <a:prstGeom prst="rect">
            <a:avLst/>
          </a:prstGeom>
          <a:noFill/>
        </p:spPr>
        <p:txBody>
          <a:bodyPr wrap="none" rtlCol="0">
            <a:spAutoFit/>
          </a:bodyPr>
          <a:lstStyle/>
          <a:p>
            <a:r>
              <a:rPr lang="en-US" dirty="0"/>
              <a:t>Written another way, the update is:</a:t>
            </a:r>
            <a:endParaRPr lang="en-IN" dirty="0"/>
          </a:p>
        </p:txBody>
      </p:sp>
      <p:pic>
        <p:nvPicPr>
          <p:cNvPr id="9" name="Picture 8">
            <a:extLst>
              <a:ext uri="{FF2B5EF4-FFF2-40B4-BE49-F238E27FC236}">
                <a16:creationId xmlns:a16="http://schemas.microsoft.com/office/drawing/2014/main" id="{5E792801-C785-D022-8DB3-72C3D215B813}"/>
              </a:ext>
            </a:extLst>
          </p:cNvPr>
          <p:cNvPicPr>
            <a:picLocks noChangeAspect="1"/>
          </p:cNvPicPr>
          <p:nvPr/>
        </p:nvPicPr>
        <p:blipFill>
          <a:blip r:embed="rId7"/>
          <a:stretch>
            <a:fillRect/>
          </a:stretch>
        </p:blipFill>
        <p:spPr>
          <a:xfrm>
            <a:off x="8458200" y="4559788"/>
            <a:ext cx="3553321" cy="947018"/>
          </a:xfrm>
          <a:prstGeom prst="rect">
            <a:avLst/>
          </a:prstGeom>
        </p:spPr>
      </p:pic>
      <p:sp>
        <p:nvSpPr>
          <p:cNvPr id="3" name="TextBox 2">
            <a:extLst>
              <a:ext uri="{FF2B5EF4-FFF2-40B4-BE49-F238E27FC236}">
                <a16:creationId xmlns:a16="http://schemas.microsoft.com/office/drawing/2014/main" id="{9B18768B-11CD-049E-432A-8BBCABEA6321}"/>
              </a:ext>
            </a:extLst>
          </p:cNvPr>
          <p:cNvSpPr txBox="1"/>
          <p:nvPr/>
        </p:nvSpPr>
        <p:spPr>
          <a:xfrm>
            <a:off x="1066800" y="5666556"/>
            <a:ext cx="8767208" cy="954107"/>
          </a:xfrm>
          <a:prstGeom prst="rect">
            <a:avLst/>
          </a:prstGeom>
          <a:noFill/>
        </p:spPr>
        <p:txBody>
          <a:bodyPr wrap="none" rtlCol="0">
            <a:spAutoFit/>
          </a:bodyPr>
          <a:lstStyle/>
          <a:p>
            <a:r>
              <a:rPr lang="en-US" sz="1400" dirty="0"/>
              <a:t>We can see that the addition of the weight decay term has modified the learning rule to </a:t>
            </a:r>
          </a:p>
          <a:p>
            <a:r>
              <a:rPr lang="en-US" sz="1400" dirty="0"/>
              <a:t>multiplicatively shrink the weight vector by a constant factor on each step, </a:t>
            </a:r>
          </a:p>
          <a:p>
            <a:r>
              <a:rPr lang="en-US" sz="1400" dirty="0"/>
              <a:t>just before performing the usual gradient update. This describes what happens in a single step.</a:t>
            </a:r>
            <a:endParaRPr lang="en-IN" sz="1400" dirty="0"/>
          </a:p>
          <a:p>
            <a:endParaRPr lang="en-IN" sz="1400" dirty="0"/>
          </a:p>
        </p:txBody>
      </p:sp>
      <p:sp>
        <p:nvSpPr>
          <p:cNvPr id="5" name="Slide Number Placeholder 4">
            <a:extLst>
              <a:ext uri="{FF2B5EF4-FFF2-40B4-BE49-F238E27FC236}">
                <a16:creationId xmlns:a16="http://schemas.microsoft.com/office/drawing/2014/main" id="{548BDDE4-679E-36CD-691A-7B1DF64E0E16}"/>
              </a:ext>
            </a:extLst>
          </p:cNvPr>
          <p:cNvSpPr>
            <a:spLocks noGrp="1"/>
          </p:cNvSpPr>
          <p:nvPr>
            <p:ph type="sldNum" sz="quarter" idx="12"/>
          </p:nvPr>
        </p:nvSpPr>
        <p:spPr/>
        <p:txBody>
          <a:bodyPr/>
          <a:lstStyle/>
          <a:p>
            <a:fld id="{BB2CE0DE-867F-455F-B20B-96D381B4AB71}" type="slidenum">
              <a:rPr lang="en-US" smtClean="0"/>
              <a:t>31</a:t>
            </a:fld>
            <a:endParaRPr lang="en-US"/>
          </a:p>
        </p:txBody>
      </p:sp>
    </p:spTree>
    <p:extLst>
      <p:ext uri="{BB962C8B-B14F-4D97-AF65-F5344CB8AC3E}">
        <p14:creationId xmlns:p14="http://schemas.microsoft.com/office/powerpoint/2010/main" val="2284345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B9B79-A2C1-5245-6F24-248EBA7C4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55744-1916-6523-696C-A9E6CD12BC57}"/>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F54CBE35-0BAE-72BF-B0A9-012D58D59656}"/>
              </a:ext>
            </a:extLst>
          </p:cNvPr>
          <p:cNvPicPr>
            <a:picLocks noChangeAspect="1"/>
          </p:cNvPicPr>
          <p:nvPr/>
        </p:nvPicPr>
        <p:blipFill>
          <a:blip r:embed="rId2"/>
          <a:stretch>
            <a:fillRect/>
          </a:stretch>
        </p:blipFill>
        <p:spPr>
          <a:xfrm>
            <a:off x="1953406" y="2428943"/>
            <a:ext cx="5042278" cy="673665"/>
          </a:xfrm>
          <a:prstGeom prst="rect">
            <a:avLst/>
          </a:prstGeom>
        </p:spPr>
      </p:pic>
      <p:pic>
        <p:nvPicPr>
          <p:cNvPr id="7" name="Picture 6">
            <a:extLst>
              <a:ext uri="{FF2B5EF4-FFF2-40B4-BE49-F238E27FC236}">
                <a16:creationId xmlns:a16="http://schemas.microsoft.com/office/drawing/2014/main" id="{8ACA1485-AE21-5583-F58F-52C0D10B35C9}"/>
              </a:ext>
            </a:extLst>
          </p:cNvPr>
          <p:cNvPicPr>
            <a:picLocks noChangeAspect="1"/>
          </p:cNvPicPr>
          <p:nvPr/>
        </p:nvPicPr>
        <p:blipFill>
          <a:blip r:embed="rId3"/>
          <a:stretch>
            <a:fillRect/>
          </a:stretch>
        </p:blipFill>
        <p:spPr>
          <a:xfrm>
            <a:off x="1776012" y="1219200"/>
            <a:ext cx="5764568" cy="1001996"/>
          </a:xfrm>
          <a:prstGeom prst="rect">
            <a:avLst/>
          </a:prstGeom>
        </p:spPr>
      </p:pic>
      <p:pic>
        <p:nvPicPr>
          <p:cNvPr id="10" name="Picture 9">
            <a:extLst>
              <a:ext uri="{FF2B5EF4-FFF2-40B4-BE49-F238E27FC236}">
                <a16:creationId xmlns:a16="http://schemas.microsoft.com/office/drawing/2014/main" id="{6DDA336E-835B-8BEB-8D63-87A4A49317CB}"/>
              </a:ext>
            </a:extLst>
          </p:cNvPr>
          <p:cNvPicPr>
            <a:picLocks noChangeAspect="1"/>
          </p:cNvPicPr>
          <p:nvPr/>
        </p:nvPicPr>
        <p:blipFill>
          <a:blip r:embed="rId4"/>
          <a:stretch>
            <a:fillRect/>
          </a:stretch>
        </p:blipFill>
        <p:spPr>
          <a:xfrm>
            <a:off x="2048727" y="3181316"/>
            <a:ext cx="4010585" cy="495369"/>
          </a:xfrm>
          <a:prstGeom prst="rect">
            <a:avLst/>
          </a:prstGeom>
        </p:spPr>
      </p:pic>
      <p:pic>
        <p:nvPicPr>
          <p:cNvPr id="13" name="Picture 12">
            <a:extLst>
              <a:ext uri="{FF2B5EF4-FFF2-40B4-BE49-F238E27FC236}">
                <a16:creationId xmlns:a16="http://schemas.microsoft.com/office/drawing/2014/main" id="{F8DEF3DA-C12E-F426-5F8E-23F61E79E455}"/>
              </a:ext>
            </a:extLst>
          </p:cNvPr>
          <p:cNvPicPr>
            <a:picLocks noChangeAspect="1"/>
          </p:cNvPicPr>
          <p:nvPr/>
        </p:nvPicPr>
        <p:blipFill>
          <a:blip r:embed="rId5"/>
          <a:stretch>
            <a:fillRect/>
          </a:stretch>
        </p:blipFill>
        <p:spPr>
          <a:xfrm>
            <a:off x="2098675" y="3846072"/>
            <a:ext cx="4833434" cy="517383"/>
          </a:xfrm>
          <a:prstGeom prst="rect">
            <a:avLst/>
          </a:prstGeom>
        </p:spPr>
      </p:pic>
      <p:sp>
        <p:nvSpPr>
          <p:cNvPr id="5" name="Right Brace 4">
            <a:extLst>
              <a:ext uri="{FF2B5EF4-FFF2-40B4-BE49-F238E27FC236}">
                <a16:creationId xmlns:a16="http://schemas.microsoft.com/office/drawing/2014/main" id="{C0DD4028-D8C0-DB5B-1706-0C23A8624F3D}"/>
              </a:ext>
            </a:extLst>
          </p:cNvPr>
          <p:cNvSpPr/>
          <p:nvPr/>
        </p:nvSpPr>
        <p:spPr bwMode="auto">
          <a:xfrm>
            <a:off x="7520675" y="1177628"/>
            <a:ext cx="323343" cy="3185826"/>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IN">
              <a:latin typeface="Verdana" pitchFamily="34" charset="0"/>
            </a:endParaRPr>
          </a:p>
        </p:txBody>
      </p:sp>
      <p:sp>
        <p:nvSpPr>
          <p:cNvPr id="9" name="TextBox 8">
            <a:extLst>
              <a:ext uri="{FF2B5EF4-FFF2-40B4-BE49-F238E27FC236}">
                <a16:creationId xmlns:a16="http://schemas.microsoft.com/office/drawing/2014/main" id="{403FEB0B-F2BB-6C28-381A-E5465421649A}"/>
              </a:ext>
            </a:extLst>
          </p:cNvPr>
          <p:cNvSpPr txBox="1"/>
          <p:nvPr/>
        </p:nvSpPr>
        <p:spPr>
          <a:xfrm>
            <a:off x="7844017" y="2162964"/>
            <a:ext cx="2198038" cy="646331"/>
          </a:xfrm>
          <a:prstGeom prst="rect">
            <a:avLst/>
          </a:prstGeom>
          <a:noFill/>
        </p:spPr>
        <p:txBody>
          <a:bodyPr wrap="none" rtlCol="0">
            <a:spAutoFit/>
          </a:bodyPr>
          <a:lstStyle/>
          <a:p>
            <a:r>
              <a:rPr lang="en-IN" dirty="0"/>
              <a:t>How weights are </a:t>
            </a:r>
          </a:p>
          <a:p>
            <a:r>
              <a:rPr lang="en-IN" dirty="0"/>
              <a:t>updated ?</a:t>
            </a:r>
          </a:p>
        </p:txBody>
      </p:sp>
      <p:sp>
        <p:nvSpPr>
          <p:cNvPr id="12" name="TextBox 11">
            <a:extLst>
              <a:ext uri="{FF2B5EF4-FFF2-40B4-BE49-F238E27FC236}">
                <a16:creationId xmlns:a16="http://schemas.microsoft.com/office/drawing/2014/main" id="{D5BF49F1-2AB8-3112-7A82-085C0148815B}"/>
              </a:ext>
            </a:extLst>
          </p:cNvPr>
          <p:cNvSpPr txBox="1"/>
          <p:nvPr/>
        </p:nvSpPr>
        <p:spPr>
          <a:xfrm>
            <a:off x="1770369" y="4737586"/>
            <a:ext cx="4880823" cy="369332"/>
          </a:xfrm>
          <a:prstGeom prst="rect">
            <a:avLst/>
          </a:prstGeom>
          <a:noFill/>
        </p:spPr>
        <p:txBody>
          <a:bodyPr wrap="none" rtlCol="0">
            <a:spAutoFit/>
          </a:bodyPr>
          <a:lstStyle/>
          <a:p>
            <a:r>
              <a:rPr lang="en-IN" dirty="0"/>
              <a:t>Next: </a:t>
            </a:r>
            <a:r>
              <a:rPr lang="en-US" dirty="0">
                <a:solidFill>
                  <a:srgbClr val="0000CC"/>
                </a:solidFill>
              </a:rPr>
              <a:t>How loss behaves </a:t>
            </a:r>
            <a:r>
              <a:rPr lang="en-US" b="1" dirty="0">
                <a:solidFill>
                  <a:srgbClr val="0000CC"/>
                </a:solidFill>
              </a:rPr>
              <a:t>near optimum</a:t>
            </a:r>
          </a:p>
        </p:txBody>
      </p:sp>
      <p:pic>
        <p:nvPicPr>
          <p:cNvPr id="16" name="Picture 15">
            <a:extLst>
              <a:ext uri="{FF2B5EF4-FFF2-40B4-BE49-F238E27FC236}">
                <a16:creationId xmlns:a16="http://schemas.microsoft.com/office/drawing/2014/main" id="{422C3645-F1AB-590A-9403-673DEA0C727F}"/>
              </a:ext>
            </a:extLst>
          </p:cNvPr>
          <p:cNvPicPr>
            <a:picLocks noChangeAspect="1"/>
          </p:cNvPicPr>
          <p:nvPr/>
        </p:nvPicPr>
        <p:blipFill>
          <a:blip r:embed="rId6"/>
          <a:stretch>
            <a:fillRect/>
          </a:stretch>
        </p:blipFill>
        <p:spPr>
          <a:xfrm>
            <a:off x="1776012" y="5224560"/>
            <a:ext cx="5596730" cy="719967"/>
          </a:xfrm>
          <a:prstGeom prst="rect">
            <a:avLst/>
          </a:prstGeom>
        </p:spPr>
      </p:pic>
      <p:pic>
        <p:nvPicPr>
          <p:cNvPr id="18" name="Picture 17">
            <a:extLst>
              <a:ext uri="{FF2B5EF4-FFF2-40B4-BE49-F238E27FC236}">
                <a16:creationId xmlns:a16="http://schemas.microsoft.com/office/drawing/2014/main" id="{967E38FC-9BAE-F5A8-8A7D-0607C1B736CB}"/>
              </a:ext>
            </a:extLst>
          </p:cNvPr>
          <p:cNvPicPr>
            <a:picLocks noChangeAspect="1"/>
          </p:cNvPicPr>
          <p:nvPr/>
        </p:nvPicPr>
        <p:blipFill>
          <a:blip r:embed="rId7"/>
          <a:stretch>
            <a:fillRect/>
          </a:stretch>
        </p:blipFill>
        <p:spPr>
          <a:xfrm>
            <a:off x="7682346" y="4773085"/>
            <a:ext cx="2333951" cy="800212"/>
          </a:xfrm>
          <a:prstGeom prst="rect">
            <a:avLst/>
          </a:prstGeom>
        </p:spPr>
      </p:pic>
      <p:sp>
        <p:nvSpPr>
          <p:cNvPr id="19" name="TextBox 18">
            <a:extLst>
              <a:ext uri="{FF2B5EF4-FFF2-40B4-BE49-F238E27FC236}">
                <a16:creationId xmlns:a16="http://schemas.microsoft.com/office/drawing/2014/main" id="{4D1F4887-13BA-B880-819B-AE861F8051D7}"/>
              </a:ext>
            </a:extLst>
          </p:cNvPr>
          <p:cNvSpPr txBox="1"/>
          <p:nvPr/>
        </p:nvSpPr>
        <p:spPr>
          <a:xfrm>
            <a:off x="7584446" y="5571551"/>
            <a:ext cx="2549096" cy="830997"/>
          </a:xfrm>
          <a:prstGeom prst="rect">
            <a:avLst/>
          </a:prstGeom>
          <a:noFill/>
        </p:spPr>
        <p:txBody>
          <a:bodyPr wrap="none" rtlCol="0">
            <a:spAutoFit/>
          </a:bodyPr>
          <a:lstStyle/>
          <a:p>
            <a:r>
              <a:rPr lang="en-US" sz="1600" dirty="0"/>
              <a:t>The </a:t>
            </a:r>
            <a:r>
              <a:rPr lang="en-US" sz="1600" b="1" dirty="0"/>
              <a:t>best weight</a:t>
            </a:r>
            <a:r>
              <a:rPr lang="en-US" sz="1600" dirty="0"/>
              <a:t> that </a:t>
            </a:r>
          </a:p>
          <a:p>
            <a:r>
              <a:rPr lang="en-US" sz="1600" dirty="0"/>
              <a:t>minimizes the original </a:t>
            </a:r>
          </a:p>
          <a:p>
            <a:r>
              <a:rPr lang="en-US" sz="1600" dirty="0"/>
              <a:t>(unregularized) loss</a:t>
            </a:r>
            <a:endParaRPr lang="en-IN" sz="1600" dirty="0"/>
          </a:p>
        </p:txBody>
      </p:sp>
      <p:sp>
        <p:nvSpPr>
          <p:cNvPr id="22" name="TextBox 21">
            <a:extLst>
              <a:ext uri="{FF2B5EF4-FFF2-40B4-BE49-F238E27FC236}">
                <a16:creationId xmlns:a16="http://schemas.microsoft.com/office/drawing/2014/main" id="{16D382F5-05BF-4787-220B-1A20259D7ECD}"/>
              </a:ext>
            </a:extLst>
          </p:cNvPr>
          <p:cNvSpPr txBox="1"/>
          <p:nvPr/>
        </p:nvSpPr>
        <p:spPr>
          <a:xfrm>
            <a:off x="500764" y="6075145"/>
            <a:ext cx="3970959" cy="646331"/>
          </a:xfrm>
          <a:prstGeom prst="rect">
            <a:avLst/>
          </a:prstGeom>
          <a:noFill/>
        </p:spPr>
        <p:txBody>
          <a:bodyPr wrap="none" rtlCol="0">
            <a:spAutoFit/>
          </a:bodyPr>
          <a:lstStyle/>
          <a:p>
            <a:r>
              <a:rPr lang="en-US" dirty="0"/>
              <a:t>How does L2 regularization </a:t>
            </a:r>
          </a:p>
          <a:p>
            <a:r>
              <a:rPr lang="en-US" dirty="0"/>
              <a:t>change the final optimal weights</a:t>
            </a:r>
            <a:endParaRPr lang="en-IN" dirty="0"/>
          </a:p>
        </p:txBody>
      </p:sp>
      <p:sp>
        <p:nvSpPr>
          <p:cNvPr id="3" name="Slide Number Placeholder 2">
            <a:extLst>
              <a:ext uri="{FF2B5EF4-FFF2-40B4-BE49-F238E27FC236}">
                <a16:creationId xmlns:a16="http://schemas.microsoft.com/office/drawing/2014/main" id="{2C7FDE5C-1735-BB82-AC55-FFFEED72CE1A}"/>
              </a:ext>
            </a:extLst>
          </p:cNvPr>
          <p:cNvSpPr>
            <a:spLocks noGrp="1"/>
          </p:cNvSpPr>
          <p:nvPr>
            <p:ph type="sldNum" sz="quarter" idx="12"/>
          </p:nvPr>
        </p:nvSpPr>
        <p:spPr/>
        <p:txBody>
          <a:bodyPr/>
          <a:lstStyle/>
          <a:p>
            <a:fld id="{BB2CE0DE-867F-455F-B20B-96D381B4AB71}" type="slidenum">
              <a:rPr lang="en-US" smtClean="0"/>
              <a:t>32</a:t>
            </a:fld>
            <a:endParaRPr lang="en-US"/>
          </a:p>
        </p:txBody>
      </p:sp>
    </p:spTree>
    <p:extLst>
      <p:ext uri="{BB962C8B-B14F-4D97-AF65-F5344CB8AC3E}">
        <p14:creationId xmlns:p14="http://schemas.microsoft.com/office/powerpoint/2010/main" val="3456574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E4137-C219-A797-4E89-CEB4D900E2AC}"/>
              </a:ext>
            </a:extLst>
          </p:cNvPr>
          <p:cNvSpPr>
            <a:spLocks noGrp="1"/>
          </p:cNvSpPr>
          <p:nvPr>
            <p:ph type="title"/>
          </p:nvPr>
        </p:nvSpPr>
        <p:spPr/>
        <p:txBody>
          <a:bodyPr/>
          <a:lstStyle/>
          <a:p>
            <a:r>
              <a:rPr lang="en-IN" dirty="0"/>
              <a:t>Background</a:t>
            </a:r>
          </a:p>
        </p:txBody>
      </p:sp>
      <p:sp>
        <p:nvSpPr>
          <p:cNvPr id="3" name="Content Placeholder 2">
            <a:extLst>
              <a:ext uri="{FF2B5EF4-FFF2-40B4-BE49-F238E27FC236}">
                <a16:creationId xmlns:a16="http://schemas.microsoft.com/office/drawing/2014/main" id="{6CAF75F9-EDDE-7446-AAE0-997D8F292412}"/>
              </a:ext>
            </a:extLst>
          </p:cNvPr>
          <p:cNvSpPr>
            <a:spLocks noGrp="1"/>
          </p:cNvSpPr>
          <p:nvPr>
            <p:ph idx="1"/>
          </p:nvPr>
        </p:nvSpPr>
        <p:spPr/>
        <p:txBody>
          <a:bodyPr/>
          <a:lstStyle/>
          <a:p>
            <a:pPr marL="0" indent="0">
              <a:buNone/>
            </a:pPr>
            <a:r>
              <a:rPr lang="en-IN" sz="2400" dirty="0"/>
              <a:t>1D Taylor Expansion </a:t>
            </a:r>
          </a:p>
        </p:txBody>
      </p:sp>
      <p:pic>
        <p:nvPicPr>
          <p:cNvPr id="6" name="Picture 5">
            <a:extLst>
              <a:ext uri="{FF2B5EF4-FFF2-40B4-BE49-F238E27FC236}">
                <a16:creationId xmlns:a16="http://schemas.microsoft.com/office/drawing/2014/main" id="{2FDBBCA0-EB3A-7DAC-974F-76FE08585D2C}"/>
              </a:ext>
            </a:extLst>
          </p:cNvPr>
          <p:cNvPicPr>
            <a:picLocks noChangeAspect="1"/>
          </p:cNvPicPr>
          <p:nvPr/>
        </p:nvPicPr>
        <p:blipFill>
          <a:blip r:embed="rId3"/>
          <a:stretch>
            <a:fillRect/>
          </a:stretch>
        </p:blipFill>
        <p:spPr>
          <a:xfrm>
            <a:off x="2065339" y="1771478"/>
            <a:ext cx="7954485" cy="1238423"/>
          </a:xfrm>
          <a:prstGeom prst="rect">
            <a:avLst/>
          </a:prstGeom>
        </p:spPr>
      </p:pic>
      <p:pic>
        <p:nvPicPr>
          <p:cNvPr id="8" name="Picture 7">
            <a:extLst>
              <a:ext uri="{FF2B5EF4-FFF2-40B4-BE49-F238E27FC236}">
                <a16:creationId xmlns:a16="http://schemas.microsoft.com/office/drawing/2014/main" id="{F5D8D25F-9109-92CB-68AE-449C3A5CCAA5}"/>
              </a:ext>
            </a:extLst>
          </p:cNvPr>
          <p:cNvPicPr>
            <a:picLocks noChangeAspect="1"/>
          </p:cNvPicPr>
          <p:nvPr/>
        </p:nvPicPr>
        <p:blipFill>
          <a:blip r:embed="rId4"/>
          <a:stretch>
            <a:fillRect/>
          </a:stretch>
        </p:blipFill>
        <p:spPr>
          <a:xfrm>
            <a:off x="1847818" y="4262375"/>
            <a:ext cx="8659433" cy="128605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EBCB67A-0284-814F-250C-7E9D9DEADFD2}"/>
                  </a:ext>
                </a:extLst>
              </p:cNvPr>
              <p:cNvSpPr txBox="1"/>
              <p:nvPr/>
            </p:nvSpPr>
            <p:spPr>
              <a:xfrm>
                <a:off x="2098676" y="5548429"/>
                <a:ext cx="8436797" cy="369332"/>
              </a:xfrm>
              <a:prstGeom prst="rect">
                <a:avLst/>
              </a:prstGeom>
              <a:noFill/>
            </p:spPr>
            <p:txBody>
              <a:bodyPr wrap="none" rtlCol="0">
                <a:spAutoFit/>
              </a:bodyPr>
              <a:lstStyle/>
              <a:p>
                <a:r>
                  <a:rPr lang="en-IN" dirty="0"/>
                  <a:t>(w−w∗) means: How far current weights </a:t>
                </a:r>
                <a14:m>
                  <m:oMath xmlns:m="http://schemas.openxmlformats.org/officeDocument/2006/math">
                    <m:r>
                      <a:rPr lang="en-IN" i="1">
                        <a:latin typeface="Cambria Math" panose="02040503050406030204" pitchFamily="18" charset="0"/>
                      </a:rPr>
                      <m:t>𝑤</m:t>
                    </m:r>
                  </m:oMath>
                </a14:m>
                <a:r>
                  <a:rPr lang="en-IN" dirty="0"/>
                  <a:t> are from optimal weights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𝑤</m:t>
                        </m:r>
                      </m:e>
                      <m:sup>
                        <m:r>
                          <a:rPr lang="ar-AE">
                            <a:latin typeface="Cambria Math" panose="02040503050406030204" pitchFamily="18" charset="0"/>
                          </a:rPr>
                          <m:t>∗</m:t>
                        </m:r>
                      </m:sup>
                    </m:sSup>
                  </m:oMath>
                </a14:m>
                <a:endParaRPr lang="en-IN" dirty="0"/>
              </a:p>
            </p:txBody>
          </p:sp>
        </mc:Choice>
        <mc:Fallback xmlns="">
          <p:sp>
            <p:nvSpPr>
              <p:cNvPr id="9" name="TextBox 8">
                <a:extLst>
                  <a:ext uri="{FF2B5EF4-FFF2-40B4-BE49-F238E27FC236}">
                    <a16:creationId xmlns:a16="http://schemas.microsoft.com/office/drawing/2014/main" id="{1EBCB67A-0284-814F-250C-7E9D9DEADFD2}"/>
                  </a:ext>
                </a:extLst>
              </p:cNvPr>
              <p:cNvSpPr txBox="1">
                <a:spLocks noRot="1" noChangeAspect="1" noMove="1" noResize="1" noEditPoints="1" noAdjustHandles="1" noChangeArrowheads="1" noChangeShapeType="1" noTextEdit="1"/>
              </p:cNvSpPr>
              <p:nvPr/>
            </p:nvSpPr>
            <p:spPr>
              <a:xfrm>
                <a:off x="2098676" y="5548429"/>
                <a:ext cx="8436797" cy="369332"/>
              </a:xfrm>
              <a:prstGeom prst="rect">
                <a:avLst/>
              </a:prstGeom>
              <a:blipFill>
                <a:blip r:embed="rId5"/>
                <a:stretch>
                  <a:fillRect l="-578" t="-8197" b="-24590"/>
                </a:stretch>
              </a:blipFill>
            </p:spPr>
            <p:txBody>
              <a:bodyPr/>
              <a:lstStyle/>
              <a:p>
                <a:r>
                  <a:rPr lang="en-IN">
                    <a:noFill/>
                  </a:rPr>
                  <a:t> </a:t>
                </a:r>
              </a:p>
            </p:txBody>
          </p:sp>
        </mc:Fallback>
      </mc:AlternateContent>
      <p:sp>
        <p:nvSpPr>
          <p:cNvPr id="5" name="Slide Number Placeholder 4">
            <a:extLst>
              <a:ext uri="{FF2B5EF4-FFF2-40B4-BE49-F238E27FC236}">
                <a16:creationId xmlns:a16="http://schemas.microsoft.com/office/drawing/2014/main" id="{2F302BD2-9EEB-3F42-8219-989C4396435D}"/>
              </a:ext>
            </a:extLst>
          </p:cNvPr>
          <p:cNvSpPr>
            <a:spLocks noGrp="1"/>
          </p:cNvSpPr>
          <p:nvPr>
            <p:ph type="sldNum" sz="quarter" idx="12"/>
          </p:nvPr>
        </p:nvSpPr>
        <p:spPr/>
        <p:txBody>
          <a:bodyPr/>
          <a:lstStyle/>
          <a:p>
            <a:fld id="{BB2CE0DE-867F-455F-B20B-96D381B4AB71}" type="slidenum">
              <a:rPr lang="en-US" smtClean="0"/>
              <a:t>33</a:t>
            </a:fld>
            <a:endParaRPr lang="en-US"/>
          </a:p>
        </p:txBody>
      </p:sp>
    </p:spTree>
    <p:extLst>
      <p:ext uri="{BB962C8B-B14F-4D97-AF65-F5344CB8AC3E}">
        <p14:creationId xmlns:p14="http://schemas.microsoft.com/office/powerpoint/2010/main" val="2594681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281FE-9415-30B1-C464-68DAF5A742A1}"/>
              </a:ext>
            </a:extLst>
          </p:cNvPr>
          <p:cNvSpPr>
            <a:spLocks noGrp="1"/>
          </p:cNvSpPr>
          <p:nvPr>
            <p:ph type="title"/>
          </p:nvPr>
        </p:nvSpPr>
        <p:spPr/>
        <p:txBody>
          <a:bodyPr/>
          <a:lstStyle/>
          <a:p>
            <a:r>
              <a:rPr lang="en-IN" dirty="0"/>
              <a:t>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63D7CA-7AF6-F520-2D6D-988E4E5EEE4F}"/>
                  </a:ext>
                </a:extLst>
              </p:cNvPr>
              <p:cNvSpPr>
                <a:spLocks noGrp="1"/>
              </p:cNvSpPr>
              <p:nvPr>
                <p:ph idx="1"/>
              </p:nvPr>
            </p:nvSpPr>
            <p:spPr/>
            <p:txBody>
              <a:bodyPr/>
              <a:lstStyle/>
              <a:p>
                <a:endParaRPr lang="en-IN" dirty="0"/>
              </a:p>
              <a:p>
                <a:endParaRPr lang="en-IN" dirty="0"/>
              </a:p>
              <a:p>
                <a:endParaRPr lang="en-IN" sz="2400" dirty="0"/>
              </a:p>
              <a:p>
                <a:r>
                  <a:rPr lang="en-IN" sz="2400" dirty="0"/>
                  <a:t>At minimum: </a:t>
                </a:r>
                <a14:m>
                  <m:oMath xmlns:m="http://schemas.openxmlformats.org/officeDocument/2006/math">
                    <m:r>
                      <a:rPr lang="en-IN" sz="2400" kern="1200">
                        <a:solidFill>
                          <a:schemeClr val="tx1"/>
                        </a:solidFill>
                        <a:latin typeface="Cambria Math" panose="02040503050406030204" pitchFamily="18" charset="0"/>
                      </a:rPr>
                      <m:t> </m:t>
                    </m:r>
                    <m:r>
                      <m:rPr>
                        <m:sty m:val="p"/>
                      </m:rPr>
                      <a:rPr lang="en-IN" sz="2400" kern="1200">
                        <a:solidFill>
                          <a:schemeClr val="tx1"/>
                        </a:solidFill>
                        <a:latin typeface="Cambria Math" panose="02040503050406030204" pitchFamily="18" charset="0"/>
                      </a:rPr>
                      <m:t>∇</m:t>
                    </m:r>
                    <m:r>
                      <a:rPr lang="en-IN" sz="2400" i="1" kern="1200">
                        <a:solidFill>
                          <a:schemeClr val="tx1"/>
                        </a:solidFill>
                        <a:latin typeface="Cambria Math" panose="02040503050406030204" pitchFamily="18" charset="0"/>
                      </a:rPr>
                      <m:t>𝐽</m:t>
                    </m:r>
                    <m:d>
                      <m:dPr>
                        <m:ctrlPr>
                          <a:rPr lang="ar-AE" sz="2400" i="1" kern="1200">
                            <a:solidFill>
                              <a:schemeClr val="tx1"/>
                            </a:solidFill>
                            <a:latin typeface="Cambria Math" panose="02040503050406030204" pitchFamily="18" charset="0"/>
                          </a:rPr>
                        </m:ctrlPr>
                      </m:dPr>
                      <m:e>
                        <m:sSup>
                          <m:sSupPr>
                            <m:ctrlPr>
                              <a:rPr lang="ar-AE" sz="2400" i="1" kern="1200">
                                <a:solidFill>
                                  <a:schemeClr val="tx1"/>
                                </a:solidFill>
                                <a:latin typeface="Cambria Math" panose="02040503050406030204" pitchFamily="18" charset="0"/>
                              </a:rPr>
                            </m:ctrlPr>
                          </m:sSupPr>
                          <m:e>
                            <m:r>
                              <a:rPr lang="ar-AE" sz="2400" i="1" kern="1200">
                                <a:solidFill>
                                  <a:schemeClr val="tx1"/>
                                </a:solidFill>
                                <a:latin typeface="Cambria Math" panose="02040503050406030204" pitchFamily="18" charset="0"/>
                              </a:rPr>
                              <m:t>𝑤</m:t>
                            </m:r>
                          </m:e>
                          <m:sup>
                            <m:r>
                              <a:rPr lang="ar-AE" sz="2400" kern="1200">
                                <a:solidFill>
                                  <a:schemeClr val="tx1"/>
                                </a:solidFill>
                                <a:latin typeface="Cambria Math" panose="02040503050406030204" pitchFamily="18" charset="0"/>
                              </a:rPr>
                              <m:t>∗</m:t>
                            </m:r>
                          </m:sup>
                        </m:sSup>
                      </m:e>
                    </m:d>
                    <m:r>
                      <a:rPr lang="ar-AE" sz="2400" kern="1200">
                        <a:solidFill>
                          <a:schemeClr val="tx1"/>
                        </a:solidFill>
                        <a:latin typeface="Cambria Math" panose="02040503050406030204" pitchFamily="18" charset="0"/>
                      </a:rPr>
                      <m:t>=</m:t>
                    </m:r>
                    <m:r>
                      <a:rPr lang="ar-AE" sz="2400" kern="1200">
                        <a:solidFill>
                          <a:schemeClr val="tx1"/>
                        </a:solidFill>
                        <a:latin typeface="Cambria Math" panose="02040503050406030204" pitchFamily="18" charset="0"/>
                      </a:rPr>
                      <m:t>0</m:t>
                    </m:r>
                  </m:oMath>
                </a14:m>
                <a:endParaRPr lang="ar-AE" sz="2400"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EA63D7CA-7AF6-F520-2D6D-988E4E5EEE4F}"/>
                  </a:ext>
                </a:extLst>
              </p:cNvPr>
              <p:cNvSpPr>
                <a:spLocks noGrp="1" noRot="1" noChangeAspect="1" noMove="1" noResize="1" noEditPoints="1" noAdjustHandles="1" noChangeArrowheads="1" noChangeShapeType="1" noTextEdit="1"/>
              </p:cNvSpPr>
              <p:nvPr>
                <p:ph idx="1"/>
              </p:nvPr>
            </p:nvSpPr>
            <p:spPr>
              <a:blipFill>
                <a:blip r:embed="rId3"/>
                <a:stretch>
                  <a:fillRect l="-1067"/>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62EA0E3A-8C05-D554-F7CF-91BBFC4A6B6D}"/>
              </a:ext>
            </a:extLst>
          </p:cNvPr>
          <p:cNvPicPr>
            <a:picLocks noChangeAspect="1"/>
          </p:cNvPicPr>
          <p:nvPr/>
        </p:nvPicPr>
        <p:blipFill>
          <a:blip r:embed="rId4"/>
          <a:stretch>
            <a:fillRect/>
          </a:stretch>
        </p:blipFill>
        <p:spPr>
          <a:xfrm>
            <a:off x="2054049" y="3304850"/>
            <a:ext cx="7506748" cy="2333951"/>
          </a:xfrm>
          <a:prstGeom prst="rect">
            <a:avLst/>
          </a:prstGeom>
        </p:spPr>
      </p:pic>
      <p:pic>
        <p:nvPicPr>
          <p:cNvPr id="9" name="Picture 8">
            <a:extLst>
              <a:ext uri="{FF2B5EF4-FFF2-40B4-BE49-F238E27FC236}">
                <a16:creationId xmlns:a16="http://schemas.microsoft.com/office/drawing/2014/main" id="{1D382928-D978-604F-C72B-E6824137B674}"/>
              </a:ext>
            </a:extLst>
          </p:cNvPr>
          <p:cNvPicPr>
            <a:picLocks noChangeAspect="1"/>
          </p:cNvPicPr>
          <p:nvPr/>
        </p:nvPicPr>
        <p:blipFill>
          <a:blip r:embed="rId5"/>
          <a:stretch>
            <a:fillRect/>
          </a:stretch>
        </p:blipFill>
        <p:spPr>
          <a:xfrm>
            <a:off x="1676401" y="1219200"/>
            <a:ext cx="8659433" cy="1286054"/>
          </a:xfrm>
          <a:prstGeom prst="rect">
            <a:avLst/>
          </a:prstGeom>
        </p:spPr>
      </p:pic>
      <p:sp>
        <p:nvSpPr>
          <p:cNvPr id="5" name="Slide Number Placeholder 4">
            <a:extLst>
              <a:ext uri="{FF2B5EF4-FFF2-40B4-BE49-F238E27FC236}">
                <a16:creationId xmlns:a16="http://schemas.microsoft.com/office/drawing/2014/main" id="{149B430D-DB70-8D7A-19C8-0DCD5A9BFEEC}"/>
              </a:ext>
            </a:extLst>
          </p:cNvPr>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2774874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5DE8-9351-6A1A-3ED7-8D30C868F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C64C3-F4E2-99F7-5465-8F87B29D24EC}"/>
              </a:ext>
            </a:extLst>
          </p:cNvPr>
          <p:cNvSpPr>
            <a:spLocks noGrp="1"/>
          </p:cNvSpPr>
          <p:nvPr>
            <p:ph type="title"/>
          </p:nvPr>
        </p:nvSpPr>
        <p:spPr/>
        <p:txBody>
          <a:bodyPr/>
          <a:lstStyle/>
          <a:p>
            <a:r>
              <a:rPr lang="en-IN" dirty="0"/>
              <a:t>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243170-11EB-2205-DB78-31D09F5022FA}"/>
                  </a:ext>
                </a:extLst>
              </p:cNvPr>
              <p:cNvSpPr>
                <a:spLocks noGrp="1"/>
              </p:cNvSpPr>
              <p:nvPr>
                <p:ph idx="1"/>
              </p:nvPr>
            </p:nvSpPr>
            <p:spPr/>
            <p:txBody>
              <a:bodyPr/>
              <a:lstStyle/>
              <a:p>
                <a:endParaRPr lang="en-IN" dirty="0"/>
              </a:p>
              <a:p>
                <a:endParaRPr lang="en-IN" dirty="0"/>
              </a:p>
              <a:p>
                <a:endParaRPr lang="en-IN" sz="2400" dirty="0"/>
              </a:p>
              <a:p>
                <a:r>
                  <a:rPr lang="en-IN" sz="2400" dirty="0"/>
                  <a:t>At minimum: </a:t>
                </a:r>
                <a14:m>
                  <m:oMath xmlns:m="http://schemas.openxmlformats.org/officeDocument/2006/math">
                    <m:r>
                      <a:rPr lang="en-IN" sz="2400" kern="1200">
                        <a:solidFill>
                          <a:schemeClr val="tx1"/>
                        </a:solidFill>
                        <a:latin typeface="Cambria Math" panose="02040503050406030204" pitchFamily="18" charset="0"/>
                      </a:rPr>
                      <m:t> </m:t>
                    </m:r>
                    <m:r>
                      <m:rPr>
                        <m:sty m:val="p"/>
                      </m:rPr>
                      <a:rPr lang="en-IN" sz="2400" kern="1200">
                        <a:solidFill>
                          <a:schemeClr val="tx1"/>
                        </a:solidFill>
                        <a:latin typeface="Cambria Math" panose="02040503050406030204" pitchFamily="18" charset="0"/>
                      </a:rPr>
                      <m:t>∇</m:t>
                    </m:r>
                    <m:r>
                      <a:rPr lang="en-IN" sz="2400" i="1" kern="1200">
                        <a:solidFill>
                          <a:schemeClr val="tx1"/>
                        </a:solidFill>
                        <a:latin typeface="Cambria Math" panose="02040503050406030204" pitchFamily="18" charset="0"/>
                      </a:rPr>
                      <m:t>𝐽</m:t>
                    </m:r>
                    <m:d>
                      <m:dPr>
                        <m:ctrlPr>
                          <a:rPr lang="ar-AE" sz="2400" i="1" kern="1200">
                            <a:solidFill>
                              <a:schemeClr val="tx1"/>
                            </a:solidFill>
                            <a:latin typeface="Cambria Math" panose="02040503050406030204" pitchFamily="18" charset="0"/>
                          </a:rPr>
                        </m:ctrlPr>
                      </m:dPr>
                      <m:e>
                        <m:sSup>
                          <m:sSupPr>
                            <m:ctrlPr>
                              <a:rPr lang="ar-AE" sz="2400" i="1" kern="1200">
                                <a:solidFill>
                                  <a:schemeClr val="tx1"/>
                                </a:solidFill>
                                <a:latin typeface="Cambria Math" panose="02040503050406030204" pitchFamily="18" charset="0"/>
                              </a:rPr>
                            </m:ctrlPr>
                          </m:sSupPr>
                          <m:e>
                            <m:r>
                              <a:rPr lang="ar-AE" sz="2400" i="1" kern="1200">
                                <a:solidFill>
                                  <a:schemeClr val="tx1"/>
                                </a:solidFill>
                                <a:latin typeface="Cambria Math" panose="02040503050406030204" pitchFamily="18" charset="0"/>
                              </a:rPr>
                              <m:t>𝑤</m:t>
                            </m:r>
                          </m:e>
                          <m:sup>
                            <m:r>
                              <a:rPr lang="ar-AE" sz="2400" kern="1200">
                                <a:solidFill>
                                  <a:schemeClr val="tx1"/>
                                </a:solidFill>
                                <a:latin typeface="Cambria Math" panose="02040503050406030204" pitchFamily="18" charset="0"/>
                              </a:rPr>
                              <m:t>∗</m:t>
                            </m:r>
                          </m:sup>
                        </m:sSup>
                      </m:e>
                    </m:d>
                    <m:r>
                      <a:rPr lang="ar-AE" sz="2400" kern="1200">
                        <a:solidFill>
                          <a:schemeClr val="tx1"/>
                        </a:solidFill>
                        <a:latin typeface="Cambria Math" panose="02040503050406030204" pitchFamily="18" charset="0"/>
                      </a:rPr>
                      <m:t>=</m:t>
                    </m:r>
                    <m:r>
                      <a:rPr lang="ar-AE" sz="2400" kern="1200">
                        <a:solidFill>
                          <a:schemeClr val="tx1"/>
                        </a:solidFill>
                        <a:latin typeface="Cambria Math" panose="02040503050406030204" pitchFamily="18" charset="0"/>
                      </a:rPr>
                      <m:t>0</m:t>
                    </m:r>
                  </m:oMath>
                </a14:m>
                <a:endParaRPr lang="ar-AE" sz="2400"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A1243170-11EB-2205-DB78-31D09F5022FA}"/>
                  </a:ext>
                </a:extLst>
              </p:cNvPr>
              <p:cNvSpPr>
                <a:spLocks noGrp="1" noRot="1" noChangeAspect="1" noMove="1" noResize="1" noEditPoints="1" noAdjustHandles="1" noChangeArrowheads="1" noChangeShapeType="1" noTextEdit="1"/>
              </p:cNvSpPr>
              <p:nvPr>
                <p:ph idx="1"/>
              </p:nvPr>
            </p:nvSpPr>
            <p:spPr>
              <a:blipFill>
                <a:blip r:embed="rId3"/>
                <a:stretch>
                  <a:fillRect l="-1067"/>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82D4408D-5390-6F26-945E-B50DEE4453C0}"/>
              </a:ext>
            </a:extLst>
          </p:cNvPr>
          <p:cNvPicPr>
            <a:picLocks noChangeAspect="1"/>
          </p:cNvPicPr>
          <p:nvPr/>
        </p:nvPicPr>
        <p:blipFill>
          <a:blip r:embed="rId4"/>
          <a:stretch>
            <a:fillRect/>
          </a:stretch>
        </p:blipFill>
        <p:spPr>
          <a:xfrm>
            <a:off x="2054049" y="3304850"/>
            <a:ext cx="7506748" cy="2333951"/>
          </a:xfrm>
          <a:prstGeom prst="rect">
            <a:avLst/>
          </a:prstGeom>
        </p:spPr>
      </p:pic>
      <p:pic>
        <p:nvPicPr>
          <p:cNvPr id="9" name="Picture 8">
            <a:extLst>
              <a:ext uri="{FF2B5EF4-FFF2-40B4-BE49-F238E27FC236}">
                <a16:creationId xmlns:a16="http://schemas.microsoft.com/office/drawing/2014/main" id="{47128868-6ACE-61DC-CA45-45396F096174}"/>
              </a:ext>
            </a:extLst>
          </p:cNvPr>
          <p:cNvPicPr>
            <a:picLocks noChangeAspect="1"/>
          </p:cNvPicPr>
          <p:nvPr/>
        </p:nvPicPr>
        <p:blipFill>
          <a:blip r:embed="rId5"/>
          <a:stretch>
            <a:fillRect/>
          </a:stretch>
        </p:blipFill>
        <p:spPr>
          <a:xfrm>
            <a:off x="1676401" y="1219200"/>
            <a:ext cx="8659433" cy="1286054"/>
          </a:xfrm>
          <a:prstGeom prst="rect">
            <a:avLst/>
          </a:prstGeom>
        </p:spPr>
      </p:pic>
      <p:pic>
        <p:nvPicPr>
          <p:cNvPr id="10" name="Picture 9">
            <a:extLst>
              <a:ext uri="{FF2B5EF4-FFF2-40B4-BE49-F238E27FC236}">
                <a16:creationId xmlns:a16="http://schemas.microsoft.com/office/drawing/2014/main" id="{F60246C6-C6C2-5A65-5107-B2D21C545F30}"/>
              </a:ext>
            </a:extLst>
          </p:cNvPr>
          <p:cNvPicPr>
            <a:picLocks noChangeAspect="1"/>
          </p:cNvPicPr>
          <p:nvPr/>
        </p:nvPicPr>
        <p:blipFill>
          <a:blip r:embed="rId6"/>
          <a:stretch>
            <a:fillRect/>
          </a:stretch>
        </p:blipFill>
        <p:spPr>
          <a:xfrm>
            <a:off x="4343875" y="5689600"/>
            <a:ext cx="5991958" cy="913060"/>
          </a:xfrm>
          <a:prstGeom prst="rect">
            <a:avLst/>
          </a:prstGeom>
        </p:spPr>
      </p:pic>
      <p:sp>
        <p:nvSpPr>
          <p:cNvPr id="5" name="Slide Number Placeholder 4">
            <a:extLst>
              <a:ext uri="{FF2B5EF4-FFF2-40B4-BE49-F238E27FC236}">
                <a16:creationId xmlns:a16="http://schemas.microsoft.com/office/drawing/2014/main" id="{AECC226F-E3D0-481C-DEFE-5416E8754A1D}"/>
              </a:ext>
            </a:extLst>
          </p:cNvPr>
          <p:cNvSpPr>
            <a:spLocks noGrp="1"/>
          </p:cNvSpPr>
          <p:nvPr>
            <p:ph type="sldNum" sz="quarter" idx="12"/>
          </p:nvPr>
        </p:nvSpPr>
        <p:spPr/>
        <p:txBody>
          <a:bodyPr/>
          <a:lstStyle/>
          <a:p>
            <a:fld id="{BB2CE0DE-867F-455F-B20B-96D381B4AB71}" type="slidenum">
              <a:rPr lang="en-US" smtClean="0"/>
              <a:t>35</a:t>
            </a:fld>
            <a:endParaRPr lang="en-US"/>
          </a:p>
        </p:txBody>
      </p:sp>
    </p:spTree>
    <p:extLst>
      <p:ext uri="{BB962C8B-B14F-4D97-AF65-F5344CB8AC3E}">
        <p14:creationId xmlns:p14="http://schemas.microsoft.com/office/powerpoint/2010/main" val="3338437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CB41-B54C-C482-0645-D6F7DDCF6821}"/>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sp>
        <p:nvSpPr>
          <p:cNvPr id="3" name="Content Placeholder 2">
            <a:extLst>
              <a:ext uri="{FF2B5EF4-FFF2-40B4-BE49-F238E27FC236}">
                <a16:creationId xmlns:a16="http://schemas.microsoft.com/office/drawing/2014/main" id="{FB1B2272-833C-FD8A-A71E-711B6F53E4D8}"/>
              </a:ext>
            </a:extLst>
          </p:cNvPr>
          <p:cNvSpPr>
            <a:spLocks noGrp="1"/>
          </p:cNvSpPr>
          <p:nvPr>
            <p:ph idx="1"/>
          </p:nvPr>
        </p:nvSpPr>
        <p:spPr/>
        <p:txBody>
          <a:bodyPr/>
          <a:lstStyle/>
          <a:p>
            <a:pPr marL="0" indent="0">
              <a:buNone/>
            </a:pPr>
            <a:r>
              <a:rPr lang="en-US" sz="2000" dirty="0"/>
              <a:t>What the loss looks like near the minimum.</a:t>
            </a:r>
            <a:endParaRPr lang="en-IN" sz="2000" dirty="0">
              <a:solidFill>
                <a:srgbClr val="0000CC"/>
              </a:solidFill>
            </a:endParaRPr>
          </a:p>
          <a:p>
            <a:endParaRPr lang="en-IN" sz="2000" dirty="0"/>
          </a:p>
        </p:txBody>
      </p:sp>
      <p:pic>
        <p:nvPicPr>
          <p:cNvPr id="6" name="Picture 5">
            <a:extLst>
              <a:ext uri="{FF2B5EF4-FFF2-40B4-BE49-F238E27FC236}">
                <a16:creationId xmlns:a16="http://schemas.microsoft.com/office/drawing/2014/main" id="{078EBBB1-24C8-D260-664D-3E3E732D8F5B}"/>
              </a:ext>
            </a:extLst>
          </p:cNvPr>
          <p:cNvPicPr>
            <a:picLocks noChangeAspect="1"/>
          </p:cNvPicPr>
          <p:nvPr/>
        </p:nvPicPr>
        <p:blipFill>
          <a:blip r:embed="rId3"/>
          <a:stretch>
            <a:fillRect/>
          </a:stretch>
        </p:blipFill>
        <p:spPr>
          <a:xfrm>
            <a:off x="1882680" y="1676895"/>
            <a:ext cx="6500813" cy="9906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FA8D2B-0F44-A915-DABF-A5042A8F7FF5}"/>
                  </a:ext>
                </a:extLst>
              </p:cNvPr>
              <p:cNvSpPr txBox="1"/>
              <p:nvPr/>
            </p:nvSpPr>
            <p:spPr>
              <a:xfrm>
                <a:off x="1863277" y="2877262"/>
                <a:ext cx="7153561" cy="707886"/>
              </a:xfrm>
              <a:prstGeom prst="rect">
                <a:avLst/>
              </a:prstGeom>
              <a:noFill/>
            </p:spPr>
            <p:txBody>
              <a:bodyPr wrap="none" rtlCol="0">
                <a:spAutoFit/>
              </a:bodyPr>
              <a:lstStyle/>
              <a:p>
                <a:r>
                  <a:rPr lang="en-US" sz="2000" dirty="0"/>
                  <a:t>θ → could include: weights </a:t>
                </a:r>
                <a14:m>
                  <m:oMath xmlns:m="http://schemas.openxmlformats.org/officeDocument/2006/math">
                    <m:r>
                      <a:rPr lang="en-US" sz="2000" i="1">
                        <a:latin typeface="Cambria Math" panose="02040503050406030204" pitchFamily="18" charset="0"/>
                      </a:rPr>
                      <m:t>𝑤</m:t>
                    </m:r>
                    <m:r>
                      <a:rPr lang="en-IN" sz="2000" i="1">
                        <a:latin typeface="Cambria Math" panose="02040503050406030204" pitchFamily="18" charset="0"/>
                      </a:rPr>
                      <m:t>, </m:t>
                    </m:r>
                  </m:oMath>
                </a14:m>
                <a:r>
                  <a:rPr lang="en-US" sz="2000" dirty="0"/>
                  <a:t>bias </a:t>
                </a:r>
                <a14:m>
                  <m:oMath xmlns:m="http://schemas.openxmlformats.org/officeDocument/2006/math">
                    <m:r>
                      <a:rPr lang="en-US" sz="2000" i="1">
                        <a:latin typeface="Cambria Math" panose="02040503050406030204" pitchFamily="18" charset="0"/>
                      </a:rPr>
                      <m:t>𝑏</m:t>
                    </m:r>
                    <m:r>
                      <a:rPr lang="en-IN" sz="2000" i="1">
                        <a:latin typeface="Cambria Math" panose="02040503050406030204" pitchFamily="18" charset="0"/>
                      </a:rPr>
                      <m:t>, </m:t>
                    </m:r>
                  </m:oMath>
                </a14:m>
                <a:r>
                  <a:rPr lang="en-US" sz="2000" dirty="0"/>
                  <a:t>other parameters</a:t>
                </a:r>
              </a:p>
              <a:p>
                <a:r>
                  <a:rPr lang="en-IN" sz="2000" dirty="0"/>
                  <a:t>To simplify let us consider </a:t>
                </a:r>
                <a:r>
                  <a:rPr lang="en-US" sz="2000" dirty="0"/>
                  <a:t>θ includes only weights </a:t>
                </a:r>
                <a14:m>
                  <m:oMath xmlns:m="http://schemas.openxmlformats.org/officeDocument/2006/math">
                    <m:r>
                      <a:rPr lang="en-US" sz="2000" i="1">
                        <a:latin typeface="Cambria Math" panose="02040503050406030204" pitchFamily="18" charset="0"/>
                      </a:rPr>
                      <m:t>𝑤</m:t>
                    </m:r>
                  </m:oMath>
                </a14:m>
                <a:endParaRPr lang="en-IN" sz="2000" dirty="0"/>
              </a:p>
            </p:txBody>
          </p:sp>
        </mc:Choice>
        <mc:Fallback xmlns="">
          <p:sp>
            <p:nvSpPr>
              <p:cNvPr id="7" name="TextBox 6">
                <a:extLst>
                  <a:ext uri="{FF2B5EF4-FFF2-40B4-BE49-F238E27FC236}">
                    <a16:creationId xmlns:a16="http://schemas.microsoft.com/office/drawing/2014/main" id="{27FA8D2B-0F44-A915-DABF-A5042A8F7FF5}"/>
                  </a:ext>
                </a:extLst>
              </p:cNvPr>
              <p:cNvSpPr txBox="1">
                <a:spLocks noRot="1" noChangeAspect="1" noMove="1" noResize="1" noEditPoints="1" noAdjustHandles="1" noChangeArrowheads="1" noChangeShapeType="1" noTextEdit="1"/>
              </p:cNvSpPr>
              <p:nvPr/>
            </p:nvSpPr>
            <p:spPr>
              <a:xfrm>
                <a:off x="1863277" y="2877262"/>
                <a:ext cx="7153561" cy="707886"/>
              </a:xfrm>
              <a:prstGeom prst="rect">
                <a:avLst/>
              </a:prstGeom>
              <a:blipFill>
                <a:blip r:embed="rId4"/>
                <a:stretch>
                  <a:fillRect l="-938" t="-5172" r="-171" b="-14655"/>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16275C1D-2C29-DE8C-896D-ACCDF2CC75C2}"/>
              </a:ext>
            </a:extLst>
          </p:cNvPr>
          <p:cNvPicPr>
            <a:picLocks noChangeAspect="1"/>
          </p:cNvPicPr>
          <p:nvPr/>
        </p:nvPicPr>
        <p:blipFill>
          <a:blip r:embed="rId5"/>
          <a:stretch>
            <a:fillRect/>
          </a:stretch>
        </p:blipFill>
        <p:spPr>
          <a:xfrm>
            <a:off x="7707299" y="3776748"/>
            <a:ext cx="2333951" cy="800212"/>
          </a:xfrm>
          <a:prstGeom prst="rect">
            <a:avLst/>
          </a:prstGeom>
        </p:spPr>
      </p:pic>
      <p:sp>
        <p:nvSpPr>
          <p:cNvPr id="9" name="TextBox 8">
            <a:extLst>
              <a:ext uri="{FF2B5EF4-FFF2-40B4-BE49-F238E27FC236}">
                <a16:creationId xmlns:a16="http://schemas.microsoft.com/office/drawing/2014/main" id="{5DBCAC2C-376D-FDE4-F87C-8D6259D0E8E1}"/>
              </a:ext>
            </a:extLst>
          </p:cNvPr>
          <p:cNvSpPr txBox="1"/>
          <p:nvPr/>
        </p:nvSpPr>
        <p:spPr>
          <a:xfrm>
            <a:off x="7750701" y="4653161"/>
            <a:ext cx="2549096" cy="830997"/>
          </a:xfrm>
          <a:prstGeom prst="rect">
            <a:avLst/>
          </a:prstGeom>
          <a:noFill/>
        </p:spPr>
        <p:txBody>
          <a:bodyPr wrap="none" rtlCol="0">
            <a:spAutoFit/>
          </a:bodyPr>
          <a:lstStyle/>
          <a:p>
            <a:r>
              <a:rPr lang="en-US" sz="1600" dirty="0"/>
              <a:t>The </a:t>
            </a:r>
            <a:r>
              <a:rPr lang="en-US" sz="1600" b="1" dirty="0"/>
              <a:t>best weight</a:t>
            </a:r>
            <a:r>
              <a:rPr lang="en-US" sz="1600" dirty="0"/>
              <a:t> that </a:t>
            </a:r>
          </a:p>
          <a:p>
            <a:r>
              <a:rPr lang="en-US" sz="1600" dirty="0"/>
              <a:t>minimizes the original </a:t>
            </a:r>
          </a:p>
          <a:p>
            <a:r>
              <a:rPr lang="en-US" sz="1600" dirty="0"/>
              <a:t>(unregularized) loss</a:t>
            </a:r>
            <a:endParaRPr lang="en-IN" sz="16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0B2B9C5-8A18-8855-8878-1831ACAC7E3F}"/>
                  </a:ext>
                </a:extLst>
              </p:cNvPr>
              <p:cNvSpPr txBox="1"/>
              <p:nvPr/>
            </p:nvSpPr>
            <p:spPr>
              <a:xfrm>
                <a:off x="8569430" y="1543493"/>
                <a:ext cx="4572000" cy="923330"/>
              </a:xfrm>
              <a:prstGeom prst="rect">
                <a:avLst/>
              </a:prstGeom>
              <a:noFill/>
            </p:spPr>
            <p:txBody>
              <a:bodyPr wrap="square">
                <a:spAutoFit/>
              </a:bodyPr>
              <a:lstStyle/>
              <a:p>
                <a:r>
                  <a:rPr lang="en-IN" dirty="0"/>
                  <a:t>quadratic </a:t>
                </a:r>
              </a:p>
              <a:p>
                <a:r>
                  <a:rPr lang="en-IN" dirty="0"/>
                  <a:t>approximation </a:t>
                </a:r>
              </a:p>
              <a:p>
                <a:r>
                  <a:rPr lang="en-IN" dirty="0"/>
                  <a:t>of </a:t>
                </a:r>
                <a14:m>
                  <m:oMath xmlns:m="http://schemas.openxmlformats.org/officeDocument/2006/math">
                    <m:r>
                      <a:rPr lang="en-IN" i="1">
                        <a:latin typeface="Cambria Math" panose="02040503050406030204" pitchFamily="18" charset="0"/>
                      </a:rPr>
                      <m:t>𝐽</m:t>
                    </m:r>
                    <m:d>
                      <m:dPr>
                        <m:ctrlPr>
                          <a:rPr lang="ar-AE" i="1">
                            <a:latin typeface="Cambria Math" panose="02040503050406030204" pitchFamily="18" charset="0"/>
                          </a:rPr>
                        </m:ctrlPr>
                      </m:dPr>
                      <m:e>
                        <m:r>
                          <a:rPr lang="ar-AE" i="1">
                            <a:latin typeface="Cambria Math" panose="02040503050406030204" pitchFamily="18" charset="0"/>
                          </a:rPr>
                          <m:t>𝑤</m:t>
                        </m:r>
                      </m:e>
                    </m:d>
                  </m:oMath>
                </a14:m>
                <a:endParaRPr lang="en-IN" dirty="0"/>
              </a:p>
            </p:txBody>
          </p:sp>
        </mc:Choice>
        <mc:Fallback xmlns="">
          <p:sp>
            <p:nvSpPr>
              <p:cNvPr id="11" name="TextBox 10">
                <a:extLst>
                  <a:ext uri="{FF2B5EF4-FFF2-40B4-BE49-F238E27FC236}">
                    <a16:creationId xmlns:a16="http://schemas.microsoft.com/office/drawing/2014/main" id="{30B2B9C5-8A18-8855-8878-1831ACAC7E3F}"/>
                  </a:ext>
                </a:extLst>
              </p:cNvPr>
              <p:cNvSpPr txBox="1">
                <a:spLocks noRot="1" noChangeAspect="1" noMove="1" noResize="1" noEditPoints="1" noAdjustHandles="1" noChangeArrowheads="1" noChangeShapeType="1" noTextEdit="1"/>
              </p:cNvSpPr>
              <p:nvPr/>
            </p:nvSpPr>
            <p:spPr>
              <a:xfrm>
                <a:off x="8569430" y="1543493"/>
                <a:ext cx="4572000" cy="923330"/>
              </a:xfrm>
              <a:prstGeom prst="rect">
                <a:avLst/>
              </a:prstGeom>
              <a:blipFill>
                <a:blip r:embed="rId6"/>
                <a:stretch>
                  <a:fillRect l="-1200" t="-3289" b="-9211"/>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81475D43-8046-F9AD-49D1-443D0BE4F001}"/>
              </a:ext>
            </a:extLst>
          </p:cNvPr>
          <p:cNvPicPr>
            <a:picLocks noChangeAspect="1"/>
          </p:cNvPicPr>
          <p:nvPr/>
        </p:nvPicPr>
        <p:blipFill>
          <a:blip r:embed="rId7"/>
          <a:stretch>
            <a:fillRect/>
          </a:stretch>
        </p:blipFill>
        <p:spPr>
          <a:xfrm>
            <a:off x="8569431" y="990967"/>
            <a:ext cx="609685" cy="552527"/>
          </a:xfrm>
          <a:prstGeom prst="rect">
            <a:avLst/>
          </a:prstGeom>
        </p:spPr>
      </p:pic>
      <p:pic>
        <p:nvPicPr>
          <p:cNvPr id="15" name="Picture 14">
            <a:extLst>
              <a:ext uri="{FF2B5EF4-FFF2-40B4-BE49-F238E27FC236}">
                <a16:creationId xmlns:a16="http://schemas.microsoft.com/office/drawing/2014/main" id="{57EF654B-E7CC-1360-B3CD-E35670B9800C}"/>
              </a:ext>
            </a:extLst>
          </p:cNvPr>
          <p:cNvPicPr>
            <a:picLocks noChangeAspect="1"/>
          </p:cNvPicPr>
          <p:nvPr/>
        </p:nvPicPr>
        <p:blipFill>
          <a:blip r:embed="rId8"/>
          <a:stretch>
            <a:fillRect/>
          </a:stretch>
        </p:blipFill>
        <p:spPr>
          <a:xfrm>
            <a:off x="1981201" y="3951748"/>
            <a:ext cx="1714739" cy="647790"/>
          </a:xfrm>
          <a:prstGeom prst="rect">
            <a:avLst/>
          </a:prstGeom>
        </p:spPr>
      </p:pic>
      <p:sp>
        <p:nvSpPr>
          <p:cNvPr id="16" name="TextBox 15">
            <a:extLst>
              <a:ext uri="{FF2B5EF4-FFF2-40B4-BE49-F238E27FC236}">
                <a16:creationId xmlns:a16="http://schemas.microsoft.com/office/drawing/2014/main" id="{AE5EFF46-6BBA-04CA-4AF2-15196AC536B2}"/>
              </a:ext>
            </a:extLst>
          </p:cNvPr>
          <p:cNvSpPr txBox="1"/>
          <p:nvPr/>
        </p:nvSpPr>
        <p:spPr>
          <a:xfrm>
            <a:off x="1892204" y="4628118"/>
            <a:ext cx="3424207" cy="1200329"/>
          </a:xfrm>
          <a:prstGeom prst="rect">
            <a:avLst/>
          </a:prstGeom>
          <a:noFill/>
        </p:spPr>
        <p:txBody>
          <a:bodyPr wrap="none" rtlCol="0">
            <a:spAutoFit/>
          </a:bodyPr>
          <a:lstStyle/>
          <a:p>
            <a:r>
              <a:rPr lang="en-IN" dirty="0"/>
              <a:t>Hessian matrix:</a:t>
            </a:r>
          </a:p>
          <a:p>
            <a:r>
              <a:rPr lang="en-IN" dirty="0"/>
              <a:t>Contains second derivatives</a:t>
            </a:r>
          </a:p>
          <a:p>
            <a:r>
              <a:rPr lang="en-IN" dirty="0"/>
              <a:t>Measures curvature</a:t>
            </a:r>
          </a:p>
          <a:p>
            <a:endParaRPr lang="en-IN" dirty="0"/>
          </a:p>
        </p:txBody>
      </p:sp>
      <p:sp>
        <p:nvSpPr>
          <p:cNvPr id="5" name="Slide Number Placeholder 4">
            <a:extLst>
              <a:ext uri="{FF2B5EF4-FFF2-40B4-BE49-F238E27FC236}">
                <a16:creationId xmlns:a16="http://schemas.microsoft.com/office/drawing/2014/main" id="{C6EEB77F-24CC-AADF-1256-F436B99EBD6E}"/>
              </a:ext>
            </a:extLst>
          </p:cNvPr>
          <p:cNvSpPr>
            <a:spLocks noGrp="1"/>
          </p:cNvSpPr>
          <p:nvPr>
            <p:ph type="sldNum" sz="quarter" idx="12"/>
          </p:nvPr>
        </p:nvSpPr>
        <p:spPr/>
        <p:txBody>
          <a:bodyPr/>
          <a:lstStyle/>
          <a:p>
            <a:fld id="{BB2CE0DE-867F-455F-B20B-96D381B4AB71}" type="slidenum">
              <a:rPr lang="en-US" smtClean="0"/>
              <a:t>36</a:t>
            </a:fld>
            <a:endParaRPr lang="en-US"/>
          </a:p>
        </p:txBody>
      </p:sp>
    </p:spTree>
    <p:extLst>
      <p:ext uri="{BB962C8B-B14F-4D97-AF65-F5344CB8AC3E}">
        <p14:creationId xmlns:p14="http://schemas.microsoft.com/office/powerpoint/2010/main" val="780943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3891-8377-9928-C1CB-A1B1B6840B17}"/>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3AFAEB0A-A6C6-227F-4F18-AC64DC1A2715}"/>
              </a:ext>
            </a:extLst>
          </p:cNvPr>
          <p:cNvPicPr>
            <a:picLocks noChangeAspect="1"/>
          </p:cNvPicPr>
          <p:nvPr/>
        </p:nvPicPr>
        <p:blipFill>
          <a:blip r:embed="rId2"/>
          <a:stretch>
            <a:fillRect/>
          </a:stretch>
        </p:blipFill>
        <p:spPr>
          <a:xfrm>
            <a:off x="2090739" y="1295400"/>
            <a:ext cx="6500813" cy="990600"/>
          </a:xfrm>
          <a:prstGeom prst="rect">
            <a:avLst/>
          </a:prstGeom>
        </p:spPr>
      </p:pic>
      <p:pic>
        <p:nvPicPr>
          <p:cNvPr id="7" name="Picture 6">
            <a:extLst>
              <a:ext uri="{FF2B5EF4-FFF2-40B4-BE49-F238E27FC236}">
                <a16:creationId xmlns:a16="http://schemas.microsoft.com/office/drawing/2014/main" id="{E6C703A2-3F64-E09D-C3EC-4E720E806E3E}"/>
              </a:ext>
            </a:extLst>
          </p:cNvPr>
          <p:cNvPicPr>
            <a:picLocks noChangeAspect="1"/>
          </p:cNvPicPr>
          <p:nvPr/>
        </p:nvPicPr>
        <p:blipFill>
          <a:blip r:embed="rId3"/>
          <a:stretch>
            <a:fillRect/>
          </a:stretch>
        </p:blipFill>
        <p:spPr>
          <a:xfrm>
            <a:off x="2090738" y="2385984"/>
            <a:ext cx="809738" cy="409632"/>
          </a:xfrm>
          <a:prstGeom prst="rect">
            <a:avLst/>
          </a:prstGeom>
        </p:spPr>
      </p:pic>
      <p:pic>
        <p:nvPicPr>
          <p:cNvPr id="9" name="Picture 8">
            <a:extLst>
              <a:ext uri="{FF2B5EF4-FFF2-40B4-BE49-F238E27FC236}">
                <a16:creationId xmlns:a16="http://schemas.microsoft.com/office/drawing/2014/main" id="{68F4FE71-6B33-49E4-683F-3962259E5F70}"/>
              </a:ext>
            </a:extLst>
          </p:cNvPr>
          <p:cNvPicPr>
            <a:picLocks noChangeAspect="1"/>
          </p:cNvPicPr>
          <p:nvPr/>
        </p:nvPicPr>
        <p:blipFill>
          <a:blip r:embed="rId4"/>
          <a:stretch>
            <a:fillRect/>
          </a:stretch>
        </p:blipFill>
        <p:spPr>
          <a:xfrm>
            <a:off x="3352801" y="2795617"/>
            <a:ext cx="1190791" cy="733527"/>
          </a:xfrm>
          <a:prstGeom prst="rect">
            <a:avLst/>
          </a:prstGeom>
        </p:spPr>
      </p:pic>
      <p:sp>
        <p:nvSpPr>
          <p:cNvPr id="10" name="TextBox 9">
            <a:extLst>
              <a:ext uri="{FF2B5EF4-FFF2-40B4-BE49-F238E27FC236}">
                <a16:creationId xmlns:a16="http://schemas.microsoft.com/office/drawing/2014/main" id="{38F6F010-C83A-1C92-58FA-FC6C3B6C35B9}"/>
              </a:ext>
            </a:extLst>
          </p:cNvPr>
          <p:cNvSpPr txBox="1"/>
          <p:nvPr/>
        </p:nvSpPr>
        <p:spPr>
          <a:xfrm>
            <a:off x="1800577" y="2932289"/>
            <a:ext cx="1705852" cy="369332"/>
          </a:xfrm>
          <a:prstGeom prst="rect">
            <a:avLst/>
          </a:prstGeom>
          <a:noFill/>
        </p:spPr>
        <p:txBody>
          <a:bodyPr wrap="none" rtlCol="0">
            <a:spAutoFit/>
          </a:bodyPr>
          <a:lstStyle/>
          <a:p>
            <a:r>
              <a:rPr lang="en-IN" dirty="0"/>
              <a:t>We compute </a:t>
            </a:r>
          </a:p>
        </p:txBody>
      </p:sp>
      <p:pic>
        <p:nvPicPr>
          <p:cNvPr id="12" name="Picture 11">
            <a:extLst>
              <a:ext uri="{FF2B5EF4-FFF2-40B4-BE49-F238E27FC236}">
                <a16:creationId xmlns:a16="http://schemas.microsoft.com/office/drawing/2014/main" id="{E75DE695-5D74-8BF7-885E-E295319B165B}"/>
              </a:ext>
            </a:extLst>
          </p:cNvPr>
          <p:cNvPicPr>
            <a:picLocks noChangeAspect="1"/>
          </p:cNvPicPr>
          <p:nvPr/>
        </p:nvPicPr>
        <p:blipFill>
          <a:blip r:embed="rId5"/>
          <a:stretch>
            <a:fillRect/>
          </a:stretch>
        </p:blipFill>
        <p:spPr>
          <a:xfrm>
            <a:off x="2098675" y="4161321"/>
            <a:ext cx="2213703" cy="677417"/>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7DECFEC-3A5B-8E87-E88F-B6FE4DE63891}"/>
                  </a:ext>
                </a:extLst>
              </p:cNvPr>
              <p:cNvSpPr txBox="1"/>
              <p:nvPr/>
            </p:nvSpPr>
            <p:spPr>
              <a:xfrm>
                <a:off x="1635437" y="4838739"/>
                <a:ext cx="4766113"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a:latin typeface="Cambria Math" panose="02040503050406030204" pitchFamily="18" charset="0"/>
                        </a:rPr>
                        <m:t>Because</m:t>
                      </m:r>
                    </m:oMath>
                  </m:oMathPara>
                </a14:m>
                <a:endParaRPr lang="en-IN" dirty="0">
                  <a:latin typeface="Cambria Math" panose="02040503050406030204" pitchFamily="18" charset="0"/>
                </a:endParaRPr>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𝑤</m:t>
                        </m:r>
                      </m:e>
                      <m:sup>
                        <m:r>
                          <a:rPr lang="ar-AE">
                            <a:latin typeface="Cambria Math" panose="02040503050406030204" pitchFamily="18" charset="0"/>
                          </a:rPr>
                          <m:t>∗</m:t>
                        </m:r>
                      </m:sup>
                    </m:sSup>
                  </m:oMath>
                </a14:m>
                <a:r>
                  <a:rPr lang="en-IN" dirty="0"/>
                  <a:t>is a </a:t>
                </a:r>
                <a:r>
                  <a:rPr lang="en-IN" b="1" dirty="0"/>
                  <a:t>constant</a:t>
                </a:r>
                <a:r>
                  <a:rPr lang="en-IN" dirty="0"/>
                  <a:t> (fixed minimum point)</a:t>
                </a:r>
              </a:p>
              <a:p>
                <a:r>
                  <a:rPr lang="en-IN" dirty="0"/>
                  <a:t>No dependence on </a:t>
                </a:r>
                <a14:m>
                  <m:oMath xmlns:m="http://schemas.openxmlformats.org/officeDocument/2006/math">
                    <m:r>
                      <a:rPr lang="en-IN" i="1">
                        <a:latin typeface="Cambria Math" panose="02040503050406030204" pitchFamily="18" charset="0"/>
                      </a:rPr>
                      <m:t>𝑤</m:t>
                    </m:r>
                  </m:oMath>
                </a14:m>
                <a:endParaRPr lang="en-IN" dirty="0"/>
              </a:p>
              <a:p>
                <a:endParaRPr lang="en-IN" dirty="0"/>
              </a:p>
            </p:txBody>
          </p:sp>
        </mc:Choice>
        <mc:Fallback xmlns="">
          <p:sp>
            <p:nvSpPr>
              <p:cNvPr id="13" name="TextBox 12">
                <a:extLst>
                  <a:ext uri="{FF2B5EF4-FFF2-40B4-BE49-F238E27FC236}">
                    <a16:creationId xmlns:a16="http://schemas.microsoft.com/office/drawing/2014/main" id="{F7DECFEC-3A5B-8E87-E88F-B6FE4DE63891}"/>
                  </a:ext>
                </a:extLst>
              </p:cNvPr>
              <p:cNvSpPr txBox="1">
                <a:spLocks noRot="1" noChangeAspect="1" noMove="1" noResize="1" noEditPoints="1" noAdjustHandles="1" noChangeArrowheads="1" noChangeShapeType="1" noTextEdit="1"/>
              </p:cNvSpPr>
              <p:nvPr/>
            </p:nvSpPr>
            <p:spPr>
              <a:xfrm>
                <a:off x="1635437" y="4838739"/>
                <a:ext cx="4766113" cy="1200329"/>
              </a:xfrm>
              <a:prstGeom prst="rect">
                <a:avLst/>
              </a:prstGeom>
              <a:blipFill>
                <a:blip r:embed="rId6"/>
                <a:stretch>
                  <a:fillRect l="-1023" r="-384"/>
                </a:stretch>
              </a:blipFill>
            </p:spPr>
            <p:txBody>
              <a:bodyPr/>
              <a:lstStyle/>
              <a:p>
                <a:r>
                  <a:rPr lang="en-IN">
                    <a:noFill/>
                  </a:rPr>
                  <a:t> </a:t>
                </a:r>
              </a:p>
            </p:txBody>
          </p:sp>
        </mc:Fallback>
      </mc:AlternateContent>
      <p:sp>
        <p:nvSpPr>
          <p:cNvPr id="3" name="Slide Number Placeholder 2">
            <a:extLst>
              <a:ext uri="{FF2B5EF4-FFF2-40B4-BE49-F238E27FC236}">
                <a16:creationId xmlns:a16="http://schemas.microsoft.com/office/drawing/2014/main" id="{FF518BBE-C542-A021-1986-BAA2C2A7CDEA}"/>
              </a:ext>
            </a:extLst>
          </p:cNvPr>
          <p:cNvSpPr>
            <a:spLocks noGrp="1"/>
          </p:cNvSpPr>
          <p:nvPr>
            <p:ph type="sldNum" sz="quarter" idx="12"/>
          </p:nvPr>
        </p:nvSpPr>
        <p:spPr/>
        <p:txBody>
          <a:bodyPr/>
          <a:lstStyle/>
          <a:p>
            <a:fld id="{BB2CE0DE-867F-455F-B20B-96D381B4AB71}" type="slidenum">
              <a:rPr lang="en-US" smtClean="0"/>
              <a:t>37</a:t>
            </a:fld>
            <a:endParaRPr lang="en-US"/>
          </a:p>
        </p:txBody>
      </p:sp>
    </p:spTree>
    <p:extLst>
      <p:ext uri="{BB962C8B-B14F-4D97-AF65-F5344CB8AC3E}">
        <p14:creationId xmlns:p14="http://schemas.microsoft.com/office/powerpoint/2010/main" val="1484110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A3756-F826-2BBC-4A26-71F79999C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86D70-7253-2436-AF86-BAA811A93F2B}"/>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E7236809-5DB4-1E99-525A-044969059773}"/>
              </a:ext>
            </a:extLst>
          </p:cNvPr>
          <p:cNvPicPr>
            <a:picLocks noChangeAspect="1"/>
          </p:cNvPicPr>
          <p:nvPr/>
        </p:nvPicPr>
        <p:blipFill>
          <a:blip r:embed="rId2"/>
          <a:stretch>
            <a:fillRect/>
          </a:stretch>
        </p:blipFill>
        <p:spPr>
          <a:xfrm>
            <a:off x="1596144" y="1103367"/>
            <a:ext cx="6500813" cy="990600"/>
          </a:xfrm>
          <a:prstGeom prst="rect">
            <a:avLst/>
          </a:prstGeom>
        </p:spPr>
      </p:pic>
      <p:pic>
        <p:nvPicPr>
          <p:cNvPr id="7" name="Picture 6">
            <a:extLst>
              <a:ext uri="{FF2B5EF4-FFF2-40B4-BE49-F238E27FC236}">
                <a16:creationId xmlns:a16="http://schemas.microsoft.com/office/drawing/2014/main" id="{FDF92DD0-F9CB-5DC4-835A-1C1AA90B9CF1}"/>
              </a:ext>
            </a:extLst>
          </p:cNvPr>
          <p:cNvPicPr>
            <a:picLocks noChangeAspect="1"/>
          </p:cNvPicPr>
          <p:nvPr/>
        </p:nvPicPr>
        <p:blipFill>
          <a:blip r:embed="rId3"/>
          <a:stretch>
            <a:fillRect/>
          </a:stretch>
        </p:blipFill>
        <p:spPr>
          <a:xfrm>
            <a:off x="2125230" y="2279705"/>
            <a:ext cx="809738" cy="409632"/>
          </a:xfrm>
          <a:prstGeom prst="rect">
            <a:avLst/>
          </a:prstGeom>
        </p:spPr>
      </p:pic>
      <p:pic>
        <p:nvPicPr>
          <p:cNvPr id="9" name="Picture 8">
            <a:extLst>
              <a:ext uri="{FF2B5EF4-FFF2-40B4-BE49-F238E27FC236}">
                <a16:creationId xmlns:a16="http://schemas.microsoft.com/office/drawing/2014/main" id="{5A437BC6-6918-BDC1-EC08-C6E064B33B2A}"/>
              </a:ext>
            </a:extLst>
          </p:cNvPr>
          <p:cNvPicPr>
            <a:picLocks noChangeAspect="1"/>
          </p:cNvPicPr>
          <p:nvPr/>
        </p:nvPicPr>
        <p:blipFill>
          <a:blip r:embed="rId4"/>
          <a:stretch>
            <a:fillRect/>
          </a:stretch>
        </p:blipFill>
        <p:spPr>
          <a:xfrm>
            <a:off x="3387293" y="2689338"/>
            <a:ext cx="1190791" cy="733527"/>
          </a:xfrm>
          <a:prstGeom prst="rect">
            <a:avLst/>
          </a:prstGeom>
        </p:spPr>
      </p:pic>
      <p:sp>
        <p:nvSpPr>
          <p:cNvPr id="10" name="TextBox 9">
            <a:extLst>
              <a:ext uri="{FF2B5EF4-FFF2-40B4-BE49-F238E27FC236}">
                <a16:creationId xmlns:a16="http://schemas.microsoft.com/office/drawing/2014/main" id="{C7E70D18-6E2B-C771-F6ED-C4086B359AB1}"/>
              </a:ext>
            </a:extLst>
          </p:cNvPr>
          <p:cNvSpPr txBox="1"/>
          <p:nvPr/>
        </p:nvSpPr>
        <p:spPr>
          <a:xfrm>
            <a:off x="1835069" y="2826010"/>
            <a:ext cx="1705852" cy="369332"/>
          </a:xfrm>
          <a:prstGeom prst="rect">
            <a:avLst/>
          </a:prstGeom>
          <a:noFill/>
        </p:spPr>
        <p:txBody>
          <a:bodyPr wrap="none" rtlCol="0">
            <a:spAutoFit/>
          </a:bodyPr>
          <a:lstStyle/>
          <a:p>
            <a:r>
              <a:rPr lang="en-IN" dirty="0"/>
              <a:t>We compute </a:t>
            </a:r>
          </a:p>
        </p:txBody>
      </p:sp>
      <p:pic>
        <p:nvPicPr>
          <p:cNvPr id="15" name="Picture 14">
            <a:extLst>
              <a:ext uri="{FF2B5EF4-FFF2-40B4-BE49-F238E27FC236}">
                <a16:creationId xmlns:a16="http://schemas.microsoft.com/office/drawing/2014/main" id="{1F76E6F4-3473-221A-41C5-5A25233C4C52}"/>
              </a:ext>
            </a:extLst>
          </p:cNvPr>
          <p:cNvPicPr>
            <a:picLocks noChangeAspect="1"/>
          </p:cNvPicPr>
          <p:nvPr/>
        </p:nvPicPr>
        <p:blipFill>
          <a:blip r:embed="rId5"/>
          <a:stretch>
            <a:fillRect/>
          </a:stretch>
        </p:blipFill>
        <p:spPr>
          <a:xfrm>
            <a:off x="8074378" y="1598668"/>
            <a:ext cx="2495898" cy="3324689"/>
          </a:xfrm>
          <a:prstGeom prst="rect">
            <a:avLst/>
          </a:prstGeom>
        </p:spPr>
      </p:pic>
      <p:pic>
        <p:nvPicPr>
          <p:cNvPr id="17" name="Picture 16">
            <a:extLst>
              <a:ext uri="{FF2B5EF4-FFF2-40B4-BE49-F238E27FC236}">
                <a16:creationId xmlns:a16="http://schemas.microsoft.com/office/drawing/2014/main" id="{204F4469-CA18-58DB-1476-D55F69E0F2FD}"/>
              </a:ext>
            </a:extLst>
          </p:cNvPr>
          <p:cNvPicPr>
            <a:picLocks noChangeAspect="1"/>
          </p:cNvPicPr>
          <p:nvPr/>
        </p:nvPicPr>
        <p:blipFill>
          <a:blip r:embed="rId6"/>
          <a:stretch>
            <a:fillRect/>
          </a:stretch>
        </p:blipFill>
        <p:spPr>
          <a:xfrm>
            <a:off x="7946073" y="5069910"/>
            <a:ext cx="2448267" cy="952633"/>
          </a:xfrm>
          <a:prstGeom prst="rect">
            <a:avLst/>
          </a:prstGeom>
        </p:spPr>
      </p:pic>
      <p:pic>
        <p:nvPicPr>
          <p:cNvPr id="19" name="Picture 18">
            <a:extLst>
              <a:ext uri="{FF2B5EF4-FFF2-40B4-BE49-F238E27FC236}">
                <a16:creationId xmlns:a16="http://schemas.microsoft.com/office/drawing/2014/main" id="{18FDA952-399B-B86C-882F-4DD24D3063AD}"/>
              </a:ext>
            </a:extLst>
          </p:cNvPr>
          <p:cNvPicPr>
            <a:picLocks noChangeAspect="1"/>
          </p:cNvPicPr>
          <p:nvPr/>
        </p:nvPicPr>
        <p:blipFill>
          <a:blip r:embed="rId7"/>
          <a:stretch>
            <a:fillRect/>
          </a:stretch>
        </p:blipFill>
        <p:spPr>
          <a:xfrm>
            <a:off x="2240717" y="5120630"/>
            <a:ext cx="5172797" cy="304843"/>
          </a:xfrm>
          <a:prstGeom prst="rect">
            <a:avLst/>
          </a:prstGeom>
        </p:spPr>
      </p:pic>
      <p:pic>
        <p:nvPicPr>
          <p:cNvPr id="21" name="Picture 20">
            <a:extLst>
              <a:ext uri="{FF2B5EF4-FFF2-40B4-BE49-F238E27FC236}">
                <a16:creationId xmlns:a16="http://schemas.microsoft.com/office/drawing/2014/main" id="{B5E17F0E-3074-F402-4915-21B91DAF8C41}"/>
              </a:ext>
            </a:extLst>
          </p:cNvPr>
          <p:cNvPicPr>
            <a:picLocks noChangeAspect="1"/>
          </p:cNvPicPr>
          <p:nvPr/>
        </p:nvPicPr>
        <p:blipFill>
          <a:blip r:embed="rId8"/>
          <a:stretch>
            <a:fillRect/>
          </a:stretch>
        </p:blipFill>
        <p:spPr>
          <a:xfrm>
            <a:off x="2988455" y="5456516"/>
            <a:ext cx="1257475" cy="466790"/>
          </a:xfrm>
          <a:prstGeom prst="rect">
            <a:avLst/>
          </a:prstGeom>
        </p:spPr>
      </p:pic>
      <p:pic>
        <p:nvPicPr>
          <p:cNvPr id="11" name="Picture 10">
            <a:extLst>
              <a:ext uri="{FF2B5EF4-FFF2-40B4-BE49-F238E27FC236}">
                <a16:creationId xmlns:a16="http://schemas.microsoft.com/office/drawing/2014/main" id="{5F1BF281-2D9C-7370-0D56-E61F3A886EE0}"/>
              </a:ext>
            </a:extLst>
          </p:cNvPr>
          <p:cNvPicPr>
            <a:picLocks noChangeAspect="1"/>
          </p:cNvPicPr>
          <p:nvPr/>
        </p:nvPicPr>
        <p:blipFill>
          <a:blip r:embed="rId9"/>
          <a:stretch>
            <a:fillRect/>
          </a:stretch>
        </p:blipFill>
        <p:spPr>
          <a:xfrm>
            <a:off x="9204072" y="6065769"/>
            <a:ext cx="1276528" cy="495369"/>
          </a:xfrm>
          <a:prstGeom prst="rect">
            <a:avLst/>
          </a:prstGeom>
        </p:spPr>
      </p:pic>
      <p:sp>
        <p:nvSpPr>
          <p:cNvPr id="3" name="Slide Number Placeholder 2">
            <a:extLst>
              <a:ext uri="{FF2B5EF4-FFF2-40B4-BE49-F238E27FC236}">
                <a16:creationId xmlns:a16="http://schemas.microsoft.com/office/drawing/2014/main" id="{513D890A-40CD-0E85-60EF-CEB2FD5D358E}"/>
              </a:ext>
            </a:extLst>
          </p:cNvPr>
          <p:cNvSpPr>
            <a:spLocks noGrp="1"/>
          </p:cNvSpPr>
          <p:nvPr>
            <p:ph type="sldNum" sz="quarter" idx="12"/>
          </p:nvPr>
        </p:nvSpPr>
        <p:spPr/>
        <p:txBody>
          <a:bodyPr/>
          <a:lstStyle/>
          <a:p>
            <a:fld id="{BB2CE0DE-867F-455F-B20B-96D381B4AB71}" type="slidenum">
              <a:rPr lang="en-US" smtClean="0"/>
              <a:t>38</a:t>
            </a:fld>
            <a:endParaRPr lang="en-US"/>
          </a:p>
        </p:txBody>
      </p:sp>
    </p:spTree>
    <p:extLst>
      <p:ext uri="{BB962C8B-B14F-4D97-AF65-F5344CB8AC3E}">
        <p14:creationId xmlns:p14="http://schemas.microsoft.com/office/powerpoint/2010/main" val="4181947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B04A-DDF5-85C4-24CC-BF1226ECE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E66DE-A0DA-A89C-2E18-ADF2CE1258BA}"/>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051909DB-1D7F-BFE9-FE75-B118B6C2D673}"/>
              </a:ext>
            </a:extLst>
          </p:cNvPr>
          <p:cNvPicPr>
            <a:picLocks noChangeAspect="1"/>
          </p:cNvPicPr>
          <p:nvPr/>
        </p:nvPicPr>
        <p:blipFill>
          <a:blip r:embed="rId2"/>
          <a:stretch>
            <a:fillRect/>
          </a:stretch>
        </p:blipFill>
        <p:spPr>
          <a:xfrm>
            <a:off x="1596144" y="1103367"/>
            <a:ext cx="6500813" cy="990600"/>
          </a:xfrm>
          <a:prstGeom prst="rect">
            <a:avLst/>
          </a:prstGeom>
        </p:spPr>
      </p:pic>
      <p:pic>
        <p:nvPicPr>
          <p:cNvPr id="7" name="Picture 6">
            <a:extLst>
              <a:ext uri="{FF2B5EF4-FFF2-40B4-BE49-F238E27FC236}">
                <a16:creationId xmlns:a16="http://schemas.microsoft.com/office/drawing/2014/main" id="{FB4CDB69-20EF-6031-EA1A-3A52FC6AB0DD}"/>
              </a:ext>
            </a:extLst>
          </p:cNvPr>
          <p:cNvPicPr>
            <a:picLocks noChangeAspect="1"/>
          </p:cNvPicPr>
          <p:nvPr/>
        </p:nvPicPr>
        <p:blipFill>
          <a:blip r:embed="rId3"/>
          <a:stretch>
            <a:fillRect/>
          </a:stretch>
        </p:blipFill>
        <p:spPr>
          <a:xfrm>
            <a:off x="2125230" y="2279705"/>
            <a:ext cx="809738" cy="409632"/>
          </a:xfrm>
          <a:prstGeom prst="rect">
            <a:avLst/>
          </a:prstGeom>
        </p:spPr>
      </p:pic>
      <p:pic>
        <p:nvPicPr>
          <p:cNvPr id="9" name="Picture 8">
            <a:extLst>
              <a:ext uri="{FF2B5EF4-FFF2-40B4-BE49-F238E27FC236}">
                <a16:creationId xmlns:a16="http://schemas.microsoft.com/office/drawing/2014/main" id="{9F1E478D-A66F-DAB4-BF41-595A0DA05DDE}"/>
              </a:ext>
            </a:extLst>
          </p:cNvPr>
          <p:cNvPicPr>
            <a:picLocks noChangeAspect="1"/>
          </p:cNvPicPr>
          <p:nvPr/>
        </p:nvPicPr>
        <p:blipFill>
          <a:blip r:embed="rId4"/>
          <a:stretch>
            <a:fillRect/>
          </a:stretch>
        </p:blipFill>
        <p:spPr>
          <a:xfrm>
            <a:off x="3387293" y="2689338"/>
            <a:ext cx="1190791" cy="733527"/>
          </a:xfrm>
          <a:prstGeom prst="rect">
            <a:avLst/>
          </a:prstGeom>
        </p:spPr>
      </p:pic>
      <p:sp>
        <p:nvSpPr>
          <p:cNvPr id="10" name="TextBox 9">
            <a:extLst>
              <a:ext uri="{FF2B5EF4-FFF2-40B4-BE49-F238E27FC236}">
                <a16:creationId xmlns:a16="http://schemas.microsoft.com/office/drawing/2014/main" id="{1E84BB60-B5BB-E111-0F19-E93057C0DA82}"/>
              </a:ext>
            </a:extLst>
          </p:cNvPr>
          <p:cNvSpPr txBox="1"/>
          <p:nvPr/>
        </p:nvSpPr>
        <p:spPr>
          <a:xfrm>
            <a:off x="1835069" y="2826010"/>
            <a:ext cx="1705852" cy="369332"/>
          </a:xfrm>
          <a:prstGeom prst="rect">
            <a:avLst/>
          </a:prstGeom>
          <a:noFill/>
        </p:spPr>
        <p:txBody>
          <a:bodyPr wrap="none" rtlCol="0">
            <a:spAutoFit/>
          </a:bodyPr>
          <a:lstStyle/>
          <a:p>
            <a:r>
              <a:rPr lang="en-IN" dirty="0"/>
              <a:t>We compute </a:t>
            </a:r>
          </a:p>
        </p:txBody>
      </p:sp>
      <p:pic>
        <p:nvPicPr>
          <p:cNvPr id="3" name="Picture 2">
            <a:extLst>
              <a:ext uri="{FF2B5EF4-FFF2-40B4-BE49-F238E27FC236}">
                <a16:creationId xmlns:a16="http://schemas.microsoft.com/office/drawing/2014/main" id="{F19BB72A-6FC3-3726-970F-F7C341A3BE7C}"/>
              </a:ext>
            </a:extLst>
          </p:cNvPr>
          <p:cNvPicPr>
            <a:picLocks noChangeAspect="1"/>
          </p:cNvPicPr>
          <p:nvPr/>
        </p:nvPicPr>
        <p:blipFill>
          <a:blip r:embed="rId5"/>
          <a:stretch>
            <a:fillRect/>
          </a:stretch>
        </p:blipFill>
        <p:spPr>
          <a:xfrm>
            <a:off x="2280441" y="3871987"/>
            <a:ext cx="2213703" cy="677417"/>
          </a:xfrm>
          <a:prstGeom prst="rect">
            <a:avLst/>
          </a:prstGeom>
        </p:spPr>
      </p:pic>
      <p:pic>
        <p:nvPicPr>
          <p:cNvPr id="8" name="Picture 7">
            <a:extLst>
              <a:ext uri="{FF2B5EF4-FFF2-40B4-BE49-F238E27FC236}">
                <a16:creationId xmlns:a16="http://schemas.microsoft.com/office/drawing/2014/main" id="{6D1BE61F-7D23-4269-1252-F449EB0BD27C}"/>
              </a:ext>
            </a:extLst>
          </p:cNvPr>
          <p:cNvPicPr>
            <a:picLocks noChangeAspect="1"/>
          </p:cNvPicPr>
          <p:nvPr/>
        </p:nvPicPr>
        <p:blipFill>
          <a:blip r:embed="rId6"/>
          <a:stretch>
            <a:fillRect/>
          </a:stretch>
        </p:blipFill>
        <p:spPr>
          <a:xfrm>
            <a:off x="8077200" y="1791550"/>
            <a:ext cx="2495898" cy="3324689"/>
          </a:xfrm>
          <a:prstGeom prst="rect">
            <a:avLst/>
          </a:prstGeom>
        </p:spPr>
      </p:pic>
      <p:pic>
        <p:nvPicPr>
          <p:cNvPr id="11" name="Picture 10">
            <a:extLst>
              <a:ext uri="{FF2B5EF4-FFF2-40B4-BE49-F238E27FC236}">
                <a16:creationId xmlns:a16="http://schemas.microsoft.com/office/drawing/2014/main" id="{34064765-D9B2-1832-88DB-900CFB2929D1}"/>
              </a:ext>
            </a:extLst>
          </p:cNvPr>
          <p:cNvPicPr>
            <a:picLocks noChangeAspect="1"/>
          </p:cNvPicPr>
          <p:nvPr/>
        </p:nvPicPr>
        <p:blipFill>
          <a:blip r:embed="rId7"/>
          <a:stretch>
            <a:fillRect/>
          </a:stretch>
        </p:blipFill>
        <p:spPr>
          <a:xfrm>
            <a:off x="7948895" y="5262792"/>
            <a:ext cx="2448267" cy="952633"/>
          </a:xfrm>
          <a:prstGeom prst="rect">
            <a:avLst/>
          </a:prstGeom>
        </p:spPr>
      </p:pic>
      <p:pic>
        <p:nvPicPr>
          <p:cNvPr id="12" name="Picture 11">
            <a:extLst>
              <a:ext uri="{FF2B5EF4-FFF2-40B4-BE49-F238E27FC236}">
                <a16:creationId xmlns:a16="http://schemas.microsoft.com/office/drawing/2014/main" id="{8F59C65B-213A-02CC-ADF0-26D78A759D6F}"/>
              </a:ext>
            </a:extLst>
          </p:cNvPr>
          <p:cNvPicPr>
            <a:picLocks noChangeAspect="1"/>
          </p:cNvPicPr>
          <p:nvPr/>
        </p:nvPicPr>
        <p:blipFill>
          <a:blip r:embed="rId8"/>
          <a:stretch>
            <a:fillRect/>
          </a:stretch>
        </p:blipFill>
        <p:spPr>
          <a:xfrm>
            <a:off x="9206894" y="6258651"/>
            <a:ext cx="1276528" cy="495369"/>
          </a:xfrm>
          <a:prstGeom prst="rect">
            <a:avLst/>
          </a:prstGeom>
        </p:spPr>
      </p:pic>
      <p:pic>
        <p:nvPicPr>
          <p:cNvPr id="14" name="Picture 13">
            <a:extLst>
              <a:ext uri="{FF2B5EF4-FFF2-40B4-BE49-F238E27FC236}">
                <a16:creationId xmlns:a16="http://schemas.microsoft.com/office/drawing/2014/main" id="{24821A23-FF1A-7673-B2C3-368B2666D1A8}"/>
              </a:ext>
            </a:extLst>
          </p:cNvPr>
          <p:cNvPicPr>
            <a:picLocks noChangeAspect="1"/>
          </p:cNvPicPr>
          <p:nvPr/>
        </p:nvPicPr>
        <p:blipFill>
          <a:blip r:embed="rId9"/>
          <a:stretch>
            <a:fillRect/>
          </a:stretch>
        </p:blipFill>
        <p:spPr>
          <a:xfrm>
            <a:off x="3733801" y="5362817"/>
            <a:ext cx="2791215" cy="752580"/>
          </a:xfrm>
          <a:prstGeom prst="rect">
            <a:avLst/>
          </a:prstGeom>
        </p:spPr>
      </p:pic>
      <p:sp>
        <p:nvSpPr>
          <p:cNvPr id="16" name="TextBox 15">
            <a:extLst>
              <a:ext uri="{FF2B5EF4-FFF2-40B4-BE49-F238E27FC236}">
                <a16:creationId xmlns:a16="http://schemas.microsoft.com/office/drawing/2014/main" id="{04153E50-E437-F362-C187-CA8235527311}"/>
              </a:ext>
            </a:extLst>
          </p:cNvPr>
          <p:cNvSpPr txBox="1"/>
          <p:nvPr/>
        </p:nvSpPr>
        <p:spPr>
          <a:xfrm>
            <a:off x="3623733" y="4885406"/>
            <a:ext cx="2824812" cy="461665"/>
          </a:xfrm>
          <a:prstGeom prst="rect">
            <a:avLst/>
          </a:prstGeom>
          <a:noFill/>
        </p:spPr>
        <p:txBody>
          <a:bodyPr wrap="none" rtlCol="0">
            <a:spAutoFit/>
          </a:bodyPr>
          <a:lstStyle/>
          <a:p>
            <a:r>
              <a:rPr lang="en-IN" sz="2400" dirty="0">
                <a:solidFill>
                  <a:srgbClr val="C00000"/>
                </a:solidFill>
              </a:rPr>
              <a:t>Therefore, finally</a:t>
            </a:r>
          </a:p>
        </p:txBody>
      </p:sp>
      <p:sp>
        <p:nvSpPr>
          <p:cNvPr id="6" name="Slide Number Placeholder 5">
            <a:extLst>
              <a:ext uri="{FF2B5EF4-FFF2-40B4-BE49-F238E27FC236}">
                <a16:creationId xmlns:a16="http://schemas.microsoft.com/office/drawing/2014/main" id="{861B7FE3-A52C-9AB1-297E-7A218E2505DF}"/>
              </a:ext>
            </a:extLst>
          </p:cNvPr>
          <p:cNvSpPr>
            <a:spLocks noGrp="1"/>
          </p:cNvSpPr>
          <p:nvPr>
            <p:ph type="sldNum" sz="quarter" idx="12"/>
          </p:nvPr>
        </p:nvSpPr>
        <p:spPr/>
        <p:txBody>
          <a:bodyPr/>
          <a:lstStyle/>
          <a:p>
            <a:fld id="{BB2CE0DE-867F-455F-B20B-96D381B4AB71}" type="slidenum">
              <a:rPr lang="en-US" smtClean="0"/>
              <a:t>39</a:t>
            </a:fld>
            <a:endParaRPr lang="en-US"/>
          </a:p>
        </p:txBody>
      </p:sp>
    </p:spTree>
    <p:extLst>
      <p:ext uri="{BB962C8B-B14F-4D97-AF65-F5344CB8AC3E}">
        <p14:creationId xmlns:p14="http://schemas.microsoft.com/office/powerpoint/2010/main" val="10546293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A5647-1C9D-67F9-3394-E0506758C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7E760-EAC6-62AA-545E-01F0EBCC0AF3}"/>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sp>
        <p:nvSpPr>
          <p:cNvPr id="5" name="TextBox 4">
            <a:extLst>
              <a:ext uri="{FF2B5EF4-FFF2-40B4-BE49-F238E27FC236}">
                <a16:creationId xmlns:a16="http://schemas.microsoft.com/office/drawing/2014/main" id="{0B47D8B5-27ED-E2EE-8150-F2CB985BBE5E}"/>
              </a:ext>
            </a:extLst>
          </p:cNvPr>
          <p:cNvSpPr txBox="1"/>
          <p:nvPr/>
        </p:nvSpPr>
        <p:spPr>
          <a:xfrm>
            <a:off x="2098676" y="1929966"/>
            <a:ext cx="7873437" cy="369332"/>
          </a:xfrm>
          <a:prstGeom prst="rect">
            <a:avLst/>
          </a:prstGeom>
          <a:noFill/>
        </p:spPr>
        <p:txBody>
          <a:bodyPr wrap="none" rtlCol="0">
            <a:spAutoFit/>
          </a:bodyPr>
          <a:lstStyle/>
          <a:p>
            <a:r>
              <a:rPr lang="en-US" dirty="0"/>
              <a:t>This is the gradient of the </a:t>
            </a:r>
            <a:r>
              <a:rPr lang="en-US" b="1" dirty="0"/>
              <a:t>unregularized (approximated) loss.</a:t>
            </a:r>
            <a:endParaRPr lang="en-IN" dirty="0"/>
          </a:p>
        </p:txBody>
      </p:sp>
      <p:pic>
        <p:nvPicPr>
          <p:cNvPr id="7" name="Picture 6">
            <a:extLst>
              <a:ext uri="{FF2B5EF4-FFF2-40B4-BE49-F238E27FC236}">
                <a16:creationId xmlns:a16="http://schemas.microsoft.com/office/drawing/2014/main" id="{54AA8679-78AF-7E91-CDB0-1E8A1E4C856D}"/>
              </a:ext>
            </a:extLst>
          </p:cNvPr>
          <p:cNvPicPr>
            <a:picLocks noChangeAspect="1"/>
          </p:cNvPicPr>
          <p:nvPr/>
        </p:nvPicPr>
        <p:blipFill>
          <a:blip r:embed="rId2"/>
          <a:stretch>
            <a:fillRect/>
          </a:stretch>
        </p:blipFill>
        <p:spPr>
          <a:xfrm>
            <a:off x="2098676" y="1219200"/>
            <a:ext cx="2629267" cy="590632"/>
          </a:xfrm>
          <a:prstGeom prst="rect">
            <a:avLst/>
          </a:prstGeom>
        </p:spPr>
      </p:pic>
      <p:sp>
        <p:nvSpPr>
          <p:cNvPr id="8" name="TextBox 7">
            <a:extLst>
              <a:ext uri="{FF2B5EF4-FFF2-40B4-BE49-F238E27FC236}">
                <a16:creationId xmlns:a16="http://schemas.microsoft.com/office/drawing/2014/main" id="{58DCE88D-5530-2B8B-B11B-7CEA675C8E21}"/>
              </a:ext>
            </a:extLst>
          </p:cNvPr>
          <p:cNvSpPr txBox="1"/>
          <p:nvPr/>
        </p:nvSpPr>
        <p:spPr>
          <a:xfrm>
            <a:off x="2098675" y="2640732"/>
            <a:ext cx="1710084" cy="369332"/>
          </a:xfrm>
          <a:prstGeom prst="rect">
            <a:avLst/>
          </a:prstGeom>
          <a:noFill/>
        </p:spPr>
        <p:txBody>
          <a:bodyPr wrap="none" rtlCol="0">
            <a:spAutoFit/>
          </a:bodyPr>
          <a:lstStyle/>
          <a:p>
            <a:r>
              <a:rPr lang="en-IN" dirty="0"/>
              <a:t>At minimum:</a:t>
            </a:r>
          </a:p>
        </p:txBody>
      </p:sp>
      <p:pic>
        <p:nvPicPr>
          <p:cNvPr id="10" name="Picture 9">
            <a:extLst>
              <a:ext uri="{FF2B5EF4-FFF2-40B4-BE49-F238E27FC236}">
                <a16:creationId xmlns:a16="http://schemas.microsoft.com/office/drawing/2014/main" id="{986D68E6-F820-7C5D-473B-48F278DAD14B}"/>
              </a:ext>
            </a:extLst>
          </p:cNvPr>
          <p:cNvPicPr>
            <a:picLocks noChangeAspect="1"/>
          </p:cNvPicPr>
          <p:nvPr/>
        </p:nvPicPr>
        <p:blipFill>
          <a:blip r:embed="rId3"/>
          <a:stretch>
            <a:fillRect/>
          </a:stretch>
        </p:blipFill>
        <p:spPr>
          <a:xfrm>
            <a:off x="4038601" y="2640733"/>
            <a:ext cx="3048425" cy="543001"/>
          </a:xfrm>
          <a:prstGeom prst="rect">
            <a:avLst/>
          </a:prstGeom>
        </p:spPr>
      </p:pic>
      <p:pic>
        <p:nvPicPr>
          <p:cNvPr id="12" name="Picture 11">
            <a:extLst>
              <a:ext uri="{FF2B5EF4-FFF2-40B4-BE49-F238E27FC236}">
                <a16:creationId xmlns:a16="http://schemas.microsoft.com/office/drawing/2014/main" id="{FBC0ABF6-3B96-DA67-1BFC-E64A7EFA14BB}"/>
              </a:ext>
            </a:extLst>
          </p:cNvPr>
          <p:cNvPicPr>
            <a:picLocks noChangeAspect="1"/>
          </p:cNvPicPr>
          <p:nvPr/>
        </p:nvPicPr>
        <p:blipFill>
          <a:blip r:embed="rId4"/>
          <a:stretch>
            <a:fillRect/>
          </a:stretch>
        </p:blipFill>
        <p:spPr>
          <a:xfrm>
            <a:off x="2098675" y="3314865"/>
            <a:ext cx="5334744" cy="1133633"/>
          </a:xfrm>
          <a:prstGeom prst="rect">
            <a:avLst/>
          </a:prstGeom>
        </p:spPr>
      </p:pic>
      <p:pic>
        <p:nvPicPr>
          <p:cNvPr id="13" name="Picture 12">
            <a:extLst>
              <a:ext uri="{FF2B5EF4-FFF2-40B4-BE49-F238E27FC236}">
                <a16:creationId xmlns:a16="http://schemas.microsoft.com/office/drawing/2014/main" id="{416048B6-6085-E29A-7325-883E5E2D794E}"/>
              </a:ext>
            </a:extLst>
          </p:cNvPr>
          <p:cNvPicPr>
            <a:picLocks noChangeAspect="1"/>
          </p:cNvPicPr>
          <p:nvPr/>
        </p:nvPicPr>
        <p:blipFill>
          <a:blip r:embed="rId5"/>
          <a:stretch>
            <a:fillRect/>
          </a:stretch>
        </p:blipFill>
        <p:spPr>
          <a:xfrm>
            <a:off x="2244908" y="5727136"/>
            <a:ext cx="5042278" cy="673665"/>
          </a:xfrm>
          <a:prstGeom prst="rect">
            <a:avLst/>
          </a:prstGeom>
        </p:spPr>
      </p:pic>
      <p:pic>
        <p:nvPicPr>
          <p:cNvPr id="14" name="Picture 13">
            <a:extLst>
              <a:ext uri="{FF2B5EF4-FFF2-40B4-BE49-F238E27FC236}">
                <a16:creationId xmlns:a16="http://schemas.microsoft.com/office/drawing/2014/main" id="{7844ABCC-3854-23E4-70E4-92AE5CA9449B}"/>
              </a:ext>
            </a:extLst>
          </p:cNvPr>
          <p:cNvPicPr>
            <a:picLocks noChangeAspect="1"/>
          </p:cNvPicPr>
          <p:nvPr/>
        </p:nvPicPr>
        <p:blipFill>
          <a:blip r:embed="rId6"/>
          <a:stretch>
            <a:fillRect/>
          </a:stretch>
        </p:blipFill>
        <p:spPr>
          <a:xfrm>
            <a:off x="1981200" y="4579628"/>
            <a:ext cx="5764568" cy="1001996"/>
          </a:xfrm>
          <a:prstGeom prst="rect">
            <a:avLst/>
          </a:prstGeom>
        </p:spPr>
      </p:pic>
      <p:sp>
        <p:nvSpPr>
          <p:cNvPr id="3" name="Slide Number Placeholder 2">
            <a:extLst>
              <a:ext uri="{FF2B5EF4-FFF2-40B4-BE49-F238E27FC236}">
                <a16:creationId xmlns:a16="http://schemas.microsoft.com/office/drawing/2014/main" id="{F7CD2B8F-C47A-CFFD-68D4-5B9818795E65}"/>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37217109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95B1A-93E1-2F5F-71D2-679CFCBCB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F7439-C827-A195-C454-E2ACAF46FDEB}"/>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7" name="Picture 6">
            <a:extLst>
              <a:ext uri="{FF2B5EF4-FFF2-40B4-BE49-F238E27FC236}">
                <a16:creationId xmlns:a16="http://schemas.microsoft.com/office/drawing/2014/main" id="{B1753085-F999-6367-2524-D8C9831DA412}"/>
              </a:ext>
            </a:extLst>
          </p:cNvPr>
          <p:cNvPicPr>
            <a:picLocks noChangeAspect="1"/>
          </p:cNvPicPr>
          <p:nvPr/>
        </p:nvPicPr>
        <p:blipFill>
          <a:blip r:embed="rId2"/>
          <a:stretch>
            <a:fillRect/>
          </a:stretch>
        </p:blipFill>
        <p:spPr>
          <a:xfrm>
            <a:off x="2098676" y="1219200"/>
            <a:ext cx="2629267" cy="590632"/>
          </a:xfrm>
          <a:prstGeom prst="rect">
            <a:avLst/>
          </a:prstGeom>
        </p:spPr>
      </p:pic>
      <p:pic>
        <p:nvPicPr>
          <p:cNvPr id="13" name="Picture 12">
            <a:extLst>
              <a:ext uri="{FF2B5EF4-FFF2-40B4-BE49-F238E27FC236}">
                <a16:creationId xmlns:a16="http://schemas.microsoft.com/office/drawing/2014/main" id="{19EE1EC5-146E-7E4D-57E2-BC257F541461}"/>
              </a:ext>
            </a:extLst>
          </p:cNvPr>
          <p:cNvPicPr>
            <a:picLocks noChangeAspect="1"/>
          </p:cNvPicPr>
          <p:nvPr/>
        </p:nvPicPr>
        <p:blipFill>
          <a:blip r:embed="rId3"/>
          <a:stretch>
            <a:fillRect/>
          </a:stretch>
        </p:blipFill>
        <p:spPr>
          <a:xfrm>
            <a:off x="1828800" y="2362201"/>
            <a:ext cx="5042278" cy="673665"/>
          </a:xfrm>
          <a:prstGeom prst="rect">
            <a:avLst/>
          </a:prstGeom>
        </p:spPr>
      </p:pic>
      <p:pic>
        <p:nvPicPr>
          <p:cNvPr id="6" name="Picture 5">
            <a:extLst>
              <a:ext uri="{FF2B5EF4-FFF2-40B4-BE49-F238E27FC236}">
                <a16:creationId xmlns:a16="http://schemas.microsoft.com/office/drawing/2014/main" id="{19A7E8C8-05D2-CF3F-DEBB-440A553A1933}"/>
              </a:ext>
            </a:extLst>
          </p:cNvPr>
          <p:cNvPicPr>
            <a:picLocks noChangeAspect="1"/>
          </p:cNvPicPr>
          <p:nvPr/>
        </p:nvPicPr>
        <p:blipFill>
          <a:blip r:embed="rId4"/>
          <a:stretch>
            <a:fillRect/>
          </a:stretch>
        </p:blipFill>
        <p:spPr>
          <a:xfrm>
            <a:off x="4805183" y="3226233"/>
            <a:ext cx="2581635" cy="724001"/>
          </a:xfrm>
          <a:prstGeom prst="rect">
            <a:avLst/>
          </a:prstGeom>
        </p:spPr>
      </p:pic>
      <p:pic>
        <p:nvPicPr>
          <p:cNvPr id="11" name="Picture 10">
            <a:extLst>
              <a:ext uri="{FF2B5EF4-FFF2-40B4-BE49-F238E27FC236}">
                <a16:creationId xmlns:a16="http://schemas.microsoft.com/office/drawing/2014/main" id="{99007548-F399-F5E5-6740-BF08E593E170}"/>
              </a:ext>
            </a:extLst>
          </p:cNvPr>
          <p:cNvPicPr>
            <a:picLocks noChangeAspect="1"/>
          </p:cNvPicPr>
          <p:nvPr/>
        </p:nvPicPr>
        <p:blipFill>
          <a:blip r:embed="rId5"/>
          <a:stretch>
            <a:fillRect/>
          </a:stretch>
        </p:blipFill>
        <p:spPr>
          <a:xfrm>
            <a:off x="1828801" y="4343401"/>
            <a:ext cx="3391373" cy="600159"/>
          </a:xfrm>
          <a:prstGeom prst="rect">
            <a:avLst/>
          </a:prstGeom>
        </p:spPr>
      </p:pic>
      <p:sp>
        <p:nvSpPr>
          <p:cNvPr id="15" name="TextBox 14">
            <a:extLst>
              <a:ext uri="{FF2B5EF4-FFF2-40B4-BE49-F238E27FC236}">
                <a16:creationId xmlns:a16="http://schemas.microsoft.com/office/drawing/2014/main" id="{881A14E2-2B17-750F-A426-52ED8ABA0C24}"/>
              </a:ext>
            </a:extLst>
          </p:cNvPr>
          <p:cNvSpPr txBox="1"/>
          <p:nvPr/>
        </p:nvSpPr>
        <p:spPr>
          <a:xfrm>
            <a:off x="1828800" y="3949355"/>
            <a:ext cx="1303562" cy="369332"/>
          </a:xfrm>
          <a:prstGeom prst="rect">
            <a:avLst/>
          </a:prstGeom>
          <a:noFill/>
        </p:spPr>
        <p:txBody>
          <a:bodyPr wrap="none" rtlCol="0">
            <a:spAutoFit/>
          </a:bodyPr>
          <a:lstStyle/>
          <a:p>
            <a:r>
              <a:rPr lang="en-IN" dirty="0"/>
              <a:t>Therefore</a:t>
            </a:r>
          </a:p>
        </p:txBody>
      </p:sp>
      <p:pic>
        <p:nvPicPr>
          <p:cNvPr id="17" name="Picture 16">
            <a:extLst>
              <a:ext uri="{FF2B5EF4-FFF2-40B4-BE49-F238E27FC236}">
                <a16:creationId xmlns:a16="http://schemas.microsoft.com/office/drawing/2014/main" id="{67B4CFF7-207E-6EC4-DD2D-6111B2E55EBA}"/>
              </a:ext>
            </a:extLst>
          </p:cNvPr>
          <p:cNvPicPr>
            <a:picLocks noChangeAspect="1"/>
          </p:cNvPicPr>
          <p:nvPr/>
        </p:nvPicPr>
        <p:blipFill>
          <a:blip r:embed="rId6"/>
          <a:stretch>
            <a:fillRect/>
          </a:stretch>
        </p:blipFill>
        <p:spPr>
          <a:xfrm>
            <a:off x="3483831" y="5036647"/>
            <a:ext cx="1600423" cy="600159"/>
          </a:xfrm>
          <a:prstGeom prst="rect">
            <a:avLst/>
          </a:prstGeom>
        </p:spPr>
      </p:pic>
      <p:sp>
        <p:nvSpPr>
          <p:cNvPr id="18" name="TextBox 17">
            <a:extLst>
              <a:ext uri="{FF2B5EF4-FFF2-40B4-BE49-F238E27FC236}">
                <a16:creationId xmlns:a16="http://schemas.microsoft.com/office/drawing/2014/main" id="{ADF5938E-BF9B-53BD-5DE9-B70837479650}"/>
              </a:ext>
            </a:extLst>
          </p:cNvPr>
          <p:cNvSpPr txBox="1"/>
          <p:nvPr/>
        </p:nvSpPr>
        <p:spPr>
          <a:xfrm>
            <a:off x="1752600" y="5105400"/>
            <a:ext cx="1761380" cy="369332"/>
          </a:xfrm>
          <a:prstGeom prst="rect">
            <a:avLst/>
          </a:prstGeom>
          <a:noFill/>
        </p:spPr>
        <p:txBody>
          <a:bodyPr wrap="none" rtlCol="0">
            <a:spAutoFit/>
          </a:bodyPr>
          <a:lstStyle/>
          <a:p>
            <a:r>
              <a:rPr lang="en-IN" dirty="0"/>
              <a:t>At Minimum: </a:t>
            </a:r>
          </a:p>
        </p:txBody>
      </p:sp>
      <p:pic>
        <p:nvPicPr>
          <p:cNvPr id="20" name="Picture 19">
            <a:extLst>
              <a:ext uri="{FF2B5EF4-FFF2-40B4-BE49-F238E27FC236}">
                <a16:creationId xmlns:a16="http://schemas.microsoft.com/office/drawing/2014/main" id="{B534B6EC-940A-5F68-F12C-4EF1F7FEA158}"/>
              </a:ext>
            </a:extLst>
          </p:cNvPr>
          <p:cNvPicPr>
            <a:picLocks noChangeAspect="1"/>
          </p:cNvPicPr>
          <p:nvPr/>
        </p:nvPicPr>
        <p:blipFill>
          <a:blip r:embed="rId7"/>
          <a:stretch>
            <a:fillRect/>
          </a:stretch>
        </p:blipFill>
        <p:spPr>
          <a:xfrm>
            <a:off x="3433065" y="5787357"/>
            <a:ext cx="2619741" cy="590632"/>
          </a:xfrm>
          <a:prstGeom prst="rect">
            <a:avLst/>
          </a:prstGeom>
        </p:spPr>
      </p:pic>
      <p:sp>
        <p:nvSpPr>
          <p:cNvPr id="21" name="TextBox 20">
            <a:extLst>
              <a:ext uri="{FF2B5EF4-FFF2-40B4-BE49-F238E27FC236}">
                <a16:creationId xmlns:a16="http://schemas.microsoft.com/office/drawing/2014/main" id="{28C370FF-A3BE-75C2-78F4-9FC52FABCCB0}"/>
              </a:ext>
            </a:extLst>
          </p:cNvPr>
          <p:cNvSpPr txBox="1"/>
          <p:nvPr/>
        </p:nvSpPr>
        <p:spPr>
          <a:xfrm>
            <a:off x="2818263" y="5881762"/>
            <a:ext cx="561179" cy="369332"/>
          </a:xfrm>
          <a:prstGeom prst="rect">
            <a:avLst/>
          </a:prstGeom>
          <a:noFill/>
        </p:spPr>
        <p:txBody>
          <a:bodyPr wrap="none" rtlCol="0">
            <a:spAutoFit/>
          </a:bodyPr>
          <a:lstStyle/>
          <a:p>
            <a:r>
              <a:rPr lang="en-IN" dirty="0"/>
              <a:t>So,</a:t>
            </a:r>
          </a:p>
        </p:txBody>
      </p:sp>
      <p:sp>
        <p:nvSpPr>
          <p:cNvPr id="3" name="Slide Number Placeholder 2">
            <a:extLst>
              <a:ext uri="{FF2B5EF4-FFF2-40B4-BE49-F238E27FC236}">
                <a16:creationId xmlns:a16="http://schemas.microsoft.com/office/drawing/2014/main" id="{3B19F7D9-DB1B-65A8-A24C-11D5D2325F0E}"/>
              </a:ext>
            </a:extLst>
          </p:cNvPr>
          <p:cNvSpPr>
            <a:spLocks noGrp="1"/>
          </p:cNvSpPr>
          <p:nvPr>
            <p:ph type="sldNum" sz="quarter" idx="12"/>
          </p:nvPr>
        </p:nvSpPr>
        <p:spPr/>
        <p:txBody>
          <a:bodyPr/>
          <a:lstStyle/>
          <a:p>
            <a:fld id="{BB2CE0DE-867F-455F-B20B-96D381B4AB71}" type="slidenum">
              <a:rPr lang="en-US" smtClean="0"/>
              <a:t>41</a:t>
            </a:fld>
            <a:endParaRPr lang="en-US"/>
          </a:p>
        </p:txBody>
      </p:sp>
    </p:spTree>
    <p:extLst>
      <p:ext uri="{BB962C8B-B14F-4D97-AF65-F5344CB8AC3E}">
        <p14:creationId xmlns:p14="http://schemas.microsoft.com/office/powerpoint/2010/main" val="3613133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D814-EBD5-1711-28C0-959E00B33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0E3D0-ABE5-A456-BE40-37F9DFD0E1BA}"/>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7" name="Picture 6">
            <a:extLst>
              <a:ext uri="{FF2B5EF4-FFF2-40B4-BE49-F238E27FC236}">
                <a16:creationId xmlns:a16="http://schemas.microsoft.com/office/drawing/2014/main" id="{D988436E-8029-C6CE-D445-3BD6F2987465}"/>
              </a:ext>
            </a:extLst>
          </p:cNvPr>
          <p:cNvPicPr>
            <a:picLocks noChangeAspect="1"/>
          </p:cNvPicPr>
          <p:nvPr/>
        </p:nvPicPr>
        <p:blipFill>
          <a:blip r:embed="rId2"/>
          <a:stretch>
            <a:fillRect/>
          </a:stretch>
        </p:blipFill>
        <p:spPr>
          <a:xfrm>
            <a:off x="2098676" y="1219200"/>
            <a:ext cx="2629267" cy="590632"/>
          </a:xfrm>
          <a:prstGeom prst="rect">
            <a:avLst/>
          </a:prstGeom>
        </p:spPr>
      </p:pic>
      <p:pic>
        <p:nvPicPr>
          <p:cNvPr id="13" name="Picture 12">
            <a:extLst>
              <a:ext uri="{FF2B5EF4-FFF2-40B4-BE49-F238E27FC236}">
                <a16:creationId xmlns:a16="http://schemas.microsoft.com/office/drawing/2014/main" id="{5106E0BA-E941-0CB4-40F3-6A473C519400}"/>
              </a:ext>
            </a:extLst>
          </p:cNvPr>
          <p:cNvPicPr>
            <a:picLocks noChangeAspect="1"/>
          </p:cNvPicPr>
          <p:nvPr/>
        </p:nvPicPr>
        <p:blipFill>
          <a:blip r:embed="rId3"/>
          <a:stretch>
            <a:fillRect/>
          </a:stretch>
        </p:blipFill>
        <p:spPr>
          <a:xfrm>
            <a:off x="1828800" y="2362201"/>
            <a:ext cx="5042278" cy="673665"/>
          </a:xfrm>
          <a:prstGeom prst="rect">
            <a:avLst/>
          </a:prstGeom>
        </p:spPr>
      </p:pic>
      <p:pic>
        <p:nvPicPr>
          <p:cNvPr id="6" name="Picture 5">
            <a:extLst>
              <a:ext uri="{FF2B5EF4-FFF2-40B4-BE49-F238E27FC236}">
                <a16:creationId xmlns:a16="http://schemas.microsoft.com/office/drawing/2014/main" id="{0242AD9F-98EC-AEF9-D355-977EBEED634F}"/>
              </a:ext>
            </a:extLst>
          </p:cNvPr>
          <p:cNvPicPr>
            <a:picLocks noChangeAspect="1"/>
          </p:cNvPicPr>
          <p:nvPr/>
        </p:nvPicPr>
        <p:blipFill>
          <a:blip r:embed="rId4"/>
          <a:stretch>
            <a:fillRect/>
          </a:stretch>
        </p:blipFill>
        <p:spPr>
          <a:xfrm>
            <a:off x="4805183" y="3226233"/>
            <a:ext cx="2581635" cy="724001"/>
          </a:xfrm>
          <a:prstGeom prst="rect">
            <a:avLst/>
          </a:prstGeom>
        </p:spPr>
      </p:pic>
      <p:pic>
        <p:nvPicPr>
          <p:cNvPr id="11" name="Picture 10">
            <a:extLst>
              <a:ext uri="{FF2B5EF4-FFF2-40B4-BE49-F238E27FC236}">
                <a16:creationId xmlns:a16="http://schemas.microsoft.com/office/drawing/2014/main" id="{3167610A-3E6F-DE21-A4C7-E103D5F7E9EC}"/>
              </a:ext>
            </a:extLst>
          </p:cNvPr>
          <p:cNvPicPr>
            <a:picLocks noChangeAspect="1"/>
          </p:cNvPicPr>
          <p:nvPr/>
        </p:nvPicPr>
        <p:blipFill>
          <a:blip r:embed="rId5"/>
          <a:stretch>
            <a:fillRect/>
          </a:stretch>
        </p:blipFill>
        <p:spPr>
          <a:xfrm>
            <a:off x="1828801" y="4343401"/>
            <a:ext cx="3391373" cy="600159"/>
          </a:xfrm>
          <a:prstGeom prst="rect">
            <a:avLst/>
          </a:prstGeom>
        </p:spPr>
      </p:pic>
      <p:sp>
        <p:nvSpPr>
          <p:cNvPr id="15" name="TextBox 14">
            <a:extLst>
              <a:ext uri="{FF2B5EF4-FFF2-40B4-BE49-F238E27FC236}">
                <a16:creationId xmlns:a16="http://schemas.microsoft.com/office/drawing/2014/main" id="{245B52E5-1BFD-15C9-63A2-2A1158E4496B}"/>
              </a:ext>
            </a:extLst>
          </p:cNvPr>
          <p:cNvSpPr txBox="1"/>
          <p:nvPr/>
        </p:nvSpPr>
        <p:spPr>
          <a:xfrm>
            <a:off x="1828800" y="3949355"/>
            <a:ext cx="1303562" cy="369332"/>
          </a:xfrm>
          <a:prstGeom prst="rect">
            <a:avLst/>
          </a:prstGeom>
          <a:noFill/>
        </p:spPr>
        <p:txBody>
          <a:bodyPr wrap="none" rtlCol="0">
            <a:spAutoFit/>
          </a:bodyPr>
          <a:lstStyle/>
          <a:p>
            <a:r>
              <a:rPr lang="en-IN" dirty="0"/>
              <a:t>Therefore</a:t>
            </a:r>
          </a:p>
        </p:txBody>
      </p:sp>
      <p:pic>
        <p:nvPicPr>
          <p:cNvPr id="17" name="Picture 16">
            <a:extLst>
              <a:ext uri="{FF2B5EF4-FFF2-40B4-BE49-F238E27FC236}">
                <a16:creationId xmlns:a16="http://schemas.microsoft.com/office/drawing/2014/main" id="{3739F0D1-D18C-0BD4-451A-FB7F89A945F1}"/>
              </a:ext>
            </a:extLst>
          </p:cNvPr>
          <p:cNvPicPr>
            <a:picLocks noChangeAspect="1"/>
          </p:cNvPicPr>
          <p:nvPr/>
        </p:nvPicPr>
        <p:blipFill>
          <a:blip r:embed="rId6"/>
          <a:stretch>
            <a:fillRect/>
          </a:stretch>
        </p:blipFill>
        <p:spPr>
          <a:xfrm>
            <a:off x="3483831" y="5036647"/>
            <a:ext cx="1600423" cy="600159"/>
          </a:xfrm>
          <a:prstGeom prst="rect">
            <a:avLst/>
          </a:prstGeom>
        </p:spPr>
      </p:pic>
      <p:sp>
        <p:nvSpPr>
          <p:cNvPr id="18" name="TextBox 17">
            <a:extLst>
              <a:ext uri="{FF2B5EF4-FFF2-40B4-BE49-F238E27FC236}">
                <a16:creationId xmlns:a16="http://schemas.microsoft.com/office/drawing/2014/main" id="{14EE1078-BBBD-57F2-8795-A33A62CA75DE}"/>
              </a:ext>
            </a:extLst>
          </p:cNvPr>
          <p:cNvSpPr txBox="1"/>
          <p:nvPr/>
        </p:nvSpPr>
        <p:spPr>
          <a:xfrm>
            <a:off x="1752600" y="5105400"/>
            <a:ext cx="1761380" cy="369332"/>
          </a:xfrm>
          <a:prstGeom prst="rect">
            <a:avLst/>
          </a:prstGeom>
          <a:noFill/>
        </p:spPr>
        <p:txBody>
          <a:bodyPr wrap="none" rtlCol="0">
            <a:spAutoFit/>
          </a:bodyPr>
          <a:lstStyle/>
          <a:p>
            <a:r>
              <a:rPr lang="en-IN" dirty="0"/>
              <a:t>At Minimum: </a:t>
            </a:r>
          </a:p>
        </p:txBody>
      </p:sp>
      <p:pic>
        <p:nvPicPr>
          <p:cNvPr id="20" name="Picture 19">
            <a:extLst>
              <a:ext uri="{FF2B5EF4-FFF2-40B4-BE49-F238E27FC236}">
                <a16:creationId xmlns:a16="http://schemas.microsoft.com/office/drawing/2014/main" id="{1018E829-3470-0338-E628-071288E5DE57}"/>
              </a:ext>
            </a:extLst>
          </p:cNvPr>
          <p:cNvPicPr>
            <a:picLocks noChangeAspect="1"/>
          </p:cNvPicPr>
          <p:nvPr/>
        </p:nvPicPr>
        <p:blipFill>
          <a:blip r:embed="rId7"/>
          <a:stretch>
            <a:fillRect/>
          </a:stretch>
        </p:blipFill>
        <p:spPr>
          <a:xfrm>
            <a:off x="3433065" y="5787357"/>
            <a:ext cx="2619741" cy="590632"/>
          </a:xfrm>
          <a:prstGeom prst="rect">
            <a:avLst/>
          </a:prstGeom>
        </p:spPr>
      </p:pic>
      <p:sp>
        <p:nvSpPr>
          <p:cNvPr id="21" name="TextBox 20">
            <a:extLst>
              <a:ext uri="{FF2B5EF4-FFF2-40B4-BE49-F238E27FC236}">
                <a16:creationId xmlns:a16="http://schemas.microsoft.com/office/drawing/2014/main" id="{DC7267FD-B82D-E127-C9CE-B014B18C2BB0}"/>
              </a:ext>
            </a:extLst>
          </p:cNvPr>
          <p:cNvSpPr txBox="1"/>
          <p:nvPr/>
        </p:nvSpPr>
        <p:spPr>
          <a:xfrm>
            <a:off x="2818263" y="5881762"/>
            <a:ext cx="561179" cy="369332"/>
          </a:xfrm>
          <a:prstGeom prst="rect">
            <a:avLst/>
          </a:prstGeom>
          <a:noFill/>
        </p:spPr>
        <p:txBody>
          <a:bodyPr wrap="none" rtlCol="0">
            <a:spAutoFit/>
          </a:bodyPr>
          <a:lstStyle/>
          <a:p>
            <a:r>
              <a:rPr lang="en-IN" dirty="0"/>
              <a:t>So,</a:t>
            </a:r>
          </a:p>
        </p:txBody>
      </p:sp>
      <p:pic>
        <p:nvPicPr>
          <p:cNvPr id="23" name="Picture 22">
            <a:extLst>
              <a:ext uri="{FF2B5EF4-FFF2-40B4-BE49-F238E27FC236}">
                <a16:creationId xmlns:a16="http://schemas.microsoft.com/office/drawing/2014/main" id="{2FDCA066-F389-1569-B388-6F0AF64B94C5}"/>
              </a:ext>
            </a:extLst>
          </p:cNvPr>
          <p:cNvPicPr>
            <a:picLocks noChangeAspect="1"/>
          </p:cNvPicPr>
          <p:nvPr/>
        </p:nvPicPr>
        <p:blipFill>
          <a:blip r:embed="rId8"/>
          <a:stretch>
            <a:fillRect/>
          </a:stretch>
        </p:blipFill>
        <p:spPr>
          <a:xfrm>
            <a:off x="6495468" y="5463621"/>
            <a:ext cx="4172532" cy="914368"/>
          </a:xfrm>
          <a:prstGeom prst="rect">
            <a:avLst/>
          </a:prstGeom>
        </p:spPr>
      </p:pic>
      <p:sp>
        <p:nvSpPr>
          <p:cNvPr id="3" name="Slide Number Placeholder 2">
            <a:extLst>
              <a:ext uri="{FF2B5EF4-FFF2-40B4-BE49-F238E27FC236}">
                <a16:creationId xmlns:a16="http://schemas.microsoft.com/office/drawing/2014/main" id="{613679B1-8BAC-F59D-0E97-9951E450893D}"/>
              </a:ext>
            </a:extLst>
          </p:cNvPr>
          <p:cNvSpPr>
            <a:spLocks noGrp="1"/>
          </p:cNvSpPr>
          <p:nvPr>
            <p:ph type="sldNum" sz="quarter" idx="12"/>
          </p:nvPr>
        </p:nvSpPr>
        <p:spPr/>
        <p:txBody>
          <a:bodyPr/>
          <a:lstStyle/>
          <a:p>
            <a:fld id="{BB2CE0DE-867F-455F-B20B-96D381B4AB71}" type="slidenum">
              <a:rPr lang="en-US" smtClean="0"/>
              <a:t>42</a:t>
            </a:fld>
            <a:endParaRPr lang="en-US"/>
          </a:p>
        </p:txBody>
      </p:sp>
    </p:spTree>
    <p:extLst>
      <p:ext uri="{BB962C8B-B14F-4D97-AF65-F5344CB8AC3E}">
        <p14:creationId xmlns:p14="http://schemas.microsoft.com/office/powerpoint/2010/main" val="1205875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D6790-B4A3-E430-05BD-732ED5041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0AF80-1A41-AFB4-48C0-B40A2D5B67D2}"/>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6" name="Picture 5">
            <a:extLst>
              <a:ext uri="{FF2B5EF4-FFF2-40B4-BE49-F238E27FC236}">
                <a16:creationId xmlns:a16="http://schemas.microsoft.com/office/drawing/2014/main" id="{5562F576-A3F2-5D73-C440-F4B32A399D2E}"/>
              </a:ext>
            </a:extLst>
          </p:cNvPr>
          <p:cNvPicPr>
            <a:picLocks noChangeAspect="1"/>
          </p:cNvPicPr>
          <p:nvPr/>
        </p:nvPicPr>
        <p:blipFill>
          <a:blip r:embed="rId2"/>
          <a:srcRect b="61741"/>
          <a:stretch>
            <a:fillRect/>
          </a:stretch>
        </p:blipFill>
        <p:spPr>
          <a:xfrm>
            <a:off x="2059695" y="1219200"/>
            <a:ext cx="3583213" cy="590632"/>
          </a:xfrm>
          <a:prstGeom prst="rect">
            <a:avLst/>
          </a:prstGeom>
        </p:spPr>
      </p:pic>
      <p:pic>
        <p:nvPicPr>
          <p:cNvPr id="8" name="Picture 7">
            <a:extLst>
              <a:ext uri="{FF2B5EF4-FFF2-40B4-BE49-F238E27FC236}">
                <a16:creationId xmlns:a16="http://schemas.microsoft.com/office/drawing/2014/main" id="{2FC2793D-240B-661E-4E9C-E2A2D3EAB782}"/>
              </a:ext>
            </a:extLst>
          </p:cNvPr>
          <p:cNvPicPr>
            <a:picLocks noChangeAspect="1"/>
          </p:cNvPicPr>
          <p:nvPr/>
        </p:nvPicPr>
        <p:blipFill>
          <a:blip r:embed="rId3"/>
          <a:stretch>
            <a:fillRect/>
          </a:stretch>
        </p:blipFill>
        <p:spPr>
          <a:xfrm>
            <a:off x="6551917" y="1219201"/>
            <a:ext cx="2943636" cy="504895"/>
          </a:xfrm>
          <a:prstGeom prst="rect">
            <a:avLst/>
          </a:prstGeom>
        </p:spPr>
      </p:pic>
      <p:pic>
        <p:nvPicPr>
          <p:cNvPr id="5" name="Picture 4">
            <a:extLst>
              <a:ext uri="{FF2B5EF4-FFF2-40B4-BE49-F238E27FC236}">
                <a16:creationId xmlns:a16="http://schemas.microsoft.com/office/drawing/2014/main" id="{F0AD3600-11FA-3E01-F68E-5665B4942D4C}"/>
              </a:ext>
            </a:extLst>
          </p:cNvPr>
          <p:cNvPicPr>
            <a:picLocks noChangeAspect="1"/>
          </p:cNvPicPr>
          <p:nvPr/>
        </p:nvPicPr>
        <p:blipFill>
          <a:blip r:embed="rId4"/>
          <a:stretch>
            <a:fillRect/>
          </a:stretch>
        </p:blipFill>
        <p:spPr>
          <a:xfrm>
            <a:off x="7467600" y="5564011"/>
            <a:ext cx="3200401" cy="800100"/>
          </a:xfrm>
          <a:prstGeom prst="rect">
            <a:avLst/>
          </a:prstGeom>
        </p:spPr>
      </p:pic>
      <p:pic>
        <p:nvPicPr>
          <p:cNvPr id="10" name="Picture 9">
            <a:extLst>
              <a:ext uri="{FF2B5EF4-FFF2-40B4-BE49-F238E27FC236}">
                <a16:creationId xmlns:a16="http://schemas.microsoft.com/office/drawing/2014/main" id="{943CF652-ED44-40CD-3DBD-00ED90449E2A}"/>
              </a:ext>
            </a:extLst>
          </p:cNvPr>
          <p:cNvPicPr>
            <a:picLocks noChangeAspect="1"/>
          </p:cNvPicPr>
          <p:nvPr/>
        </p:nvPicPr>
        <p:blipFill>
          <a:blip r:embed="rId5"/>
          <a:stretch>
            <a:fillRect/>
          </a:stretch>
        </p:blipFill>
        <p:spPr>
          <a:xfrm>
            <a:off x="2241195" y="2026286"/>
            <a:ext cx="851610" cy="567740"/>
          </a:xfrm>
          <a:prstGeom prst="rect">
            <a:avLst/>
          </a:prstGeom>
        </p:spPr>
      </p:pic>
      <p:pic>
        <p:nvPicPr>
          <p:cNvPr id="12" name="Picture 11">
            <a:extLst>
              <a:ext uri="{FF2B5EF4-FFF2-40B4-BE49-F238E27FC236}">
                <a16:creationId xmlns:a16="http://schemas.microsoft.com/office/drawing/2014/main" id="{AF646354-BCD6-D9DD-595D-72B70C1E945B}"/>
              </a:ext>
            </a:extLst>
          </p:cNvPr>
          <p:cNvPicPr>
            <a:picLocks noChangeAspect="1"/>
          </p:cNvPicPr>
          <p:nvPr/>
        </p:nvPicPr>
        <p:blipFill>
          <a:blip r:embed="rId6"/>
          <a:stretch>
            <a:fillRect/>
          </a:stretch>
        </p:blipFill>
        <p:spPr>
          <a:xfrm>
            <a:off x="3183061" y="2092053"/>
            <a:ext cx="2940602" cy="567740"/>
          </a:xfrm>
          <a:prstGeom prst="rect">
            <a:avLst/>
          </a:prstGeom>
        </p:spPr>
      </p:pic>
      <p:pic>
        <p:nvPicPr>
          <p:cNvPr id="14" name="Picture 13">
            <a:extLst>
              <a:ext uri="{FF2B5EF4-FFF2-40B4-BE49-F238E27FC236}">
                <a16:creationId xmlns:a16="http://schemas.microsoft.com/office/drawing/2014/main" id="{5B25ADFB-E464-D73C-92C4-F5ED0FF735B9}"/>
              </a:ext>
            </a:extLst>
          </p:cNvPr>
          <p:cNvPicPr>
            <a:picLocks noChangeAspect="1"/>
          </p:cNvPicPr>
          <p:nvPr/>
        </p:nvPicPr>
        <p:blipFill>
          <a:blip r:embed="rId7"/>
          <a:stretch>
            <a:fillRect/>
          </a:stretch>
        </p:blipFill>
        <p:spPr>
          <a:xfrm>
            <a:off x="2241195" y="3006995"/>
            <a:ext cx="1324160" cy="571580"/>
          </a:xfrm>
          <a:prstGeom prst="rect">
            <a:avLst/>
          </a:prstGeom>
        </p:spPr>
      </p:pic>
      <p:pic>
        <p:nvPicPr>
          <p:cNvPr id="16" name="Picture 15">
            <a:extLst>
              <a:ext uri="{FF2B5EF4-FFF2-40B4-BE49-F238E27FC236}">
                <a16:creationId xmlns:a16="http://schemas.microsoft.com/office/drawing/2014/main" id="{C32BBD4F-C3F0-E7C1-4AEB-81D54B9983B8}"/>
              </a:ext>
            </a:extLst>
          </p:cNvPr>
          <p:cNvPicPr>
            <a:picLocks noChangeAspect="1"/>
          </p:cNvPicPr>
          <p:nvPr/>
        </p:nvPicPr>
        <p:blipFill>
          <a:blip r:embed="rId8"/>
          <a:stretch>
            <a:fillRect/>
          </a:stretch>
        </p:blipFill>
        <p:spPr>
          <a:xfrm>
            <a:off x="1816206" y="3674529"/>
            <a:ext cx="2553199" cy="2743204"/>
          </a:xfrm>
          <a:prstGeom prst="rect">
            <a:avLst/>
          </a:prstGeom>
        </p:spPr>
      </p:pic>
      <p:sp>
        <p:nvSpPr>
          <p:cNvPr id="17" name="TextBox 16">
            <a:extLst>
              <a:ext uri="{FF2B5EF4-FFF2-40B4-BE49-F238E27FC236}">
                <a16:creationId xmlns:a16="http://schemas.microsoft.com/office/drawing/2014/main" id="{4144B4DC-1359-1ED6-42C7-1526A2B324E8}"/>
              </a:ext>
            </a:extLst>
          </p:cNvPr>
          <p:cNvSpPr txBox="1"/>
          <p:nvPr/>
        </p:nvSpPr>
        <p:spPr>
          <a:xfrm>
            <a:off x="1905408" y="2681574"/>
            <a:ext cx="2553199" cy="369332"/>
          </a:xfrm>
          <a:prstGeom prst="rect">
            <a:avLst/>
          </a:prstGeom>
          <a:noFill/>
        </p:spPr>
        <p:txBody>
          <a:bodyPr wrap="none" rtlCol="0">
            <a:spAutoFit/>
          </a:bodyPr>
          <a:lstStyle/>
          <a:p>
            <a:r>
              <a:rPr lang="en-IN" dirty="0"/>
              <a:t>We want to combine</a:t>
            </a:r>
          </a:p>
        </p:txBody>
      </p:sp>
      <p:pic>
        <p:nvPicPr>
          <p:cNvPr id="19" name="Picture 18">
            <a:extLst>
              <a:ext uri="{FF2B5EF4-FFF2-40B4-BE49-F238E27FC236}">
                <a16:creationId xmlns:a16="http://schemas.microsoft.com/office/drawing/2014/main" id="{A4B8AC37-29FB-490D-04D5-DA305E188919}"/>
              </a:ext>
            </a:extLst>
          </p:cNvPr>
          <p:cNvPicPr>
            <a:picLocks noChangeAspect="1"/>
          </p:cNvPicPr>
          <p:nvPr/>
        </p:nvPicPr>
        <p:blipFill>
          <a:blip r:embed="rId9"/>
          <a:stretch>
            <a:fillRect/>
          </a:stretch>
        </p:blipFill>
        <p:spPr>
          <a:xfrm>
            <a:off x="3777473" y="5983047"/>
            <a:ext cx="1580864" cy="530640"/>
          </a:xfrm>
          <a:prstGeom prst="rect">
            <a:avLst/>
          </a:prstGeom>
        </p:spPr>
      </p:pic>
      <p:pic>
        <p:nvPicPr>
          <p:cNvPr id="21" name="Picture 20">
            <a:extLst>
              <a:ext uri="{FF2B5EF4-FFF2-40B4-BE49-F238E27FC236}">
                <a16:creationId xmlns:a16="http://schemas.microsoft.com/office/drawing/2014/main" id="{3F352D12-A694-9164-47CE-3EDA0B0006E1}"/>
              </a:ext>
            </a:extLst>
          </p:cNvPr>
          <p:cNvPicPr>
            <a:picLocks noChangeAspect="1"/>
          </p:cNvPicPr>
          <p:nvPr/>
        </p:nvPicPr>
        <p:blipFill>
          <a:blip r:embed="rId10"/>
          <a:stretch>
            <a:fillRect/>
          </a:stretch>
        </p:blipFill>
        <p:spPr>
          <a:xfrm>
            <a:off x="5728168" y="5779911"/>
            <a:ext cx="1500997" cy="685800"/>
          </a:xfrm>
          <a:prstGeom prst="rect">
            <a:avLst/>
          </a:prstGeom>
        </p:spPr>
      </p:pic>
      <p:sp>
        <p:nvSpPr>
          <p:cNvPr id="3" name="Slide Number Placeholder 2">
            <a:extLst>
              <a:ext uri="{FF2B5EF4-FFF2-40B4-BE49-F238E27FC236}">
                <a16:creationId xmlns:a16="http://schemas.microsoft.com/office/drawing/2014/main" id="{93B7FCF5-DB03-A07A-ABCD-48F9F8F01618}"/>
              </a:ext>
            </a:extLst>
          </p:cNvPr>
          <p:cNvSpPr>
            <a:spLocks noGrp="1"/>
          </p:cNvSpPr>
          <p:nvPr>
            <p:ph type="sldNum" sz="quarter" idx="12"/>
          </p:nvPr>
        </p:nvSpPr>
        <p:spPr/>
        <p:txBody>
          <a:bodyPr/>
          <a:lstStyle/>
          <a:p>
            <a:fld id="{BB2CE0DE-867F-455F-B20B-96D381B4AB71}" type="slidenum">
              <a:rPr lang="en-US" smtClean="0"/>
              <a:t>43</a:t>
            </a:fld>
            <a:endParaRPr lang="en-US"/>
          </a:p>
        </p:txBody>
      </p:sp>
    </p:spTree>
    <p:extLst>
      <p:ext uri="{BB962C8B-B14F-4D97-AF65-F5344CB8AC3E}">
        <p14:creationId xmlns:p14="http://schemas.microsoft.com/office/powerpoint/2010/main" val="34161057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17C6-992F-7F9A-3CBD-960FD1A8DA07}"/>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4FBF18AB-A510-C78D-DB14-DFB6E3B4EAAF}"/>
              </a:ext>
            </a:extLst>
          </p:cNvPr>
          <p:cNvPicPr>
            <a:picLocks noChangeAspect="1"/>
          </p:cNvPicPr>
          <p:nvPr/>
        </p:nvPicPr>
        <p:blipFill>
          <a:blip r:embed="rId3"/>
          <a:srcRect b="61741"/>
          <a:stretch>
            <a:fillRect/>
          </a:stretch>
        </p:blipFill>
        <p:spPr>
          <a:xfrm>
            <a:off x="2059695" y="1219200"/>
            <a:ext cx="3583213" cy="590632"/>
          </a:xfrm>
          <a:prstGeom prst="rect">
            <a:avLst/>
          </a:prstGeom>
        </p:spPr>
      </p:pic>
      <p:pic>
        <p:nvPicPr>
          <p:cNvPr id="6" name="Picture 5">
            <a:extLst>
              <a:ext uri="{FF2B5EF4-FFF2-40B4-BE49-F238E27FC236}">
                <a16:creationId xmlns:a16="http://schemas.microsoft.com/office/drawing/2014/main" id="{04C506B7-E06F-7EC6-3E69-2C725BD7B86E}"/>
              </a:ext>
            </a:extLst>
          </p:cNvPr>
          <p:cNvPicPr>
            <a:picLocks noChangeAspect="1"/>
          </p:cNvPicPr>
          <p:nvPr/>
        </p:nvPicPr>
        <p:blipFill>
          <a:blip r:embed="rId4"/>
          <a:stretch>
            <a:fillRect/>
          </a:stretch>
        </p:blipFill>
        <p:spPr>
          <a:xfrm>
            <a:off x="2059695" y="1924050"/>
            <a:ext cx="3200401" cy="800100"/>
          </a:xfrm>
          <a:prstGeom prst="rect">
            <a:avLst/>
          </a:prstGeom>
        </p:spPr>
      </p:pic>
      <p:pic>
        <p:nvPicPr>
          <p:cNvPr id="8" name="Picture 7">
            <a:extLst>
              <a:ext uri="{FF2B5EF4-FFF2-40B4-BE49-F238E27FC236}">
                <a16:creationId xmlns:a16="http://schemas.microsoft.com/office/drawing/2014/main" id="{53BF9E49-CFB5-7EBA-1A6C-186F285DF968}"/>
              </a:ext>
            </a:extLst>
          </p:cNvPr>
          <p:cNvPicPr>
            <a:picLocks noChangeAspect="1"/>
          </p:cNvPicPr>
          <p:nvPr/>
        </p:nvPicPr>
        <p:blipFill>
          <a:blip r:embed="rId5"/>
          <a:stretch>
            <a:fillRect/>
          </a:stretch>
        </p:blipFill>
        <p:spPr>
          <a:xfrm>
            <a:off x="2098676" y="3021045"/>
            <a:ext cx="2799751" cy="438222"/>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6480F5-F388-0A95-1964-336943FFBBB1}"/>
                  </a:ext>
                </a:extLst>
              </p:cNvPr>
              <p:cNvSpPr txBox="1"/>
              <p:nvPr/>
            </p:nvSpPr>
            <p:spPr>
              <a:xfrm>
                <a:off x="1641175" y="3756163"/>
                <a:ext cx="4454298" cy="1323439"/>
              </a:xfrm>
              <a:prstGeom prst="rect">
                <a:avLst/>
              </a:prstGeom>
              <a:noFill/>
            </p:spPr>
            <p:txBody>
              <a:bodyPr wrap="square" rtlCol="0">
                <a:spAutoFit/>
              </a:bodyPr>
              <a:lstStyle/>
              <a:p>
                <a:r>
                  <a:rPr lang="en-IN" sz="2000" dirty="0"/>
                  <a:t>Since </a:t>
                </a:r>
                <a14:m>
                  <m:oMath xmlns:m="http://schemas.openxmlformats.org/officeDocument/2006/math">
                    <m:r>
                      <a:rPr lang="en-IN" sz="2000" i="1">
                        <a:latin typeface="Cambria Math" panose="02040503050406030204" pitchFamily="18" charset="0"/>
                      </a:rPr>
                      <m:t>𝐻</m:t>
                    </m:r>
                    <m:r>
                      <a:rPr lang="en-IN" sz="2000" i="1">
                        <a:latin typeface="Cambria Math" panose="02040503050406030204" pitchFamily="18" charset="0"/>
                      </a:rPr>
                      <m:t> </m:t>
                    </m:r>
                  </m:oMath>
                </a14:m>
                <a:r>
                  <a:rPr lang="en-IN" sz="2000" dirty="0"/>
                  <a:t>is symmetric: </a:t>
                </a:r>
                <a14:m>
                  <m:oMath xmlns:m="http://schemas.openxmlformats.org/officeDocument/2006/math">
                    <m:r>
                      <a:rPr lang="en-IN" sz="2000" i="1">
                        <a:latin typeface="Cambria Math" panose="02040503050406030204" pitchFamily="18" charset="0"/>
                      </a:rPr>
                      <m:t>𝐻</m:t>
                    </m:r>
                    <m:r>
                      <a:rPr lang="en-IN" sz="2000">
                        <a:latin typeface="Cambria Math" panose="02040503050406030204" pitchFamily="18" charset="0"/>
                      </a:rPr>
                      <m:t>=</m:t>
                    </m:r>
                    <m:r>
                      <a:rPr lang="en-IN" sz="2000" i="1">
                        <a:latin typeface="Cambria Math" panose="02040503050406030204" pitchFamily="18" charset="0"/>
                      </a:rPr>
                      <m:t>𝑄</m:t>
                    </m:r>
                    <m:r>
                      <m:rPr>
                        <m:sty m:val="p"/>
                      </m:rPr>
                      <a:rPr lang="el-GR" sz="2000">
                        <a:latin typeface="Cambria Math" panose="02040503050406030204" pitchFamily="18" charset="0"/>
                      </a:rPr>
                      <m:t>Λ</m:t>
                    </m:r>
                    <m:sSup>
                      <m:sSupPr>
                        <m:ctrlPr>
                          <a:rPr lang="ar-AE" sz="2000" i="1">
                            <a:latin typeface="Cambria Math" panose="02040503050406030204" pitchFamily="18" charset="0"/>
                          </a:rPr>
                        </m:ctrlPr>
                      </m:sSupPr>
                      <m:e>
                        <m:r>
                          <a:rPr lang="ar-AE" sz="2000" i="1">
                            <a:latin typeface="Cambria Math" panose="02040503050406030204" pitchFamily="18" charset="0"/>
                          </a:rPr>
                          <m:t>𝑄</m:t>
                        </m:r>
                      </m:e>
                      <m:sup>
                        <m:r>
                          <a:rPr lang="ar-AE" sz="2000">
                            <a:latin typeface="Cambria Math" panose="02040503050406030204" pitchFamily="18" charset="0"/>
                          </a:rPr>
                          <m:t>⊤</m:t>
                        </m:r>
                      </m:sup>
                    </m:sSup>
                  </m:oMath>
                </a14:m>
                <a:endParaRPr lang="ar-AE" sz="2000" dirty="0"/>
              </a:p>
              <a:p>
                <a:r>
                  <a:rPr lang="en-IN" sz="2000" dirty="0"/>
                  <a:t>Where:</a:t>
                </a:r>
              </a:p>
              <a:p>
                <a14:m>
                  <m:oMath xmlns:m="http://schemas.openxmlformats.org/officeDocument/2006/math">
                    <m:r>
                      <a:rPr lang="en-IN" sz="2000" i="1">
                        <a:latin typeface="Cambria Math" panose="02040503050406030204" pitchFamily="18" charset="0"/>
                      </a:rPr>
                      <m:t>𝑄</m:t>
                    </m:r>
                  </m:oMath>
                </a14:m>
                <a:r>
                  <a:rPr lang="en-IN" sz="2000" dirty="0"/>
                  <a:t>= eigenvectors (orthonormal)</a:t>
                </a:r>
              </a:p>
              <a:p>
                <a14:m>
                  <m:oMath xmlns:m="http://schemas.openxmlformats.org/officeDocument/2006/math">
                    <m:r>
                      <m:rPr>
                        <m:sty m:val="p"/>
                      </m:rPr>
                      <a:rPr lang="el-GR" sz="2000">
                        <a:latin typeface="Cambria Math" panose="02040503050406030204" pitchFamily="18" charset="0"/>
                      </a:rPr>
                      <m:t>Λ</m:t>
                    </m:r>
                  </m:oMath>
                </a14:m>
                <a:r>
                  <a:rPr lang="el-GR" sz="2000" dirty="0"/>
                  <a:t>= </a:t>
                </a:r>
                <a:r>
                  <a:rPr lang="en-IN" sz="2000" dirty="0"/>
                  <a:t>diagonal matrix (eigenvalues)</a:t>
                </a:r>
              </a:p>
            </p:txBody>
          </p:sp>
        </mc:Choice>
        <mc:Fallback xmlns="">
          <p:sp>
            <p:nvSpPr>
              <p:cNvPr id="9" name="TextBox 8">
                <a:extLst>
                  <a:ext uri="{FF2B5EF4-FFF2-40B4-BE49-F238E27FC236}">
                    <a16:creationId xmlns:a16="http://schemas.microsoft.com/office/drawing/2014/main" id="{DE6480F5-F388-0A95-1964-336943FFBBB1}"/>
                  </a:ext>
                </a:extLst>
              </p:cNvPr>
              <p:cNvSpPr txBox="1">
                <a:spLocks noRot="1" noChangeAspect="1" noMove="1" noResize="1" noEditPoints="1" noAdjustHandles="1" noChangeArrowheads="1" noChangeShapeType="1" noTextEdit="1"/>
              </p:cNvSpPr>
              <p:nvPr/>
            </p:nvSpPr>
            <p:spPr>
              <a:xfrm>
                <a:off x="1641175" y="3756163"/>
                <a:ext cx="4454298" cy="1323439"/>
              </a:xfrm>
              <a:prstGeom prst="rect">
                <a:avLst/>
              </a:prstGeom>
              <a:blipFill>
                <a:blip r:embed="rId6"/>
                <a:stretch>
                  <a:fillRect l="-1368" t="-2304" r="-1505" b="-7373"/>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BCB3E4AE-B5DD-9DB0-C1B1-48FE6C955241}"/>
              </a:ext>
            </a:extLst>
          </p:cNvPr>
          <p:cNvPicPr>
            <a:picLocks noChangeAspect="1"/>
          </p:cNvPicPr>
          <p:nvPr/>
        </p:nvPicPr>
        <p:blipFill>
          <a:blip r:embed="rId7"/>
          <a:stretch>
            <a:fillRect/>
          </a:stretch>
        </p:blipFill>
        <p:spPr>
          <a:xfrm>
            <a:off x="1554460" y="5410116"/>
            <a:ext cx="4210868" cy="551283"/>
          </a:xfrm>
          <a:prstGeom prst="rect">
            <a:avLst/>
          </a:prstGeom>
        </p:spPr>
      </p:pic>
      <p:sp>
        <p:nvSpPr>
          <p:cNvPr id="12" name="TextBox 11">
            <a:extLst>
              <a:ext uri="{FF2B5EF4-FFF2-40B4-BE49-F238E27FC236}">
                <a16:creationId xmlns:a16="http://schemas.microsoft.com/office/drawing/2014/main" id="{F84E8D27-CD22-54D8-C41D-38BCE9D06C42}"/>
              </a:ext>
            </a:extLst>
          </p:cNvPr>
          <p:cNvSpPr txBox="1"/>
          <p:nvPr/>
        </p:nvSpPr>
        <p:spPr>
          <a:xfrm>
            <a:off x="6207544" y="5228272"/>
            <a:ext cx="4427174" cy="923330"/>
          </a:xfrm>
          <a:prstGeom prst="rect">
            <a:avLst/>
          </a:prstGeom>
          <a:noFill/>
        </p:spPr>
        <p:txBody>
          <a:bodyPr wrap="none" rtlCol="0">
            <a:spAutoFit/>
          </a:bodyPr>
          <a:lstStyle/>
          <a:p>
            <a:r>
              <a:rPr lang="en-US" dirty="0"/>
              <a:t>Why do we do eigen decomposition?</a:t>
            </a:r>
          </a:p>
          <a:p>
            <a:r>
              <a:rPr lang="en-US" dirty="0"/>
              <a:t>To understand how L2 regularization</a:t>
            </a:r>
          </a:p>
          <a:p>
            <a:r>
              <a:rPr lang="en-US" dirty="0"/>
              <a:t> affects each direction.</a:t>
            </a:r>
            <a:endParaRPr lang="en-IN" dirty="0"/>
          </a:p>
        </p:txBody>
      </p:sp>
      <p:sp>
        <p:nvSpPr>
          <p:cNvPr id="3" name="Slide Number Placeholder 2">
            <a:extLst>
              <a:ext uri="{FF2B5EF4-FFF2-40B4-BE49-F238E27FC236}">
                <a16:creationId xmlns:a16="http://schemas.microsoft.com/office/drawing/2014/main" id="{C5F52EA6-2D09-BAFA-A8BF-4871B6200090}"/>
              </a:ext>
            </a:extLst>
          </p:cNvPr>
          <p:cNvSpPr>
            <a:spLocks noGrp="1"/>
          </p:cNvSpPr>
          <p:nvPr>
            <p:ph type="sldNum" sz="quarter" idx="12"/>
          </p:nvPr>
        </p:nvSpPr>
        <p:spPr/>
        <p:txBody>
          <a:bodyPr/>
          <a:lstStyle/>
          <a:p>
            <a:fld id="{BB2CE0DE-867F-455F-B20B-96D381B4AB71}" type="slidenum">
              <a:rPr lang="en-US" smtClean="0"/>
              <a:t>44</a:t>
            </a:fld>
            <a:endParaRPr lang="en-US"/>
          </a:p>
        </p:txBody>
      </p:sp>
    </p:spTree>
    <p:extLst>
      <p:ext uri="{BB962C8B-B14F-4D97-AF65-F5344CB8AC3E}">
        <p14:creationId xmlns:p14="http://schemas.microsoft.com/office/powerpoint/2010/main" val="1488955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4278-B1AA-7E57-8817-1165D79D3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3737A-4680-4475-D4D8-DD3CA64F8AD5}"/>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1FBFAD76-F121-84B6-1C53-441976C6BC9E}"/>
              </a:ext>
            </a:extLst>
          </p:cNvPr>
          <p:cNvPicPr>
            <a:picLocks noChangeAspect="1"/>
          </p:cNvPicPr>
          <p:nvPr/>
        </p:nvPicPr>
        <p:blipFill>
          <a:blip r:embed="rId2"/>
          <a:stretch>
            <a:fillRect/>
          </a:stretch>
        </p:blipFill>
        <p:spPr>
          <a:xfrm>
            <a:off x="1676400" y="1596923"/>
            <a:ext cx="4210868" cy="551283"/>
          </a:xfrm>
          <a:prstGeom prst="rect">
            <a:avLst/>
          </a:prstGeom>
        </p:spPr>
      </p:pic>
      <p:pic>
        <p:nvPicPr>
          <p:cNvPr id="14" name="Picture 13">
            <a:extLst>
              <a:ext uri="{FF2B5EF4-FFF2-40B4-BE49-F238E27FC236}">
                <a16:creationId xmlns:a16="http://schemas.microsoft.com/office/drawing/2014/main" id="{28729425-CCFC-DA33-8205-D765B92CFA96}"/>
              </a:ext>
            </a:extLst>
          </p:cNvPr>
          <p:cNvPicPr>
            <a:picLocks noChangeAspect="1"/>
          </p:cNvPicPr>
          <p:nvPr/>
        </p:nvPicPr>
        <p:blipFill>
          <a:blip r:embed="rId3"/>
          <a:stretch>
            <a:fillRect/>
          </a:stretch>
        </p:blipFill>
        <p:spPr>
          <a:xfrm>
            <a:off x="7615137" y="2839914"/>
            <a:ext cx="1133633" cy="390580"/>
          </a:xfrm>
          <a:prstGeom prst="rect">
            <a:avLst/>
          </a:prstGeom>
        </p:spPr>
      </p:pic>
      <p:pic>
        <p:nvPicPr>
          <p:cNvPr id="16" name="Picture 15">
            <a:extLst>
              <a:ext uri="{FF2B5EF4-FFF2-40B4-BE49-F238E27FC236}">
                <a16:creationId xmlns:a16="http://schemas.microsoft.com/office/drawing/2014/main" id="{C3C5BBCC-C2A6-4C02-CA50-A080CDFA2814}"/>
              </a:ext>
            </a:extLst>
          </p:cNvPr>
          <p:cNvPicPr>
            <a:picLocks noChangeAspect="1"/>
          </p:cNvPicPr>
          <p:nvPr/>
        </p:nvPicPr>
        <p:blipFill>
          <a:blip r:embed="rId4"/>
          <a:stretch>
            <a:fillRect/>
          </a:stretch>
        </p:blipFill>
        <p:spPr>
          <a:xfrm>
            <a:off x="6829540" y="3368644"/>
            <a:ext cx="3838461" cy="353656"/>
          </a:xfrm>
          <a:prstGeom prst="rect">
            <a:avLst/>
          </a:prstGeom>
        </p:spPr>
      </p:pic>
      <p:pic>
        <p:nvPicPr>
          <p:cNvPr id="18" name="Picture 17">
            <a:extLst>
              <a:ext uri="{FF2B5EF4-FFF2-40B4-BE49-F238E27FC236}">
                <a16:creationId xmlns:a16="http://schemas.microsoft.com/office/drawing/2014/main" id="{BB745C42-5547-B528-34C3-AA59A51EDDDA}"/>
              </a:ext>
            </a:extLst>
          </p:cNvPr>
          <p:cNvPicPr>
            <a:picLocks noChangeAspect="1"/>
          </p:cNvPicPr>
          <p:nvPr/>
        </p:nvPicPr>
        <p:blipFill>
          <a:blip r:embed="rId5"/>
          <a:stretch>
            <a:fillRect/>
          </a:stretch>
        </p:blipFill>
        <p:spPr>
          <a:xfrm>
            <a:off x="7391400" y="1892236"/>
            <a:ext cx="2010056" cy="590632"/>
          </a:xfrm>
          <a:prstGeom prst="rect">
            <a:avLst/>
          </a:prstGeom>
        </p:spPr>
      </p:pic>
      <p:sp>
        <p:nvSpPr>
          <p:cNvPr id="19" name="TextBox 18">
            <a:extLst>
              <a:ext uri="{FF2B5EF4-FFF2-40B4-BE49-F238E27FC236}">
                <a16:creationId xmlns:a16="http://schemas.microsoft.com/office/drawing/2014/main" id="{6A8E390C-66F4-AAB3-56B1-4A19192A7D9A}"/>
              </a:ext>
            </a:extLst>
          </p:cNvPr>
          <p:cNvSpPr txBox="1"/>
          <p:nvPr/>
        </p:nvSpPr>
        <p:spPr>
          <a:xfrm>
            <a:off x="7615136" y="2524357"/>
            <a:ext cx="1143262" cy="369332"/>
          </a:xfrm>
          <a:prstGeom prst="rect">
            <a:avLst/>
          </a:prstGeom>
          <a:noFill/>
        </p:spPr>
        <p:txBody>
          <a:bodyPr wrap="none" rtlCol="0">
            <a:spAutoFit/>
          </a:bodyPr>
          <a:lstStyle/>
          <a:p>
            <a:r>
              <a:rPr lang="en-IN" dirty="0"/>
              <a:t>Because</a:t>
            </a:r>
          </a:p>
        </p:txBody>
      </p:sp>
      <p:pic>
        <p:nvPicPr>
          <p:cNvPr id="21" name="Picture 20">
            <a:extLst>
              <a:ext uri="{FF2B5EF4-FFF2-40B4-BE49-F238E27FC236}">
                <a16:creationId xmlns:a16="http://schemas.microsoft.com/office/drawing/2014/main" id="{E7195B29-D0AC-3FA3-17AC-56AC2F571A4A}"/>
              </a:ext>
            </a:extLst>
          </p:cNvPr>
          <p:cNvPicPr>
            <a:picLocks noChangeAspect="1"/>
          </p:cNvPicPr>
          <p:nvPr/>
        </p:nvPicPr>
        <p:blipFill>
          <a:blip r:embed="rId6"/>
          <a:stretch>
            <a:fillRect/>
          </a:stretch>
        </p:blipFill>
        <p:spPr>
          <a:xfrm>
            <a:off x="1789531" y="2676848"/>
            <a:ext cx="4134427" cy="1009791"/>
          </a:xfrm>
          <a:prstGeom prst="rect">
            <a:avLst/>
          </a:prstGeom>
        </p:spPr>
      </p:pic>
      <p:pic>
        <p:nvPicPr>
          <p:cNvPr id="23" name="Picture 22">
            <a:extLst>
              <a:ext uri="{FF2B5EF4-FFF2-40B4-BE49-F238E27FC236}">
                <a16:creationId xmlns:a16="http://schemas.microsoft.com/office/drawing/2014/main" id="{94B80407-4306-C12F-A3FE-44DCEF560CFF}"/>
              </a:ext>
            </a:extLst>
          </p:cNvPr>
          <p:cNvPicPr>
            <a:picLocks noChangeAspect="1"/>
          </p:cNvPicPr>
          <p:nvPr/>
        </p:nvPicPr>
        <p:blipFill>
          <a:blip r:embed="rId7"/>
          <a:stretch>
            <a:fillRect/>
          </a:stretch>
        </p:blipFill>
        <p:spPr>
          <a:xfrm>
            <a:off x="3551583" y="4215280"/>
            <a:ext cx="2000529" cy="695422"/>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0FFACD7-B7A8-5A1B-43DB-332919E5E2CD}"/>
                  </a:ext>
                </a:extLst>
              </p:cNvPr>
              <p:cNvSpPr txBox="1"/>
              <p:nvPr/>
            </p:nvSpPr>
            <p:spPr>
              <a:xfrm>
                <a:off x="3551582" y="3666883"/>
                <a:ext cx="2389308" cy="381579"/>
              </a:xfrm>
              <a:prstGeom prst="rect">
                <a:avLst/>
              </a:prstGeom>
              <a:noFill/>
            </p:spPr>
            <p:txBody>
              <a:bodyPr wrap="none" rtlCol="0">
                <a:spAutoFit/>
              </a:bodyPr>
              <a:lstStyle/>
              <a:p>
                <a:r>
                  <a:rPr lang="en-IN" dirty="0"/>
                  <a:t>Factor out </a:t>
                </a:r>
                <a14:m>
                  <m:oMath xmlns:m="http://schemas.openxmlformats.org/officeDocument/2006/math">
                    <m:r>
                      <a:rPr lang="en-IN" i="1">
                        <a:latin typeface="Cambria Math" panose="02040503050406030204" pitchFamily="18" charset="0"/>
                      </a:rPr>
                      <m:t>𝑄</m:t>
                    </m:r>
                  </m:oMath>
                </a14:m>
                <a:r>
                  <a:rPr lang="en-IN" dirty="0"/>
                  <a:t>and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a:latin typeface="Cambria Math" panose="02040503050406030204" pitchFamily="18" charset="0"/>
                          </a:rPr>
                          <m:t>⊤</m:t>
                        </m:r>
                      </m:sup>
                    </m:sSup>
                  </m:oMath>
                </a14:m>
                <a:endParaRPr lang="en-IN" dirty="0"/>
              </a:p>
            </p:txBody>
          </p:sp>
        </mc:Choice>
        <mc:Fallback xmlns="">
          <p:sp>
            <p:nvSpPr>
              <p:cNvPr id="24" name="TextBox 23">
                <a:extLst>
                  <a:ext uri="{FF2B5EF4-FFF2-40B4-BE49-F238E27FC236}">
                    <a16:creationId xmlns:a16="http://schemas.microsoft.com/office/drawing/2014/main" id="{B0FFACD7-B7A8-5A1B-43DB-332919E5E2CD}"/>
                  </a:ext>
                </a:extLst>
              </p:cNvPr>
              <p:cNvSpPr txBox="1">
                <a:spLocks noRot="1" noChangeAspect="1" noMove="1" noResize="1" noEditPoints="1" noAdjustHandles="1" noChangeArrowheads="1" noChangeShapeType="1" noTextEdit="1"/>
              </p:cNvSpPr>
              <p:nvPr/>
            </p:nvSpPr>
            <p:spPr>
              <a:xfrm>
                <a:off x="3551582" y="3666883"/>
                <a:ext cx="2389308" cy="381579"/>
              </a:xfrm>
              <a:prstGeom prst="rect">
                <a:avLst/>
              </a:prstGeom>
              <a:blipFill>
                <a:blip r:embed="rId8"/>
                <a:stretch>
                  <a:fillRect l="-2296" t="-6452" b="-25806"/>
                </a:stretch>
              </a:blipFill>
            </p:spPr>
            <p:txBody>
              <a:bodyPr/>
              <a:lstStyle/>
              <a:p>
                <a:r>
                  <a:rPr lang="en-IN">
                    <a:noFill/>
                  </a:rPr>
                  <a:t> </a:t>
                </a:r>
              </a:p>
            </p:txBody>
          </p:sp>
        </mc:Fallback>
      </mc:AlternateContent>
      <p:pic>
        <p:nvPicPr>
          <p:cNvPr id="26" name="Picture 25">
            <a:extLst>
              <a:ext uri="{FF2B5EF4-FFF2-40B4-BE49-F238E27FC236}">
                <a16:creationId xmlns:a16="http://schemas.microsoft.com/office/drawing/2014/main" id="{7EB5C092-1D6D-874F-DC69-3F4D21B4B1BB}"/>
              </a:ext>
            </a:extLst>
          </p:cNvPr>
          <p:cNvPicPr>
            <a:picLocks noChangeAspect="1"/>
          </p:cNvPicPr>
          <p:nvPr/>
        </p:nvPicPr>
        <p:blipFill>
          <a:blip r:embed="rId9"/>
          <a:stretch>
            <a:fillRect/>
          </a:stretch>
        </p:blipFill>
        <p:spPr>
          <a:xfrm>
            <a:off x="1981201" y="5258257"/>
            <a:ext cx="4248743" cy="714475"/>
          </a:xfrm>
          <a:prstGeom prst="rect">
            <a:avLst/>
          </a:prstGeom>
        </p:spPr>
      </p:pic>
      <p:sp>
        <p:nvSpPr>
          <p:cNvPr id="3" name="Slide Number Placeholder 2">
            <a:extLst>
              <a:ext uri="{FF2B5EF4-FFF2-40B4-BE49-F238E27FC236}">
                <a16:creationId xmlns:a16="http://schemas.microsoft.com/office/drawing/2014/main" id="{05D61318-9DDE-A155-C55B-6608F2F122B4}"/>
              </a:ext>
            </a:extLst>
          </p:cNvPr>
          <p:cNvSpPr>
            <a:spLocks noGrp="1"/>
          </p:cNvSpPr>
          <p:nvPr>
            <p:ph type="sldNum" sz="quarter" idx="12"/>
          </p:nvPr>
        </p:nvSpPr>
        <p:spPr/>
        <p:txBody>
          <a:bodyPr/>
          <a:lstStyle/>
          <a:p>
            <a:fld id="{BB2CE0DE-867F-455F-B20B-96D381B4AB71}" type="slidenum">
              <a:rPr lang="en-US" smtClean="0"/>
              <a:t>45</a:t>
            </a:fld>
            <a:endParaRPr lang="en-US"/>
          </a:p>
        </p:txBody>
      </p:sp>
    </p:spTree>
    <p:extLst>
      <p:ext uri="{BB962C8B-B14F-4D97-AF65-F5344CB8AC3E}">
        <p14:creationId xmlns:p14="http://schemas.microsoft.com/office/powerpoint/2010/main" val="5414155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2BB82-47D2-4E1F-9F3D-DED7DD278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7DEFD-4744-94B0-4BD9-F6443A99E7AE}"/>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BFFE8A29-B707-B3CA-0F26-549F85C89D6A}"/>
              </a:ext>
            </a:extLst>
          </p:cNvPr>
          <p:cNvPicPr>
            <a:picLocks noChangeAspect="1"/>
          </p:cNvPicPr>
          <p:nvPr/>
        </p:nvPicPr>
        <p:blipFill>
          <a:blip r:embed="rId2"/>
          <a:stretch>
            <a:fillRect/>
          </a:stretch>
        </p:blipFill>
        <p:spPr>
          <a:xfrm>
            <a:off x="1526822" y="1256619"/>
            <a:ext cx="4210868" cy="551283"/>
          </a:xfrm>
          <a:prstGeom prst="rect">
            <a:avLst/>
          </a:prstGeom>
        </p:spPr>
      </p:pic>
      <p:pic>
        <p:nvPicPr>
          <p:cNvPr id="12" name="Picture 11">
            <a:extLst>
              <a:ext uri="{FF2B5EF4-FFF2-40B4-BE49-F238E27FC236}">
                <a16:creationId xmlns:a16="http://schemas.microsoft.com/office/drawing/2014/main" id="{0D75CE06-F0CE-EC30-66E0-2CD24BD5B479}"/>
              </a:ext>
            </a:extLst>
          </p:cNvPr>
          <p:cNvPicPr>
            <a:picLocks noChangeAspect="1"/>
          </p:cNvPicPr>
          <p:nvPr/>
        </p:nvPicPr>
        <p:blipFill>
          <a:blip r:embed="rId3"/>
          <a:stretch>
            <a:fillRect/>
          </a:stretch>
        </p:blipFill>
        <p:spPr>
          <a:xfrm>
            <a:off x="7543801" y="2755640"/>
            <a:ext cx="2876951" cy="476316"/>
          </a:xfrm>
          <a:prstGeom prst="rect">
            <a:avLst/>
          </a:prstGeom>
        </p:spPr>
      </p:pic>
      <p:pic>
        <p:nvPicPr>
          <p:cNvPr id="26" name="Picture 25">
            <a:extLst>
              <a:ext uri="{FF2B5EF4-FFF2-40B4-BE49-F238E27FC236}">
                <a16:creationId xmlns:a16="http://schemas.microsoft.com/office/drawing/2014/main" id="{AD351D9D-B652-B71E-A404-8729FBE910AD}"/>
              </a:ext>
            </a:extLst>
          </p:cNvPr>
          <p:cNvPicPr>
            <a:picLocks noChangeAspect="1"/>
          </p:cNvPicPr>
          <p:nvPr/>
        </p:nvPicPr>
        <p:blipFill>
          <a:blip r:embed="rId4"/>
          <a:stretch>
            <a:fillRect/>
          </a:stretch>
        </p:blipFill>
        <p:spPr>
          <a:xfrm>
            <a:off x="1676401" y="2250220"/>
            <a:ext cx="4248743" cy="714475"/>
          </a:xfrm>
          <a:prstGeom prst="rect">
            <a:avLst/>
          </a:prstGeom>
        </p:spPr>
      </p:pic>
      <p:pic>
        <p:nvPicPr>
          <p:cNvPr id="6" name="Picture 5">
            <a:extLst>
              <a:ext uri="{FF2B5EF4-FFF2-40B4-BE49-F238E27FC236}">
                <a16:creationId xmlns:a16="http://schemas.microsoft.com/office/drawing/2014/main" id="{066E71BA-B74E-2003-07CD-7DC7848FA9A6}"/>
              </a:ext>
            </a:extLst>
          </p:cNvPr>
          <p:cNvPicPr>
            <a:picLocks noChangeAspect="1"/>
          </p:cNvPicPr>
          <p:nvPr/>
        </p:nvPicPr>
        <p:blipFill>
          <a:blip r:embed="rId5"/>
          <a:stretch>
            <a:fillRect/>
          </a:stretch>
        </p:blipFill>
        <p:spPr>
          <a:xfrm>
            <a:off x="1707444" y="3730465"/>
            <a:ext cx="5210902" cy="819264"/>
          </a:xfrm>
          <a:prstGeom prst="rect">
            <a:avLst/>
          </a:prstGeom>
        </p:spPr>
      </p:pic>
      <p:pic>
        <p:nvPicPr>
          <p:cNvPr id="8" name="Picture 7">
            <a:extLst>
              <a:ext uri="{FF2B5EF4-FFF2-40B4-BE49-F238E27FC236}">
                <a16:creationId xmlns:a16="http://schemas.microsoft.com/office/drawing/2014/main" id="{90005546-5010-8728-2CBC-BC104157CCFD}"/>
              </a:ext>
            </a:extLst>
          </p:cNvPr>
          <p:cNvPicPr>
            <a:picLocks noChangeAspect="1"/>
          </p:cNvPicPr>
          <p:nvPr/>
        </p:nvPicPr>
        <p:blipFill>
          <a:blip r:embed="rId6"/>
          <a:stretch>
            <a:fillRect/>
          </a:stretch>
        </p:blipFill>
        <p:spPr>
          <a:xfrm>
            <a:off x="7667643" y="4567456"/>
            <a:ext cx="1314633" cy="54300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06C0CA1-5ED0-8422-4EEF-7A53A687900D}"/>
                  </a:ext>
                </a:extLst>
              </p:cNvPr>
              <p:cNvSpPr txBox="1"/>
              <p:nvPr/>
            </p:nvSpPr>
            <p:spPr>
              <a:xfrm>
                <a:off x="7503750" y="5110456"/>
                <a:ext cx="3128100" cy="369332"/>
              </a:xfrm>
              <a:prstGeom prst="rect">
                <a:avLst/>
              </a:prstGeom>
              <a:noFill/>
            </p:spPr>
            <p:txBody>
              <a:bodyPr wrap="none" rtlCol="0">
                <a:spAutoFit/>
              </a:bodyPr>
              <a:lstStyle/>
              <a:p>
                <a:r>
                  <a:rPr lang="en-IN" dirty="0"/>
                  <a:t>Because </a:t>
                </a:r>
                <a14:m>
                  <m:oMath xmlns:m="http://schemas.openxmlformats.org/officeDocument/2006/math">
                    <m:r>
                      <a:rPr lang="en-IN" i="1">
                        <a:latin typeface="Cambria Math" panose="02040503050406030204" pitchFamily="18" charset="0"/>
                      </a:rPr>
                      <m:t>𝑄</m:t>
                    </m:r>
                    <m:r>
                      <a:rPr lang="en-IN" i="1">
                        <a:latin typeface="Cambria Math" panose="02040503050406030204" pitchFamily="18" charset="0"/>
                      </a:rPr>
                      <m:t> </m:t>
                    </m:r>
                  </m:oMath>
                </a14:m>
                <a:r>
                  <a:rPr lang="en-IN" dirty="0"/>
                  <a:t>is orthonormal</a:t>
                </a:r>
              </a:p>
            </p:txBody>
          </p:sp>
        </mc:Choice>
        <mc:Fallback xmlns="">
          <p:sp>
            <p:nvSpPr>
              <p:cNvPr id="11" name="TextBox 10">
                <a:extLst>
                  <a:ext uri="{FF2B5EF4-FFF2-40B4-BE49-F238E27FC236}">
                    <a16:creationId xmlns:a16="http://schemas.microsoft.com/office/drawing/2014/main" id="{506C0CA1-5ED0-8422-4EEF-7A53A687900D}"/>
                  </a:ext>
                </a:extLst>
              </p:cNvPr>
              <p:cNvSpPr txBox="1">
                <a:spLocks noRot="1" noChangeAspect="1" noMove="1" noResize="1" noEditPoints="1" noAdjustHandles="1" noChangeArrowheads="1" noChangeShapeType="1" noTextEdit="1"/>
              </p:cNvSpPr>
              <p:nvPr/>
            </p:nvSpPr>
            <p:spPr>
              <a:xfrm>
                <a:off x="7503750" y="5110456"/>
                <a:ext cx="3128100" cy="369332"/>
              </a:xfrm>
              <a:prstGeom prst="rect">
                <a:avLst/>
              </a:prstGeom>
              <a:blipFill>
                <a:blip r:embed="rId7"/>
                <a:stretch>
                  <a:fillRect l="-1754" t="-8197" r="-1170" b="-24590"/>
                </a:stretch>
              </a:blipFill>
            </p:spPr>
            <p:txBody>
              <a:bodyPr/>
              <a:lstStyle/>
              <a:p>
                <a:r>
                  <a:rPr lang="en-IN">
                    <a:noFill/>
                  </a:rPr>
                  <a:t> </a:t>
                </a:r>
              </a:p>
            </p:txBody>
          </p:sp>
        </mc:Fallback>
      </mc:AlternateContent>
      <p:pic>
        <p:nvPicPr>
          <p:cNvPr id="15" name="Picture 14">
            <a:extLst>
              <a:ext uri="{FF2B5EF4-FFF2-40B4-BE49-F238E27FC236}">
                <a16:creationId xmlns:a16="http://schemas.microsoft.com/office/drawing/2014/main" id="{FB88C9E1-A2BC-721F-63C4-2EA5942C455F}"/>
              </a:ext>
            </a:extLst>
          </p:cNvPr>
          <p:cNvPicPr>
            <a:picLocks noChangeAspect="1"/>
          </p:cNvPicPr>
          <p:nvPr/>
        </p:nvPicPr>
        <p:blipFill>
          <a:blip r:embed="rId8"/>
          <a:stretch>
            <a:fillRect/>
          </a:stretch>
        </p:blipFill>
        <p:spPr>
          <a:xfrm>
            <a:off x="4149512" y="4893741"/>
            <a:ext cx="2181529" cy="600159"/>
          </a:xfrm>
          <a:prstGeom prst="rect">
            <a:avLst/>
          </a:prstGeom>
        </p:spPr>
      </p:pic>
      <p:pic>
        <p:nvPicPr>
          <p:cNvPr id="20" name="Picture 19">
            <a:extLst>
              <a:ext uri="{FF2B5EF4-FFF2-40B4-BE49-F238E27FC236}">
                <a16:creationId xmlns:a16="http://schemas.microsoft.com/office/drawing/2014/main" id="{7D77C323-BA6C-3D2A-865A-D976C8C58FCF}"/>
              </a:ext>
            </a:extLst>
          </p:cNvPr>
          <p:cNvPicPr>
            <a:picLocks noChangeAspect="1"/>
          </p:cNvPicPr>
          <p:nvPr/>
        </p:nvPicPr>
        <p:blipFill>
          <a:blip r:embed="rId9"/>
          <a:stretch>
            <a:fillRect/>
          </a:stretch>
        </p:blipFill>
        <p:spPr>
          <a:xfrm>
            <a:off x="2112898" y="5772292"/>
            <a:ext cx="3762900" cy="571580"/>
          </a:xfrm>
          <a:prstGeom prst="rect">
            <a:avLst/>
          </a:prstGeom>
        </p:spPr>
      </p:pic>
      <p:sp>
        <p:nvSpPr>
          <p:cNvPr id="3" name="Slide Number Placeholder 2">
            <a:extLst>
              <a:ext uri="{FF2B5EF4-FFF2-40B4-BE49-F238E27FC236}">
                <a16:creationId xmlns:a16="http://schemas.microsoft.com/office/drawing/2014/main" id="{085A3884-A313-4647-56BD-34D56F5B0073}"/>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32486375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30A84-56E3-76D0-6381-909A1A6D2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53187-E4D6-1FCE-64A9-BBC0ECD2D257}"/>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D1CE66E2-76B6-FDB0-F80A-344392306909}"/>
              </a:ext>
            </a:extLst>
          </p:cNvPr>
          <p:cNvPicPr>
            <a:picLocks noChangeAspect="1"/>
          </p:cNvPicPr>
          <p:nvPr/>
        </p:nvPicPr>
        <p:blipFill>
          <a:blip r:embed="rId3"/>
          <a:stretch>
            <a:fillRect/>
          </a:stretch>
        </p:blipFill>
        <p:spPr>
          <a:xfrm>
            <a:off x="2093031" y="1295400"/>
            <a:ext cx="3762900" cy="571580"/>
          </a:xfrm>
          <a:prstGeom prst="rect">
            <a:avLst/>
          </a:prstGeom>
        </p:spPr>
      </p:pic>
      <p:pic>
        <p:nvPicPr>
          <p:cNvPr id="7" name="Picture 6">
            <a:extLst>
              <a:ext uri="{FF2B5EF4-FFF2-40B4-BE49-F238E27FC236}">
                <a16:creationId xmlns:a16="http://schemas.microsoft.com/office/drawing/2014/main" id="{F86CF0E9-BFF5-22EA-F485-F8D4FB7A1073}"/>
              </a:ext>
            </a:extLst>
          </p:cNvPr>
          <p:cNvPicPr>
            <a:picLocks noChangeAspect="1"/>
          </p:cNvPicPr>
          <p:nvPr/>
        </p:nvPicPr>
        <p:blipFill>
          <a:blip r:embed="rId4"/>
          <a:stretch>
            <a:fillRect/>
          </a:stretch>
        </p:blipFill>
        <p:spPr>
          <a:xfrm>
            <a:off x="8123692" y="2055483"/>
            <a:ext cx="1228896" cy="62873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96F2F7-9C98-34F9-749C-DDC16B20C23F}"/>
                  </a:ext>
                </a:extLst>
              </p:cNvPr>
              <p:cNvSpPr txBox="1"/>
              <p:nvPr/>
            </p:nvSpPr>
            <p:spPr>
              <a:xfrm>
                <a:off x="7546230" y="1682314"/>
                <a:ext cx="3043141" cy="369332"/>
              </a:xfrm>
              <a:prstGeom prst="rect">
                <a:avLst/>
              </a:prstGeom>
              <a:noFill/>
            </p:spPr>
            <p:txBody>
              <a:bodyPr wrap="none" rtlCol="0">
                <a:spAutoFit/>
              </a:bodyPr>
              <a:lstStyle/>
              <a:p>
                <a:r>
                  <a:rPr lang="en-IN" dirty="0"/>
                  <a:t>Since </a:t>
                </a:r>
                <a14:m>
                  <m:oMath xmlns:m="http://schemas.openxmlformats.org/officeDocument/2006/math">
                    <m:r>
                      <a:rPr lang="en-IN" i="1">
                        <a:latin typeface="Cambria Math" panose="02040503050406030204" pitchFamily="18" charset="0"/>
                      </a:rPr>
                      <m:t>𝑄</m:t>
                    </m:r>
                  </m:oMath>
                </a14:m>
                <a:r>
                  <a:rPr lang="en-IN" dirty="0"/>
                  <a:t>is </a:t>
                </a:r>
                <a:r>
                  <a:rPr lang="en-IN" b="1" dirty="0"/>
                  <a:t>orthonormal</a:t>
                </a:r>
                <a:r>
                  <a:rPr lang="en-IN" dirty="0"/>
                  <a:t>:</a:t>
                </a:r>
              </a:p>
            </p:txBody>
          </p:sp>
        </mc:Choice>
        <mc:Fallback xmlns="">
          <p:sp>
            <p:nvSpPr>
              <p:cNvPr id="8" name="TextBox 7">
                <a:extLst>
                  <a:ext uri="{FF2B5EF4-FFF2-40B4-BE49-F238E27FC236}">
                    <a16:creationId xmlns:a16="http://schemas.microsoft.com/office/drawing/2014/main" id="{4E96F2F7-9C98-34F9-749C-DDC16B20C23F}"/>
                  </a:ext>
                </a:extLst>
              </p:cNvPr>
              <p:cNvSpPr txBox="1">
                <a:spLocks noRot="1" noChangeAspect="1" noMove="1" noResize="1" noEditPoints="1" noAdjustHandles="1" noChangeArrowheads="1" noChangeShapeType="1" noTextEdit="1"/>
              </p:cNvSpPr>
              <p:nvPr/>
            </p:nvSpPr>
            <p:spPr>
              <a:xfrm>
                <a:off x="7546230" y="1682314"/>
                <a:ext cx="3043141" cy="369332"/>
              </a:xfrm>
              <a:prstGeom prst="rect">
                <a:avLst/>
              </a:prstGeom>
              <a:blipFill>
                <a:blip r:embed="rId5"/>
                <a:stretch>
                  <a:fillRect l="-1804" t="-9836" r="-1002" b="-24590"/>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C9DBB1B3-65C1-904C-7FFD-577902A69A68}"/>
              </a:ext>
            </a:extLst>
          </p:cNvPr>
          <p:cNvPicPr>
            <a:picLocks noChangeAspect="1"/>
          </p:cNvPicPr>
          <p:nvPr/>
        </p:nvPicPr>
        <p:blipFill>
          <a:blip r:embed="rId6"/>
          <a:stretch>
            <a:fillRect/>
          </a:stretch>
        </p:blipFill>
        <p:spPr>
          <a:xfrm>
            <a:off x="2876102" y="2600282"/>
            <a:ext cx="3219899" cy="895475"/>
          </a:xfrm>
          <a:prstGeom prst="rect">
            <a:avLst/>
          </a:prstGeom>
        </p:spPr>
      </p:pic>
      <p:pic>
        <p:nvPicPr>
          <p:cNvPr id="12" name="Picture 11">
            <a:extLst>
              <a:ext uri="{FF2B5EF4-FFF2-40B4-BE49-F238E27FC236}">
                <a16:creationId xmlns:a16="http://schemas.microsoft.com/office/drawing/2014/main" id="{FD2D34BA-A825-2D3C-8BDB-4C4E76CF25C6}"/>
              </a:ext>
            </a:extLst>
          </p:cNvPr>
          <p:cNvPicPr>
            <a:picLocks noChangeAspect="1"/>
          </p:cNvPicPr>
          <p:nvPr/>
        </p:nvPicPr>
        <p:blipFill>
          <a:blip r:embed="rId7"/>
          <a:stretch>
            <a:fillRect/>
          </a:stretch>
        </p:blipFill>
        <p:spPr>
          <a:xfrm>
            <a:off x="2876101" y="3733800"/>
            <a:ext cx="3124636" cy="647790"/>
          </a:xfrm>
          <a:prstGeom prst="rect">
            <a:avLst/>
          </a:prstGeom>
        </p:spPr>
      </p:pic>
      <p:pic>
        <p:nvPicPr>
          <p:cNvPr id="14" name="Picture 13">
            <a:extLst>
              <a:ext uri="{FF2B5EF4-FFF2-40B4-BE49-F238E27FC236}">
                <a16:creationId xmlns:a16="http://schemas.microsoft.com/office/drawing/2014/main" id="{C2F4C1EC-87A9-6CCB-F6F2-742DC2A7DD64}"/>
              </a:ext>
            </a:extLst>
          </p:cNvPr>
          <p:cNvPicPr>
            <a:picLocks noChangeAspect="1"/>
          </p:cNvPicPr>
          <p:nvPr/>
        </p:nvPicPr>
        <p:blipFill>
          <a:blip r:embed="rId8"/>
          <a:stretch>
            <a:fillRect/>
          </a:stretch>
        </p:blipFill>
        <p:spPr>
          <a:xfrm>
            <a:off x="2362200" y="5167527"/>
            <a:ext cx="3057952" cy="609685"/>
          </a:xfrm>
          <a:prstGeom prst="rect">
            <a:avLst/>
          </a:prstGeom>
        </p:spPr>
      </p:pic>
      <p:sp>
        <p:nvSpPr>
          <p:cNvPr id="15" name="TextBox 14">
            <a:extLst>
              <a:ext uri="{FF2B5EF4-FFF2-40B4-BE49-F238E27FC236}">
                <a16:creationId xmlns:a16="http://schemas.microsoft.com/office/drawing/2014/main" id="{E87A59E7-A475-F07A-AB8D-9A112A2D0F75}"/>
              </a:ext>
            </a:extLst>
          </p:cNvPr>
          <p:cNvSpPr txBox="1"/>
          <p:nvPr/>
        </p:nvSpPr>
        <p:spPr>
          <a:xfrm>
            <a:off x="1524001" y="4619634"/>
            <a:ext cx="2900859" cy="369332"/>
          </a:xfrm>
          <a:prstGeom prst="rect">
            <a:avLst/>
          </a:prstGeom>
          <a:noFill/>
        </p:spPr>
        <p:txBody>
          <a:bodyPr wrap="none" rtlCol="0">
            <a:spAutoFit/>
          </a:bodyPr>
          <a:lstStyle/>
          <a:p>
            <a:r>
              <a:rPr lang="en-IN" dirty="0"/>
              <a:t>Remove identity matrix</a:t>
            </a:r>
          </a:p>
        </p:txBody>
      </p:sp>
      <p:sp>
        <p:nvSpPr>
          <p:cNvPr id="16" name="TextBox 15">
            <a:extLst>
              <a:ext uri="{FF2B5EF4-FFF2-40B4-BE49-F238E27FC236}">
                <a16:creationId xmlns:a16="http://schemas.microsoft.com/office/drawing/2014/main" id="{FD1FD903-73B2-3321-9BF1-84F49DBD909D}"/>
              </a:ext>
            </a:extLst>
          </p:cNvPr>
          <p:cNvSpPr txBox="1"/>
          <p:nvPr/>
        </p:nvSpPr>
        <p:spPr>
          <a:xfrm>
            <a:off x="6096001" y="4619635"/>
            <a:ext cx="4630819" cy="2092881"/>
          </a:xfrm>
          <a:prstGeom prst="rect">
            <a:avLst/>
          </a:prstGeom>
          <a:noFill/>
        </p:spPr>
        <p:txBody>
          <a:bodyPr wrap="none" rtlCol="0">
            <a:spAutoFit/>
          </a:bodyPr>
          <a:lstStyle/>
          <a:p>
            <a:r>
              <a:rPr lang="en-US" sz="1600" dirty="0"/>
              <a:t>Q⊤Q=I means:</a:t>
            </a:r>
          </a:p>
          <a:p>
            <a:r>
              <a:rPr lang="en-US" sz="1600" dirty="0"/>
              <a:t>Transform → inverse transform cancels out</a:t>
            </a:r>
          </a:p>
          <a:p>
            <a:r>
              <a:rPr lang="en-US" sz="1600" dirty="0"/>
              <a:t>Like:</a:t>
            </a:r>
          </a:p>
          <a:p>
            <a:r>
              <a:rPr lang="en-US" sz="1600" dirty="0"/>
              <a:t>rotate → rotate back = no change</a:t>
            </a:r>
          </a:p>
          <a:p>
            <a:endParaRPr lang="en-US" sz="1600" dirty="0"/>
          </a:p>
          <a:p>
            <a:r>
              <a:rPr lang="en-US" sz="1600" dirty="0"/>
              <a:t>QᵀQ = I → “they cancel each other”</a:t>
            </a:r>
          </a:p>
          <a:p>
            <a:endParaRPr lang="en-IN" sz="1600" dirty="0"/>
          </a:p>
          <a:p>
            <a:endParaRPr lang="en-IN" sz="1600" dirty="0"/>
          </a:p>
        </p:txBody>
      </p:sp>
      <p:sp>
        <p:nvSpPr>
          <p:cNvPr id="3" name="Slide Number Placeholder 2">
            <a:extLst>
              <a:ext uri="{FF2B5EF4-FFF2-40B4-BE49-F238E27FC236}">
                <a16:creationId xmlns:a16="http://schemas.microsoft.com/office/drawing/2014/main" id="{657144B8-97BC-818A-D7D0-58B12268EA7A}"/>
              </a:ext>
            </a:extLst>
          </p:cNvPr>
          <p:cNvSpPr>
            <a:spLocks noGrp="1"/>
          </p:cNvSpPr>
          <p:nvPr>
            <p:ph type="sldNum" sz="quarter" idx="12"/>
          </p:nvPr>
        </p:nvSpPr>
        <p:spPr/>
        <p:txBody>
          <a:bodyPr/>
          <a:lstStyle/>
          <a:p>
            <a:fld id="{BB2CE0DE-867F-455F-B20B-96D381B4AB71}" type="slidenum">
              <a:rPr lang="en-US" smtClean="0"/>
              <a:t>47</a:t>
            </a:fld>
            <a:endParaRPr lang="en-US"/>
          </a:p>
        </p:txBody>
      </p:sp>
    </p:spTree>
    <p:extLst>
      <p:ext uri="{BB962C8B-B14F-4D97-AF65-F5344CB8AC3E}">
        <p14:creationId xmlns:p14="http://schemas.microsoft.com/office/powerpoint/2010/main" val="40963132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4398F-20D8-355D-6E3C-7367B3E91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261A1-CDBB-B393-312D-D9082BE6D24E}"/>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481F4F39-2CB1-BABB-3EB4-A569E623AED2}"/>
              </a:ext>
            </a:extLst>
          </p:cNvPr>
          <p:cNvPicPr>
            <a:picLocks noChangeAspect="1"/>
          </p:cNvPicPr>
          <p:nvPr/>
        </p:nvPicPr>
        <p:blipFill>
          <a:blip r:embed="rId3"/>
          <a:stretch>
            <a:fillRect/>
          </a:stretch>
        </p:blipFill>
        <p:spPr>
          <a:xfrm>
            <a:off x="696030" y="953384"/>
            <a:ext cx="3057952" cy="609685"/>
          </a:xfrm>
          <a:prstGeom prst="rect">
            <a:avLst/>
          </a:prstGeom>
        </p:spPr>
      </p:pic>
      <p:pic>
        <p:nvPicPr>
          <p:cNvPr id="7" name="Picture 6">
            <a:extLst>
              <a:ext uri="{FF2B5EF4-FFF2-40B4-BE49-F238E27FC236}">
                <a16:creationId xmlns:a16="http://schemas.microsoft.com/office/drawing/2014/main" id="{855D6DF7-8FA3-DD6B-7129-4DF6951E1A85}"/>
              </a:ext>
            </a:extLst>
          </p:cNvPr>
          <p:cNvPicPr>
            <a:picLocks noChangeAspect="1"/>
          </p:cNvPicPr>
          <p:nvPr/>
        </p:nvPicPr>
        <p:blipFill>
          <a:blip r:embed="rId4"/>
          <a:stretch>
            <a:fillRect/>
          </a:stretch>
        </p:blipFill>
        <p:spPr>
          <a:xfrm>
            <a:off x="499534" y="2289185"/>
            <a:ext cx="4467849" cy="2372056"/>
          </a:xfrm>
          <a:prstGeom prst="rect">
            <a:avLst/>
          </a:prstGeom>
        </p:spPr>
      </p:pic>
      <p:sp>
        <p:nvSpPr>
          <p:cNvPr id="8" name="TextBox 7">
            <a:extLst>
              <a:ext uri="{FF2B5EF4-FFF2-40B4-BE49-F238E27FC236}">
                <a16:creationId xmlns:a16="http://schemas.microsoft.com/office/drawing/2014/main" id="{2E8C0B5D-FE31-71A7-7202-CB1D0B5EB7A4}"/>
              </a:ext>
            </a:extLst>
          </p:cNvPr>
          <p:cNvSpPr txBox="1"/>
          <p:nvPr/>
        </p:nvSpPr>
        <p:spPr>
          <a:xfrm>
            <a:off x="491067" y="1918740"/>
            <a:ext cx="3050835" cy="369332"/>
          </a:xfrm>
          <a:prstGeom prst="rect">
            <a:avLst/>
          </a:prstGeom>
          <a:noFill/>
        </p:spPr>
        <p:txBody>
          <a:bodyPr wrap="square" rtlCol="0">
            <a:spAutoFit/>
          </a:bodyPr>
          <a:lstStyle/>
          <a:p>
            <a:r>
              <a:rPr lang="en-IN" dirty="0"/>
              <a:t>Understand the matrices</a:t>
            </a:r>
          </a:p>
        </p:txBody>
      </p:sp>
      <p:pic>
        <p:nvPicPr>
          <p:cNvPr id="10" name="Picture 9">
            <a:extLst>
              <a:ext uri="{FF2B5EF4-FFF2-40B4-BE49-F238E27FC236}">
                <a16:creationId xmlns:a16="http://schemas.microsoft.com/office/drawing/2014/main" id="{450B47CC-B320-DF06-1D38-0B005193D603}"/>
              </a:ext>
            </a:extLst>
          </p:cNvPr>
          <p:cNvPicPr>
            <a:picLocks noChangeAspect="1"/>
          </p:cNvPicPr>
          <p:nvPr/>
        </p:nvPicPr>
        <p:blipFill>
          <a:blip r:embed="rId5"/>
          <a:stretch>
            <a:fillRect/>
          </a:stretch>
        </p:blipFill>
        <p:spPr>
          <a:xfrm>
            <a:off x="533400" y="5207012"/>
            <a:ext cx="4277322" cy="1171739"/>
          </a:xfrm>
          <a:prstGeom prst="rect">
            <a:avLst/>
          </a:prstGeom>
        </p:spPr>
      </p:pic>
      <p:sp>
        <p:nvSpPr>
          <p:cNvPr id="13" name="TextBox 12">
            <a:extLst>
              <a:ext uri="{FF2B5EF4-FFF2-40B4-BE49-F238E27FC236}">
                <a16:creationId xmlns:a16="http://schemas.microsoft.com/office/drawing/2014/main" id="{677E062E-41D2-EEA8-785F-017AA8751AA7}"/>
              </a:ext>
            </a:extLst>
          </p:cNvPr>
          <p:cNvSpPr txBox="1"/>
          <p:nvPr/>
        </p:nvSpPr>
        <p:spPr>
          <a:xfrm>
            <a:off x="383407" y="4749495"/>
            <a:ext cx="1627433" cy="646331"/>
          </a:xfrm>
          <a:prstGeom prst="rect">
            <a:avLst/>
          </a:prstGeom>
          <a:noFill/>
        </p:spPr>
        <p:txBody>
          <a:bodyPr wrap="none" rtlCol="0">
            <a:spAutoFit/>
          </a:bodyPr>
          <a:lstStyle/>
          <a:p>
            <a:r>
              <a:rPr lang="en-IN" dirty="0"/>
              <a:t>Take inverse</a:t>
            </a:r>
          </a:p>
          <a:p>
            <a:endParaRPr lang="en-IN" dirty="0"/>
          </a:p>
        </p:txBody>
      </p:sp>
      <p:sp>
        <p:nvSpPr>
          <p:cNvPr id="3" name="Slide Number Placeholder 2">
            <a:extLst>
              <a:ext uri="{FF2B5EF4-FFF2-40B4-BE49-F238E27FC236}">
                <a16:creationId xmlns:a16="http://schemas.microsoft.com/office/drawing/2014/main" id="{8C659CBA-0863-E7BB-F0AF-5A22249DCE84}"/>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18743216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0DF58-55CC-4A3F-0AFC-287CC0999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33AD6-818E-C7BD-086E-5D10E154C913}"/>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6AE23F1C-C11C-6370-AA8E-20BC92BECB0C}"/>
              </a:ext>
            </a:extLst>
          </p:cNvPr>
          <p:cNvPicPr>
            <a:picLocks noChangeAspect="1"/>
          </p:cNvPicPr>
          <p:nvPr/>
        </p:nvPicPr>
        <p:blipFill>
          <a:blip r:embed="rId3"/>
          <a:stretch>
            <a:fillRect/>
          </a:stretch>
        </p:blipFill>
        <p:spPr>
          <a:xfrm>
            <a:off x="806097" y="914401"/>
            <a:ext cx="3057952" cy="609685"/>
          </a:xfrm>
          <a:prstGeom prst="rect">
            <a:avLst/>
          </a:prstGeom>
        </p:spPr>
      </p:pic>
      <p:pic>
        <p:nvPicPr>
          <p:cNvPr id="10" name="Picture 9">
            <a:extLst>
              <a:ext uri="{FF2B5EF4-FFF2-40B4-BE49-F238E27FC236}">
                <a16:creationId xmlns:a16="http://schemas.microsoft.com/office/drawing/2014/main" id="{FA00FB87-A6DE-236E-4DF6-52F8A4630BA9}"/>
              </a:ext>
            </a:extLst>
          </p:cNvPr>
          <p:cNvPicPr>
            <a:picLocks noChangeAspect="1"/>
          </p:cNvPicPr>
          <p:nvPr/>
        </p:nvPicPr>
        <p:blipFill>
          <a:blip r:embed="rId4"/>
          <a:stretch>
            <a:fillRect/>
          </a:stretch>
        </p:blipFill>
        <p:spPr>
          <a:xfrm>
            <a:off x="624877" y="1650054"/>
            <a:ext cx="4277322" cy="1171739"/>
          </a:xfrm>
          <a:prstGeom prst="rect">
            <a:avLst/>
          </a:prstGeom>
        </p:spPr>
      </p:pic>
      <p:pic>
        <p:nvPicPr>
          <p:cNvPr id="15" name="Picture 14">
            <a:extLst>
              <a:ext uri="{FF2B5EF4-FFF2-40B4-BE49-F238E27FC236}">
                <a16:creationId xmlns:a16="http://schemas.microsoft.com/office/drawing/2014/main" id="{805E6EE6-AF9A-063C-0C53-8F1BDEBAF897}"/>
              </a:ext>
            </a:extLst>
          </p:cNvPr>
          <p:cNvPicPr>
            <a:picLocks noChangeAspect="1"/>
          </p:cNvPicPr>
          <p:nvPr/>
        </p:nvPicPr>
        <p:blipFill>
          <a:blip r:embed="rId5"/>
          <a:stretch>
            <a:fillRect/>
          </a:stretch>
        </p:blipFill>
        <p:spPr>
          <a:xfrm>
            <a:off x="647456" y="3243825"/>
            <a:ext cx="1657581" cy="523948"/>
          </a:xfrm>
          <a:prstGeom prst="rect">
            <a:avLst/>
          </a:prstGeom>
        </p:spPr>
      </p:pic>
      <p:sp>
        <p:nvSpPr>
          <p:cNvPr id="3" name="TextBox 2">
            <a:extLst>
              <a:ext uri="{FF2B5EF4-FFF2-40B4-BE49-F238E27FC236}">
                <a16:creationId xmlns:a16="http://schemas.microsoft.com/office/drawing/2014/main" id="{8DCB2A4F-2CC8-EAEB-F61E-716EF4DDD09E}"/>
              </a:ext>
            </a:extLst>
          </p:cNvPr>
          <p:cNvSpPr txBox="1"/>
          <p:nvPr/>
        </p:nvSpPr>
        <p:spPr>
          <a:xfrm>
            <a:off x="372465" y="2941354"/>
            <a:ext cx="1875835" cy="646331"/>
          </a:xfrm>
          <a:prstGeom prst="rect">
            <a:avLst/>
          </a:prstGeom>
          <a:noFill/>
        </p:spPr>
        <p:txBody>
          <a:bodyPr wrap="none" rtlCol="0">
            <a:spAutoFit/>
          </a:bodyPr>
          <a:lstStyle/>
          <a:p>
            <a:r>
              <a:rPr lang="en-IN" dirty="0"/>
              <a:t>Now compute:</a:t>
            </a:r>
          </a:p>
          <a:p>
            <a:endParaRPr lang="en-IN" dirty="0"/>
          </a:p>
        </p:txBody>
      </p:sp>
      <p:pic>
        <p:nvPicPr>
          <p:cNvPr id="9" name="Picture 8">
            <a:extLst>
              <a:ext uri="{FF2B5EF4-FFF2-40B4-BE49-F238E27FC236}">
                <a16:creationId xmlns:a16="http://schemas.microsoft.com/office/drawing/2014/main" id="{6481AD51-050E-BD10-4DF2-4282BAF287AA}"/>
              </a:ext>
            </a:extLst>
          </p:cNvPr>
          <p:cNvPicPr>
            <a:picLocks noChangeAspect="1"/>
          </p:cNvPicPr>
          <p:nvPr/>
        </p:nvPicPr>
        <p:blipFill>
          <a:blip r:embed="rId6"/>
          <a:stretch>
            <a:fillRect/>
          </a:stretch>
        </p:blipFill>
        <p:spPr>
          <a:xfrm>
            <a:off x="6400800" y="3119363"/>
            <a:ext cx="2191056" cy="1076475"/>
          </a:xfrm>
          <a:prstGeom prst="rect">
            <a:avLst/>
          </a:prstGeom>
        </p:spPr>
      </p:pic>
      <p:pic>
        <p:nvPicPr>
          <p:cNvPr id="12" name="Picture 11">
            <a:extLst>
              <a:ext uri="{FF2B5EF4-FFF2-40B4-BE49-F238E27FC236}">
                <a16:creationId xmlns:a16="http://schemas.microsoft.com/office/drawing/2014/main" id="{FC50D2D1-D14C-1E67-870B-4AE3C48FDE6B}"/>
              </a:ext>
            </a:extLst>
          </p:cNvPr>
          <p:cNvPicPr>
            <a:picLocks noChangeAspect="1"/>
          </p:cNvPicPr>
          <p:nvPr/>
        </p:nvPicPr>
        <p:blipFill>
          <a:blip r:embed="rId7"/>
          <a:stretch>
            <a:fillRect/>
          </a:stretch>
        </p:blipFill>
        <p:spPr>
          <a:xfrm>
            <a:off x="1882353" y="3739394"/>
            <a:ext cx="3019846" cy="1371791"/>
          </a:xfrm>
          <a:prstGeom prst="rect">
            <a:avLst/>
          </a:prstGeom>
        </p:spPr>
      </p:pic>
      <p:pic>
        <p:nvPicPr>
          <p:cNvPr id="16" name="Picture 15">
            <a:extLst>
              <a:ext uri="{FF2B5EF4-FFF2-40B4-BE49-F238E27FC236}">
                <a16:creationId xmlns:a16="http://schemas.microsoft.com/office/drawing/2014/main" id="{BE2A257C-454E-B9E7-1AEA-8B9CCAB2AB5D}"/>
              </a:ext>
            </a:extLst>
          </p:cNvPr>
          <p:cNvPicPr>
            <a:picLocks noChangeAspect="1"/>
          </p:cNvPicPr>
          <p:nvPr/>
        </p:nvPicPr>
        <p:blipFill>
          <a:blip r:embed="rId8"/>
          <a:stretch>
            <a:fillRect/>
          </a:stretch>
        </p:blipFill>
        <p:spPr>
          <a:xfrm>
            <a:off x="1295400" y="5262893"/>
            <a:ext cx="3781778" cy="1281210"/>
          </a:xfrm>
          <a:prstGeom prst="rect">
            <a:avLst/>
          </a:prstGeom>
        </p:spPr>
      </p:pic>
      <p:pic>
        <p:nvPicPr>
          <p:cNvPr id="18" name="Picture 17">
            <a:extLst>
              <a:ext uri="{FF2B5EF4-FFF2-40B4-BE49-F238E27FC236}">
                <a16:creationId xmlns:a16="http://schemas.microsoft.com/office/drawing/2014/main" id="{1259421C-8399-D96A-5078-13BBB3952F41}"/>
              </a:ext>
            </a:extLst>
          </p:cNvPr>
          <p:cNvPicPr>
            <a:picLocks noChangeAspect="1"/>
          </p:cNvPicPr>
          <p:nvPr/>
        </p:nvPicPr>
        <p:blipFill>
          <a:blip r:embed="rId9"/>
          <a:stretch>
            <a:fillRect/>
          </a:stretch>
        </p:blipFill>
        <p:spPr>
          <a:xfrm>
            <a:off x="6355644" y="5484339"/>
            <a:ext cx="1095528" cy="838317"/>
          </a:xfrm>
          <a:prstGeom prst="rect">
            <a:avLst/>
          </a:prstGeom>
        </p:spPr>
      </p:pic>
      <p:sp>
        <p:nvSpPr>
          <p:cNvPr id="19" name="TextBox 18">
            <a:extLst>
              <a:ext uri="{FF2B5EF4-FFF2-40B4-BE49-F238E27FC236}">
                <a16:creationId xmlns:a16="http://schemas.microsoft.com/office/drawing/2014/main" id="{AD989F28-CF77-4011-CA05-900CC66A3A1C}"/>
              </a:ext>
            </a:extLst>
          </p:cNvPr>
          <p:cNvSpPr txBox="1"/>
          <p:nvPr/>
        </p:nvSpPr>
        <p:spPr>
          <a:xfrm>
            <a:off x="5836357" y="5097074"/>
            <a:ext cx="3643370" cy="646331"/>
          </a:xfrm>
          <a:prstGeom prst="rect">
            <a:avLst/>
          </a:prstGeom>
          <a:noFill/>
        </p:spPr>
        <p:txBody>
          <a:bodyPr wrap="none" rtlCol="0">
            <a:spAutoFit/>
          </a:bodyPr>
          <a:lstStyle/>
          <a:p>
            <a:r>
              <a:rPr lang="en-US" dirty="0"/>
              <a:t>Each component is scaled by:</a:t>
            </a:r>
            <a:endParaRPr lang="en-IN" dirty="0"/>
          </a:p>
          <a:p>
            <a:endParaRPr lang="en-IN" dirty="0"/>
          </a:p>
        </p:txBody>
      </p:sp>
      <p:sp>
        <p:nvSpPr>
          <p:cNvPr id="6" name="Slide Number Placeholder 5">
            <a:extLst>
              <a:ext uri="{FF2B5EF4-FFF2-40B4-BE49-F238E27FC236}">
                <a16:creationId xmlns:a16="http://schemas.microsoft.com/office/drawing/2014/main" id="{6AB52B09-0628-9E72-7BAA-9CA89A69CE9F}"/>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16042532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52813-C3A9-9FF5-4212-AF33734A5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CD763-72C2-3EF8-E29A-C02461697CB4}"/>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16" name="Picture 15">
            <a:extLst>
              <a:ext uri="{FF2B5EF4-FFF2-40B4-BE49-F238E27FC236}">
                <a16:creationId xmlns:a16="http://schemas.microsoft.com/office/drawing/2014/main" id="{A530F402-B07D-402A-3934-9AC9B70D8055}"/>
              </a:ext>
            </a:extLst>
          </p:cNvPr>
          <p:cNvPicPr>
            <a:picLocks noChangeAspect="1"/>
          </p:cNvPicPr>
          <p:nvPr/>
        </p:nvPicPr>
        <p:blipFill>
          <a:blip r:embed="rId3"/>
          <a:stretch>
            <a:fillRect/>
          </a:stretch>
        </p:blipFill>
        <p:spPr>
          <a:xfrm>
            <a:off x="457200" y="1295400"/>
            <a:ext cx="3781778" cy="1281210"/>
          </a:xfrm>
          <a:prstGeom prst="rect">
            <a:avLst/>
          </a:prstGeom>
        </p:spPr>
      </p:pic>
      <p:pic>
        <p:nvPicPr>
          <p:cNvPr id="18" name="Picture 17">
            <a:extLst>
              <a:ext uri="{FF2B5EF4-FFF2-40B4-BE49-F238E27FC236}">
                <a16:creationId xmlns:a16="http://schemas.microsoft.com/office/drawing/2014/main" id="{1975A6AA-81EC-A9C7-4712-0CB8CB51478D}"/>
              </a:ext>
            </a:extLst>
          </p:cNvPr>
          <p:cNvPicPr>
            <a:picLocks noChangeAspect="1"/>
          </p:cNvPicPr>
          <p:nvPr/>
        </p:nvPicPr>
        <p:blipFill>
          <a:blip r:embed="rId4"/>
          <a:stretch>
            <a:fillRect/>
          </a:stretch>
        </p:blipFill>
        <p:spPr>
          <a:xfrm>
            <a:off x="5015087" y="1530265"/>
            <a:ext cx="1095528" cy="838317"/>
          </a:xfrm>
          <a:prstGeom prst="rect">
            <a:avLst/>
          </a:prstGeom>
        </p:spPr>
      </p:pic>
      <p:sp>
        <p:nvSpPr>
          <p:cNvPr id="19" name="TextBox 18">
            <a:extLst>
              <a:ext uri="{FF2B5EF4-FFF2-40B4-BE49-F238E27FC236}">
                <a16:creationId xmlns:a16="http://schemas.microsoft.com/office/drawing/2014/main" id="{96AF260C-CE00-31EA-E805-681354398EA3}"/>
              </a:ext>
            </a:extLst>
          </p:cNvPr>
          <p:cNvSpPr txBox="1"/>
          <p:nvPr/>
        </p:nvSpPr>
        <p:spPr>
          <a:xfrm>
            <a:off x="4495800" y="1143000"/>
            <a:ext cx="3643370" cy="646331"/>
          </a:xfrm>
          <a:prstGeom prst="rect">
            <a:avLst/>
          </a:prstGeom>
          <a:noFill/>
        </p:spPr>
        <p:txBody>
          <a:bodyPr wrap="none" rtlCol="0">
            <a:spAutoFit/>
          </a:bodyPr>
          <a:lstStyle/>
          <a:p>
            <a:r>
              <a:rPr lang="en-US" dirty="0"/>
              <a:t>Each component is scaled by:</a:t>
            </a:r>
            <a:endParaRPr lang="en-IN" dirty="0"/>
          </a:p>
          <a:p>
            <a:endParaRPr lang="en-IN" dirty="0"/>
          </a:p>
        </p:txBody>
      </p:sp>
      <p:pic>
        <p:nvPicPr>
          <p:cNvPr id="7" name="Picture 6">
            <a:extLst>
              <a:ext uri="{FF2B5EF4-FFF2-40B4-BE49-F238E27FC236}">
                <a16:creationId xmlns:a16="http://schemas.microsoft.com/office/drawing/2014/main" id="{D7FF0AA9-B2D9-2D3D-99AC-08B0E522D053}"/>
              </a:ext>
            </a:extLst>
          </p:cNvPr>
          <p:cNvPicPr>
            <a:picLocks noChangeAspect="1"/>
          </p:cNvPicPr>
          <p:nvPr/>
        </p:nvPicPr>
        <p:blipFill>
          <a:blip r:embed="rId5"/>
          <a:stretch>
            <a:fillRect/>
          </a:stretch>
        </p:blipFill>
        <p:spPr>
          <a:xfrm>
            <a:off x="609600" y="2667000"/>
            <a:ext cx="5334000" cy="1637336"/>
          </a:xfrm>
          <a:prstGeom prst="rect">
            <a:avLst/>
          </a:prstGeom>
        </p:spPr>
      </p:pic>
      <p:pic>
        <p:nvPicPr>
          <p:cNvPr id="11" name="Picture 10">
            <a:extLst>
              <a:ext uri="{FF2B5EF4-FFF2-40B4-BE49-F238E27FC236}">
                <a16:creationId xmlns:a16="http://schemas.microsoft.com/office/drawing/2014/main" id="{17DF50F8-D8DB-64DD-CECD-2D9840DFF8AE}"/>
              </a:ext>
            </a:extLst>
          </p:cNvPr>
          <p:cNvPicPr>
            <a:picLocks noChangeAspect="1"/>
          </p:cNvPicPr>
          <p:nvPr/>
        </p:nvPicPr>
        <p:blipFill>
          <a:blip r:embed="rId6"/>
          <a:stretch>
            <a:fillRect/>
          </a:stretch>
        </p:blipFill>
        <p:spPr>
          <a:xfrm>
            <a:off x="6629400" y="2672406"/>
            <a:ext cx="5344786" cy="1631930"/>
          </a:xfrm>
          <a:prstGeom prst="rect">
            <a:avLst/>
          </a:prstGeom>
        </p:spPr>
      </p:pic>
      <p:pic>
        <p:nvPicPr>
          <p:cNvPr id="14" name="Picture 13">
            <a:extLst>
              <a:ext uri="{FF2B5EF4-FFF2-40B4-BE49-F238E27FC236}">
                <a16:creationId xmlns:a16="http://schemas.microsoft.com/office/drawing/2014/main" id="{55176DC1-DC8F-D60A-55CB-B124101DB570}"/>
              </a:ext>
            </a:extLst>
          </p:cNvPr>
          <p:cNvPicPr>
            <a:picLocks noChangeAspect="1"/>
          </p:cNvPicPr>
          <p:nvPr/>
        </p:nvPicPr>
        <p:blipFill>
          <a:blip r:embed="rId7"/>
          <a:stretch>
            <a:fillRect/>
          </a:stretch>
        </p:blipFill>
        <p:spPr>
          <a:xfrm>
            <a:off x="3276600" y="4581492"/>
            <a:ext cx="5391902" cy="1152686"/>
          </a:xfrm>
          <a:prstGeom prst="rect">
            <a:avLst/>
          </a:prstGeom>
        </p:spPr>
      </p:pic>
      <p:sp>
        <p:nvSpPr>
          <p:cNvPr id="17" name="TextBox 16">
            <a:extLst>
              <a:ext uri="{FF2B5EF4-FFF2-40B4-BE49-F238E27FC236}">
                <a16:creationId xmlns:a16="http://schemas.microsoft.com/office/drawing/2014/main" id="{9C2A0095-DA2F-FF27-6148-5AC8FCABB1EE}"/>
              </a:ext>
            </a:extLst>
          </p:cNvPr>
          <p:cNvSpPr txBox="1"/>
          <p:nvPr/>
        </p:nvSpPr>
        <p:spPr>
          <a:xfrm>
            <a:off x="757725" y="5754470"/>
            <a:ext cx="10371750" cy="646331"/>
          </a:xfrm>
          <a:prstGeom prst="rect">
            <a:avLst/>
          </a:prstGeom>
          <a:noFill/>
        </p:spPr>
        <p:txBody>
          <a:bodyPr wrap="none" rtlCol="0">
            <a:spAutoFit/>
          </a:bodyPr>
          <a:lstStyle/>
          <a:p>
            <a:r>
              <a:rPr lang="en-US" dirty="0"/>
              <a:t>L2 regularization suppresses directions where the model is uncertain (flat regions) and </a:t>
            </a:r>
          </a:p>
          <a:p>
            <a:r>
              <a:rPr lang="en-US" dirty="0"/>
              <a:t>preserves directions where the data strongly supports the solution.</a:t>
            </a:r>
            <a:endParaRPr lang="en-IN" dirty="0"/>
          </a:p>
        </p:txBody>
      </p:sp>
      <p:sp>
        <p:nvSpPr>
          <p:cNvPr id="3" name="Slide Number Placeholder 2">
            <a:extLst>
              <a:ext uri="{FF2B5EF4-FFF2-40B4-BE49-F238E27FC236}">
                <a16:creationId xmlns:a16="http://schemas.microsoft.com/office/drawing/2014/main" id="{E50141FC-9CCD-040D-27CE-AF11C2FE06B7}"/>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28377828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6AFAA-3DF6-C729-88DC-31BCD104C9E1}"/>
              </a:ext>
            </a:extLst>
          </p:cNvPr>
          <p:cNvSpPr>
            <a:spLocks noGrp="1"/>
          </p:cNvSpPr>
          <p:nvPr>
            <p:ph type="title"/>
          </p:nvPr>
        </p:nvSpPr>
        <p:spPr/>
        <p:txBody>
          <a:bodyPr/>
          <a:lstStyle/>
          <a:p>
            <a:r>
              <a:rPr lang="en-IN" dirty="0"/>
              <a:t>L2 Parameter Regularization  (</a:t>
            </a:r>
            <a:r>
              <a:rPr lang="en-IN" dirty="0" err="1"/>
              <a:t>Contd</a:t>
            </a:r>
            <a:r>
              <a:rPr lang="en-IN" dirty="0"/>
              <a:t>…)</a:t>
            </a:r>
          </a:p>
        </p:txBody>
      </p:sp>
      <p:sp>
        <p:nvSpPr>
          <p:cNvPr id="3" name="Content Placeholder 2">
            <a:extLst>
              <a:ext uri="{FF2B5EF4-FFF2-40B4-BE49-F238E27FC236}">
                <a16:creationId xmlns:a16="http://schemas.microsoft.com/office/drawing/2014/main" id="{3161C79B-DAA0-8E1C-C337-936C9049D747}"/>
              </a:ext>
            </a:extLst>
          </p:cNvPr>
          <p:cNvSpPr>
            <a:spLocks noGrp="1"/>
          </p:cNvSpPr>
          <p:nvPr>
            <p:ph idx="1"/>
          </p:nvPr>
        </p:nvSpPr>
        <p:spPr/>
        <p:txBody>
          <a:bodyPr/>
          <a:lstStyle/>
          <a:p>
            <a:pPr marL="0" indent="0">
              <a:buNone/>
            </a:pPr>
            <a:r>
              <a:rPr lang="en-US" sz="2000" dirty="0"/>
              <a:t>An illustration of the effect ofL2 (or weight decay) regularization on the value of the optimal w. </a:t>
            </a:r>
            <a:endParaRPr lang="en-IN" sz="2000" dirty="0"/>
          </a:p>
        </p:txBody>
      </p:sp>
      <p:pic>
        <p:nvPicPr>
          <p:cNvPr id="6" name="Picture 5">
            <a:extLst>
              <a:ext uri="{FF2B5EF4-FFF2-40B4-BE49-F238E27FC236}">
                <a16:creationId xmlns:a16="http://schemas.microsoft.com/office/drawing/2014/main" id="{3F4BBA39-E06C-64D9-4262-372143D28ADE}"/>
              </a:ext>
            </a:extLst>
          </p:cNvPr>
          <p:cNvPicPr>
            <a:picLocks noChangeAspect="1"/>
          </p:cNvPicPr>
          <p:nvPr/>
        </p:nvPicPr>
        <p:blipFill>
          <a:blip r:embed="rId3"/>
          <a:stretch>
            <a:fillRect/>
          </a:stretch>
        </p:blipFill>
        <p:spPr>
          <a:xfrm>
            <a:off x="304800" y="2066006"/>
            <a:ext cx="4578349" cy="4016337"/>
          </a:xfrm>
          <a:prstGeom prst="rect">
            <a:avLst/>
          </a:prstGeom>
        </p:spPr>
      </p:pic>
      <p:pic>
        <p:nvPicPr>
          <p:cNvPr id="8" name="Picture 7">
            <a:extLst>
              <a:ext uri="{FF2B5EF4-FFF2-40B4-BE49-F238E27FC236}">
                <a16:creationId xmlns:a16="http://schemas.microsoft.com/office/drawing/2014/main" id="{ED2F03F8-99DE-79B4-CBB1-9B66F9FAF7FE}"/>
              </a:ext>
            </a:extLst>
          </p:cNvPr>
          <p:cNvPicPr>
            <a:picLocks noChangeAspect="1"/>
          </p:cNvPicPr>
          <p:nvPr/>
        </p:nvPicPr>
        <p:blipFill>
          <a:blip r:embed="rId4"/>
          <a:stretch>
            <a:fillRect/>
          </a:stretch>
        </p:blipFill>
        <p:spPr>
          <a:xfrm>
            <a:off x="5334000" y="1905000"/>
            <a:ext cx="3057952" cy="2667372"/>
          </a:xfrm>
          <a:prstGeom prst="rect">
            <a:avLst/>
          </a:prstGeom>
        </p:spPr>
      </p:pic>
      <p:pic>
        <p:nvPicPr>
          <p:cNvPr id="10" name="Picture 9">
            <a:extLst>
              <a:ext uri="{FF2B5EF4-FFF2-40B4-BE49-F238E27FC236}">
                <a16:creationId xmlns:a16="http://schemas.microsoft.com/office/drawing/2014/main" id="{B2F99F5D-0DE7-4520-FA5F-4F92372F81AA}"/>
              </a:ext>
            </a:extLst>
          </p:cNvPr>
          <p:cNvPicPr>
            <a:picLocks noChangeAspect="1"/>
          </p:cNvPicPr>
          <p:nvPr/>
        </p:nvPicPr>
        <p:blipFill>
          <a:blip r:embed="rId5"/>
          <a:stretch>
            <a:fillRect/>
          </a:stretch>
        </p:blipFill>
        <p:spPr>
          <a:xfrm>
            <a:off x="4928477" y="5030411"/>
            <a:ext cx="3324689" cy="562053"/>
          </a:xfrm>
          <a:prstGeom prst="rect">
            <a:avLst/>
          </a:prstGeom>
        </p:spPr>
      </p:pic>
      <p:sp>
        <p:nvSpPr>
          <p:cNvPr id="11" name="TextBox 10">
            <a:extLst>
              <a:ext uri="{FF2B5EF4-FFF2-40B4-BE49-F238E27FC236}">
                <a16:creationId xmlns:a16="http://schemas.microsoft.com/office/drawing/2014/main" id="{149E9202-56B7-1CAA-E1B3-4AA80EBC181A}"/>
              </a:ext>
            </a:extLst>
          </p:cNvPr>
          <p:cNvSpPr txBox="1"/>
          <p:nvPr/>
        </p:nvSpPr>
        <p:spPr>
          <a:xfrm>
            <a:off x="4934339" y="4661079"/>
            <a:ext cx="2443233" cy="369332"/>
          </a:xfrm>
          <a:prstGeom prst="rect">
            <a:avLst/>
          </a:prstGeom>
          <a:noFill/>
        </p:spPr>
        <p:txBody>
          <a:bodyPr wrap="none" rtlCol="0">
            <a:spAutoFit/>
          </a:bodyPr>
          <a:lstStyle/>
          <a:p>
            <a:r>
              <a:rPr lang="en-IN" dirty="0"/>
              <a:t>We are minimizing: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7C4E528-1653-0972-46D2-9387E170C730}"/>
                  </a:ext>
                </a:extLst>
              </p:cNvPr>
              <p:cNvSpPr txBox="1"/>
              <p:nvPr/>
            </p:nvSpPr>
            <p:spPr>
              <a:xfrm>
                <a:off x="8247074" y="4668096"/>
                <a:ext cx="3944926" cy="2123658"/>
              </a:xfrm>
              <a:prstGeom prst="rect">
                <a:avLst/>
              </a:prstGeom>
              <a:noFill/>
            </p:spPr>
            <p:txBody>
              <a:bodyPr wrap="none" rtlCol="0">
                <a:spAutoFit/>
              </a:bodyPr>
              <a:lstStyle/>
              <a:p>
                <a:r>
                  <a:rPr lang="en-IN" sz="1600" dirty="0"/>
                  <a:t>So:</a:t>
                </a:r>
              </a:p>
              <a:p>
                <a:r>
                  <a:rPr lang="en-IN" sz="1600" dirty="0"/>
                  <a:t>One force → pulls toward </a:t>
                </a:r>
                <a14:m>
                  <m:oMath xmlns:m="http://schemas.openxmlformats.org/officeDocument/2006/math">
                    <m:sSup>
                      <m:sSupPr>
                        <m:ctrlPr>
                          <a:rPr lang="ar-AE" sz="1600" i="1">
                            <a:latin typeface="Cambria Math" panose="02040503050406030204" pitchFamily="18" charset="0"/>
                          </a:rPr>
                        </m:ctrlPr>
                      </m:sSupPr>
                      <m:e>
                        <m:r>
                          <a:rPr lang="ar-AE" sz="1600" i="1">
                            <a:latin typeface="Cambria Math" panose="02040503050406030204" pitchFamily="18" charset="0"/>
                          </a:rPr>
                          <m:t>𝑤</m:t>
                        </m:r>
                      </m:e>
                      <m:sup>
                        <m:r>
                          <a:rPr lang="ar-AE" sz="1600">
                            <a:latin typeface="Cambria Math" panose="02040503050406030204" pitchFamily="18" charset="0"/>
                          </a:rPr>
                          <m:t>∗</m:t>
                        </m:r>
                      </m:sup>
                    </m:sSup>
                  </m:oMath>
                </a14:m>
                <a:endParaRPr lang="ar-AE" sz="1600" dirty="0"/>
              </a:p>
              <a:p>
                <a:r>
                  <a:rPr lang="en-IN" sz="1600" dirty="0"/>
                  <a:t>Another force → pulls toward </a:t>
                </a:r>
                <a:r>
                  <a:rPr lang="en-IN" sz="1600" b="1" dirty="0"/>
                  <a:t>origin</a:t>
                </a:r>
                <a:endParaRPr lang="en-IN" sz="1600" dirty="0"/>
              </a:p>
              <a:p>
                <a:r>
                  <a:rPr lang="en-IN" dirty="0"/>
                  <a:t>Final solution:</a:t>
                </a:r>
                <a14:m>
                  <m:oMath xmlns:m="http://schemas.openxmlformats.org/officeDocument/2006/math">
                    <m:r>
                      <a:rPr lang="en-IN">
                        <a:latin typeface="Cambria Math" panose="02040503050406030204" pitchFamily="18" charset="0"/>
                      </a:rPr>
                      <m:t> </m:t>
                    </m:r>
                    <m:acc>
                      <m:accPr>
                        <m:chr m:val="̃"/>
                        <m:ctrlPr>
                          <a:rPr lang="ar-AE" i="1">
                            <a:latin typeface="Cambria Math" panose="02040503050406030204" pitchFamily="18" charset="0"/>
                          </a:rPr>
                        </m:ctrlPr>
                      </m:accPr>
                      <m:e>
                        <m:r>
                          <a:rPr lang="ar-AE" i="1">
                            <a:latin typeface="Cambria Math" panose="02040503050406030204" pitchFamily="18" charset="0"/>
                          </a:rPr>
                          <m:t>𝑤</m:t>
                        </m:r>
                      </m:e>
                    </m:acc>
                  </m:oMath>
                </a14:m>
                <a:endParaRPr lang="ar-AE" dirty="0"/>
              </a:p>
              <a:p>
                <a:r>
                  <a:rPr lang="ar-AE" dirty="0"/>
                  <a:t>= </a:t>
                </a:r>
                <a:r>
                  <a:rPr lang="en-IN" b="1" dirty="0"/>
                  <a:t>compromise point</a:t>
                </a:r>
                <a:endParaRPr lang="en-IN" dirty="0"/>
              </a:p>
              <a:p>
                <a:endParaRPr lang="en-IN" sz="1600" dirty="0"/>
              </a:p>
              <a:p>
                <a:endParaRPr lang="en-IN" sz="1600" dirty="0"/>
              </a:p>
              <a:p>
                <a:endParaRPr lang="en-IN" sz="1600" dirty="0"/>
              </a:p>
            </p:txBody>
          </p:sp>
        </mc:Choice>
        <mc:Fallback xmlns="">
          <p:sp>
            <p:nvSpPr>
              <p:cNvPr id="12" name="TextBox 11">
                <a:extLst>
                  <a:ext uri="{FF2B5EF4-FFF2-40B4-BE49-F238E27FC236}">
                    <a16:creationId xmlns:a16="http://schemas.microsoft.com/office/drawing/2014/main" id="{67C4E528-1653-0972-46D2-9387E170C730}"/>
                  </a:ext>
                </a:extLst>
              </p:cNvPr>
              <p:cNvSpPr txBox="1">
                <a:spLocks noRot="1" noChangeAspect="1" noMove="1" noResize="1" noEditPoints="1" noAdjustHandles="1" noChangeArrowheads="1" noChangeShapeType="1" noTextEdit="1"/>
              </p:cNvSpPr>
              <p:nvPr/>
            </p:nvSpPr>
            <p:spPr>
              <a:xfrm>
                <a:off x="8247074" y="4668096"/>
                <a:ext cx="3944926" cy="2123658"/>
              </a:xfrm>
              <a:prstGeom prst="rect">
                <a:avLst/>
              </a:prstGeom>
              <a:blipFill>
                <a:blip r:embed="rId6"/>
                <a:stretch>
                  <a:fillRect l="-1546" t="-862"/>
                </a:stretch>
              </a:blipFill>
            </p:spPr>
            <p:txBody>
              <a:bodyPr/>
              <a:lstStyle/>
              <a:p>
                <a:r>
                  <a:rPr lang="en-IN">
                    <a:noFill/>
                  </a:rPr>
                  <a:t> </a:t>
                </a:r>
              </a:p>
            </p:txBody>
          </p:sp>
        </mc:Fallback>
      </mc:AlternateContent>
      <p:sp>
        <p:nvSpPr>
          <p:cNvPr id="5" name="Slide Number Placeholder 4">
            <a:extLst>
              <a:ext uri="{FF2B5EF4-FFF2-40B4-BE49-F238E27FC236}">
                <a16:creationId xmlns:a16="http://schemas.microsoft.com/office/drawing/2014/main" id="{CE79297F-7C71-A753-F4C8-C7E28CC99922}"/>
              </a:ext>
            </a:extLst>
          </p:cNvPr>
          <p:cNvSpPr>
            <a:spLocks noGrp="1"/>
          </p:cNvSpPr>
          <p:nvPr>
            <p:ph type="sldNum" sz="quarter" idx="12"/>
          </p:nvPr>
        </p:nvSpPr>
        <p:spPr/>
        <p:txBody>
          <a:bodyPr/>
          <a:lstStyle/>
          <a:p>
            <a:fld id="{BB2CE0DE-867F-455F-B20B-96D381B4AB71}" type="slidenum">
              <a:rPr lang="en-US" smtClean="0"/>
              <a:t>51</a:t>
            </a:fld>
            <a:endParaRPr lang="en-US"/>
          </a:p>
        </p:txBody>
      </p:sp>
    </p:spTree>
    <p:extLst>
      <p:ext uri="{BB962C8B-B14F-4D97-AF65-F5344CB8AC3E}">
        <p14:creationId xmlns:p14="http://schemas.microsoft.com/office/powerpoint/2010/main" val="517578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2B62-8C20-A145-29EF-7A2B29093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0300E-1E6A-8571-9EA5-0E05BF5EAB4A}"/>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F6AACC48-C0FB-E424-AE93-05708159CFC2}"/>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94941713-CB3F-65CC-D0FC-411FD45021E1}"/>
              </a:ext>
            </a:extLst>
          </p:cNvPr>
          <p:cNvPicPr>
            <a:picLocks noChangeAspect="1"/>
          </p:cNvPicPr>
          <p:nvPr/>
        </p:nvPicPr>
        <p:blipFill>
          <a:blip r:embed="rId2"/>
          <a:stretch>
            <a:fillRect/>
          </a:stretch>
        </p:blipFill>
        <p:spPr>
          <a:xfrm>
            <a:off x="515296" y="1189892"/>
            <a:ext cx="8222304" cy="5257800"/>
          </a:xfrm>
          <a:prstGeom prst="rect">
            <a:avLst/>
          </a:prstGeom>
        </p:spPr>
      </p:pic>
      <p:sp>
        <p:nvSpPr>
          <p:cNvPr id="5" name="Slide Number Placeholder 4">
            <a:extLst>
              <a:ext uri="{FF2B5EF4-FFF2-40B4-BE49-F238E27FC236}">
                <a16:creationId xmlns:a16="http://schemas.microsoft.com/office/drawing/2014/main" id="{2087718D-F436-ED01-7F12-D3435681300E}"/>
              </a:ext>
            </a:extLst>
          </p:cNvPr>
          <p:cNvSpPr>
            <a:spLocks noGrp="1"/>
          </p:cNvSpPr>
          <p:nvPr>
            <p:ph type="sldNum" sz="quarter" idx="12"/>
          </p:nvPr>
        </p:nvSpPr>
        <p:spPr/>
        <p:txBody>
          <a:bodyPr/>
          <a:lstStyle/>
          <a:p>
            <a:fld id="{BB2CE0DE-867F-455F-B20B-96D381B4AB71}" type="slidenum">
              <a:rPr lang="en-US" smtClean="0"/>
              <a:t>52</a:t>
            </a:fld>
            <a:endParaRPr lang="en-US"/>
          </a:p>
        </p:txBody>
      </p:sp>
    </p:spTree>
    <p:extLst>
      <p:ext uri="{BB962C8B-B14F-4D97-AF65-F5344CB8AC3E}">
        <p14:creationId xmlns:p14="http://schemas.microsoft.com/office/powerpoint/2010/main" val="33767460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9EF73-F507-4EDA-B1AE-0D0A0F4B7996}"/>
              </a:ext>
            </a:extLst>
          </p:cNvPr>
          <p:cNvSpPr>
            <a:spLocks noGrp="1"/>
          </p:cNvSpPr>
          <p:nvPr>
            <p:ph type="title"/>
          </p:nvPr>
        </p:nvSpPr>
        <p:spPr/>
        <p:txBody>
          <a:bodyPr/>
          <a:lstStyle/>
          <a:p>
            <a:r>
              <a:rPr lang="en-US" dirty="0"/>
              <a:t>L2 Regularization: For Linear Regression</a:t>
            </a:r>
            <a:endParaRPr lang="en-IN" dirty="0"/>
          </a:p>
        </p:txBody>
      </p:sp>
      <p:sp>
        <p:nvSpPr>
          <p:cNvPr id="3" name="Content Placeholder 2">
            <a:extLst>
              <a:ext uri="{FF2B5EF4-FFF2-40B4-BE49-F238E27FC236}">
                <a16:creationId xmlns:a16="http://schemas.microsoft.com/office/drawing/2014/main" id="{2074C636-C1E9-A786-67F7-83D9E71A44D3}"/>
              </a:ext>
            </a:extLst>
          </p:cNvPr>
          <p:cNvSpPr>
            <a:spLocks noGrp="1"/>
          </p:cNvSpPr>
          <p:nvPr>
            <p:ph idx="1"/>
          </p:nvPr>
        </p:nvSpPr>
        <p:spPr/>
        <p:txBody>
          <a:bodyPr/>
          <a:lstStyle/>
          <a:p>
            <a:pPr marL="0" indent="0">
              <a:buNone/>
            </a:pPr>
            <a:r>
              <a:rPr lang="en-US" sz="2000" dirty="0"/>
              <a:t>For linear regression, the cost function is the sum of squared errors:</a:t>
            </a:r>
          </a:p>
          <a:p>
            <a:pPr marL="0" indent="0">
              <a:buNone/>
            </a:pPr>
            <a:endParaRPr lang="en-US" sz="2000" dirty="0"/>
          </a:p>
          <a:p>
            <a:pPr marL="0" indent="0">
              <a:buNone/>
            </a:pPr>
            <a:endParaRPr lang="en-US" sz="2000" dirty="0"/>
          </a:p>
          <a:p>
            <a:pPr marL="0" indent="0">
              <a:buNone/>
            </a:pPr>
            <a:r>
              <a:rPr lang="en-US" sz="2000" dirty="0"/>
              <a:t>When we add L2 regularization, the objective function changes to</a:t>
            </a:r>
          </a:p>
          <a:p>
            <a:pPr marL="0" indent="0">
              <a:buNone/>
            </a:pPr>
            <a:endParaRPr lang="en-US" sz="2000" dirty="0"/>
          </a:p>
          <a:p>
            <a:pPr marL="0" indent="0">
              <a:buNone/>
            </a:pPr>
            <a:endParaRPr lang="en-US" sz="2000" dirty="0"/>
          </a:p>
          <a:p>
            <a:pPr marL="0" indent="0">
              <a:buNone/>
            </a:pPr>
            <a:r>
              <a:rPr lang="en-US" sz="2000" dirty="0"/>
              <a:t>This changes the normal equations for the solution from</a:t>
            </a:r>
            <a:endParaRPr lang="en-IN" sz="2000" dirty="0"/>
          </a:p>
        </p:txBody>
      </p:sp>
      <p:sp>
        <p:nvSpPr>
          <p:cNvPr id="4" name="Slide Number Placeholder 3">
            <a:extLst>
              <a:ext uri="{FF2B5EF4-FFF2-40B4-BE49-F238E27FC236}">
                <a16:creationId xmlns:a16="http://schemas.microsoft.com/office/drawing/2014/main" id="{A31F41F7-DCB2-0EED-00E3-8F400AE394FB}"/>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6" name="Picture 5">
            <a:extLst>
              <a:ext uri="{FF2B5EF4-FFF2-40B4-BE49-F238E27FC236}">
                <a16:creationId xmlns:a16="http://schemas.microsoft.com/office/drawing/2014/main" id="{DC2B9135-D800-233E-71E7-8DC655ADD956}"/>
              </a:ext>
            </a:extLst>
          </p:cNvPr>
          <p:cNvPicPr>
            <a:picLocks noChangeAspect="1"/>
          </p:cNvPicPr>
          <p:nvPr/>
        </p:nvPicPr>
        <p:blipFill>
          <a:blip r:embed="rId2"/>
          <a:stretch>
            <a:fillRect/>
          </a:stretch>
        </p:blipFill>
        <p:spPr>
          <a:xfrm>
            <a:off x="3809682" y="1752600"/>
            <a:ext cx="2510117" cy="533400"/>
          </a:xfrm>
          <a:prstGeom prst="rect">
            <a:avLst/>
          </a:prstGeom>
        </p:spPr>
      </p:pic>
      <p:pic>
        <p:nvPicPr>
          <p:cNvPr id="8" name="Picture 7">
            <a:extLst>
              <a:ext uri="{FF2B5EF4-FFF2-40B4-BE49-F238E27FC236}">
                <a16:creationId xmlns:a16="http://schemas.microsoft.com/office/drawing/2014/main" id="{CF4A85FE-2775-840F-BF70-0285E3D7F92C}"/>
              </a:ext>
            </a:extLst>
          </p:cNvPr>
          <p:cNvPicPr>
            <a:picLocks noChangeAspect="1"/>
          </p:cNvPicPr>
          <p:nvPr/>
        </p:nvPicPr>
        <p:blipFill>
          <a:blip r:embed="rId3"/>
          <a:stretch>
            <a:fillRect/>
          </a:stretch>
        </p:blipFill>
        <p:spPr>
          <a:xfrm>
            <a:off x="3352800" y="2841978"/>
            <a:ext cx="3229426" cy="514422"/>
          </a:xfrm>
          <a:prstGeom prst="rect">
            <a:avLst/>
          </a:prstGeom>
        </p:spPr>
      </p:pic>
      <p:pic>
        <p:nvPicPr>
          <p:cNvPr id="14" name="Picture 13">
            <a:extLst>
              <a:ext uri="{FF2B5EF4-FFF2-40B4-BE49-F238E27FC236}">
                <a16:creationId xmlns:a16="http://schemas.microsoft.com/office/drawing/2014/main" id="{BDD8F3A9-AD70-663F-7EE0-42EAE71BBD33}"/>
              </a:ext>
            </a:extLst>
          </p:cNvPr>
          <p:cNvPicPr>
            <a:picLocks noChangeAspect="1"/>
          </p:cNvPicPr>
          <p:nvPr/>
        </p:nvPicPr>
        <p:blipFill>
          <a:blip r:embed="rId4"/>
          <a:stretch>
            <a:fillRect/>
          </a:stretch>
        </p:blipFill>
        <p:spPr>
          <a:xfrm>
            <a:off x="1828800" y="3849452"/>
            <a:ext cx="6629400" cy="957860"/>
          </a:xfrm>
          <a:prstGeom prst="rect">
            <a:avLst/>
          </a:prstGeom>
        </p:spPr>
      </p:pic>
      <p:pic>
        <p:nvPicPr>
          <p:cNvPr id="16" name="Picture 15">
            <a:extLst>
              <a:ext uri="{FF2B5EF4-FFF2-40B4-BE49-F238E27FC236}">
                <a16:creationId xmlns:a16="http://schemas.microsoft.com/office/drawing/2014/main" id="{FB7AA013-8BA2-E215-1110-C87C905DC420}"/>
              </a:ext>
            </a:extLst>
          </p:cNvPr>
          <p:cNvPicPr>
            <a:picLocks noChangeAspect="1"/>
          </p:cNvPicPr>
          <p:nvPr/>
        </p:nvPicPr>
        <p:blipFill>
          <a:blip r:embed="rId5"/>
          <a:stretch>
            <a:fillRect/>
          </a:stretch>
        </p:blipFill>
        <p:spPr>
          <a:xfrm>
            <a:off x="533400" y="4906090"/>
            <a:ext cx="10301111" cy="1898288"/>
          </a:xfrm>
          <a:prstGeom prst="rect">
            <a:avLst/>
          </a:prstGeom>
        </p:spPr>
      </p:pic>
    </p:spTree>
    <p:extLst>
      <p:ext uri="{BB962C8B-B14F-4D97-AF65-F5344CB8AC3E}">
        <p14:creationId xmlns:p14="http://schemas.microsoft.com/office/powerpoint/2010/main" val="30011443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4452-19E7-E736-9352-9DDC70E5FBFA}"/>
              </a:ext>
            </a:extLst>
          </p:cNvPr>
          <p:cNvSpPr>
            <a:spLocks noGrp="1"/>
          </p:cNvSpPr>
          <p:nvPr>
            <p:ph type="title"/>
          </p:nvPr>
        </p:nvSpPr>
        <p:spPr/>
        <p:txBody>
          <a:bodyPr/>
          <a:lstStyle/>
          <a:p>
            <a:r>
              <a:rPr lang="en-IN" dirty="0"/>
              <a:t>Background: For L1 Regularization</a:t>
            </a:r>
          </a:p>
        </p:txBody>
      </p:sp>
      <p:sp>
        <p:nvSpPr>
          <p:cNvPr id="3" name="Content Placeholder 2">
            <a:extLst>
              <a:ext uri="{FF2B5EF4-FFF2-40B4-BE49-F238E27FC236}">
                <a16:creationId xmlns:a16="http://schemas.microsoft.com/office/drawing/2014/main" id="{25CABBA8-D843-A440-EC50-139EF016069A}"/>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811EFD3F-C23F-2DE1-D204-3BCFD3D6D7FF}"/>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12" name="Picture 11">
            <a:extLst>
              <a:ext uri="{FF2B5EF4-FFF2-40B4-BE49-F238E27FC236}">
                <a16:creationId xmlns:a16="http://schemas.microsoft.com/office/drawing/2014/main" id="{C1FDB4D3-2122-19DA-0696-094116FD27F0}"/>
              </a:ext>
            </a:extLst>
          </p:cNvPr>
          <p:cNvPicPr>
            <a:picLocks noChangeAspect="1"/>
          </p:cNvPicPr>
          <p:nvPr/>
        </p:nvPicPr>
        <p:blipFill>
          <a:blip r:embed="rId2"/>
          <a:stretch>
            <a:fillRect/>
          </a:stretch>
        </p:blipFill>
        <p:spPr>
          <a:xfrm>
            <a:off x="609600" y="1207910"/>
            <a:ext cx="8534400" cy="3512809"/>
          </a:xfrm>
          <a:prstGeom prst="rect">
            <a:avLst/>
          </a:prstGeom>
        </p:spPr>
      </p:pic>
      <p:pic>
        <p:nvPicPr>
          <p:cNvPr id="8" name="Picture 7">
            <a:extLst>
              <a:ext uri="{FF2B5EF4-FFF2-40B4-BE49-F238E27FC236}">
                <a16:creationId xmlns:a16="http://schemas.microsoft.com/office/drawing/2014/main" id="{7E1DBE7F-B396-2869-88E2-B7148CC4A24F}"/>
              </a:ext>
            </a:extLst>
          </p:cNvPr>
          <p:cNvPicPr>
            <a:picLocks noChangeAspect="1"/>
          </p:cNvPicPr>
          <p:nvPr/>
        </p:nvPicPr>
        <p:blipFill>
          <a:blip r:embed="rId3"/>
          <a:stretch>
            <a:fillRect/>
          </a:stretch>
        </p:blipFill>
        <p:spPr>
          <a:xfrm>
            <a:off x="5105400" y="4983185"/>
            <a:ext cx="3124200" cy="1121184"/>
          </a:xfrm>
          <a:prstGeom prst="rect">
            <a:avLst/>
          </a:prstGeom>
        </p:spPr>
      </p:pic>
    </p:spTree>
    <p:extLst>
      <p:ext uri="{BB962C8B-B14F-4D97-AF65-F5344CB8AC3E}">
        <p14:creationId xmlns:p14="http://schemas.microsoft.com/office/powerpoint/2010/main" val="29437809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20F88-304E-97DB-4DAD-91CF9C51B24A}"/>
              </a:ext>
            </a:extLst>
          </p:cNvPr>
          <p:cNvSpPr>
            <a:spLocks noGrp="1"/>
          </p:cNvSpPr>
          <p:nvPr>
            <p:ph type="title"/>
          </p:nvPr>
        </p:nvSpPr>
        <p:spPr/>
        <p:txBody>
          <a:bodyPr/>
          <a:lstStyle/>
          <a:p>
            <a:r>
              <a:rPr lang="en-IN" dirty="0"/>
              <a:t>L1 Regularization</a:t>
            </a:r>
          </a:p>
        </p:txBody>
      </p:sp>
      <p:sp>
        <p:nvSpPr>
          <p:cNvPr id="3" name="Content Placeholder 2">
            <a:extLst>
              <a:ext uri="{FF2B5EF4-FFF2-40B4-BE49-F238E27FC236}">
                <a16:creationId xmlns:a16="http://schemas.microsoft.com/office/drawing/2014/main" id="{7DE095B8-3993-BC82-98CA-0BA6935635DB}"/>
              </a:ext>
            </a:extLst>
          </p:cNvPr>
          <p:cNvSpPr>
            <a:spLocks noGrp="1"/>
          </p:cNvSpPr>
          <p:nvPr>
            <p:ph idx="1"/>
          </p:nvPr>
        </p:nvSpPr>
        <p:spPr/>
        <p:txBody>
          <a:bodyPr/>
          <a:lstStyle/>
          <a:p>
            <a:pPr marL="0" indent="0">
              <a:buNone/>
            </a:pPr>
            <a:r>
              <a:rPr lang="en-US" sz="2000" dirty="0"/>
              <a:t>Formally, L1 regularization on the model parameter w is defined as:</a:t>
            </a:r>
          </a:p>
          <a:p>
            <a:pPr marL="0" indent="0">
              <a:buNone/>
            </a:pPr>
            <a:endParaRPr lang="en-US" sz="2000" dirty="0"/>
          </a:p>
          <a:p>
            <a:pPr marL="0" indent="0">
              <a:buNone/>
            </a:pPr>
            <a:endParaRPr lang="en-US" sz="2000" dirty="0"/>
          </a:p>
          <a:p>
            <a:pPr marL="0" indent="0">
              <a:buNone/>
            </a:pPr>
            <a:endParaRPr lang="en-US" sz="2000" dirty="0"/>
          </a:p>
          <a:p>
            <a:pPr marL="0" indent="0">
              <a:buNone/>
            </a:pPr>
            <a:r>
              <a:rPr lang="en-US" sz="1800" dirty="0"/>
              <a:t>that is, as the sum of absolute values of the individual parameters.</a:t>
            </a:r>
          </a:p>
          <a:p>
            <a:pPr marL="0" indent="0">
              <a:buNone/>
            </a:pPr>
            <a:r>
              <a:rPr lang="en-US" sz="1800" dirty="0"/>
              <a:t>L1 weight decay controls the strength of the regularization by scaling the penalty Ω using a positive hyperparameter α.</a:t>
            </a:r>
            <a:endParaRPr lang="en-IN" sz="1800" dirty="0"/>
          </a:p>
          <a:p>
            <a:pPr marL="0" indent="0">
              <a:buNone/>
            </a:pPr>
            <a:r>
              <a:rPr lang="en-US" sz="1800" dirty="0"/>
              <a:t>Thus, the regularized objective function ˜ J(w; X, y) is given by</a:t>
            </a:r>
          </a:p>
          <a:p>
            <a:pPr marL="0" indent="0">
              <a:buNone/>
            </a:pPr>
            <a:endParaRPr lang="en-US" sz="1800" dirty="0"/>
          </a:p>
          <a:p>
            <a:pPr marL="0" indent="0">
              <a:buNone/>
            </a:pPr>
            <a:endParaRPr lang="en-US" sz="1800" dirty="0"/>
          </a:p>
          <a:p>
            <a:pPr marL="0" indent="0">
              <a:buNone/>
            </a:pPr>
            <a:endParaRPr lang="en-US" sz="1800" dirty="0"/>
          </a:p>
          <a:p>
            <a:pPr marL="0" indent="0">
              <a:buNone/>
            </a:pPr>
            <a:r>
              <a:rPr lang="en-IN" sz="1800" dirty="0"/>
              <a:t>with the corresponding gradient </a:t>
            </a:r>
          </a:p>
          <a:p>
            <a:pPr marL="0" indent="0">
              <a:buNone/>
            </a:pPr>
            <a:endParaRPr lang="en-IN" sz="1800" dirty="0"/>
          </a:p>
          <a:p>
            <a:pPr marL="0" indent="0">
              <a:buNone/>
            </a:pPr>
            <a:endParaRPr lang="en-IN" sz="1800" dirty="0"/>
          </a:p>
          <a:p>
            <a:pPr marL="0" indent="0">
              <a:buNone/>
            </a:pPr>
            <a:r>
              <a:rPr lang="en-US" sz="1800" dirty="0"/>
              <a:t>where sign(w) is simply the sign of w applied element-wise.</a:t>
            </a:r>
            <a:endParaRPr lang="en-IN" sz="1800" dirty="0"/>
          </a:p>
        </p:txBody>
      </p:sp>
      <p:sp>
        <p:nvSpPr>
          <p:cNvPr id="4" name="Slide Number Placeholder 3">
            <a:extLst>
              <a:ext uri="{FF2B5EF4-FFF2-40B4-BE49-F238E27FC236}">
                <a16:creationId xmlns:a16="http://schemas.microsoft.com/office/drawing/2014/main" id="{1AAC8339-F7E2-9D95-F205-4000278A6948}"/>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6" name="Picture 5">
            <a:extLst>
              <a:ext uri="{FF2B5EF4-FFF2-40B4-BE49-F238E27FC236}">
                <a16:creationId xmlns:a16="http://schemas.microsoft.com/office/drawing/2014/main" id="{08A1F616-F680-7A57-EDCE-C30B50D76AF4}"/>
              </a:ext>
            </a:extLst>
          </p:cNvPr>
          <p:cNvPicPr>
            <a:picLocks noChangeAspect="1"/>
          </p:cNvPicPr>
          <p:nvPr/>
        </p:nvPicPr>
        <p:blipFill>
          <a:blip r:embed="rId3"/>
          <a:stretch>
            <a:fillRect/>
          </a:stretch>
        </p:blipFill>
        <p:spPr>
          <a:xfrm>
            <a:off x="1752600" y="1676400"/>
            <a:ext cx="3327398" cy="838200"/>
          </a:xfrm>
          <a:prstGeom prst="rect">
            <a:avLst/>
          </a:prstGeom>
        </p:spPr>
      </p:pic>
      <p:pic>
        <p:nvPicPr>
          <p:cNvPr id="8" name="Picture 7">
            <a:extLst>
              <a:ext uri="{FF2B5EF4-FFF2-40B4-BE49-F238E27FC236}">
                <a16:creationId xmlns:a16="http://schemas.microsoft.com/office/drawing/2014/main" id="{89104729-63B9-7470-CB6E-FDAF27338351}"/>
              </a:ext>
            </a:extLst>
          </p:cNvPr>
          <p:cNvPicPr>
            <a:picLocks noChangeAspect="1"/>
          </p:cNvPicPr>
          <p:nvPr/>
        </p:nvPicPr>
        <p:blipFill>
          <a:blip r:embed="rId4"/>
          <a:stretch>
            <a:fillRect/>
          </a:stretch>
        </p:blipFill>
        <p:spPr>
          <a:xfrm>
            <a:off x="2362200" y="4124295"/>
            <a:ext cx="3458058" cy="438211"/>
          </a:xfrm>
          <a:prstGeom prst="rect">
            <a:avLst/>
          </a:prstGeom>
        </p:spPr>
      </p:pic>
      <p:pic>
        <p:nvPicPr>
          <p:cNvPr id="10" name="Picture 9">
            <a:extLst>
              <a:ext uri="{FF2B5EF4-FFF2-40B4-BE49-F238E27FC236}">
                <a16:creationId xmlns:a16="http://schemas.microsoft.com/office/drawing/2014/main" id="{E324792D-3E39-A812-4BC0-C8974F1B867C}"/>
              </a:ext>
            </a:extLst>
          </p:cNvPr>
          <p:cNvPicPr>
            <a:picLocks noChangeAspect="1"/>
          </p:cNvPicPr>
          <p:nvPr/>
        </p:nvPicPr>
        <p:blipFill>
          <a:blip r:embed="rId5"/>
          <a:stretch>
            <a:fillRect/>
          </a:stretch>
        </p:blipFill>
        <p:spPr>
          <a:xfrm>
            <a:off x="1339559" y="5419695"/>
            <a:ext cx="4153480" cy="409632"/>
          </a:xfrm>
          <a:prstGeom prst="rect">
            <a:avLst/>
          </a:prstGeom>
        </p:spPr>
      </p:pic>
    </p:spTree>
    <p:extLst>
      <p:ext uri="{BB962C8B-B14F-4D97-AF65-F5344CB8AC3E}">
        <p14:creationId xmlns:p14="http://schemas.microsoft.com/office/powerpoint/2010/main" val="9289670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1234E-E689-AB9B-A908-34AAD4B03864}"/>
              </a:ext>
            </a:extLst>
          </p:cNvPr>
          <p:cNvSpPr>
            <a:spLocks noGrp="1"/>
          </p:cNvSpPr>
          <p:nvPr>
            <p:ph type="title"/>
          </p:nvPr>
        </p:nvSpPr>
        <p:spPr/>
        <p:txBody>
          <a:bodyPr/>
          <a:lstStyle/>
          <a:p>
            <a:r>
              <a:rPr lang="en-IN" dirty="0"/>
              <a:t>Simple Numerical Example</a:t>
            </a:r>
          </a:p>
        </p:txBody>
      </p:sp>
      <p:sp>
        <p:nvSpPr>
          <p:cNvPr id="3" name="Content Placeholder 2">
            <a:extLst>
              <a:ext uri="{FF2B5EF4-FFF2-40B4-BE49-F238E27FC236}">
                <a16:creationId xmlns:a16="http://schemas.microsoft.com/office/drawing/2014/main" id="{3C72F8E0-415C-4A53-3E35-567397DED6F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958D8A14-069A-CE97-12E7-3E1BD180590E}"/>
              </a:ext>
            </a:extLst>
          </p:cNvPr>
          <p:cNvSpPr>
            <a:spLocks noGrp="1"/>
          </p:cNvSpPr>
          <p:nvPr>
            <p:ph type="sldNum" sz="quarter" idx="12"/>
          </p:nvPr>
        </p:nvSpPr>
        <p:spPr/>
        <p:txBody>
          <a:bodyPr/>
          <a:lstStyle/>
          <a:p>
            <a:fld id="{BB2CE0DE-867F-455F-B20B-96D381B4AB71}" type="slidenum">
              <a:rPr lang="en-US" smtClean="0"/>
              <a:t>56</a:t>
            </a:fld>
            <a:endParaRPr lang="en-US"/>
          </a:p>
        </p:txBody>
      </p:sp>
      <p:pic>
        <p:nvPicPr>
          <p:cNvPr id="6" name="Picture 5">
            <a:extLst>
              <a:ext uri="{FF2B5EF4-FFF2-40B4-BE49-F238E27FC236}">
                <a16:creationId xmlns:a16="http://schemas.microsoft.com/office/drawing/2014/main" id="{415CC7E4-7DEC-A66F-4FED-4D3ED5223D42}"/>
              </a:ext>
            </a:extLst>
          </p:cNvPr>
          <p:cNvPicPr>
            <a:picLocks noChangeAspect="1"/>
          </p:cNvPicPr>
          <p:nvPr/>
        </p:nvPicPr>
        <p:blipFill>
          <a:blip r:embed="rId2"/>
          <a:stretch>
            <a:fillRect/>
          </a:stretch>
        </p:blipFill>
        <p:spPr>
          <a:xfrm>
            <a:off x="769055" y="1219200"/>
            <a:ext cx="6973273" cy="3629532"/>
          </a:xfrm>
          <a:prstGeom prst="rect">
            <a:avLst/>
          </a:prstGeom>
        </p:spPr>
      </p:pic>
    </p:spTree>
    <p:extLst>
      <p:ext uri="{BB962C8B-B14F-4D97-AF65-F5344CB8AC3E}">
        <p14:creationId xmlns:p14="http://schemas.microsoft.com/office/powerpoint/2010/main" val="19549507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770F0-80E1-D001-AD09-89036B6D4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0A2D5-21DC-6173-F994-457D15AF9B05}"/>
              </a:ext>
            </a:extLst>
          </p:cNvPr>
          <p:cNvSpPr>
            <a:spLocks noGrp="1"/>
          </p:cNvSpPr>
          <p:nvPr>
            <p:ph type="title"/>
          </p:nvPr>
        </p:nvSpPr>
        <p:spPr/>
        <p:txBody>
          <a:bodyPr/>
          <a:lstStyle/>
          <a:p>
            <a:r>
              <a:rPr lang="en-IN" dirty="0"/>
              <a:t>Difference between L1 and l2 Regularization</a:t>
            </a:r>
          </a:p>
        </p:txBody>
      </p:sp>
      <p:pic>
        <p:nvPicPr>
          <p:cNvPr id="5" name="Picture 4">
            <a:extLst>
              <a:ext uri="{FF2B5EF4-FFF2-40B4-BE49-F238E27FC236}">
                <a16:creationId xmlns:a16="http://schemas.microsoft.com/office/drawing/2014/main" id="{761D80F0-9C40-A669-56A6-459FF72918BB}"/>
              </a:ext>
            </a:extLst>
          </p:cNvPr>
          <p:cNvPicPr>
            <a:picLocks noChangeAspect="1"/>
          </p:cNvPicPr>
          <p:nvPr/>
        </p:nvPicPr>
        <p:blipFill>
          <a:blip r:embed="rId3"/>
          <a:stretch>
            <a:fillRect/>
          </a:stretch>
        </p:blipFill>
        <p:spPr>
          <a:xfrm>
            <a:off x="1031524" y="1573489"/>
            <a:ext cx="3790950" cy="1034953"/>
          </a:xfrm>
          <a:prstGeom prst="rect">
            <a:avLst/>
          </a:prstGeom>
        </p:spPr>
      </p:pic>
      <p:sp>
        <p:nvSpPr>
          <p:cNvPr id="6" name="TextBox 5">
            <a:extLst>
              <a:ext uri="{FF2B5EF4-FFF2-40B4-BE49-F238E27FC236}">
                <a16:creationId xmlns:a16="http://schemas.microsoft.com/office/drawing/2014/main" id="{DDB129CB-6194-DCEB-FCA5-F0024EB5229B}"/>
              </a:ext>
            </a:extLst>
          </p:cNvPr>
          <p:cNvSpPr txBox="1"/>
          <p:nvPr/>
        </p:nvSpPr>
        <p:spPr>
          <a:xfrm>
            <a:off x="1113022" y="2705578"/>
            <a:ext cx="3881960" cy="369332"/>
          </a:xfrm>
          <a:prstGeom prst="rect">
            <a:avLst/>
          </a:prstGeom>
          <a:noFill/>
        </p:spPr>
        <p:txBody>
          <a:bodyPr wrap="none" rtlCol="0">
            <a:spAutoFit/>
          </a:bodyPr>
          <a:lstStyle/>
          <a:p>
            <a:r>
              <a:rPr lang="en-US" dirty="0"/>
              <a:t>L1 Regularization added to Loss</a:t>
            </a:r>
            <a:endParaRPr lang="en-IN" dirty="0"/>
          </a:p>
        </p:txBody>
      </p:sp>
      <p:pic>
        <p:nvPicPr>
          <p:cNvPr id="7" name="Picture 6">
            <a:extLst>
              <a:ext uri="{FF2B5EF4-FFF2-40B4-BE49-F238E27FC236}">
                <a16:creationId xmlns:a16="http://schemas.microsoft.com/office/drawing/2014/main" id="{6814CCE1-B8AB-6D95-F464-61C9AB5266FC}"/>
              </a:ext>
            </a:extLst>
          </p:cNvPr>
          <p:cNvPicPr>
            <a:picLocks noChangeAspect="1"/>
          </p:cNvPicPr>
          <p:nvPr/>
        </p:nvPicPr>
        <p:blipFill>
          <a:blip r:embed="rId4"/>
          <a:stretch>
            <a:fillRect/>
          </a:stretch>
        </p:blipFill>
        <p:spPr>
          <a:xfrm>
            <a:off x="5715000" y="1447800"/>
            <a:ext cx="3790950" cy="1064336"/>
          </a:xfrm>
          <a:prstGeom prst="rect">
            <a:avLst/>
          </a:prstGeom>
        </p:spPr>
      </p:pic>
      <p:sp>
        <p:nvSpPr>
          <p:cNvPr id="8" name="TextBox 7">
            <a:extLst>
              <a:ext uri="{FF2B5EF4-FFF2-40B4-BE49-F238E27FC236}">
                <a16:creationId xmlns:a16="http://schemas.microsoft.com/office/drawing/2014/main" id="{05A4137C-0C07-8790-757E-56FE03A23A11}"/>
              </a:ext>
            </a:extLst>
          </p:cNvPr>
          <p:cNvSpPr txBox="1"/>
          <p:nvPr/>
        </p:nvSpPr>
        <p:spPr>
          <a:xfrm>
            <a:off x="5867400" y="2618508"/>
            <a:ext cx="3881960" cy="369332"/>
          </a:xfrm>
          <a:prstGeom prst="rect">
            <a:avLst/>
          </a:prstGeom>
          <a:noFill/>
        </p:spPr>
        <p:txBody>
          <a:bodyPr wrap="none" rtlCol="0">
            <a:spAutoFit/>
          </a:bodyPr>
          <a:lstStyle/>
          <a:p>
            <a:r>
              <a:rPr lang="en-US" dirty="0"/>
              <a:t>L2 Regularization added to Loss</a:t>
            </a:r>
            <a:endParaRPr lang="en-IN" dirty="0"/>
          </a:p>
        </p:txBody>
      </p:sp>
      <p:sp>
        <p:nvSpPr>
          <p:cNvPr id="3" name="Slide Number Placeholder 2">
            <a:extLst>
              <a:ext uri="{FF2B5EF4-FFF2-40B4-BE49-F238E27FC236}">
                <a16:creationId xmlns:a16="http://schemas.microsoft.com/office/drawing/2014/main" id="{8C90789E-5FA5-996D-FC4D-3F03BF6EAA82}"/>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1422471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28673-B8B8-E8B5-C72E-A767F4F3550A}"/>
              </a:ext>
            </a:extLst>
          </p:cNvPr>
          <p:cNvSpPr>
            <a:spLocks noGrp="1"/>
          </p:cNvSpPr>
          <p:nvPr>
            <p:ph type="title"/>
          </p:nvPr>
        </p:nvSpPr>
        <p:spPr/>
        <p:txBody>
          <a:bodyPr/>
          <a:lstStyle/>
          <a:p>
            <a:r>
              <a:rPr lang="en-IN" dirty="0"/>
              <a:t>Difference between L1 and l2 Regularization</a:t>
            </a:r>
          </a:p>
        </p:txBody>
      </p:sp>
      <p:sp>
        <p:nvSpPr>
          <p:cNvPr id="3" name="Content Placeholder 2">
            <a:extLst>
              <a:ext uri="{FF2B5EF4-FFF2-40B4-BE49-F238E27FC236}">
                <a16:creationId xmlns:a16="http://schemas.microsoft.com/office/drawing/2014/main" id="{0C1A84CC-009F-2706-E826-6E5E2126E871}"/>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3777A988-11A0-7FCD-1739-30432EF15E78}"/>
              </a:ext>
            </a:extLst>
          </p:cNvPr>
          <p:cNvPicPr>
            <a:picLocks noChangeAspect="1"/>
          </p:cNvPicPr>
          <p:nvPr/>
        </p:nvPicPr>
        <p:blipFill>
          <a:blip r:embed="rId3"/>
          <a:stretch>
            <a:fillRect/>
          </a:stretch>
        </p:blipFill>
        <p:spPr>
          <a:xfrm>
            <a:off x="766233" y="1188156"/>
            <a:ext cx="9753601" cy="4073409"/>
          </a:xfrm>
          <a:prstGeom prst="rect">
            <a:avLst/>
          </a:prstGeom>
        </p:spPr>
      </p:pic>
      <p:sp>
        <p:nvSpPr>
          <p:cNvPr id="5" name="Slide Number Placeholder 4">
            <a:extLst>
              <a:ext uri="{FF2B5EF4-FFF2-40B4-BE49-F238E27FC236}">
                <a16:creationId xmlns:a16="http://schemas.microsoft.com/office/drawing/2014/main" id="{80ADDF32-9336-937E-AAE4-685A75E7D8CD}"/>
              </a:ext>
            </a:extLst>
          </p:cNvPr>
          <p:cNvSpPr>
            <a:spLocks noGrp="1"/>
          </p:cNvSpPr>
          <p:nvPr>
            <p:ph type="sldNum" sz="quarter" idx="12"/>
          </p:nvPr>
        </p:nvSpPr>
        <p:spPr/>
        <p:txBody>
          <a:bodyPr/>
          <a:lstStyle/>
          <a:p>
            <a:fld id="{BB2CE0DE-867F-455F-B20B-96D381B4AB71}" type="slidenum">
              <a:rPr lang="en-US" smtClean="0"/>
              <a:t>58</a:t>
            </a:fld>
            <a:endParaRPr lang="en-US"/>
          </a:p>
        </p:txBody>
      </p:sp>
      <p:sp>
        <p:nvSpPr>
          <p:cNvPr id="4" name="TextBox 3">
            <a:extLst>
              <a:ext uri="{FF2B5EF4-FFF2-40B4-BE49-F238E27FC236}">
                <a16:creationId xmlns:a16="http://schemas.microsoft.com/office/drawing/2014/main" id="{00299044-06C2-169F-6CEF-8B606CA7C083}"/>
              </a:ext>
            </a:extLst>
          </p:cNvPr>
          <p:cNvSpPr txBox="1"/>
          <p:nvPr/>
        </p:nvSpPr>
        <p:spPr>
          <a:xfrm>
            <a:off x="788811" y="5447833"/>
            <a:ext cx="10317312" cy="646331"/>
          </a:xfrm>
          <a:prstGeom prst="rect">
            <a:avLst/>
          </a:prstGeom>
          <a:noFill/>
        </p:spPr>
        <p:txBody>
          <a:bodyPr wrap="none" rtlCol="0">
            <a:spAutoFit/>
          </a:bodyPr>
          <a:lstStyle/>
          <a:p>
            <a:r>
              <a:rPr lang="en-US" dirty="0"/>
              <a:t>L2 regularization shrinks weights continuously, </a:t>
            </a:r>
          </a:p>
          <a:p>
            <a:r>
              <a:rPr lang="en-US" dirty="0"/>
              <a:t>while L1 regularization pushes small weights exactly to zero, producing sparse models.</a:t>
            </a:r>
            <a:endParaRPr lang="en-IN" dirty="0"/>
          </a:p>
        </p:txBody>
      </p:sp>
    </p:spTree>
    <p:extLst>
      <p:ext uri="{BB962C8B-B14F-4D97-AF65-F5344CB8AC3E}">
        <p14:creationId xmlns:p14="http://schemas.microsoft.com/office/powerpoint/2010/main" val="27764707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1E12-624B-A163-D63F-FC5EDAED56C7}"/>
              </a:ext>
            </a:extLst>
          </p:cNvPr>
          <p:cNvSpPr>
            <a:spLocks noGrp="1"/>
          </p:cNvSpPr>
          <p:nvPr>
            <p:ph type="title"/>
          </p:nvPr>
        </p:nvSpPr>
        <p:spPr/>
        <p:txBody>
          <a:bodyPr/>
          <a:lstStyle/>
          <a:p>
            <a:r>
              <a:rPr lang="en-IN" dirty="0"/>
              <a:t>Difference between L1 and l2 Regularization</a:t>
            </a:r>
          </a:p>
        </p:txBody>
      </p:sp>
      <p:sp>
        <p:nvSpPr>
          <p:cNvPr id="3" name="Content Placeholder 2">
            <a:extLst>
              <a:ext uri="{FF2B5EF4-FFF2-40B4-BE49-F238E27FC236}">
                <a16:creationId xmlns:a16="http://schemas.microsoft.com/office/drawing/2014/main" id="{2BC2290C-3F08-1A04-E5C2-C8ACC281AF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E37B5E7-D702-6BCD-FD23-8860216620F0}"/>
              </a:ext>
            </a:extLst>
          </p:cNvPr>
          <p:cNvPicPr>
            <a:picLocks noChangeAspect="1"/>
          </p:cNvPicPr>
          <p:nvPr/>
        </p:nvPicPr>
        <p:blipFill>
          <a:blip r:embed="rId3"/>
          <a:stretch>
            <a:fillRect/>
          </a:stretch>
        </p:blipFill>
        <p:spPr>
          <a:xfrm>
            <a:off x="766232" y="1210733"/>
            <a:ext cx="10511367" cy="3548875"/>
          </a:xfrm>
          <a:prstGeom prst="rect">
            <a:avLst/>
          </a:prstGeom>
        </p:spPr>
      </p:pic>
      <p:sp>
        <p:nvSpPr>
          <p:cNvPr id="6" name="Slide Number Placeholder 5">
            <a:extLst>
              <a:ext uri="{FF2B5EF4-FFF2-40B4-BE49-F238E27FC236}">
                <a16:creationId xmlns:a16="http://schemas.microsoft.com/office/drawing/2014/main" id="{958EF84A-EC0D-A661-2BCC-E98BBFB7BD0C}"/>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3000447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C3B92-F693-C4F6-649E-2FB9FF3AEE44}"/>
              </a:ext>
            </a:extLst>
          </p:cNvPr>
          <p:cNvSpPr>
            <a:spLocks noGrp="1"/>
          </p:cNvSpPr>
          <p:nvPr>
            <p:ph type="title"/>
          </p:nvPr>
        </p:nvSpPr>
        <p:spPr/>
        <p:txBody>
          <a:bodyPr/>
          <a:lstStyle/>
          <a:p>
            <a:r>
              <a:rPr lang="en-US" sz="2000" dirty="0">
                <a:solidFill>
                  <a:srgbClr val="262626"/>
                </a:solidFill>
                <a:latin typeface="Inter"/>
              </a:rPr>
              <a:t>Questions on the topics: Introduction, Parameter Norm Penalties - L2 Parameter Regularization</a:t>
            </a:r>
            <a:endParaRPr lang="en-IN" sz="2000" dirty="0"/>
          </a:p>
        </p:txBody>
      </p:sp>
      <p:sp>
        <p:nvSpPr>
          <p:cNvPr id="3" name="Content Placeholder 2">
            <a:extLst>
              <a:ext uri="{FF2B5EF4-FFF2-40B4-BE49-F238E27FC236}">
                <a16:creationId xmlns:a16="http://schemas.microsoft.com/office/drawing/2014/main" id="{092CC271-F92A-8F8A-FFCA-1BF00E6B82F0}"/>
              </a:ext>
            </a:extLst>
          </p:cNvPr>
          <p:cNvSpPr>
            <a:spLocks noGrp="1"/>
          </p:cNvSpPr>
          <p:nvPr>
            <p:ph idx="1"/>
          </p:nvPr>
        </p:nvSpPr>
        <p:spPr/>
        <p:txBody>
          <a:bodyPr/>
          <a:lstStyle/>
          <a:p>
            <a:r>
              <a:rPr lang="en-US" sz="1400" dirty="0" err="1"/>
              <a:t>Analyse</a:t>
            </a:r>
            <a:r>
              <a:rPr lang="en-US" sz="1400" dirty="0"/>
              <a:t> the importance of regularization techniques that encourage sparsity and discuss the impact of the strategy on model parameters.</a:t>
            </a:r>
          </a:p>
          <a:p>
            <a:r>
              <a:rPr lang="en-US" sz="1400" dirty="0"/>
              <a:t>Which regularization method leads to weight sparsity? Explain why</a:t>
            </a:r>
          </a:p>
          <a:p>
            <a:r>
              <a:rPr lang="en-US" sz="1400" dirty="0"/>
              <a:t>Explain how parameter norm penalties act as a regularization technique. Derive the mathematical expression for L2 parameter regularization and its incorporation into the loss function.</a:t>
            </a:r>
          </a:p>
          <a:p>
            <a:r>
              <a:rPr lang="en-US" sz="1400" dirty="0"/>
              <a:t>How does the weight decay regularization technique, as described in L2 regularization, modify the gradient descent update rule, and what is the effect of this modification on the weight vector over the course of training?</a:t>
            </a:r>
          </a:p>
          <a:p>
            <a:r>
              <a:rPr lang="en-US" sz="1400" dirty="0"/>
              <a:t>How does penalizing the activations of units in a neural network lead to sparsity, and how is this different from the sparsity caused by L1 regularization on model parameters?</a:t>
            </a:r>
          </a:p>
        </p:txBody>
      </p:sp>
      <p:sp>
        <p:nvSpPr>
          <p:cNvPr id="5" name="Slide Number Placeholder 4">
            <a:extLst>
              <a:ext uri="{FF2B5EF4-FFF2-40B4-BE49-F238E27FC236}">
                <a16:creationId xmlns:a16="http://schemas.microsoft.com/office/drawing/2014/main" id="{0C1DDCF8-ADE9-C027-2953-96E7E6DC76CA}"/>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25317320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558EE-777C-3A98-245B-76A44437266D}"/>
              </a:ext>
            </a:extLst>
          </p:cNvPr>
          <p:cNvSpPr>
            <a:spLocks noGrp="1"/>
          </p:cNvSpPr>
          <p:nvPr>
            <p:ph type="title"/>
          </p:nvPr>
        </p:nvSpPr>
        <p:spPr/>
        <p:txBody>
          <a:bodyPr/>
          <a:lstStyle/>
          <a:p>
            <a:r>
              <a:rPr lang="en-US" dirty="0"/>
              <a:t>Data Augmentation </a:t>
            </a:r>
            <a:endParaRPr lang="en-IN" dirty="0"/>
          </a:p>
        </p:txBody>
      </p:sp>
      <p:sp>
        <p:nvSpPr>
          <p:cNvPr id="3" name="Content Placeholder 2">
            <a:extLst>
              <a:ext uri="{FF2B5EF4-FFF2-40B4-BE49-F238E27FC236}">
                <a16:creationId xmlns:a16="http://schemas.microsoft.com/office/drawing/2014/main" id="{A8FCE995-DA6A-8D1B-4039-A82FFADE40BE}"/>
              </a:ext>
            </a:extLst>
          </p:cNvPr>
          <p:cNvSpPr>
            <a:spLocks noGrp="1"/>
          </p:cNvSpPr>
          <p:nvPr>
            <p:ph idx="1"/>
          </p:nvPr>
        </p:nvSpPr>
        <p:spPr/>
        <p:txBody>
          <a:bodyPr/>
          <a:lstStyle/>
          <a:p>
            <a:pPr marL="0" indent="0" algn="just">
              <a:buNone/>
            </a:pPr>
            <a:r>
              <a:rPr lang="en-US" sz="1600" dirty="0"/>
              <a:t>The simplest way to eliminate overfitting is data augmentation. Data augmentation is the process of reproducing new training instances from existing ones. </a:t>
            </a:r>
          </a:p>
          <a:p>
            <a:pPr marL="0" indent="0" algn="just">
              <a:buNone/>
            </a:pPr>
            <a:r>
              <a:rPr lang="en-IN" sz="1600" dirty="0"/>
              <a:t>Dataset augmentation has been a particularly effective technique for a specific classification problem: object recognition. </a:t>
            </a:r>
            <a:r>
              <a:rPr lang="en-US" sz="1600" dirty="0"/>
              <a:t>Dataset augmentation is effective for speech recognition tasks as well.</a:t>
            </a:r>
          </a:p>
          <a:p>
            <a:pPr marL="0" indent="0" algn="just">
              <a:buNone/>
            </a:pPr>
            <a:endParaRPr lang="en-US" sz="1600" dirty="0"/>
          </a:p>
          <a:p>
            <a:pPr marL="0" indent="0" algn="just">
              <a:buNone/>
            </a:pPr>
            <a:r>
              <a:rPr lang="en-US" sz="1600" dirty="0"/>
              <a:t>Image augmentation is a type of data augmentation technique in which we apply certain transformations to our images to produce multiple copies of the original image that are totally different in terms of size and colors from the original image.</a:t>
            </a:r>
          </a:p>
          <a:p>
            <a:pPr marL="0" indent="0" algn="just">
              <a:buNone/>
            </a:pPr>
            <a:endParaRPr lang="en-US" sz="1600" dirty="0"/>
          </a:p>
          <a:p>
            <a:pPr marL="0" indent="0" algn="just">
              <a:buNone/>
            </a:pPr>
            <a:r>
              <a:rPr lang="en-US" sz="1600" dirty="0"/>
              <a:t>Position and Color are the two most common transformation techniques that are used to reproduce data. Position augmentation changes the pixel position of an image. Some famous techniques to do so are — scaling, cropping, flipping, padding, rotation, and translation at different positional values.</a:t>
            </a:r>
          </a:p>
          <a:p>
            <a:pPr marL="0" indent="0" algn="just">
              <a:buNone/>
            </a:pPr>
            <a:endParaRPr lang="en-US" sz="1600" dirty="0"/>
          </a:p>
          <a:p>
            <a:pPr marL="0" indent="0" algn="just">
              <a:buNone/>
            </a:pPr>
            <a:r>
              <a:rPr lang="en-US" sz="1600" dirty="0"/>
              <a:t>Color Augmentation deals with altering the color properties of an image by changing its pixel values. Some of the most common techniques of it are changing brightness, contrast, saturation, hue, grayscale, dilation, etc.</a:t>
            </a:r>
            <a:endParaRPr lang="en-IN" sz="1600" dirty="0"/>
          </a:p>
        </p:txBody>
      </p:sp>
      <p:sp>
        <p:nvSpPr>
          <p:cNvPr id="4" name="Date Placeholder 3">
            <a:extLst>
              <a:ext uri="{FF2B5EF4-FFF2-40B4-BE49-F238E27FC236}">
                <a16:creationId xmlns:a16="http://schemas.microsoft.com/office/drawing/2014/main" id="{F44B0772-51E3-C067-6BFF-BC059494B1F0}"/>
              </a:ext>
            </a:extLst>
          </p:cNvPr>
          <p:cNvSpPr>
            <a:spLocks noGrp="1"/>
          </p:cNvSpPr>
          <p:nvPr>
            <p:ph type="dt" sz="half" idx="10"/>
          </p:nvPr>
        </p:nvSpPr>
        <p:spPr/>
        <p:txBody>
          <a:bodyPr/>
          <a:lstStyle/>
          <a:p>
            <a:fld id="{59A993AC-6FC6-4FD7-BA84-6FD82A41DCAC}" type="datetime3">
              <a:rPr lang="en-US" smtClean="0"/>
              <a:t>24 March 2026</a:t>
            </a:fld>
            <a:endParaRPr lang="en-US"/>
          </a:p>
        </p:txBody>
      </p:sp>
      <p:sp>
        <p:nvSpPr>
          <p:cNvPr id="5" name="Footer Placeholder 4">
            <a:extLst>
              <a:ext uri="{FF2B5EF4-FFF2-40B4-BE49-F238E27FC236}">
                <a16:creationId xmlns:a16="http://schemas.microsoft.com/office/drawing/2014/main" id="{15D47D1A-6C9A-550A-4662-27AB7ED4F3F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BE2AB1C-89FF-2B44-D04F-F61CCF9B2BAB}"/>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27365090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52343-F034-B8AF-CAD4-4B47F8C9C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23E43-C8E2-A481-14FE-6416EB87FD81}"/>
              </a:ext>
            </a:extLst>
          </p:cNvPr>
          <p:cNvSpPr>
            <a:spLocks noGrp="1"/>
          </p:cNvSpPr>
          <p:nvPr>
            <p:ph type="title"/>
          </p:nvPr>
        </p:nvSpPr>
        <p:spPr/>
        <p:txBody>
          <a:bodyPr/>
          <a:lstStyle/>
          <a:p>
            <a:r>
              <a:rPr lang="en-US" dirty="0"/>
              <a:t>Position Data Augmentation </a:t>
            </a:r>
            <a:endParaRPr lang="en-IN" dirty="0"/>
          </a:p>
        </p:txBody>
      </p:sp>
      <p:sp>
        <p:nvSpPr>
          <p:cNvPr id="4" name="Date Placeholder 3">
            <a:extLst>
              <a:ext uri="{FF2B5EF4-FFF2-40B4-BE49-F238E27FC236}">
                <a16:creationId xmlns:a16="http://schemas.microsoft.com/office/drawing/2014/main" id="{C0E31B9E-60CC-BA74-F242-64A5F867DCFA}"/>
              </a:ext>
            </a:extLst>
          </p:cNvPr>
          <p:cNvSpPr>
            <a:spLocks noGrp="1"/>
          </p:cNvSpPr>
          <p:nvPr>
            <p:ph type="dt" sz="half" idx="10"/>
          </p:nvPr>
        </p:nvSpPr>
        <p:spPr/>
        <p:txBody>
          <a:bodyPr/>
          <a:lstStyle/>
          <a:p>
            <a:fld id="{59A993AC-6FC6-4FD7-BA84-6FD82A41DCAC}" type="datetime3">
              <a:rPr lang="en-US" smtClean="0"/>
              <a:t>24 March 2026</a:t>
            </a:fld>
            <a:endParaRPr lang="en-US"/>
          </a:p>
        </p:txBody>
      </p:sp>
      <p:sp>
        <p:nvSpPr>
          <p:cNvPr id="5" name="Footer Placeholder 4">
            <a:extLst>
              <a:ext uri="{FF2B5EF4-FFF2-40B4-BE49-F238E27FC236}">
                <a16:creationId xmlns:a16="http://schemas.microsoft.com/office/drawing/2014/main" id="{97C2B047-6900-CDB7-BFB2-BD3C01F4A4E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D23D2A-BCF1-F55B-4B15-2A90CF7A79D3}"/>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7" name="Picture 6">
            <a:extLst>
              <a:ext uri="{FF2B5EF4-FFF2-40B4-BE49-F238E27FC236}">
                <a16:creationId xmlns:a16="http://schemas.microsoft.com/office/drawing/2014/main" id="{F8E526EF-D79B-69F7-06F6-276FE2442B26}"/>
              </a:ext>
            </a:extLst>
          </p:cNvPr>
          <p:cNvPicPr>
            <a:picLocks noChangeAspect="1"/>
          </p:cNvPicPr>
          <p:nvPr/>
        </p:nvPicPr>
        <p:blipFill>
          <a:blip r:embed="rId2"/>
          <a:stretch>
            <a:fillRect/>
          </a:stretch>
        </p:blipFill>
        <p:spPr>
          <a:xfrm>
            <a:off x="2743200" y="833950"/>
            <a:ext cx="7139848" cy="5029200"/>
          </a:xfrm>
          <a:prstGeom prst="rect">
            <a:avLst/>
          </a:prstGeom>
        </p:spPr>
      </p:pic>
    </p:spTree>
    <p:extLst>
      <p:ext uri="{BB962C8B-B14F-4D97-AF65-F5344CB8AC3E}">
        <p14:creationId xmlns:p14="http://schemas.microsoft.com/office/powerpoint/2010/main" val="27929594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45082-7DA5-95E3-E8A0-7584C70F2C99}"/>
              </a:ext>
            </a:extLst>
          </p:cNvPr>
          <p:cNvSpPr>
            <a:spLocks noGrp="1"/>
          </p:cNvSpPr>
          <p:nvPr>
            <p:ph type="title"/>
          </p:nvPr>
        </p:nvSpPr>
        <p:spPr/>
        <p:txBody>
          <a:bodyPr/>
          <a:lstStyle/>
          <a:p>
            <a:r>
              <a:rPr lang="en-US" dirty="0"/>
              <a:t>Color Augmentation </a:t>
            </a:r>
            <a:endParaRPr lang="en-IN" dirty="0"/>
          </a:p>
        </p:txBody>
      </p:sp>
      <p:sp>
        <p:nvSpPr>
          <p:cNvPr id="4" name="Date Placeholder 3">
            <a:extLst>
              <a:ext uri="{FF2B5EF4-FFF2-40B4-BE49-F238E27FC236}">
                <a16:creationId xmlns:a16="http://schemas.microsoft.com/office/drawing/2014/main" id="{648393F3-126C-FAD6-A6C9-FD55BE50638D}"/>
              </a:ext>
            </a:extLst>
          </p:cNvPr>
          <p:cNvSpPr>
            <a:spLocks noGrp="1"/>
          </p:cNvSpPr>
          <p:nvPr>
            <p:ph type="dt" sz="half" idx="10"/>
          </p:nvPr>
        </p:nvSpPr>
        <p:spPr/>
        <p:txBody>
          <a:bodyPr/>
          <a:lstStyle/>
          <a:p>
            <a:fld id="{59A993AC-6FC6-4FD7-BA84-6FD82A41DCAC}" type="datetime3">
              <a:rPr lang="en-US" smtClean="0"/>
              <a:t>24 March 2026</a:t>
            </a:fld>
            <a:endParaRPr lang="en-US"/>
          </a:p>
        </p:txBody>
      </p:sp>
      <p:sp>
        <p:nvSpPr>
          <p:cNvPr id="5" name="Footer Placeholder 4">
            <a:extLst>
              <a:ext uri="{FF2B5EF4-FFF2-40B4-BE49-F238E27FC236}">
                <a16:creationId xmlns:a16="http://schemas.microsoft.com/office/drawing/2014/main" id="{EE41596B-55FB-A405-F2C0-259006F7498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B95AC8-7BAF-29EC-5E00-D4E2F1D7A313}"/>
              </a:ext>
            </a:extLst>
          </p:cNvPr>
          <p:cNvSpPr>
            <a:spLocks noGrp="1"/>
          </p:cNvSpPr>
          <p:nvPr>
            <p:ph type="sldNum" sz="quarter" idx="12"/>
          </p:nvPr>
        </p:nvSpPr>
        <p:spPr/>
        <p:txBody>
          <a:bodyPr/>
          <a:lstStyle/>
          <a:p>
            <a:fld id="{BB2CE0DE-867F-455F-B20B-96D381B4AB71}" type="slidenum">
              <a:rPr lang="en-US" smtClean="0"/>
              <a:t>63</a:t>
            </a:fld>
            <a:endParaRPr lang="en-US"/>
          </a:p>
        </p:txBody>
      </p:sp>
      <p:pic>
        <p:nvPicPr>
          <p:cNvPr id="9" name="Picture 8">
            <a:extLst>
              <a:ext uri="{FF2B5EF4-FFF2-40B4-BE49-F238E27FC236}">
                <a16:creationId xmlns:a16="http://schemas.microsoft.com/office/drawing/2014/main" id="{8C5E2135-80CA-8442-B632-BC296CCA6C6F}"/>
              </a:ext>
            </a:extLst>
          </p:cNvPr>
          <p:cNvPicPr>
            <a:picLocks noChangeAspect="1"/>
          </p:cNvPicPr>
          <p:nvPr/>
        </p:nvPicPr>
        <p:blipFill>
          <a:blip r:embed="rId2"/>
          <a:stretch>
            <a:fillRect/>
          </a:stretch>
        </p:blipFill>
        <p:spPr>
          <a:xfrm>
            <a:off x="1981201" y="1143001"/>
            <a:ext cx="7982177" cy="4728937"/>
          </a:xfrm>
          <a:prstGeom prst="rect">
            <a:avLst/>
          </a:prstGeom>
        </p:spPr>
      </p:pic>
    </p:spTree>
    <p:extLst>
      <p:ext uri="{BB962C8B-B14F-4D97-AF65-F5344CB8AC3E}">
        <p14:creationId xmlns:p14="http://schemas.microsoft.com/office/powerpoint/2010/main" val="19485438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A40E9-D09A-1C52-8366-831D044CF0AE}"/>
              </a:ext>
            </a:extLst>
          </p:cNvPr>
          <p:cNvSpPr>
            <a:spLocks noGrp="1"/>
          </p:cNvSpPr>
          <p:nvPr>
            <p:ph type="title"/>
          </p:nvPr>
        </p:nvSpPr>
        <p:spPr/>
        <p:txBody>
          <a:bodyPr/>
          <a:lstStyle/>
          <a:p>
            <a:r>
              <a:rPr lang="en-IN" dirty="0"/>
              <a:t>Data Augmentation: Injecting Noise</a:t>
            </a:r>
          </a:p>
        </p:txBody>
      </p:sp>
      <p:sp>
        <p:nvSpPr>
          <p:cNvPr id="3" name="Content Placeholder 2">
            <a:extLst>
              <a:ext uri="{FF2B5EF4-FFF2-40B4-BE49-F238E27FC236}">
                <a16:creationId xmlns:a16="http://schemas.microsoft.com/office/drawing/2014/main" id="{249DBDB1-C9FA-F99F-A0BC-428B4C1021E1}"/>
              </a:ext>
            </a:extLst>
          </p:cNvPr>
          <p:cNvSpPr>
            <a:spLocks noGrp="1"/>
          </p:cNvSpPr>
          <p:nvPr>
            <p:ph idx="1"/>
          </p:nvPr>
        </p:nvSpPr>
        <p:spPr/>
        <p:txBody>
          <a:bodyPr/>
          <a:lstStyle/>
          <a:p>
            <a:pPr marL="0" indent="0" algn="just">
              <a:buNone/>
            </a:pPr>
            <a:r>
              <a:rPr lang="en-US" sz="2000" dirty="0"/>
              <a:t>Injecting noise in the input to a neural network can also be seen as a form of data augmentation. </a:t>
            </a:r>
          </a:p>
          <a:p>
            <a:pPr marL="0" indent="0" algn="just">
              <a:buNone/>
            </a:pPr>
            <a:r>
              <a:rPr lang="en-US" sz="2000" dirty="0"/>
              <a:t>For many classification and even some regression tasks, the task should still be possible to solve even if small random noise is added to the input. </a:t>
            </a:r>
          </a:p>
          <a:p>
            <a:pPr marL="0" indent="0" algn="just">
              <a:buNone/>
            </a:pPr>
            <a:r>
              <a:rPr lang="en-US" sz="2000" dirty="0"/>
              <a:t>Neural networks prove not to be very robust to noise, however. One way to improve the robustness of neural networks is simply to train them with random noise applied to their inputs. </a:t>
            </a:r>
          </a:p>
          <a:p>
            <a:pPr marL="0" indent="0" algn="just">
              <a:buNone/>
            </a:pPr>
            <a:r>
              <a:rPr lang="en-US" sz="2000" dirty="0"/>
              <a:t>Input noise injection is part of some unsupervised learning algorithms such as the denoising autoencoder. </a:t>
            </a:r>
          </a:p>
          <a:p>
            <a:pPr marL="0" indent="0" algn="just">
              <a:buNone/>
            </a:pPr>
            <a:r>
              <a:rPr lang="en-US" sz="2000" dirty="0"/>
              <a:t>Noise injection also works when the noise is applied to the hidden units, which can be seen as doing dataset augmentation at multiple levels of abstraction.  </a:t>
            </a:r>
            <a:endParaRPr lang="en-IN" sz="2000" dirty="0"/>
          </a:p>
        </p:txBody>
      </p:sp>
      <p:sp>
        <p:nvSpPr>
          <p:cNvPr id="4" name="Slide Number Placeholder 3">
            <a:extLst>
              <a:ext uri="{FF2B5EF4-FFF2-40B4-BE49-F238E27FC236}">
                <a16:creationId xmlns:a16="http://schemas.microsoft.com/office/drawing/2014/main" id="{092906ED-DABA-D232-6592-829822C23EB4}"/>
              </a:ext>
            </a:extLst>
          </p:cNvPr>
          <p:cNvSpPr>
            <a:spLocks noGrp="1"/>
          </p:cNvSpPr>
          <p:nvPr>
            <p:ph type="sldNum" sz="quarter" idx="12"/>
          </p:nvPr>
        </p:nvSpPr>
        <p:spPr/>
        <p:txBody>
          <a:bodyPr/>
          <a:lstStyle/>
          <a:p>
            <a:fld id="{BB2CE0DE-867F-455F-B20B-96D381B4AB71}" type="slidenum">
              <a:rPr lang="en-US" smtClean="0"/>
              <a:t>64</a:t>
            </a:fld>
            <a:endParaRPr lang="en-US"/>
          </a:p>
        </p:txBody>
      </p:sp>
    </p:spTree>
    <p:extLst>
      <p:ext uri="{BB962C8B-B14F-4D97-AF65-F5344CB8AC3E}">
        <p14:creationId xmlns:p14="http://schemas.microsoft.com/office/powerpoint/2010/main" val="15739097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69BC5-DF8B-60E1-8681-8F4B3AF55450}"/>
              </a:ext>
            </a:extLst>
          </p:cNvPr>
          <p:cNvSpPr>
            <a:spLocks noGrp="1"/>
          </p:cNvSpPr>
          <p:nvPr>
            <p:ph type="title"/>
          </p:nvPr>
        </p:nvSpPr>
        <p:spPr/>
        <p:txBody>
          <a:bodyPr/>
          <a:lstStyle/>
          <a:p>
            <a:r>
              <a:rPr lang="en-IN" sz="2400" dirty="0"/>
              <a:t>Data Augmentation: Comparing ML algorithms performance</a:t>
            </a:r>
          </a:p>
        </p:txBody>
      </p:sp>
      <p:sp>
        <p:nvSpPr>
          <p:cNvPr id="3" name="Content Placeholder 2">
            <a:extLst>
              <a:ext uri="{FF2B5EF4-FFF2-40B4-BE49-F238E27FC236}">
                <a16:creationId xmlns:a16="http://schemas.microsoft.com/office/drawing/2014/main" id="{606B8257-176B-B41C-2FC3-1D309A74279A}"/>
              </a:ext>
            </a:extLst>
          </p:cNvPr>
          <p:cNvSpPr>
            <a:spLocks noGrp="1"/>
          </p:cNvSpPr>
          <p:nvPr>
            <p:ph idx="1"/>
          </p:nvPr>
        </p:nvSpPr>
        <p:spPr/>
        <p:txBody>
          <a:bodyPr/>
          <a:lstStyle/>
          <a:p>
            <a:pPr marL="0" indent="0" algn="just">
              <a:buNone/>
            </a:pPr>
            <a:r>
              <a:rPr lang="en-US" sz="2000" dirty="0"/>
              <a:t>When comparing machine learning benchmark results, it is important to take the effect of dataset augmentation into account. </a:t>
            </a:r>
          </a:p>
          <a:p>
            <a:pPr marL="0" indent="0" algn="just">
              <a:buNone/>
            </a:pPr>
            <a:r>
              <a:rPr lang="en-US" sz="2000" dirty="0"/>
              <a:t>Often, hand-designed dataset augmentation schemes can dramatically reduce the generalization error of a machine learning technique. </a:t>
            </a:r>
          </a:p>
          <a:p>
            <a:pPr marL="0" indent="0" algn="just">
              <a:buNone/>
            </a:pPr>
            <a:r>
              <a:rPr lang="en-US" sz="2000" dirty="0"/>
              <a:t>To compare the performance of one machine learning algorithm to another, it is necessary to perform controlled experiments. </a:t>
            </a:r>
          </a:p>
          <a:p>
            <a:pPr marL="0" indent="0" algn="just">
              <a:buNone/>
            </a:pPr>
            <a:r>
              <a:rPr lang="en-US" sz="2000" dirty="0"/>
              <a:t>When comparing machine learning algorithm A and machine learning algorithm B, it is necessary to make sure that both algorithms were evaluated using the same hand-designed dataset augmentation schemes. </a:t>
            </a:r>
          </a:p>
          <a:p>
            <a:pPr marL="0" indent="0" algn="just">
              <a:buNone/>
            </a:pPr>
            <a:r>
              <a:rPr lang="en-US" sz="2000" dirty="0"/>
              <a:t>Suppose that algorithm A performs poorly with no dataset augmentation and algorithm B performs well when combined with numerous synthetic transformations of the input. In such a case it is likely the synthetic transformations caused the improved performance, rather than the use of machine learning algorithm B. </a:t>
            </a:r>
            <a:endParaRPr lang="en-IN" sz="2000" dirty="0"/>
          </a:p>
        </p:txBody>
      </p:sp>
      <p:sp>
        <p:nvSpPr>
          <p:cNvPr id="4" name="Slide Number Placeholder 3">
            <a:extLst>
              <a:ext uri="{FF2B5EF4-FFF2-40B4-BE49-F238E27FC236}">
                <a16:creationId xmlns:a16="http://schemas.microsoft.com/office/drawing/2014/main" id="{D025593A-D84D-2135-9892-DBFA406314CE}"/>
              </a:ext>
            </a:extLst>
          </p:cNvPr>
          <p:cNvSpPr>
            <a:spLocks noGrp="1"/>
          </p:cNvSpPr>
          <p:nvPr>
            <p:ph type="sldNum" sz="quarter" idx="12"/>
          </p:nvPr>
        </p:nvSpPr>
        <p:spPr/>
        <p:txBody>
          <a:bodyPr/>
          <a:lstStyle/>
          <a:p>
            <a:fld id="{BB2CE0DE-867F-455F-B20B-96D381B4AB71}" type="slidenum">
              <a:rPr lang="en-US" smtClean="0"/>
              <a:t>65</a:t>
            </a:fld>
            <a:endParaRPr lang="en-US"/>
          </a:p>
        </p:txBody>
      </p:sp>
    </p:spTree>
    <p:extLst>
      <p:ext uri="{BB962C8B-B14F-4D97-AF65-F5344CB8AC3E}">
        <p14:creationId xmlns:p14="http://schemas.microsoft.com/office/powerpoint/2010/main" val="32000715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9977-5E9C-58B2-7C76-1E48E5C95C0C}"/>
              </a:ext>
            </a:extLst>
          </p:cNvPr>
          <p:cNvSpPr>
            <a:spLocks noGrp="1"/>
          </p:cNvSpPr>
          <p:nvPr>
            <p:ph type="title"/>
          </p:nvPr>
        </p:nvSpPr>
        <p:spPr/>
        <p:txBody>
          <a:bodyPr/>
          <a:lstStyle/>
          <a:p>
            <a:r>
              <a:rPr lang="en-US" dirty="0">
                <a:solidFill>
                  <a:srgbClr val="262626"/>
                </a:solidFill>
                <a:latin typeface="Inter"/>
              </a:rPr>
              <a:t>Questions</a:t>
            </a:r>
            <a:endParaRPr lang="en-IN" dirty="0"/>
          </a:p>
        </p:txBody>
      </p:sp>
      <p:sp>
        <p:nvSpPr>
          <p:cNvPr id="3" name="Content Placeholder 2">
            <a:extLst>
              <a:ext uri="{FF2B5EF4-FFF2-40B4-BE49-F238E27FC236}">
                <a16:creationId xmlns:a16="http://schemas.microsoft.com/office/drawing/2014/main" id="{BDF4ADE2-3D71-7DF7-5AC6-035CB932AD65}"/>
              </a:ext>
            </a:extLst>
          </p:cNvPr>
          <p:cNvSpPr>
            <a:spLocks noGrp="1"/>
          </p:cNvSpPr>
          <p:nvPr>
            <p:ph idx="1"/>
          </p:nvPr>
        </p:nvSpPr>
        <p:spPr/>
        <p:txBody>
          <a:bodyPr/>
          <a:lstStyle/>
          <a:p>
            <a:r>
              <a:rPr lang="en-IN" sz="1600" dirty="0"/>
              <a:t>Explain Data Augmentation Techniques.</a:t>
            </a:r>
          </a:p>
          <a:p>
            <a:r>
              <a:rPr lang="en-US" sz="1600" dirty="0"/>
              <a:t>Discuss how data augmentation techniques can vary across different applications.</a:t>
            </a:r>
          </a:p>
          <a:p>
            <a:r>
              <a:rPr lang="en-US" sz="1600" dirty="0"/>
              <a:t>Analyze the impact of applying aggressive data augmentation on the quality of the learned features.</a:t>
            </a:r>
          </a:p>
          <a:p>
            <a:r>
              <a:rPr lang="en-US" sz="1600" dirty="0"/>
              <a:t>In what ways does dataset augmentation enhance generalization for classification tasks, particularly in object recognition and speech recognition? How does noise injection contribute to the robustness of neural networks, and why is it crucial to account for dataset augmentation when comparing the performance of different machine learning algorithms? </a:t>
            </a:r>
            <a:endParaRPr lang="en-IN" sz="1600" dirty="0"/>
          </a:p>
        </p:txBody>
      </p:sp>
      <p:sp>
        <p:nvSpPr>
          <p:cNvPr id="5" name="Slide Number Placeholder 4">
            <a:extLst>
              <a:ext uri="{FF2B5EF4-FFF2-40B4-BE49-F238E27FC236}">
                <a16:creationId xmlns:a16="http://schemas.microsoft.com/office/drawing/2014/main" id="{6A5FC5AB-0EE7-3A28-5043-24C19B0E4A5E}"/>
              </a:ext>
            </a:extLst>
          </p:cNvPr>
          <p:cNvSpPr>
            <a:spLocks noGrp="1"/>
          </p:cNvSpPr>
          <p:nvPr>
            <p:ph type="sldNum" sz="quarter" idx="12"/>
          </p:nvPr>
        </p:nvSpPr>
        <p:spPr/>
        <p:txBody>
          <a:bodyPr/>
          <a:lstStyle/>
          <a:p>
            <a:fld id="{BB2CE0DE-867F-455F-B20B-96D381B4AB71}" type="slidenum">
              <a:rPr lang="en-US" smtClean="0"/>
              <a:t>66</a:t>
            </a:fld>
            <a:endParaRPr lang="en-US"/>
          </a:p>
        </p:txBody>
      </p:sp>
    </p:spTree>
    <p:extLst>
      <p:ext uri="{BB962C8B-B14F-4D97-AF65-F5344CB8AC3E}">
        <p14:creationId xmlns:p14="http://schemas.microsoft.com/office/powerpoint/2010/main" val="32282722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F0682-2B09-9EE7-B107-00BBF1905854}"/>
              </a:ext>
            </a:extLst>
          </p:cNvPr>
          <p:cNvSpPr>
            <a:spLocks noGrp="1"/>
          </p:cNvSpPr>
          <p:nvPr>
            <p:ph type="title"/>
          </p:nvPr>
        </p:nvSpPr>
        <p:spPr/>
        <p:txBody>
          <a:bodyPr/>
          <a:lstStyle/>
          <a:p>
            <a:r>
              <a:rPr lang="en-US" dirty="0">
                <a:solidFill>
                  <a:srgbClr val="262626"/>
                </a:solidFill>
                <a:latin typeface="Inter"/>
              </a:rPr>
              <a:t>Semi-Supervised Learning (SSL)</a:t>
            </a:r>
            <a:endParaRPr lang="en-IN" dirty="0"/>
          </a:p>
        </p:txBody>
      </p:sp>
      <p:sp>
        <p:nvSpPr>
          <p:cNvPr id="3" name="Content Placeholder 2">
            <a:extLst>
              <a:ext uri="{FF2B5EF4-FFF2-40B4-BE49-F238E27FC236}">
                <a16:creationId xmlns:a16="http://schemas.microsoft.com/office/drawing/2014/main" id="{03F603E4-0B0A-B817-DAB1-B6AB7473CD4D}"/>
              </a:ext>
            </a:extLst>
          </p:cNvPr>
          <p:cNvSpPr>
            <a:spLocks noGrp="1"/>
          </p:cNvSpPr>
          <p:nvPr>
            <p:ph idx="1"/>
          </p:nvPr>
        </p:nvSpPr>
        <p:spPr/>
        <p:txBody>
          <a:bodyPr/>
          <a:lstStyle/>
          <a:p>
            <a:pPr algn="just"/>
            <a:r>
              <a:rPr lang="en-US" sz="2000" dirty="0"/>
              <a:t>Semi-supervised learning is a machine learning paradigm that uses </a:t>
            </a:r>
            <a:r>
              <a:rPr lang="en-US" sz="2000" b="1" dirty="0"/>
              <a:t>both labeled and unlabeled data</a:t>
            </a:r>
            <a:r>
              <a:rPr lang="en-US" sz="2000" dirty="0"/>
              <a:t> during training. In many real-world applications, labeled data is scarce and expensive, while large amounts of unlabeled data are easily available. Example: Medical Image, Remote Sensing Images</a:t>
            </a:r>
          </a:p>
          <a:p>
            <a:pPr algn="just"/>
            <a:r>
              <a:rPr lang="en-US" sz="2000" dirty="0"/>
              <a:t>Semi-supervised learning utilizes the information present in unlabeled data to improve the learning of predictive models.</a:t>
            </a:r>
          </a:p>
          <a:p>
            <a:pPr algn="just"/>
            <a:r>
              <a:rPr lang="en-US" sz="2000" dirty="0"/>
              <a:t>In this framework:</a:t>
            </a:r>
          </a:p>
          <a:p>
            <a:pPr algn="just">
              <a:buFont typeface="Arial" panose="020B0604020202020204" pitchFamily="34" charset="0"/>
              <a:buChar char="•"/>
            </a:pPr>
            <a:r>
              <a:rPr lang="en-US" sz="2000" b="1" dirty="0"/>
              <a:t>Labeled data</a:t>
            </a:r>
            <a:r>
              <a:rPr lang="en-US" sz="2000" dirty="0"/>
              <a:t> is drawn from the joint distribution P(</a:t>
            </a:r>
            <a:r>
              <a:rPr lang="en-US" sz="2000" dirty="0" err="1"/>
              <a:t>x,y</a:t>
            </a:r>
            <a:r>
              <a:rPr lang="en-US" sz="2000" dirty="0"/>
              <a:t>), where x is the input and y is the corresponding label. </a:t>
            </a:r>
          </a:p>
          <a:p>
            <a:pPr algn="just">
              <a:buFont typeface="Arial" panose="020B0604020202020204" pitchFamily="34" charset="0"/>
              <a:buChar char="•"/>
            </a:pPr>
            <a:r>
              <a:rPr lang="en-US" sz="2000" b="1" dirty="0"/>
              <a:t>Unlabeled data</a:t>
            </a:r>
            <a:r>
              <a:rPr lang="en-US" sz="2000" dirty="0"/>
              <a:t> is drawn from the marginal distribution P(x). </a:t>
            </a:r>
          </a:p>
          <a:p>
            <a:pPr marL="0" indent="0" algn="just">
              <a:buNone/>
            </a:pPr>
            <a:endParaRPr lang="en-US" sz="2000" dirty="0"/>
          </a:p>
          <a:p>
            <a:pPr marL="0" indent="0" algn="just">
              <a:buNone/>
            </a:pPr>
            <a:r>
              <a:rPr lang="en-US" sz="2000" dirty="0"/>
              <a:t>The goal is to learn a function that predicts the label y from input x, i.e., to estimate the conditional probability: P(</a:t>
            </a:r>
            <a:r>
              <a:rPr lang="en-US" sz="2000" dirty="0" err="1"/>
              <a:t>y∣x</a:t>
            </a:r>
            <a:r>
              <a:rPr lang="en-US" sz="2000" dirty="0"/>
              <a:t>)</a:t>
            </a:r>
            <a:endParaRPr lang="en-IN" sz="2000" dirty="0"/>
          </a:p>
        </p:txBody>
      </p:sp>
      <p:sp>
        <p:nvSpPr>
          <p:cNvPr id="4" name="Slide Number Placeholder 3">
            <a:extLst>
              <a:ext uri="{FF2B5EF4-FFF2-40B4-BE49-F238E27FC236}">
                <a16:creationId xmlns:a16="http://schemas.microsoft.com/office/drawing/2014/main" id="{DC292306-D7AC-04BA-0E64-6315A3E573F4}"/>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510201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C9AE6-71E1-4537-B964-8366D50E3743}"/>
              </a:ext>
            </a:extLst>
          </p:cNvPr>
          <p:cNvSpPr>
            <a:spLocks noGrp="1"/>
          </p:cNvSpPr>
          <p:nvPr>
            <p:ph type="title"/>
          </p:nvPr>
        </p:nvSpPr>
        <p:spPr/>
        <p:txBody>
          <a:bodyPr/>
          <a:lstStyle/>
          <a:p>
            <a:r>
              <a:rPr lang="en-US" sz="2000" dirty="0"/>
              <a:t>SSL: Combining Unsupervised and Supervised Components</a:t>
            </a:r>
            <a:endParaRPr lang="en-IN" sz="2000" dirty="0"/>
          </a:p>
        </p:txBody>
      </p:sp>
      <p:sp>
        <p:nvSpPr>
          <p:cNvPr id="3" name="Content Placeholder 2">
            <a:extLst>
              <a:ext uri="{FF2B5EF4-FFF2-40B4-BE49-F238E27FC236}">
                <a16:creationId xmlns:a16="http://schemas.microsoft.com/office/drawing/2014/main" id="{F5DB924E-DA53-43E6-9EE9-EDA85EC7F6A6}"/>
              </a:ext>
            </a:extLst>
          </p:cNvPr>
          <p:cNvSpPr>
            <a:spLocks noGrp="1"/>
          </p:cNvSpPr>
          <p:nvPr>
            <p:ph idx="1"/>
          </p:nvPr>
        </p:nvSpPr>
        <p:spPr/>
        <p:txBody>
          <a:bodyPr/>
          <a:lstStyle/>
          <a:p>
            <a:pPr marL="0" indent="0">
              <a:buNone/>
            </a:pPr>
            <a:r>
              <a:rPr lang="en-US" sz="1600" dirty="0"/>
              <a:t>Semi-supervised learning combines </a:t>
            </a:r>
            <a:r>
              <a:rPr lang="en-US" sz="1600" b="1" dirty="0"/>
              <a:t>unsupervised learning</a:t>
            </a:r>
            <a:r>
              <a:rPr lang="en-US" sz="1600" dirty="0"/>
              <a:t> and </a:t>
            </a:r>
            <a:r>
              <a:rPr lang="en-US" sz="1600" b="1" dirty="0"/>
              <a:t>supervised learning</a:t>
            </a:r>
            <a:r>
              <a:rPr lang="en-US" sz="1600" dirty="0"/>
              <a:t> components.</a:t>
            </a:r>
          </a:p>
          <a:p>
            <a:pPr marL="0" indent="0">
              <a:buNone/>
            </a:pPr>
            <a:r>
              <a:rPr lang="en-US" sz="1600" b="1" dirty="0"/>
              <a:t>1. Unsupervised Component</a:t>
            </a:r>
          </a:p>
          <a:p>
            <a:pPr marL="0" indent="0" algn="just">
              <a:buNone/>
            </a:pPr>
            <a:r>
              <a:rPr lang="en-US" sz="1600" dirty="0"/>
              <a:t>The unsupervised component uses unlabeled data to learn the structure of the input distribution P(x). This helps the model discover patterns, clusters, and the underlying manifold of the data.</a:t>
            </a:r>
          </a:p>
          <a:p>
            <a:pPr marL="0" indent="0" algn="just">
              <a:buNone/>
            </a:pPr>
            <a:r>
              <a:rPr lang="en-US" sz="1600" dirty="0"/>
              <a:t>In deep learning, this often involves learning a representation:</a:t>
            </a:r>
          </a:p>
          <a:p>
            <a:pPr marL="0" indent="0" algn="just">
              <a:buNone/>
            </a:pPr>
            <a:r>
              <a:rPr lang="en-US" sz="1600" dirty="0"/>
              <a:t>h=f(x) where x = input data , f(x) = neural network mapping , h = learned feature representation </a:t>
            </a:r>
          </a:p>
          <a:p>
            <a:pPr marL="0" indent="0" algn="just">
              <a:buNone/>
            </a:pPr>
            <a:r>
              <a:rPr lang="en-US" sz="1600" dirty="0"/>
              <a:t>The goal is to learn representations such that examples belonging to the same class have similar representations.</a:t>
            </a:r>
          </a:p>
          <a:p>
            <a:pPr marL="0" indent="0" algn="just">
              <a:buNone/>
            </a:pPr>
            <a:r>
              <a:rPr lang="en-US" sz="1600" dirty="0"/>
              <a:t>2. Supervised Component</a:t>
            </a:r>
          </a:p>
          <a:p>
            <a:pPr marL="0" indent="0" algn="just">
              <a:buNone/>
            </a:pPr>
            <a:r>
              <a:rPr lang="en-US" sz="1600" dirty="0"/>
              <a:t>The supervised component uses labeled data to learn the mapping from the representation to the output label.</a:t>
            </a:r>
          </a:p>
          <a:p>
            <a:pPr marL="0" indent="0" algn="just">
              <a:buNone/>
            </a:pPr>
            <a:r>
              <a:rPr lang="en-US" sz="1600" dirty="0"/>
              <a:t>y=g(h) or P(</a:t>
            </a:r>
            <a:r>
              <a:rPr lang="en-US" sz="1600" dirty="0" err="1"/>
              <a:t>y∣x</a:t>
            </a:r>
            <a:r>
              <a:rPr lang="en-US" sz="1600" dirty="0"/>
              <a:t>). This step trains a classifier using the learned representations.</a:t>
            </a:r>
          </a:p>
          <a:p>
            <a:pPr marL="0" indent="0" algn="just">
              <a:buNone/>
            </a:pPr>
            <a:endParaRPr lang="en-US" sz="1600" dirty="0"/>
          </a:p>
          <a:p>
            <a:pPr marL="0" indent="0" algn="just">
              <a:buNone/>
            </a:pPr>
            <a:endParaRPr lang="en-US" sz="1600" dirty="0"/>
          </a:p>
          <a:p>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C0177E98-6E78-4240-89F4-04DD88299227}"/>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9572318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D5FDE-6B3A-4C65-92C9-9B3D8020B099}"/>
              </a:ext>
            </a:extLst>
          </p:cNvPr>
          <p:cNvSpPr>
            <a:spLocks noGrp="1"/>
          </p:cNvSpPr>
          <p:nvPr>
            <p:ph type="title"/>
          </p:nvPr>
        </p:nvSpPr>
        <p:spPr/>
        <p:txBody>
          <a:bodyPr/>
          <a:lstStyle/>
          <a:p>
            <a:r>
              <a:rPr lang="en-US" sz="2000" dirty="0"/>
              <a:t>SSL: Combining Unsupervised and Supervised Components (</a:t>
            </a:r>
            <a:r>
              <a:rPr lang="en-US" sz="2000" dirty="0" err="1"/>
              <a:t>Contd</a:t>
            </a:r>
            <a:r>
              <a:rPr lang="en-US" sz="2000" dirty="0"/>
              <a:t>…)</a:t>
            </a:r>
            <a:endParaRPr lang="en-IN" sz="2000" dirty="0"/>
          </a:p>
        </p:txBody>
      </p:sp>
      <p:sp>
        <p:nvSpPr>
          <p:cNvPr id="3" name="Content Placeholder 2">
            <a:extLst>
              <a:ext uri="{FF2B5EF4-FFF2-40B4-BE49-F238E27FC236}">
                <a16:creationId xmlns:a16="http://schemas.microsoft.com/office/drawing/2014/main" id="{453C6CBA-CA6E-45E2-8D99-C20FFF32865B}"/>
              </a:ext>
            </a:extLst>
          </p:cNvPr>
          <p:cNvSpPr>
            <a:spLocks noGrp="1"/>
          </p:cNvSpPr>
          <p:nvPr>
            <p:ph idx="1"/>
          </p:nvPr>
        </p:nvSpPr>
        <p:spPr/>
        <p:txBody>
          <a:bodyPr/>
          <a:lstStyle/>
          <a:p>
            <a:pPr marL="0" indent="0">
              <a:buNone/>
            </a:pPr>
            <a:r>
              <a:rPr lang="en-US" sz="1400" dirty="0"/>
              <a:t>Step 1: Learn representation</a:t>
            </a:r>
          </a:p>
          <a:p>
            <a:pPr marL="0" indent="0">
              <a:buNone/>
            </a:pPr>
            <a:r>
              <a:rPr lang="en-US" sz="1400" dirty="0"/>
              <a:t>        h = f(x)</a:t>
            </a:r>
          </a:p>
          <a:p>
            <a:pPr marL="0" indent="0">
              <a:buNone/>
            </a:pPr>
            <a:r>
              <a:rPr lang="en-US" sz="1400" dirty="0"/>
              <a:t>        Data used: labeled + unlabeled</a:t>
            </a:r>
          </a:p>
          <a:p>
            <a:pPr marL="0" indent="0">
              <a:buNone/>
            </a:pPr>
            <a:endParaRPr lang="en-US" sz="1400" dirty="0"/>
          </a:p>
          <a:p>
            <a:pPr marL="0" indent="0">
              <a:buNone/>
            </a:pPr>
            <a:r>
              <a:rPr lang="en-US" sz="1400" dirty="0"/>
              <a:t>Step 2: Train classifier</a:t>
            </a:r>
          </a:p>
          <a:p>
            <a:pPr marL="0" indent="0">
              <a:buNone/>
            </a:pPr>
            <a:r>
              <a:rPr lang="en-US" sz="1400" dirty="0"/>
              <a:t>        y = g(h)</a:t>
            </a:r>
          </a:p>
          <a:p>
            <a:pPr marL="0" indent="0">
              <a:buNone/>
            </a:pPr>
            <a:r>
              <a:rPr lang="en-US" sz="1400" dirty="0"/>
              <a:t>        Data used: labeled only</a:t>
            </a:r>
          </a:p>
          <a:p>
            <a:pPr marL="0" indent="0">
              <a:buNone/>
            </a:pPr>
            <a:endParaRPr lang="en-US" sz="1400" dirty="0"/>
          </a:p>
          <a:p>
            <a:pPr marL="0" indent="0">
              <a:buNone/>
            </a:pPr>
            <a:r>
              <a:rPr lang="en-US" sz="1400" dirty="0"/>
              <a:t>Final model:</a:t>
            </a:r>
          </a:p>
          <a:p>
            <a:pPr marL="0" indent="0">
              <a:buNone/>
            </a:pPr>
            <a:r>
              <a:rPr lang="en-US" sz="1400" dirty="0"/>
              <a:t>        y = g(f(x))</a:t>
            </a:r>
          </a:p>
          <a:p>
            <a:pPr marL="0" indent="0">
              <a:buNone/>
            </a:pPr>
            <a:r>
              <a:rPr lang="en-US" sz="1400" dirty="0"/>
              <a:t>        The trained model predicts the label y for any new input x.</a:t>
            </a:r>
            <a:endParaRPr lang="en-IN" sz="1400" dirty="0"/>
          </a:p>
          <a:p>
            <a:pPr marL="0" indent="0">
              <a:buNone/>
            </a:pPr>
            <a:endParaRPr lang="en-IN" sz="1400" dirty="0"/>
          </a:p>
        </p:txBody>
      </p:sp>
      <p:sp>
        <p:nvSpPr>
          <p:cNvPr id="4" name="Slide Number Placeholder 3">
            <a:extLst>
              <a:ext uri="{FF2B5EF4-FFF2-40B4-BE49-F238E27FC236}">
                <a16:creationId xmlns:a16="http://schemas.microsoft.com/office/drawing/2014/main" id="{98E72323-66BB-4189-A16C-FECDF4BC91FF}"/>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38176846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B4EC3-81CD-4755-AC40-E9EB80A15A6A}"/>
              </a:ext>
            </a:extLst>
          </p:cNvPr>
          <p:cNvSpPr>
            <a:spLocks noGrp="1"/>
          </p:cNvSpPr>
          <p:nvPr>
            <p:ph type="title"/>
          </p:nvPr>
        </p:nvSpPr>
        <p:spPr/>
        <p:txBody>
          <a:bodyPr/>
          <a:lstStyle/>
          <a:p>
            <a:r>
              <a:rPr lang="en-US" sz="2000" dirty="0"/>
              <a:t>SSL: Shared Parameterization of Generative and Discriminative Models (</a:t>
            </a:r>
            <a:r>
              <a:rPr lang="en-US" sz="2000" dirty="0" err="1"/>
              <a:t>Contd</a:t>
            </a:r>
            <a:r>
              <a:rPr lang="en-US" sz="2000" dirty="0"/>
              <a:t>…) </a:t>
            </a:r>
            <a:endParaRPr lang="en-IN" sz="2000" dirty="0"/>
          </a:p>
        </p:txBody>
      </p:sp>
      <p:sp>
        <p:nvSpPr>
          <p:cNvPr id="3" name="Content Placeholder 2">
            <a:extLst>
              <a:ext uri="{FF2B5EF4-FFF2-40B4-BE49-F238E27FC236}">
                <a16:creationId xmlns:a16="http://schemas.microsoft.com/office/drawing/2014/main" id="{2AA8A08C-9777-4139-8554-3F809217589A}"/>
              </a:ext>
            </a:extLst>
          </p:cNvPr>
          <p:cNvSpPr>
            <a:spLocks noGrp="1"/>
          </p:cNvSpPr>
          <p:nvPr>
            <p:ph idx="1"/>
          </p:nvPr>
        </p:nvSpPr>
        <p:spPr/>
        <p:txBody>
          <a:bodyPr/>
          <a:lstStyle/>
          <a:p>
            <a:pPr marL="0" indent="0">
              <a:buNone/>
            </a:pPr>
            <a:r>
              <a:rPr lang="en-US" sz="2000" dirty="0"/>
              <a:t>Instead of training separate models, semi-supervised learning often uses a </a:t>
            </a:r>
            <a:r>
              <a:rPr lang="en-US" sz="2000" b="1" dirty="0"/>
              <a:t>shared parameterization</a:t>
            </a:r>
            <a:r>
              <a:rPr lang="en-US" sz="2000" dirty="0"/>
              <a:t> between:</a:t>
            </a:r>
          </a:p>
          <a:p>
            <a:pPr>
              <a:buFont typeface="Arial" panose="020B0604020202020204" pitchFamily="34" charset="0"/>
              <a:buChar char="•"/>
            </a:pPr>
            <a:r>
              <a:rPr lang="en-US" sz="2000" b="1" dirty="0"/>
              <a:t>Generative models</a:t>
            </a:r>
            <a:r>
              <a:rPr lang="en-US" sz="2000" dirty="0"/>
              <a:t> that model P(x) or P(</a:t>
            </a:r>
            <a:r>
              <a:rPr lang="en-US" sz="2000" dirty="0" err="1"/>
              <a:t>x,y</a:t>
            </a:r>
            <a:r>
              <a:rPr lang="en-US" sz="2000" dirty="0"/>
              <a:t>) </a:t>
            </a:r>
          </a:p>
          <a:p>
            <a:pPr>
              <a:buFont typeface="Arial" panose="020B0604020202020204" pitchFamily="34" charset="0"/>
              <a:buChar char="•"/>
            </a:pPr>
            <a:r>
              <a:rPr lang="en-US" sz="2000" b="1" dirty="0"/>
              <a:t>Discriminative models</a:t>
            </a:r>
            <a:r>
              <a:rPr lang="en-US" sz="2000" dirty="0"/>
              <a:t> that model P(</a:t>
            </a:r>
            <a:r>
              <a:rPr lang="en-US" sz="2000" dirty="0" err="1"/>
              <a:t>y∣x</a:t>
            </a:r>
            <a:r>
              <a:rPr lang="en-US" sz="2000" dirty="0"/>
              <a:t>) </a:t>
            </a:r>
          </a:p>
          <a:p>
            <a:pPr marL="0" indent="0">
              <a:buNone/>
            </a:pPr>
            <a:r>
              <a:rPr lang="en-US" sz="2000" dirty="0"/>
              <a:t>Both models share the same neural network parameters.</a:t>
            </a:r>
          </a:p>
          <a:p>
            <a:pPr marL="0" indent="0">
              <a:buNone/>
            </a:pPr>
            <a:r>
              <a:rPr lang="en-US" sz="2000" dirty="0"/>
              <a:t>The training objective combines both components:</a:t>
            </a:r>
          </a:p>
          <a:p>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C03BA8F3-0EDC-420B-9854-BD1A200BB678}"/>
              </a:ext>
            </a:extLst>
          </p:cNvPr>
          <p:cNvSpPr>
            <a:spLocks noGrp="1"/>
          </p:cNvSpPr>
          <p:nvPr>
            <p:ph type="sldNum" sz="quarter" idx="12"/>
          </p:nvPr>
        </p:nvSpPr>
        <p:spPr/>
        <p:txBody>
          <a:bodyPr/>
          <a:lstStyle/>
          <a:p>
            <a:fld id="{BB2CE0DE-867F-455F-B20B-96D381B4AB71}" type="slidenum">
              <a:rPr lang="en-US" smtClean="0"/>
              <a:t>70</a:t>
            </a:fld>
            <a:endParaRPr lang="en-US"/>
          </a:p>
        </p:txBody>
      </p:sp>
      <p:pic>
        <p:nvPicPr>
          <p:cNvPr id="6" name="Picture 5">
            <a:extLst>
              <a:ext uri="{FF2B5EF4-FFF2-40B4-BE49-F238E27FC236}">
                <a16:creationId xmlns:a16="http://schemas.microsoft.com/office/drawing/2014/main" id="{921D201A-FBE2-4447-827A-31F05E5B85FE}"/>
              </a:ext>
            </a:extLst>
          </p:cNvPr>
          <p:cNvPicPr>
            <a:picLocks noChangeAspect="1"/>
          </p:cNvPicPr>
          <p:nvPr/>
        </p:nvPicPr>
        <p:blipFill>
          <a:blip r:embed="rId3"/>
          <a:stretch>
            <a:fillRect/>
          </a:stretch>
        </p:blipFill>
        <p:spPr>
          <a:xfrm>
            <a:off x="7391400" y="2971800"/>
            <a:ext cx="3305636" cy="352474"/>
          </a:xfrm>
          <a:prstGeom prst="rect">
            <a:avLst/>
          </a:prstGeom>
        </p:spPr>
      </p:pic>
      <p:pic>
        <p:nvPicPr>
          <p:cNvPr id="8" name="Picture 7">
            <a:extLst>
              <a:ext uri="{FF2B5EF4-FFF2-40B4-BE49-F238E27FC236}">
                <a16:creationId xmlns:a16="http://schemas.microsoft.com/office/drawing/2014/main" id="{1D21752D-2022-4D82-8628-74BE2A8D683E}"/>
              </a:ext>
            </a:extLst>
          </p:cNvPr>
          <p:cNvPicPr>
            <a:picLocks noChangeAspect="1"/>
          </p:cNvPicPr>
          <p:nvPr/>
        </p:nvPicPr>
        <p:blipFill>
          <a:blip r:embed="rId4"/>
          <a:stretch>
            <a:fillRect/>
          </a:stretch>
        </p:blipFill>
        <p:spPr>
          <a:xfrm>
            <a:off x="7355958" y="3476675"/>
            <a:ext cx="4553585" cy="1095528"/>
          </a:xfrm>
          <a:prstGeom prst="rect">
            <a:avLst/>
          </a:prstGeom>
        </p:spPr>
      </p:pic>
    </p:spTree>
    <p:extLst>
      <p:ext uri="{BB962C8B-B14F-4D97-AF65-F5344CB8AC3E}">
        <p14:creationId xmlns:p14="http://schemas.microsoft.com/office/powerpoint/2010/main" val="9467642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B0879-7F42-437A-8ED1-967910A74071}"/>
              </a:ext>
            </a:extLst>
          </p:cNvPr>
          <p:cNvSpPr>
            <a:spLocks noGrp="1"/>
          </p:cNvSpPr>
          <p:nvPr>
            <p:ph type="title"/>
          </p:nvPr>
        </p:nvSpPr>
        <p:spPr/>
        <p:txBody>
          <a:bodyPr/>
          <a:lstStyle/>
          <a:p>
            <a:r>
              <a:rPr lang="en-US" sz="2000" dirty="0"/>
              <a:t>SSL: Shared Parameterization of Generative and Discriminative Models (</a:t>
            </a:r>
            <a:r>
              <a:rPr lang="en-US" sz="2000" dirty="0" err="1"/>
              <a:t>Contd</a:t>
            </a:r>
            <a:r>
              <a:rPr lang="en-US" sz="2000" dirty="0"/>
              <a:t>…) </a:t>
            </a:r>
            <a:endParaRPr lang="en-IN" sz="2000" dirty="0"/>
          </a:p>
        </p:txBody>
      </p:sp>
      <p:sp>
        <p:nvSpPr>
          <p:cNvPr id="3" name="Content Placeholder 2">
            <a:extLst>
              <a:ext uri="{FF2B5EF4-FFF2-40B4-BE49-F238E27FC236}">
                <a16:creationId xmlns:a16="http://schemas.microsoft.com/office/drawing/2014/main" id="{7B7AEE9C-8031-4580-AC8E-29C17A3C654A}"/>
              </a:ext>
            </a:extLst>
          </p:cNvPr>
          <p:cNvSpPr>
            <a:spLocks noGrp="1"/>
          </p:cNvSpPr>
          <p:nvPr>
            <p:ph idx="1"/>
          </p:nvPr>
        </p:nvSpPr>
        <p:spPr/>
        <p:txBody>
          <a:bodyPr/>
          <a:lstStyle/>
          <a:p>
            <a:pPr algn="just"/>
            <a:r>
              <a:rPr lang="en-US" sz="1800" dirty="0"/>
              <a:t>The shared parameterization allows the model to learn useful features from the input distribution P(x) using large amounts of unlabeled data. These learned features capture the underlying structure of the data, such as clusters and manifolds.</a:t>
            </a:r>
          </a:p>
          <a:p>
            <a:pPr algn="just"/>
            <a:r>
              <a:rPr lang="en-US" sz="1800" dirty="0"/>
              <a:t>Because the generative and discriminative models share parameters:</a:t>
            </a:r>
          </a:p>
          <a:p>
            <a:pPr algn="just">
              <a:buFont typeface="Arial" panose="020B0604020202020204" pitchFamily="34" charset="0"/>
              <a:buChar char="•"/>
            </a:pPr>
            <a:r>
              <a:rPr lang="en-US" sz="1800" dirty="0"/>
              <a:t>the features learned from unlabeled data improve the representation h=f(x) </a:t>
            </a:r>
          </a:p>
          <a:p>
            <a:pPr algn="just">
              <a:buFont typeface="Arial" panose="020B0604020202020204" pitchFamily="34" charset="0"/>
              <a:buChar char="•"/>
            </a:pPr>
            <a:r>
              <a:rPr lang="en-US" sz="1800" dirty="0"/>
              <a:t>the classifier P(</a:t>
            </a:r>
            <a:r>
              <a:rPr lang="en-US" sz="1800" dirty="0" err="1"/>
              <a:t>y∣x</a:t>
            </a:r>
            <a:r>
              <a:rPr lang="en-US" sz="1800" dirty="0"/>
              <a:t>) can make better predictions even with limited labeled data. </a:t>
            </a:r>
          </a:p>
          <a:p>
            <a:pPr algn="just"/>
            <a:r>
              <a:rPr lang="en-US" sz="1800" dirty="0"/>
              <a:t>Thus, modeling P(x) provides a useful prior belief about the solution to the supervised learning problem.</a:t>
            </a:r>
          </a:p>
          <a:p>
            <a:pPr algn="just"/>
            <a:r>
              <a:rPr lang="en-US" sz="1800" dirty="0"/>
              <a:t>As a result, the model achieves better generalization compared to purely supervised or purely generative training.</a:t>
            </a:r>
          </a:p>
          <a:p>
            <a:pPr algn="just"/>
            <a:endParaRPr lang="en-US" sz="1800" dirty="0"/>
          </a:p>
          <a:p>
            <a:pPr algn="just"/>
            <a:r>
              <a:rPr lang="en-US" sz="1800" dirty="0"/>
              <a:t>Semi-supervised learning improves model performance by combining supervised learning from labeled data with unsupervised learning from unlabeled data. By sharing parameters between generative and discriminative models, the system learns meaningful representations of the data, leading to improved classification accuracy and better generalization.</a:t>
            </a:r>
          </a:p>
          <a:p>
            <a:pPr algn="just"/>
            <a:endParaRPr lang="en-US" sz="1800" dirty="0"/>
          </a:p>
          <a:p>
            <a:endParaRPr lang="en-IN" sz="1800" dirty="0"/>
          </a:p>
          <a:p>
            <a:endParaRPr lang="en-IN" sz="1800" dirty="0"/>
          </a:p>
        </p:txBody>
      </p:sp>
      <p:sp>
        <p:nvSpPr>
          <p:cNvPr id="4" name="Slide Number Placeholder 3">
            <a:extLst>
              <a:ext uri="{FF2B5EF4-FFF2-40B4-BE49-F238E27FC236}">
                <a16:creationId xmlns:a16="http://schemas.microsoft.com/office/drawing/2014/main" id="{181A8C98-AEB4-42BB-8DF5-0E2BFAAA2142}"/>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700067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176E-7A8C-E96A-DBE1-14089FA14654}"/>
              </a:ext>
            </a:extLst>
          </p:cNvPr>
          <p:cNvSpPr>
            <a:spLocks noGrp="1"/>
          </p:cNvSpPr>
          <p:nvPr>
            <p:ph type="title"/>
          </p:nvPr>
        </p:nvSpPr>
        <p:spPr/>
        <p:txBody>
          <a:bodyPr/>
          <a:lstStyle/>
          <a:p>
            <a:r>
              <a:rPr lang="en-US" dirty="0">
                <a:solidFill>
                  <a:srgbClr val="262626"/>
                </a:solidFill>
                <a:latin typeface="Inter"/>
              </a:rPr>
              <a:t>Question</a:t>
            </a:r>
            <a:endParaRPr lang="en-IN" dirty="0"/>
          </a:p>
        </p:txBody>
      </p:sp>
      <p:sp>
        <p:nvSpPr>
          <p:cNvPr id="3" name="Content Placeholder 2">
            <a:extLst>
              <a:ext uri="{FF2B5EF4-FFF2-40B4-BE49-F238E27FC236}">
                <a16:creationId xmlns:a16="http://schemas.microsoft.com/office/drawing/2014/main" id="{89D47599-6E80-86B3-4579-6F1F92531E3C}"/>
              </a:ext>
            </a:extLst>
          </p:cNvPr>
          <p:cNvSpPr>
            <a:spLocks noGrp="1"/>
          </p:cNvSpPr>
          <p:nvPr>
            <p:ph idx="1"/>
          </p:nvPr>
        </p:nvSpPr>
        <p:spPr/>
        <p:txBody>
          <a:bodyPr/>
          <a:lstStyle/>
          <a:p>
            <a:r>
              <a:rPr lang="en-US" sz="1400" dirty="0"/>
              <a:t>What is semi-supervised learning and how does it combine unsupervised and supervised components to improve representation learning? Additionally, how does the shared parameterization between generative and discriminative models enhance generalization.</a:t>
            </a:r>
            <a:endParaRPr lang="en-IN" sz="1400" dirty="0"/>
          </a:p>
          <a:p>
            <a:endParaRPr lang="en-IN" sz="1400" dirty="0"/>
          </a:p>
        </p:txBody>
      </p:sp>
      <p:sp>
        <p:nvSpPr>
          <p:cNvPr id="5" name="Slide Number Placeholder 4">
            <a:extLst>
              <a:ext uri="{FF2B5EF4-FFF2-40B4-BE49-F238E27FC236}">
                <a16:creationId xmlns:a16="http://schemas.microsoft.com/office/drawing/2014/main" id="{AE1EEEFF-406D-B897-2FE1-E722720102A0}"/>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8024941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2EFC0-8F6A-4CD3-8C1B-C4A4013602B6}"/>
              </a:ext>
            </a:extLst>
          </p:cNvPr>
          <p:cNvSpPr>
            <a:spLocks noGrp="1"/>
          </p:cNvSpPr>
          <p:nvPr>
            <p:ph type="title"/>
          </p:nvPr>
        </p:nvSpPr>
        <p:spPr/>
        <p:txBody>
          <a:bodyPr/>
          <a:lstStyle/>
          <a:p>
            <a:r>
              <a:rPr lang="en-US" dirty="0"/>
              <a:t>Multi task Learning</a:t>
            </a:r>
            <a:endParaRPr lang="en-IN" dirty="0"/>
          </a:p>
        </p:txBody>
      </p:sp>
      <p:sp>
        <p:nvSpPr>
          <p:cNvPr id="3" name="Content Placeholder 2">
            <a:extLst>
              <a:ext uri="{FF2B5EF4-FFF2-40B4-BE49-F238E27FC236}">
                <a16:creationId xmlns:a16="http://schemas.microsoft.com/office/drawing/2014/main" id="{94023B16-B9F9-4E91-BD30-888564CB3A9A}"/>
              </a:ext>
            </a:extLst>
          </p:cNvPr>
          <p:cNvSpPr>
            <a:spLocks noGrp="1"/>
          </p:cNvSpPr>
          <p:nvPr>
            <p:ph idx="1"/>
          </p:nvPr>
        </p:nvSpPr>
        <p:spPr/>
        <p:txBody>
          <a:bodyPr/>
          <a:lstStyle/>
          <a:p>
            <a:pPr marL="0" indent="0" algn="just">
              <a:buNone/>
            </a:pPr>
            <a:r>
              <a:rPr lang="en-US" sz="1800" b="0" i="0" dirty="0">
                <a:solidFill>
                  <a:schemeClr val="tx1"/>
                </a:solidFill>
                <a:effectLst/>
                <a:cs typeface="Times New Roman" panose="02020603050405020304" pitchFamily="18" charset="0"/>
              </a:rPr>
              <a:t>Multi-Task Learning (MTL) is a type of machine learning technique where a model is trained to perform multiple tasks simultaneously. In deep learning, MTL refers to training a neural network to perform multiple tasks by sharing some of the network's layers and parameters across tasks.</a:t>
            </a:r>
          </a:p>
          <a:p>
            <a:pPr marL="0" indent="0" algn="just">
              <a:buNone/>
            </a:pPr>
            <a:endParaRPr lang="en-US" sz="1800" dirty="0">
              <a:solidFill>
                <a:schemeClr val="tx1"/>
              </a:solidFill>
              <a:cs typeface="Times New Roman" panose="02020603050405020304" pitchFamily="18" charset="0"/>
            </a:endParaRPr>
          </a:p>
          <a:p>
            <a:pPr marL="0" indent="0" algn="just">
              <a:buNone/>
            </a:pPr>
            <a:r>
              <a:rPr lang="en-US" sz="1800" dirty="0">
                <a:solidFill>
                  <a:schemeClr val="tx1"/>
                </a:solidFill>
                <a:cs typeface="Times New Roman" panose="02020603050405020304" pitchFamily="18" charset="0"/>
              </a:rPr>
              <a:t>A common example is a computer vision model for autonomous driving, which uses shared convolutional layers to process an image, then splits into separate "heads" to detect pedestrians, identify lane boundaries, and estimate distances concurrently.</a:t>
            </a:r>
          </a:p>
          <a:p>
            <a:pPr marL="0" indent="0" algn="just">
              <a:buNone/>
            </a:pPr>
            <a:endParaRPr lang="en-US" sz="1800" dirty="0">
              <a:solidFill>
                <a:schemeClr val="tx1"/>
              </a:solidFill>
              <a:cs typeface="Times New Roman" panose="02020603050405020304" pitchFamily="18" charset="0"/>
            </a:endParaRPr>
          </a:p>
          <a:p>
            <a:pPr marL="0" indent="0" algn="just">
              <a:buNone/>
            </a:pPr>
            <a:r>
              <a:rPr lang="en-US" sz="1800" b="0" i="0" dirty="0">
                <a:solidFill>
                  <a:schemeClr val="tx1"/>
                </a:solidFill>
                <a:effectLst/>
              </a:rPr>
              <a:t>In MTL, the goal is to improve the generalization performance of the model by leveraging the information shared across tasks. By sharing some of the network's parameters, the model can learn a more efficient and compact representation of the data, which can be beneficial when the tasks are related or have some commonalities.</a:t>
            </a:r>
            <a:endParaRPr lang="en-IN" sz="1800" dirty="0">
              <a:solidFill>
                <a:schemeClr val="tx1"/>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1501E11F-4668-4FFF-870B-3A7ECBBD3F5F}"/>
              </a:ext>
            </a:extLst>
          </p:cNvPr>
          <p:cNvSpPr>
            <a:spLocks noGrp="1"/>
          </p:cNvSpPr>
          <p:nvPr>
            <p:ph type="sldNum" sz="quarter" idx="12"/>
          </p:nvPr>
        </p:nvSpPr>
        <p:spPr/>
        <p:txBody>
          <a:bodyPr/>
          <a:lstStyle/>
          <a:p>
            <a:fld id="{BB2CE0DE-867F-455F-B20B-96D381B4AB71}" type="slidenum">
              <a:rPr lang="en-US" smtClean="0"/>
              <a:t>73</a:t>
            </a:fld>
            <a:endParaRPr lang="en-US"/>
          </a:p>
        </p:txBody>
      </p:sp>
    </p:spTree>
    <p:extLst>
      <p:ext uri="{BB962C8B-B14F-4D97-AF65-F5344CB8AC3E}">
        <p14:creationId xmlns:p14="http://schemas.microsoft.com/office/powerpoint/2010/main" val="11743124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4F697-3822-4216-9FA4-D523D6277EA3}"/>
              </a:ext>
            </a:extLst>
          </p:cNvPr>
          <p:cNvSpPr>
            <a:spLocks noGrp="1"/>
          </p:cNvSpPr>
          <p:nvPr>
            <p:ph type="title"/>
          </p:nvPr>
        </p:nvSpPr>
        <p:spPr/>
        <p:txBody>
          <a:bodyPr/>
          <a:lstStyle/>
          <a:p>
            <a:r>
              <a:rPr lang="en-US" dirty="0"/>
              <a:t>Multi task Learning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137BA81F-B992-4D6D-865C-65E0C6554641}"/>
              </a:ext>
            </a:extLst>
          </p:cNvPr>
          <p:cNvSpPr>
            <a:spLocks noGrp="1"/>
          </p:cNvSpPr>
          <p:nvPr>
            <p:ph idx="1"/>
          </p:nvPr>
        </p:nvSpPr>
        <p:spPr/>
        <p:txBody>
          <a:bodyPr/>
          <a:lstStyle/>
          <a:p>
            <a:pPr marL="0" indent="0" algn="just">
              <a:buNone/>
            </a:pPr>
            <a:r>
              <a:rPr lang="en-US" sz="1600" dirty="0"/>
              <a:t>Figure illustrates a very common form of multi-task learning, in which different supervised tasks (predicting y(</a:t>
            </a:r>
            <a:r>
              <a:rPr lang="en-US" sz="1600" dirty="0" err="1"/>
              <a:t>i</a:t>
            </a:r>
            <a:r>
              <a:rPr lang="en-US" sz="1600" dirty="0"/>
              <a:t>) given x) share the same input x, as well as some intermediate-level representation h(shared) capturing a common pool of factors. The model can generally be divided into two kinds of parts and associated parameters:</a:t>
            </a:r>
          </a:p>
          <a:p>
            <a:pPr marL="342900" indent="-342900" algn="just">
              <a:buAutoNum type="arabicPeriod"/>
            </a:pPr>
            <a:r>
              <a:rPr lang="en-US" sz="1600" b="1" dirty="0"/>
              <a:t>Task-specific parameters </a:t>
            </a:r>
            <a:r>
              <a:rPr lang="en-US" sz="1600" dirty="0"/>
              <a:t>(which only benefit from the examples of their task to achieve good generalization). These are the upper layers of the neural network in figure. </a:t>
            </a:r>
          </a:p>
          <a:p>
            <a:pPr marL="342900" indent="-342900" algn="just">
              <a:buAutoNum type="arabicPeriod"/>
            </a:pPr>
            <a:r>
              <a:rPr lang="en-US" sz="1600" b="1" dirty="0"/>
              <a:t>Generic parameters</a:t>
            </a:r>
            <a:r>
              <a:rPr lang="en-US" sz="1600" dirty="0"/>
              <a:t>, shared across all the tasks (which benefit from the pooled data of all the tasks). These are the lower layers of the neural network in figure .</a:t>
            </a:r>
            <a:endParaRPr lang="en-IN" sz="1600" dirty="0"/>
          </a:p>
        </p:txBody>
      </p:sp>
      <p:sp>
        <p:nvSpPr>
          <p:cNvPr id="4" name="Slide Number Placeholder 3">
            <a:extLst>
              <a:ext uri="{FF2B5EF4-FFF2-40B4-BE49-F238E27FC236}">
                <a16:creationId xmlns:a16="http://schemas.microsoft.com/office/drawing/2014/main" id="{A32244E3-A276-410A-9D45-42490AEFBA4A}"/>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6" name="Picture 5">
            <a:extLst>
              <a:ext uri="{FF2B5EF4-FFF2-40B4-BE49-F238E27FC236}">
                <a16:creationId xmlns:a16="http://schemas.microsoft.com/office/drawing/2014/main" id="{CDBE2CFF-57E1-492A-B56B-5150507E2E8B}"/>
              </a:ext>
            </a:extLst>
          </p:cNvPr>
          <p:cNvPicPr>
            <a:picLocks noChangeAspect="1"/>
          </p:cNvPicPr>
          <p:nvPr/>
        </p:nvPicPr>
        <p:blipFill>
          <a:blip r:embed="rId3"/>
          <a:stretch>
            <a:fillRect/>
          </a:stretch>
        </p:blipFill>
        <p:spPr>
          <a:xfrm>
            <a:off x="798131" y="3336256"/>
            <a:ext cx="2278025" cy="2775292"/>
          </a:xfrm>
          <a:prstGeom prst="rect">
            <a:avLst/>
          </a:prstGeom>
        </p:spPr>
      </p:pic>
      <p:sp>
        <p:nvSpPr>
          <p:cNvPr id="7" name="TextBox 6">
            <a:extLst>
              <a:ext uri="{FF2B5EF4-FFF2-40B4-BE49-F238E27FC236}">
                <a16:creationId xmlns:a16="http://schemas.microsoft.com/office/drawing/2014/main" id="{0FC0F097-2BD9-4DD5-9C6E-F9F23DDFA549}"/>
              </a:ext>
            </a:extLst>
          </p:cNvPr>
          <p:cNvSpPr txBox="1"/>
          <p:nvPr/>
        </p:nvSpPr>
        <p:spPr>
          <a:xfrm>
            <a:off x="693773" y="6111548"/>
            <a:ext cx="2382383" cy="276999"/>
          </a:xfrm>
          <a:prstGeom prst="rect">
            <a:avLst/>
          </a:prstGeom>
          <a:noFill/>
        </p:spPr>
        <p:txBody>
          <a:bodyPr wrap="square" rtlCol="0">
            <a:spAutoFit/>
          </a:bodyPr>
          <a:lstStyle/>
          <a:p>
            <a:r>
              <a:rPr lang="en-US" sz="1200" dirty="0"/>
              <a:t>Figure: Multi task learning</a:t>
            </a:r>
            <a:endParaRPr lang="en-IN" sz="1200" dirty="0"/>
          </a:p>
        </p:txBody>
      </p:sp>
      <p:sp>
        <p:nvSpPr>
          <p:cNvPr id="8" name="TextBox 7">
            <a:extLst>
              <a:ext uri="{FF2B5EF4-FFF2-40B4-BE49-F238E27FC236}">
                <a16:creationId xmlns:a16="http://schemas.microsoft.com/office/drawing/2014/main" id="{ED35290A-C6F6-4D5C-A884-89BAB43FEF81}"/>
              </a:ext>
            </a:extLst>
          </p:cNvPr>
          <p:cNvSpPr txBox="1"/>
          <p:nvPr/>
        </p:nvSpPr>
        <p:spPr>
          <a:xfrm>
            <a:off x="3505200" y="3879529"/>
            <a:ext cx="8512267" cy="1815882"/>
          </a:xfrm>
          <a:prstGeom prst="rect">
            <a:avLst/>
          </a:prstGeom>
          <a:noFill/>
        </p:spPr>
        <p:txBody>
          <a:bodyPr wrap="none" rtlCol="0">
            <a:spAutoFit/>
          </a:bodyPr>
          <a:lstStyle/>
          <a:p>
            <a:r>
              <a:rPr lang="en-US" sz="1400" b="1" dirty="0"/>
              <a:t>1.</a:t>
            </a:r>
            <a:r>
              <a:rPr lang="en-US" sz="1400" dirty="0"/>
              <a:t> Task-specific parameters (associated respectively with the weights into and from h(1) </a:t>
            </a:r>
          </a:p>
          <a:p>
            <a:r>
              <a:rPr lang="en-US" sz="1400" dirty="0"/>
              <a:t>and h(2)). Top-level hidden units h(1) and h(2) are specialized to each task (respectively </a:t>
            </a:r>
          </a:p>
          <a:p>
            <a:r>
              <a:rPr lang="en-US" sz="1400" dirty="0"/>
              <a:t>predicting y(1) and y(2))</a:t>
            </a:r>
          </a:p>
          <a:p>
            <a:r>
              <a:rPr lang="en-IN" sz="1400" b="1" dirty="0"/>
              <a:t>2.</a:t>
            </a:r>
            <a:r>
              <a:rPr lang="en-IN" sz="1400" dirty="0"/>
              <a:t> </a:t>
            </a:r>
            <a:r>
              <a:rPr lang="en-US" sz="1400" dirty="0"/>
              <a:t>Intermediate-level representation h(shared) is shared across all tasks.</a:t>
            </a:r>
          </a:p>
          <a:p>
            <a:r>
              <a:rPr lang="en-US" sz="1400" b="1" dirty="0"/>
              <a:t>3.</a:t>
            </a:r>
            <a:r>
              <a:rPr lang="en-US" sz="1400" dirty="0"/>
              <a:t> In the unsupervised learning context, it makes sense for some of the top-level factors to </a:t>
            </a:r>
          </a:p>
          <a:p>
            <a:r>
              <a:rPr lang="en-US" sz="1400" dirty="0"/>
              <a:t>be associated with none of the output tasks (h(3)): these are the factors that explain some </a:t>
            </a:r>
          </a:p>
          <a:p>
            <a:r>
              <a:rPr lang="en-US" sz="1400" dirty="0"/>
              <a:t>of the input variations but are not relevant for predicting y(1) or y(2)</a:t>
            </a:r>
            <a:endParaRPr lang="en-IN" sz="1400" dirty="0"/>
          </a:p>
          <a:p>
            <a:endParaRPr lang="en-IN" sz="1400" dirty="0"/>
          </a:p>
        </p:txBody>
      </p:sp>
    </p:spTree>
    <p:extLst>
      <p:ext uri="{BB962C8B-B14F-4D97-AF65-F5344CB8AC3E}">
        <p14:creationId xmlns:p14="http://schemas.microsoft.com/office/powerpoint/2010/main" val="18038428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2FE2-7723-4D9D-B4E7-C29C8B1EEB26}"/>
              </a:ext>
            </a:extLst>
          </p:cNvPr>
          <p:cNvSpPr>
            <a:spLocks noGrp="1"/>
          </p:cNvSpPr>
          <p:nvPr>
            <p:ph type="title"/>
          </p:nvPr>
        </p:nvSpPr>
        <p:spPr/>
        <p:txBody>
          <a:bodyPr/>
          <a:lstStyle/>
          <a:p>
            <a:r>
              <a:rPr lang="en-US" dirty="0"/>
              <a:t>Multi task learning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5AFC0451-25B8-4CCA-B15F-54865056CEE4}"/>
              </a:ext>
            </a:extLst>
          </p:cNvPr>
          <p:cNvSpPr>
            <a:spLocks noGrp="1"/>
          </p:cNvSpPr>
          <p:nvPr>
            <p:ph idx="1"/>
          </p:nvPr>
        </p:nvSpPr>
        <p:spPr/>
        <p:txBody>
          <a:bodyPr/>
          <a:lstStyle/>
          <a:p>
            <a:pPr marL="0" indent="0" algn="just">
              <a:buNone/>
            </a:pPr>
            <a:r>
              <a:rPr lang="en-US" sz="2400" dirty="0"/>
              <a:t>Improved generalization and generalization error bounds can be achieved because of the shared parameters, for which statistical strength can be greatly improved (in proportion with the increased number of examples for the shared parameters, compared to the scenario of single-task models). </a:t>
            </a:r>
          </a:p>
          <a:p>
            <a:pPr marL="0" indent="0" algn="just">
              <a:buNone/>
            </a:pPr>
            <a:r>
              <a:rPr lang="en-US" sz="2400" dirty="0"/>
              <a:t>Of course this will happen only if some assumptions about the statistical relationship between the different tasks are valid, meaning that there is something shared across some of the tasks. </a:t>
            </a:r>
          </a:p>
          <a:p>
            <a:pPr marL="0" indent="0" algn="just">
              <a:buNone/>
            </a:pPr>
            <a:r>
              <a:rPr lang="en-US" sz="2400" dirty="0"/>
              <a:t>From the point of view of deep learning, the underlying prior belief is the following: among the factors that explain the variations observed in the data associated with the different tasks, some are shared across two or more tasks.</a:t>
            </a:r>
            <a:endParaRPr lang="en-IN" sz="2400" dirty="0"/>
          </a:p>
        </p:txBody>
      </p:sp>
      <p:sp>
        <p:nvSpPr>
          <p:cNvPr id="4" name="Slide Number Placeholder 3">
            <a:extLst>
              <a:ext uri="{FF2B5EF4-FFF2-40B4-BE49-F238E27FC236}">
                <a16:creationId xmlns:a16="http://schemas.microsoft.com/office/drawing/2014/main" id="{E899F263-17C5-4C00-BB3F-C45BABDF1BFB}"/>
              </a:ext>
            </a:extLst>
          </p:cNvPr>
          <p:cNvSpPr>
            <a:spLocks noGrp="1"/>
          </p:cNvSpPr>
          <p:nvPr>
            <p:ph type="sldNum" sz="quarter" idx="12"/>
          </p:nvPr>
        </p:nvSpPr>
        <p:spPr/>
        <p:txBody>
          <a:bodyPr/>
          <a:lstStyle/>
          <a:p>
            <a:fld id="{BB2CE0DE-867F-455F-B20B-96D381B4AB71}" type="slidenum">
              <a:rPr lang="en-US" smtClean="0"/>
              <a:t>75</a:t>
            </a:fld>
            <a:endParaRPr lang="en-US"/>
          </a:p>
        </p:txBody>
      </p:sp>
    </p:spTree>
    <p:extLst>
      <p:ext uri="{BB962C8B-B14F-4D97-AF65-F5344CB8AC3E}">
        <p14:creationId xmlns:p14="http://schemas.microsoft.com/office/powerpoint/2010/main" val="1503826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5773-1EC2-8D95-FA1F-9B9582871B78}"/>
              </a:ext>
            </a:extLst>
          </p:cNvPr>
          <p:cNvSpPr>
            <a:spLocks noGrp="1"/>
          </p:cNvSpPr>
          <p:nvPr>
            <p:ph type="title"/>
          </p:nvPr>
        </p:nvSpPr>
        <p:spPr/>
        <p:txBody>
          <a:bodyPr/>
          <a:lstStyle/>
          <a:p>
            <a:r>
              <a:rPr lang="en-US" dirty="0">
                <a:solidFill>
                  <a:srgbClr val="262626"/>
                </a:solidFill>
                <a:latin typeface="Inter"/>
              </a:rPr>
              <a:t>Questions</a:t>
            </a:r>
            <a:endParaRPr lang="en-IN" dirty="0"/>
          </a:p>
        </p:txBody>
      </p:sp>
      <p:sp>
        <p:nvSpPr>
          <p:cNvPr id="3" name="Content Placeholder 2">
            <a:extLst>
              <a:ext uri="{FF2B5EF4-FFF2-40B4-BE49-F238E27FC236}">
                <a16:creationId xmlns:a16="http://schemas.microsoft.com/office/drawing/2014/main" id="{BED0F08C-06EC-AE7B-9CE3-451EBE0B1354}"/>
              </a:ext>
            </a:extLst>
          </p:cNvPr>
          <p:cNvSpPr>
            <a:spLocks noGrp="1"/>
          </p:cNvSpPr>
          <p:nvPr>
            <p:ph idx="1"/>
          </p:nvPr>
        </p:nvSpPr>
        <p:spPr/>
        <p:txBody>
          <a:bodyPr/>
          <a:lstStyle/>
          <a:p>
            <a:r>
              <a:rPr lang="en-US" sz="2000" dirty="0" err="1"/>
              <a:t>Analyse</a:t>
            </a:r>
            <a:r>
              <a:rPr lang="en-US" sz="2000" dirty="0"/>
              <a:t> how Multi-task learning improves generalization by pooling the examples arising out of several tasks</a:t>
            </a:r>
          </a:p>
          <a:p>
            <a:r>
              <a:rPr lang="en-US" sz="2000" dirty="0"/>
              <a:t>Analyze how multitask learning improves the generalization ability of models compared to single-task learning.</a:t>
            </a:r>
            <a:endParaRPr lang="en-IN" sz="2000" dirty="0"/>
          </a:p>
        </p:txBody>
      </p:sp>
      <p:sp>
        <p:nvSpPr>
          <p:cNvPr id="5" name="Slide Number Placeholder 4">
            <a:extLst>
              <a:ext uri="{FF2B5EF4-FFF2-40B4-BE49-F238E27FC236}">
                <a16:creationId xmlns:a16="http://schemas.microsoft.com/office/drawing/2014/main" id="{CAC77B76-EADC-B55E-C5C7-E2D1CA4D9A06}"/>
              </a:ext>
            </a:extLst>
          </p:cNvPr>
          <p:cNvSpPr>
            <a:spLocks noGrp="1"/>
          </p:cNvSpPr>
          <p:nvPr>
            <p:ph type="sldNum" sz="quarter" idx="12"/>
          </p:nvPr>
        </p:nvSpPr>
        <p:spPr/>
        <p:txBody>
          <a:bodyPr/>
          <a:lstStyle/>
          <a:p>
            <a:fld id="{BB2CE0DE-867F-455F-B20B-96D381B4AB71}" type="slidenum">
              <a:rPr lang="en-US" smtClean="0"/>
              <a:t>76</a:t>
            </a:fld>
            <a:endParaRPr lang="en-US"/>
          </a:p>
        </p:txBody>
      </p:sp>
    </p:spTree>
    <p:extLst>
      <p:ext uri="{BB962C8B-B14F-4D97-AF65-F5344CB8AC3E}">
        <p14:creationId xmlns:p14="http://schemas.microsoft.com/office/powerpoint/2010/main" val="20274964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1A45-628A-4390-8505-0F255841C321}"/>
              </a:ext>
            </a:extLst>
          </p:cNvPr>
          <p:cNvSpPr>
            <a:spLocks noGrp="1"/>
          </p:cNvSpPr>
          <p:nvPr>
            <p:ph type="title"/>
          </p:nvPr>
        </p:nvSpPr>
        <p:spPr/>
        <p:txBody>
          <a:bodyPr/>
          <a:lstStyle/>
          <a:p>
            <a:r>
              <a:rPr lang="en-US" dirty="0"/>
              <a:t>Early Stopping</a:t>
            </a:r>
            <a:endParaRPr lang="en-IN" dirty="0"/>
          </a:p>
        </p:txBody>
      </p:sp>
      <p:sp>
        <p:nvSpPr>
          <p:cNvPr id="3" name="Content Placeholder 2">
            <a:extLst>
              <a:ext uri="{FF2B5EF4-FFF2-40B4-BE49-F238E27FC236}">
                <a16:creationId xmlns:a16="http://schemas.microsoft.com/office/drawing/2014/main" id="{388D4F2E-99C2-4339-96F9-F9B1D83B9320}"/>
              </a:ext>
            </a:extLst>
          </p:cNvPr>
          <p:cNvSpPr>
            <a:spLocks noGrp="1"/>
          </p:cNvSpPr>
          <p:nvPr>
            <p:ph idx="1"/>
          </p:nvPr>
        </p:nvSpPr>
        <p:spPr/>
        <p:txBody>
          <a:bodyPr/>
          <a:lstStyle/>
          <a:p>
            <a:pPr algn="just"/>
            <a:r>
              <a:rPr lang="en-US" sz="1400" b="0" i="0" dirty="0">
                <a:solidFill>
                  <a:srgbClr val="000000"/>
                </a:solidFill>
                <a:effectLst/>
                <a:latin typeface="Work Sans" pitchFamily="2" charset="0"/>
              </a:rPr>
              <a:t>Early stopping is one of the most commonly used strategies because it is very simple and quite effective. It refers to the process of </a:t>
            </a:r>
            <a:r>
              <a:rPr lang="en-US" sz="1400" b="1" i="0" dirty="0">
                <a:solidFill>
                  <a:srgbClr val="000000"/>
                </a:solidFill>
                <a:effectLst/>
                <a:latin typeface="Work Sans" pitchFamily="2" charset="0"/>
              </a:rPr>
              <a:t>stopping the training when the training error is no longer decreasing but the validation error is starting to rise</a:t>
            </a:r>
            <a:r>
              <a:rPr lang="en-US" sz="1400" b="0" i="0" dirty="0">
                <a:solidFill>
                  <a:srgbClr val="000000"/>
                </a:solidFill>
                <a:effectLst/>
                <a:latin typeface="Work Sans" pitchFamily="2" charset="0"/>
              </a:rPr>
              <a:t>.</a:t>
            </a:r>
          </a:p>
          <a:p>
            <a:pPr algn="just"/>
            <a:r>
              <a:rPr lang="en-US" sz="1400" b="0" i="0" dirty="0">
                <a:solidFill>
                  <a:srgbClr val="000000"/>
                </a:solidFill>
                <a:effectLst/>
                <a:latin typeface="Work Sans" pitchFamily="2" charset="0"/>
              </a:rPr>
              <a:t>This implies that we store the trainable parameters periodically and track the validation error. After the training stopped, we return the trainable parameters to the exact point where the validation error started to rise, instead of the last ones.</a:t>
            </a:r>
            <a:endParaRPr lang="en-IN" sz="1400" dirty="0"/>
          </a:p>
        </p:txBody>
      </p:sp>
      <p:sp>
        <p:nvSpPr>
          <p:cNvPr id="4" name="Slide Number Placeholder 3">
            <a:extLst>
              <a:ext uri="{FF2B5EF4-FFF2-40B4-BE49-F238E27FC236}">
                <a16:creationId xmlns:a16="http://schemas.microsoft.com/office/drawing/2014/main" id="{B21CEE1D-7211-4BA6-AF3E-3C055BD7E24D}"/>
              </a:ext>
            </a:extLst>
          </p:cNvPr>
          <p:cNvSpPr>
            <a:spLocks noGrp="1"/>
          </p:cNvSpPr>
          <p:nvPr>
            <p:ph type="sldNum" sz="quarter" idx="12"/>
          </p:nvPr>
        </p:nvSpPr>
        <p:spPr/>
        <p:txBody>
          <a:bodyPr/>
          <a:lstStyle/>
          <a:p>
            <a:fld id="{BB2CE0DE-867F-455F-B20B-96D381B4AB71}" type="slidenum">
              <a:rPr lang="en-US" smtClean="0"/>
              <a:t>77</a:t>
            </a:fld>
            <a:endParaRPr lang="en-US"/>
          </a:p>
        </p:txBody>
      </p:sp>
      <p:pic>
        <p:nvPicPr>
          <p:cNvPr id="5" name="Picture 4">
            <a:extLst>
              <a:ext uri="{FF2B5EF4-FFF2-40B4-BE49-F238E27FC236}">
                <a16:creationId xmlns:a16="http://schemas.microsoft.com/office/drawing/2014/main" id="{01D5C72F-074B-4A50-9BE0-BCDBB3818492}"/>
              </a:ext>
            </a:extLst>
          </p:cNvPr>
          <p:cNvPicPr>
            <a:picLocks noChangeAspect="1"/>
          </p:cNvPicPr>
          <p:nvPr/>
        </p:nvPicPr>
        <p:blipFill>
          <a:blip r:embed="rId2"/>
          <a:stretch>
            <a:fillRect/>
          </a:stretch>
        </p:blipFill>
        <p:spPr>
          <a:xfrm>
            <a:off x="838200" y="2590800"/>
            <a:ext cx="4495800" cy="3371850"/>
          </a:xfrm>
          <a:prstGeom prst="rect">
            <a:avLst/>
          </a:prstGeom>
        </p:spPr>
      </p:pic>
      <p:sp>
        <p:nvSpPr>
          <p:cNvPr id="6" name="TextBox 5">
            <a:extLst>
              <a:ext uri="{FF2B5EF4-FFF2-40B4-BE49-F238E27FC236}">
                <a16:creationId xmlns:a16="http://schemas.microsoft.com/office/drawing/2014/main" id="{E3669222-CE84-462D-B12E-55C6F201CD79}"/>
              </a:ext>
            </a:extLst>
          </p:cNvPr>
          <p:cNvSpPr txBox="1"/>
          <p:nvPr/>
        </p:nvSpPr>
        <p:spPr>
          <a:xfrm>
            <a:off x="713121" y="6456395"/>
            <a:ext cx="3522118" cy="261610"/>
          </a:xfrm>
          <a:prstGeom prst="rect">
            <a:avLst/>
          </a:prstGeom>
          <a:noFill/>
        </p:spPr>
        <p:txBody>
          <a:bodyPr wrap="none" rtlCol="0">
            <a:spAutoFit/>
          </a:bodyPr>
          <a:lstStyle/>
          <a:p>
            <a:r>
              <a:rPr lang="en-IN" sz="1100" dirty="0"/>
              <a:t>Ref.: https://theaisummer.com/regularization/</a:t>
            </a:r>
          </a:p>
        </p:txBody>
      </p:sp>
      <p:sp>
        <p:nvSpPr>
          <p:cNvPr id="7" name="TextBox 6">
            <a:extLst>
              <a:ext uri="{FF2B5EF4-FFF2-40B4-BE49-F238E27FC236}">
                <a16:creationId xmlns:a16="http://schemas.microsoft.com/office/drawing/2014/main" id="{F46E02E8-72C6-452B-85CD-52C323C4B8C9}"/>
              </a:ext>
            </a:extLst>
          </p:cNvPr>
          <p:cNvSpPr txBox="1"/>
          <p:nvPr/>
        </p:nvSpPr>
        <p:spPr>
          <a:xfrm>
            <a:off x="5748126" y="3124200"/>
            <a:ext cx="6419065" cy="1569660"/>
          </a:xfrm>
          <a:prstGeom prst="rect">
            <a:avLst/>
          </a:prstGeom>
          <a:noFill/>
        </p:spPr>
        <p:txBody>
          <a:bodyPr wrap="none" rtlCol="0">
            <a:spAutoFit/>
          </a:bodyPr>
          <a:lstStyle/>
          <a:p>
            <a:r>
              <a:rPr lang="en-US" sz="1200" dirty="0"/>
              <a:t>One way to think of early stopping is as a very efficient hyperparameter </a:t>
            </a:r>
          </a:p>
          <a:p>
            <a:r>
              <a:rPr lang="en-US" sz="1200" dirty="0"/>
              <a:t>selection algorithm. In this view, the number of training steps is just another </a:t>
            </a:r>
          </a:p>
          <a:p>
            <a:r>
              <a:rPr lang="en-US" sz="1200" dirty="0"/>
              <a:t>hyperparameter. We can see in figure that this hyperparameter has a </a:t>
            </a:r>
          </a:p>
          <a:p>
            <a:r>
              <a:rPr lang="en-US" sz="1200" dirty="0"/>
              <a:t>U-shaped validation set performance curve. Most hyperparameters that </a:t>
            </a:r>
          </a:p>
          <a:p>
            <a:r>
              <a:rPr lang="en-US" sz="1200" dirty="0"/>
              <a:t>control model capacity have such a U-shaped validation set performance curve, </a:t>
            </a:r>
          </a:p>
          <a:p>
            <a:r>
              <a:rPr lang="en-US" sz="1200" dirty="0"/>
              <a:t>as illustrated in figure. In the case of early stopping, we are controlling the </a:t>
            </a:r>
          </a:p>
          <a:p>
            <a:r>
              <a:rPr lang="en-US" sz="1200" dirty="0"/>
              <a:t>effective capacity of the model by determining how many steps it </a:t>
            </a:r>
          </a:p>
          <a:p>
            <a:r>
              <a:rPr lang="en-US" sz="1200" dirty="0"/>
              <a:t>can take to fit the training set.</a:t>
            </a:r>
            <a:endParaRPr lang="en-IN" sz="1200" dirty="0"/>
          </a:p>
        </p:txBody>
      </p:sp>
    </p:spTree>
    <p:extLst>
      <p:ext uri="{BB962C8B-B14F-4D97-AF65-F5344CB8AC3E}">
        <p14:creationId xmlns:p14="http://schemas.microsoft.com/office/powerpoint/2010/main" val="38941463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7EFE-D52F-460C-A178-F8F95E6C77D8}"/>
              </a:ext>
            </a:extLst>
          </p:cNvPr>
          <p:cNvSpPr>
            <a:spLocks noGrp="1"/>
          </p:cNvSpPr>
          <p:nvPr>
            <p:ph type="title"/>
          </p:nvPr>
        </p:nvSpPr>
        <p:spPr/>
        <p:txBody>
          <a:bodyPr/>
          <a:lstStyle/>
          <a:p>
            <a:r>
              <a:rPr lang="en-IN" sz="2400" dirty="0"/>
              <a:t>Early stopping</a:t>
            </a:r>
            <a:br>
              <a:rPr lang="en-IN" sz="2400" dirty="0"/>
            </a:br>
            <a:r>
              <a:rPr lang="en-IN" sz="2400" dirty="0"/>
              <a:t>meta-algorithm</a:t>
            </a:r>
          </a:p>
        </p:txBody>
      </p:sp>
      <p:sp>
        <p:nvSpPr>
          <p:cNvPr id="4" name="Slide Number Placeholder 3">
            <a:extLst>
              <a:ext uri="{FF2B5EF4-FFF2-40B4-BE49-F238E27FC236}">
                <a16:creationId xmlns:a16="http://schemas.microsoft.com/office/drawing/2014/main" id="{6EC06F49-E556-4625-9B58-607925248C9E}"/>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6" name="Picture 5">
            <a:extLst>
              <a:ext uri="{FF2B5EF4-FFF2-40B4-BE49-F238E27FC236}">
                <a16:creationId xmlns:a16="http://schemas.microsoft.com/office/drawing/2014/main" id="{3D85C5F7-107A-4727-934D-A8A91433D086}"/>
              </a:ext>
            </a:extLst>
          </p:cNvPr>
          <p:cNvPicPr>
            <a:picLocks noChangeAspect="1"/>
          </p:cNvPicPr>
          <p:nvPr/>
        </p:nvPicPr>
        <p:blipFill>
          <a:blip r:embed="rId2"/>
          <a:stretch>
            <a:fillRect/>
          </a:stretch>
        </p:blipFill>
        <p:spPr>
          <a:xfrm>
            <a:off x="4216801" y="441221"/>
            <a:ext cx="7573115" cy="6264379"/>
          </a:xfrm>
          <a:prstGeom prst="rect">
            <a:avLst/>
          </a:prstGeom>
        </p:spPr>
      </p:pic>
      <p:sp>
        <p:nvSpPr>
          <p:cNvPr id="7" name="TextBox 6">
            <a:extLst>
              <a:ext uri="{FF2B5EF4-FFF2-40B4-BE49-F238E27FC236}">
                <a16:creationId xmlns:a16="http://schemas.microsoft.com/office/drawing/2014/main" id="{5C3EE1CF-03D1-4CC6-AC55-B9E0DC9CEEA7}"/>
              </a:ext>
            </a:extLst>
          </p:cNvPr>
          <p:cNvSpPr txBox="1"/>
          <p:nvPr/>
        </p:nvSpPr>
        <p:spPr>
          <a:xfrm>
            <a:off x="2754" y="1131465"/>
            <a:ext cx="4185889" cy="1200329"/>
          </a:xfrm>
          <a:prstGeom prst="rect">
            <a:avLst/>
          </a:prstGeom>
          <a:noFill/>
        </p:spPr>
        <p:txBody>
          <a:bodyPr wrap="none" rtlCol="0">
            <a:spAutoFit/>
          </a:bodyPr>
          <a:lstStyle/>
          <a:p>
            <a:r>
              <a:rPr lang="en-US" sz="1200" dirty="0"/>
              <a:t>The early stopping meta-algorithm for determining </a:t>
            </a:r>
          </a:p>
          <a:p>
            <a:r>
              <a:rPr lang="en-US" sz="1200" dirty="0"/>
              <a:t>the best amount of time to train. </a:t>
            </a:r>
          </a:p>
          <a:p>
            <a:r>
              <a:rPr lang="en-US" sz="1200" dirty="0"/>
              <a:t>This meta-algorithm is a general strategy </a:t>
            </a:r>
          </a:p>
          <a:p>
            <a:r>
              <a:rPr lang="en-US" sz="1200" dirty="0"/>
              <a:t>that works well with a variety of </a:t>
            </a:r>
          </a:p>
          <a:p>
            <a:r>
              <a:rPr lang="en-US" sz="1200" dirty="0"/>
              <a:t>training algorithms and ways of quantifying </a:t>
            </a:r>
          </a:p>
          <a:p>
            <a:r>
              <a:rPr lang="en-US" sz="1200" dirty="0"/>
              <a:t>error on the validation set.</a:t>
            </a:r>
            <a:endParaRPr lang="en-IN" sz="1200" dirty="0"/>
          </a:p>
        </p:txBody>
      </p:sp>
      <p:sp>
        <p:nvSpPr>
          <p:cNvPr id="8" name="TextBox 7">
            <a:extLst>
              <a:ext uri="{FF2B5EF4-FFF2-40B4-BE49-F238E27FC236}">
                <a16:creationId xmlns:a16="http://schemas.microsoft.com/office/drawing/2014/main" id="{2B6CF9E3-9171-4E29-A1A5-C8C4B262E07C}"/>
              </a:ext>
            </a:extLst>
          </p:cNvPr>
          <p:cNvSpPr txBox="1"/>
          <p:nvPr/>
        </p:nvSpPr>
        <p:spPr>
          <a:xfrm>
            <a:off x="68452" y="2548860"/>
            <a:ext cx="3948581" cy="1169551"/>
          </a:xfrm>
          <a:prstGeom prst="rect">
            <a:avLst/>
          </a:prstGeom>
          <a:noFill/>
        </p:spPr>
        <p:txBody>
          <a:bodyPr wrap="none" rtlCol="0">
            <a:spAutoFit/>
          </a:bodyPr>
          <a:lstStyle/>
          <a:p>
            <a:r>
              <a:rPr lang="en-US" sz="1400" dirty="0"/>
              <a:t>This strategy is known as early stopping. </a:t>
            </a:r>
          </a:p>
          <a:p>
            <a:r>
              <a:rPr lang="en-US" sz="1400" dirty="0"/>
              <a:t>It is probably the most commonly used </a:t>
            </a:r>
          </a:p>
          <a:p>
            <a:r>
              <a:rPr lang="en-US" sz="1400" dirty="0"/>
              <a:t>form of regularization in deep learning. </a:t>
            </a:r>
          </a:p>
          <a:p>
            <a:r>
              <a:rPr lang="en-US" sz="1400" dirty="0"/>
              <a:t>Its popularity is due both to its </a:t>
            </a:r>
          </a:p>
          <a:p>
            <a:r>
              <a:rPr lang="en-US" sz="1400" dirty="0"/>
              <a:t>effectiveness and its simplicity.</a:t>
            </a:r>
            <a:endParaRPr lang="en-IN" sz="1400" dirty="0"/>
          </a:p>
        </p:txBody>
      </p:sp>
      <p:sp>
        <p:nvSpPr>
          <p:cNvPr id="9" name="TextBox 8">
            <a:extLst>
              <a:ext uri="{FF2B5EF4-FFF2-40B4-BE49-F238E27FC236}">
                <a16:creationId xmlns:a16="http://schemas.microsoft.com/office/drawing/2014/main" id="{B4954F70-3D1B-4849-AD61-78E2D21538A3}"/>
              </a:ext>
            </a:extLst>
          </p:cNvPr>
          <p:cNvSpPr txBox="1"/>
          <p:nvPr/>
        </p:nvSpPr>
        <p:spPr>
          <a:xfrm>
            <a:off x="3777516" y="55689"/>
            <a:ext cx="8460558" cy="276999"/>
          </a:xfrm>
          <a:prstGeom prst="rect">
            <a:avLst/>
          </a:prstGeom>
          <a:noFill/>
        </p:spPr>
        <p:txBody>
          <a:bodyPr wrap="square" rtlCol="0">
            <a:spAutoFit/>
          </a:bodyPr>
          <a:lstStyle/>
          <a:p>
            <a:r>
              <a:rPr lang="en-US" sz="1200" b="1" dirty="0"/>
              <a:t>Algorithm 7.1: early stopping meta-algorithm for determining the best amount of time to train</a:t>
            </a:r>
            <a:endParaRPr lang="en-IN" sz="1200" b="1" dirty="0"/>
          </a:p>
        </p:txBody>
      </p:sp>
    </p:spTree>
    <p:extLst>
      <p:ext uri="{BB962C8B-B14F-4D97-AF65-F5344CB8AC3E}">
        <p14:creationId xmlns:p14="http://schemas.microsoft.com/office/powerpoint/2010/main" val="4020068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92BED-BCA9-491B-99E2-7832AF3CD1F5}"/>
              </a:ext>
            </a:extLst>
          </p:cNvPr>
          <p:cNvSpPr>
            <a:spLocks noGrp="1"/>
          </p:cNvSpPr>
          <p:nvPr>
            <p:ph type="title"/>
          </p:nvPr>
        </p:nvSpPr>
        <p:spPr/>
        <p:txBody>
          <a:bodyPr/>
          <a:lstStyle/>
          <a:p>
            <a:r>
              <a:rPr lang="en-US" dirty="0"/>
              <a:t>Early Stopping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3553D145-AD04-46F5-B080-648D6D61742D}"/>
              </a:ext>
            </a:extLst>
          </p:cNvPr>
          <p:cNvSpPr>
            <a:spLocks noGrp="1"/>
          </p:cNvSpPr>
          <p:nvPr>
            <p:ph idx="1"/>
          </p:nvPr>
        </p:nvSpPr>
        <p:spPr/>
        <p:txBody>
          <a:bodyPr/>
          <a:lstStyle/>
          <a:p>
            <a:pPr marL="0" indent="0" algn="just">
              <a:buNone/>
            </a:pPr>
            <a:r>
              <a:rPr lang="en-US" sz="1800" dirty="0"/>
              <a:t>Early stopping requires a validation set, which means some training data is not fed to the model. To best exploit this extra data, one can perform extra training after the initial training with early stopping has completed. In the second, extra training step, all of the training data is included. There are two basic strategies one can use for this second training procedure.</a:t>
            </a:r>
          </a:p>
          <a:p>
            <a:pPr algn="just"/>
            <a:r>
              <a:rPr lang="en-IN" sz="1800" dirty="0"/>
              <a:t>First  strategy: Algorithm 7.2</a:t>
            </a:r>
            <a:endParaRPr lang="en-US" sz="1800" dirty="0"/>
          </a:p>
          <a:p>
            <a:pPr algn="just"/>
            <a:r>
              <a:rPr lang="en-US" sz="1800" dirty="0"/>
              <a:t>Second </a:t>
            </a:r>
            <a:r>
              <a:rPr lang="en-IN" sz="1800" dirty="0"/>
              <a:t>strategy: Algorithm 7.3</a:t>
            </a:r>
          </a:p>
        </p:txBody>
      </p:sp>
      <p:sp>
        <p:nvSpPr>
          <p:cNvPr id="4" name="Slide Number Placeholder 3">
            <a:extLst>
              <a:ext uri="{FF2B5EF4-FFF2-40B4-BE49-F238E27FC236}">
                <a16:creationId xmlns:a16="http://schemas.microsoft.com/office/drawing/2014/main" id="{114878AC-989D-462C-B890-BA8A8570686D}"/>
              </a:ext>
            </a:extLst>
          </p:cNvPr>
          <p:cNvSpPr>
            <a:spLocks noGrp="1"/>
          </p:cNvSpPr>
          <p:nvPr>
            <p:ph type="sldNum" sz="quarter" idx="12"/>
          </p:nvPr>
        </p:nvSpPr>
        <p:spPr/>
        <p:txBody>
          <a:bodyPr/>
          <a:lstStyle/>
          <a:p>
            <a:fld id="{BB2CE0DE-867F-455F-B20B-96D381B4AB71}" type="slidenum">
              <a:rPr lang="en-US" smtClean="0"/>
              <a:t>79</a:t>
            </a:fld>
            <a:endParaRPr lang="en-US"/>
          </a:p>
        </p:txBody>
      </p:sp>
    </p:spTree>
    <p:extLst>
      <p:ext uri="{BB962C8B-B14F-4D97-AF65-F5344CB8AC3E}">
        <p14:creationId xmlns:p14="http://schemas.microsoft.com/office/powerpoint/2010/main" val="14981357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F10F-7B74-4C0D-B93B-8B684A38C5E9}"/>
              </a:ext>
            </a:extLst>
          </p:cNvPr>
          <p:cNvSpPr>
            <a:spLocks noGrp="1"/>
          </p:cNvSpPr>
          <p:nvPr>
            <p:ph type="title"/>
          </p:nvPr>
        </p:nvSpPr>
        <p:spPr/>
        <p:txBody>
          <a:bodyPr/>
          <a:lstStyle/>
          <a:p>
            <a:r>
              <a:rPr lang="en-US" dirty="0"/>
              <a:t>Early Stopping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3956F426-67F0-41F7-B09A-DE18259D16B4}"/>
              </a:ext>
            </a:extLst>
          </p:cNvPr>
          <p:cNvSpPr>
            <a:spLocks noGrp="1"/>
          </p:cNvSpPr>
          <p:nvPr>
            <p:ph idx="1"/>
          </p:nvPr>
        </p:nvSpPr>
        <p:spPr/>
        <p:txBody>
          <a:bodyPr/>
          <a:lstStyle/>
          <a:p>
            <a:pPr marL="0" indent="0" algn="just">
              <a:buNone/>
            </a:pPr>
            <a:r>
              <a:rPr lang="en-IN" sz="1600" dirty="0"/>
              <a:t>First  strategy: Algorithm 7.2</a:t>
            </a:r>
            <a:endParaRPr lang="en-US" sz="1600" dirty="0"/>
          </a:p>
          <a:p>
            <a:pPr marL="0" indent="0" algn="just">
              <a:buNone/>
            </a:pPr>
            <a:r>
              <a:rPr lang="en-US" sz="1600" dirty="0"/>
              <a:t>Initialize the model again and retrain on all of the data. In this second training pass, we train for the same number of steps as the early stopping procedure determined was optimal in the first pass. There are some subtleties associated with this procedure. For example, there is not a good way of knowing whether to retrain for the same number of parameter updates or the same number of passes through the dataset. On the second round of training, each pass through the dataset will require more parameter updates because the training set is bigger.</a:t>
            </a:r>
            <a:endParaRPr lang="en-IN" sz="1600" dirty="0"/>
          </a:p>
        </p:txBody>
      </p:sp>
      <p:sp>
        <p:nvSpPr>
          <p:cNvPr id="4" name="Slide Number Placeholder 3">
            <a:extLst>
              <a:ext uri="{FF2B5EF4-FFF2-40B4-BE49-F238E27FC236}">
                <a16:creationId xmlns:a16="http://schemas.microsoft.com/office/drawing/2014/main" id="{EC6B882F-FA70-4BFF-B98D-837021FCD03B}"/>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6" name="Picture 5">
            <a:extLst>
              <a:ext uri="{FF2B5EF4-FFF2-40B4-BE49-F238E27FC236}">
                <a16:creationId xmlns:a16="http://schemas.microsoft.com/office/drawing/2014/main" id="{7498999D-C81F-45A8-9E5F-C92E604D5CE6}"/>
              </a:ext>
            </a:extLst>
          </p:cNvPr>
          <p:cNvPicPr>
            <a:picLocks noChangeAspect="1"/>
          </p:cNvPicPr>
          <p:nvPr/>
        </p:nvPicPr>
        <p:blipFill>
          <a:blip r:embed="rId2"/>
          <a:stretch>
            <a:fillRect/>
          </a:stretch>
        </p:blipFill>
        <p:spPr>
          <a:xfrm>
            <a:off x="812800" y="3057703"/>
            <a:ext cx="9050013" cy="3486637"/>
          </a:xfrm>
          <a:prstGeom prst="rect">
            <a:avLst/>
          </a:prstGeom>
        </p:spPr>
      </p:pic>
    </p:spTree>
    <p:extLst>
      <p:ext uri="{BB962C8B-B14F-4D97-AF65-F5344CB8AC3E}">
        <p14:creationId xmlns:p14="http://schemas.microsoft.com/office/powerpoint/2010/main" val="7697538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C882-8B54-4A80-8A21-18BD9B95DD03}"/>
              </a:ext>
            </a:extLst>
          </p:cNvPr>
          <p:cNvSpPr>
            <a:spLocks noGrp="1"/>
          </p:cNvSpPr>
          <p:nvPr>
            <p:ph type="title"/>
          </p:nvPr>
        </p:nvSpPr>
        <p:spPr/>
        <p:txBody>
          <a:bodyPr/>
          <a:lstStyle/>
          <a:p>
            <a:r>
              <a:rPr lang="en-US" dirty="0"/>
              <a:t>Early Stopping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D2432274-A832-4AB9-ADD3-7067503DDD88}"/>
              </a:ext>
            </a:extLst>
          </p:cNvPr>
          <p:cNvSpPr>
            <a:spLocks noGrp="1"/>
          </p:cNvSpPr>
          <p:nvPr>
            <p:ph idx="1"/>
          </p:nvPr>
        </p:nvSpPr>
        <p:spPr/>
        <p:txBody>
          <a:bodyPr/>
          <a:lstStyle/>
          <a:p>
            <a:pPr marL="0" indent="0" algn="just">
              <a:buNone/>
            </a:pPr>
            <a:r>
              <a:rPr lang="en-US" sz="1400" dirty="0"/>
              <a:t>Second </a:t>
            </a:r>
            <a:r>
              <a:rPr lang="en-IN" sz="1400" dirty="0"/>
              <a:t>strategy: Algorithm 7.3</a:t>
            </a:r>
          </a:p>
          <a:p>
            <a:pPr marL="0" indent="0" algn="just">
              <a:buNone/>
            </a:pPr>
            <a:r>
              <a:rPr lang="en-US" sz="1400" dirty="0"/>
              <a:t>Another strategy for using all of the data is to keep the parameters obtained from the first round of training and then continue training but now using all of the data. At this stage, we now no longer have a guide for when to stop in terms of a number of steps. Instead, we can monitor the average loss function on the validation set, and continue training until it falls below the value of the training set objective at which the early stopping procedure halted. This strategy avoids the high cost of retraining the model from scratch, but is not as well-behaved. For example, there is not any guarantee that the objective on the validation set will ever reach the target value, so this strategy is not even guaranteed to terminate.</a:t>
            </a:r>
            <a:endParaRPr lang="en-IN" sz="1400" dirty="0"/>
          </a:p>
        </p:txBody>
      </p:sp>
      <p:sp>
        <p:nvSpPr>
          <p:cNvPr id="4" name="Slide Number Placeholder 3">
            <a:extLst>
              <a:ext uri="{FF2B5EF4-FFF2-40B4-BE49-F238E27FC236}">
                <a16:creationId xmlns:a16="http://schemas.microsoft.com/office/drawing/2014/main" id="{47331942-C79B-4825-962F-3BD64F5533A3}"/>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6" name="Picture 5">
            <a:extLst>
              <a:ext uri="{FF2B5EF4-FFF2-40B4-BE49-F238E27FC236}">
                <a16:creationId xmlns:a16="http://schemas.microsoft.com/office/drawing/2014/main" id="{8D40E303-FB0E-481D-B379-A3650C782E1D}"/>
              </a:ext>
            </a:extLst>
          </p:cNvPr>
          <p:cNvPicPr>
            <a:picLocks noChangeAspect="1"/>
          </p:cNvPicPr>
          <p:nvPr/>
        </p:nvPicPr>
        <p:blipFill>
          <a:blip r:embed="rId2"/>
          <a:stretch>
            <a:fillRect/>
          </a:stretch>
        </p:blipFill>
        <p:spPr>
          <a:xfrm>
            <a:off x="812800" y="3128359"/>
            <a:ext cx="7518400" cy="3577241"/>
          </a:xfrm>
          <a:prstGeom prst="rect">
            <a:avLst/>
          </a:prstGeom>
        </p:spPr>
      </p:pic>
    </p:spTree>
    <p:extLst>
      <p:ext uri="{BB962C8B-B14F-4D97-AF65-F5344CB8AC3E}">
        <p14:creationId xmlns:p14="http://schemas.microsoft.com/office/powerpoint/2010/main" val="40715567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C45CF-2D88-4ECE-A274-FFB9D1CA8EEA}"/>
              </a:ext>
            </a:extLst>
          </p:cNvPr>
          <p:cNvSpPr>
            <a:spLocks noGrp="1"/>
          </p:cNvSpPr>
          <p:nvPr>
            <p:ph type="title"/>
          </p:nvPr>
        </p:nvSpPr>
        <p:spPr/>
        <p:txBody>
          <a:bodyPr/>
          <a:lstStyle/>
          <a:p>
            <a:r>
              <a:rPr lang="en-US" dirty="0"/>
              <a:t>Questions</a:t>
            </a:r>
            <a:endParaRPr lang="en-IN" dirty="0"/>
          </a:p>
        </p:txBody>
      </p:sp>
      <p:sp>
        <p:nvSpPr>
          <p:cNvPr id="3" name="Content Placeholder 2">
            <a:extLst>
              <a:ext uri="{FF2B5EF4-FFF2-40B4-BE49-F238E27FC236}">
                <a16:creationId xmlns:a16="http://schemas.microsoft.com/office/drawing/2014/main" id="{12A703CB-1732-4E7E-9899-2F1584CC7950}"/>
              </a:ext>
            </a:extLst>
          </p:cNvPr>
          <p:cNvSpPr>
            <a:spLocks noGrp="1"/>
          </p:cNvSpPr>
          <p:nvPr>
            <p:ph idx="1"/>
          </p:nvPr>
        </p:nvSpPr>
        <p:spPr/>
        <p:txBody>
          <a:bodyPr/>
          <a:lstStyle/>
          <a:p>
            <a:pPr marL="0" indent="0" algn="just">
              <a:buNone/>
            </a:pPr>
            <a:r>
              <a:rPr lang="en-US" sz="1400" dirty="0"/>
              <a:t>Implement the meta-algorithm using early stopping to determine the best amount of time to train, how long to train and retrain the data, and determine a point at which overfitting begins during training and continue its training until the value is reached.</a:t>
            </a:r>
          </a:p>
          <a:p>
            <a:pPr marL="0" indent="0" algn="just">
              <a:buNone/>
            </a:pPr>
            <a:endParaRPr lang="en-US" sz="1400" dirty="0"/>
          </a:p>
          <a:p>
            <a:pPr marL="0" indent="0" algn="just">
              <a:buNone/>
            </a:pPr>
            <a:r>
              <a:rPr lang="en-US" sz="1400" dirty="0"/>
              <a:t>What is the early stopping meta-algorithm, and why is it considered an effective strategy for determining the optimal training duration across various training algorithms and error quantification methods on the validation set?</a:t>
            </a:r>
          </a:p>
          <a:p>
            <a:pPr marL="0" indent="0" algn="just">
              <a:buNone/>
            </a:pPr>
            <a:endParaRPr lang="en-US" sz="1400" dirty="0"/>
          </a:p>
          <a:p>
            <a:pPr marL="0" indent="0" algn="just">
              <a:buNone/>
            </a:pPr>
            <a:endParaRPr lang="en-IN" sz="1400" dirty="0"/>
          </a:p>
        </p:txBody>
      </p:sp>
      <p:sp>
        <p:nvSpPr>
          <p:cNvPr id="4" name="Slide Number Placeholder 3">
            <a:extLst>
              <a:ext uri="{FF2B5EF4-FFF2-40B4-BE49-F238E27FC236}">
                <a16:creationId xmlns:a16="http://schemas.microsoft.com/office/drawing/2014/main" id="{FB973A6A-341E-47DA-94F6-6539A9098FA4}"/>
              </a:ext>
            </a:extLst>
          </p:cNvPr>
          <p:cNvSpPr>
            <a:spLocks noGrp="1"/>
          </p:cNvSpPr>
          <p:nvPr>
            <p:ph type="sldNum" sz="quarter" idx="12"/>
          </p:nvPr>
        </p:nvSpPr>
        <p:spPr/>
        <p:txBody>
          <a:bodyPr/>
          <a:lstStyle/>
          <a:p>
            <a:fld id="{BB2CE0DE-867F-455F-B20B-96D381B4AB71}" type="slidenum">
              <a:rPr lang="en-US" smtClean="0"/>
              <a:t>82</a:t>
            </a:fld>
            <a:endParaRPr lang="en-US"/>
          </a:p>
        </p:txBody>
      </p:sp>
    </p:spTree>
    <p:extLst>
      <p:ext uri="{BB962C8B-B14F-4D97-AF65-F5344CB8AC3E}">
        <p14:creationId xmlns:p14="http://schemas.microsoft.com/office/powerpoint/2010/main" val="36659355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00FE4-C0FA-4D05-9573-14CE4810599B}"/>
              </a:ext>
            </a:extLst>
          </p:cNvPr>
          <p:cNvSpPr>
            <a:spLocks noGrp="1"/>
          </p:cNvSpPr>
          <p:nvPr>
            <p:ph type="title"/>
          </p:nvPr>
        </p:nvSpPr>
        <p:spPr/>
        <p:txBody>
          <a:bodyPr/>
          <a:lstStyle/>
          <a:p>
            <a:r>
              <a:rPr lang="en-US" dirty="0">
                <a:solidFill>
                  <a:srgbClr val="262626"/>
                </a:solidFill>
                <a:latin typeface="Inter"/>
              </a:rPr>
              <a:t>Parameter Tying and Parameter Sharing</a:t>
            </a:r>
            <a:endParaRPr lang="en-IN" dirty="0"/>
          </a:p>
        </p:txBody>
      </p:sp>
      <p:sp>
        <p:nvSpPr>
          <p:cNvPr id="3" name="Content Placeholder 2">
            <a:extLst>
              <a:ext uri="{FF2B5EF4-FFF2-40B4-BE49-F238E27FC236}">
                <a16:creationId xmlns:a16="http://schemas.microsoft.com/office/drawing/2014/main" id="{8B7DEF51-CDD2-4DBC-A5C5-400DBFE77D9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4617797-C91E-44E5-A8C7-86D497EFD18C}"/>
              </a:ext>
            </a:extLst>
          </p:cNvPr>
          <p:cNvSpPr>
            <a:spLocks noGrp="1"/>
          </p:cNvSpPr>
          <p:nvPr>
            <p:ph type="sldNum" sz="quarter" idx="12"/>
          </p:nvPr>
        </p:nvSpPr>
        <p:spPr/>
        <p:txBody>
          <a:bodyPr/>
          <a:lstStyle/>
          <a:p>
            <a:fld id="{BB2CE0DE-867F-455F-B20B-96D381B4AB71}" type="slidenum">
              <a:rPr lang="en-US" smtClean="0"/>
              <a:t>83</a:t>
            </a:fld>
            <a:endParaRPr lang="en-US"/>
          </a:p>
        </p:txBody>
      </p:sp>
    </p:spTree>
    <p:extLst>
      <p:ext uri="{BB962C8B-B14F-4D97-AF65-F5344CB8AC3E}">
        <p14:creationId xmlns:p14="http://schemas.microsoft.com/office/powerpoint/2010/main" val="16370773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77D7-F466-0F7F-29E9-9BD45EDC362A}"/>
              </a:ext>
            </a:extLst>
          </p:cNvPr>
          <p:cNvSpPr>
            <a:spLocks noGrp="1"/>
          </p:cNvSpPr>
          <p:nvPr>
            <p:ph type="title"/>
          </p:nvPr>
        </p:nvSpPr>
        <p:spPr/>
        <p:txBody>
          <a:bodyPr/>
          <a:lstStyle/>
          <a:p>
            <a:r>
              <a:rPr lang="en-US" dirty="0">
                <a:solidFill>
                  <a:srgbClr val="262626"/>
                </a:solidFill>
                <a:latin typeface="Inter"/>
              </a:rPr>
              <a:t>Questions</a:t>
            </a:r>
            <a:endParaRPr lang="en-IN" dirty="0"/>
          </a:p>
        </p:txBody>
      </p:sp>
      <p:sp>
        <p:nvSpPr>
          <p:cNvPr id="3" name="Content Placeholder 2">
            <a:extLst>
              <a:ext uri="{FF2B5EF4-FFF2-40B4-BE49-F238E27FC236}">
                <a16:creationId xmlns:a16="http://schemas.microsoft.com/office/drawing/2014/main" id="{891C097F-D770-296B-C9F5-C8199A24EF92}"/>
              </a:ext>
            </a:extLst>
          </p:cNvPr>
          <p:cNvSpPr>
            <a:spLocks noGrp="1"/>
          </p:cNvSpPr>
          <p:nvPr>
            <p:ph idx="1"/>
          </p:nvPr>
        </p:nvSpPr>
        <p:spPr/>
        <p:txBody>
          <a:bodyPr/>
          <a:lstStyle/>
          <a:p>
            <a:pPr algn="just"/>
            <a:r>
              <a:rPr lang="en-US" sz="1600" dirty="0"/>
              <a:t>Discuss Parameter Sharing and Typing in Deep Learning.</a:t>
            </a:r>
          </a:p>
          <a:p>
            <a:pPr algn="just"/>
            <a:r>
              <a:rPr lang="en-US" sz="1600" dirty="0"/>
              <a:t>Show how the parameters between two models performing the same/similar classification task are close to each other. Illustrate how parameter sharing occurs when processing images</a:t>
            </a:r>
          </a:p>
          <a:p>
            <a:pPr algn="just"/>
            <a:r>
              <a:rPr lang="en-US" sz="1600" dirty="0"/>
              <a:t>Apply parameter tying and sharing on the optimization landscape and model convergence.</a:t>
            </a:r>
          </a:p>
          <a:p>
            <a:endParaRPr lang="en-IN" sz="1600" dirty="0"/>
          </a:p>
          <a:p>
            <a:pPr algn="just"/>
            <a:endParaRPr lang="en-US" sz="1600" dirty="0"/>
          </a:p>
          <a:p>
            <a:pPr algn="just"/>
            <a:endParaRPr lang="en-IN" sz="1600" dirty="0"/>
          </a:p>
        </p:txBody>
      </p:sp>
      <p:sp>
        <p:nvSpPr>
          <p:cNvPr id="5" name="Slide Number Placeholder 4">
            <a:extLst>
              <a:ext uri="{FF2B5EF4-FFF2-40B4-BE49-F238E27FC236}">
                <a16:creationId xmlns:a16="http://schemas.microsoft.com/office/drawing/2014/main" id="{83A8B9AB-8DCB-CB14-2D7E-B66172A8223F}"/>
              </a:ext>
            </a:extLst>
          </p:cNvPr>
          <p:cNvSpPr>
            <a:spLocks noGrp="1"/>
          </p:cNvSpPr>
          <p:nvPr>
            <p:ph type="sldNum" sz="quarter" idx="12"/>
          </p:nvPr>
        </p:nvSpPr>
        <p:spPr/>
        <p:txBody>
          <a:bodyPr/>
          <a:lstStyle/>
          <a:p>
            <a:fld id="{BB2CE0DE-867F-455F-B20B-96D381B4AB71}" type="slidenum">
              <a:rPr lang="en-US" smtClean="0"/>
              <a:t>84</a:t>
            </a:fld>
            <a:endParaRPr lang="en-US"/>
          </a:p>
        </p:txBody>
      </p:sp>
      <p:pic>
        <p:nvPicPr>
          <p:cNvPr id="6" name="Picture 5">
            <a:extLst>
              <a:ext uri="{FF2B5EF4-FFF2-40B4-BE49-F238E27FC236}">
                <a16:creationId xmlns:a16="http://schemas.microsoft.com/office/drawing/2014/main" id="{BCDBAE18-6C7D-4A5B-BE3C-DAC2BD8922A3}"/>
              </a:ext>
            </a:extLst>
          </p:cNvPr>
          <p:cNvPicPr>
            <a:picLocks noChangeAspect="1"/>
          </p:cNvPicPr>
          <p:nvPr/>
        </p:nvPicPr>
        <p:blipFill>
          <a:blip r:embed="rId2"/>
          <a:stretch>
            <a:fillRect/>
          </a:stretch>
        </p:blipFill>
        <p:spPr>
          <a:xfrm>
            <a:off x="914400" y="3028894"/>
            <a:ext cx="8068801" cy="400106"/>
          </a:xfrm>
          <a:prstGeom prst="rect">
            <a:avLst/>
          </a:prstGeom>
        </p:spPr>
      </p:pic>
      <p:pic>
        <p:nvPicPr>
          <p:cNvPr id="8" name="Picture 7">
            <a:extLst>
              <a:ext uri="{FF2B5EF4-FFF2-40B4-BE49-F238E27FC236}">
                <a16:creationId xmlns:a16="http://schemas.microsoft.com/office/drawing/2014/main" id="{AAA2E933-3657-4042-B387-75ADA593BB9C}"/>
              </a:ext>
            </a:extLst>
          </p:cNvPr>
          <p:cNvPicPr>
            <a:picLocks noChangeAspect="1"/>
          </p:cNvPicPr>
          <p:nvPr/>
        </p:nvPicPr>
        <p:blipFill>
          <a:blip r:embed="rId3"/>
          <a:stretch>
            <a:fillRect/>
          </a:stretch>
        </p:blipFill>
        <p:spPr>
          <a:xfrm>
            <a:off x="1062057" y="3733800"/>
            <a:ext cx="7773485" cy="362001"/>
          </a:xfrm>
          <a:prstGeom prst="rect">
            <a:avLst/>
          </a:prstGeom>
        </p:spPr>
      </p:pic>
    </p:spTree>
    <p:extLst>
      <p:ext uri="{BB962C8B-B14F-4D97-AF65-F5344CB8AC3E}">
        <p14:creationId xmlns:p14="http://schemas.microsoft.com/office/powerpoint/2010/main" val="11768527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F612-C2B6-3C5D-75EC-262D35B0ABA5}"/>
              </a:ext>
            </a:extLst>
          </p:cNvPr>
          <p:cNvSpPr>
            <a:spLocks noGrp="1"/>
          </p:cNvSpPr>
          <p:nvPr>
            <p:ph type="title"/>
          </p:nvPr>
        </p:nvSpPr>
        <p:spPr/>
        <p:txBody>
          <a:bodyPr/>
          <a:lstStyle/>
          <a:p>
            <a:r>
              <a:rPr lang="en-US" dirty="0">
                <a:solidFill>
                  <a:srgbClr val="262626"/>
                </a:solidFill>
                <a:latin typeface="Inter"/>
              </a:rPr>
              <a:t>Sparse Representations</a:t>
            </a:r>
            <a:endParaRPr lang="en-IN" dirty="0"/>
          </a:p>
        </p:txBody>
      </p:sp>
      <p:sp>
        <p:nvSpPr>
          <p:cNvPr id="3" name="Content Placeholder 2">
            <a:extLst>
              <a:ext uri="{FF2B5EF4-FFF2-40B4-BE49-F238E27FC236}">
                <a16:creationId xmlns:a16="http://schemas.microsoft.com/office/drawing/2014/main" id="{D403E07F-9319-ACE3-2849-0645DB23AA49}"/>
              </a:ext>
            </a:extLst>
          </p:cNvPr>
          <p:cNvSpPr>
            <a:spLocks noGrp="1"/>
          </p:cNvSpPr>
          <p:nvPr>
            <p:ph idx="1"/>
          </p:nvPr>
        </p:nvSpPr>
        <p:spPr/>
        <p:txBody>
          <a:bodyPr/>
          <a:lstStyle/>
          <a:p>
            <a:endParaRPr lang="en-IN" sz="1800" dirty="0"/>
          </a:p>
        </p:txBody>
      </p:sp>
      <p:sp>
        <p:nvSpPr>
          <p:cNvPr id="5" name="Slide Number Placeholder 4">
            <a:extLst>
              <a:ext uri="{FF2B5EF4-FFF2-40B4-BE49-F238E27FC236}">
                <a16:creationId xmlns:a16="http://schemas.microsoft.com/office/drawing/2014/main" id="{FB6AC442-B26B-0B77-AEF0-B7F108DD8EE1}"/>
              </a:ext>
            </a:extLst>
          </p:cNvPr>
          <p:cNvSpPr>
            <a:spLocks noGrp="1"/>
          </p:cNvSpPr>
          <p:nvPr>
            <p:ph type="sldNum" sz="quarter" idx="12"/>
          </p:nvPr>
        </p:nvSpPr>
        <p:spPr/>
        <p:txBody>
          <a:bodyPr/>
          <a:lstStyle/>
          <a:p>
            <a:fld id="{BB2CE0DE-867F-455F-B20B-96D381B4AB71}" type="slidenum">
              <a:rPr lang="en-US" smtClean="0"/>
              <a:t>85</a:t>
            </a:fld>
            <a:endParaRPr lang="en-US"/>
          </a:p>
        </p:txBody>
      </p:sp>
    </p:spTree>
    <p:extLst>
      <p:ext uri="{BB962C8B-B14F-4D97-AF65-F5344CB8AC3E}">
        <p14:creationId xmlns:p14="http://schemas.microsoft.com/office/powerpoint/2010/main" val="36350661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C6C5F-60B7-DE0B-31F5-D32E836D17BC}"/>
              </a:ext>
            </a:extLst>
          </p:cNvPr>
          <p:cNvSpPr>
            <a:spLocks noGrp="1"/>
          </p:cNvSpPr>
          <p:nvPr>
            <p:ph type="title"/>
          </p:nvPr>
        </p:nvSpPr>
        <p:spPr/>
        <p:txBody>
          <a:bodyPr/>
          <a:lstStyle/>
          <a:p>
            <a:r>
              <a:rPr lang="en-US" dirty="0">
                <a:solidFill>
                  <a:srgbClr val="262626"/>
                </a:solidFill>
                <a:latin typeface="Inter"/>
              </a:rPr>
              <a:t>Dropout</a:t>
            </a:r>
            <a:endParaRPr lang="en-IN" dirty="0"/>
          </a:p>
        </p:txBody>
      </p:sp>
      <p:sp>
        <p:nvSpPr>
          <p:cNvPr id="3" name="Content Placeholder 2">
            <a:extLst>
              <a:ext uri="{FF2B5EF4-FFF2-40B4-BE49-F238E27FC236}">
                <a16:creationId xmlns:a16="http://schemas.microsoft.com/office/drawing/2014/main" id="{66A98ED9-4B88-3397-E38B-CAABCEAC93F5}"/>
              </a:ext>
            </a:extLst>
          </p:cNvPr>
          <p:cNvSpPr>
            <a:spLocks noGrp="1"/>
          </p:cNvSpPr>
          <p:nvPr>
            <p:ph idx="1"/>
          </p:nvPr>
        </p:nvSpPr>
        <p:spPr/>
        <p:txBody>
          <a:bodyPr/>
          <a:lstStyle/>
          <a:p>
            <a:r>
              <a:rPr lang="en-US" sz="1400" dirty="0"/>
              <a:t>What is dropout in neural networks? Can it be compared with bagging or boosting in regular machine learning scenario?</a:t>
            </a:r>
          </a:p>
          <a:p>
            <a:r>
              <a:rPr lang="en-US" sz="1400" dirty="0"/>
              <a:t>Define dropout. Analyze the differences between bagging and dropout by examining their effects on training and prediction in neural networks</a:t>
            </a:r>
          </a:p>
          <a:p>
            <a:r>
              <a:rPr lang="en-US" sz="1400" dirty="0"/>
              <a:t>Illustrate how dropout trains an ensemble consisting of all subnetworks. Examine how dropout can help reduce overfitting in neural networks and explore its computational advantages.</a:t>
            </a:r>
          </a:p>
          <a:p>
            <a:r>
              <a:rPr lang="en-US" sz="1400" dirty="0"/>
              <a:t>Analyze the role of dropout in neural networks in mitigate overfitting. What are the computational trade-offs and the overall impact of dropout on model generalization</a:t>
            </a:r>
            <a:endParaRPr lang="en-IN" sz="1400" dirty="0"/>
          </a:p>
          <a:p>
            <a:r>
              <a:rPr lang="en-US" sz="1400" dirty="0"/>
              <a:t>Explain how dropout create an ensemble of sub-networks from a base network, and why does the problem of sub-networks lacking input units or paths from input to output become less significant in networks with wider layers? Provide a suitable diagram to illustrate this concept.</a:t>
            </a:r>
          </a:p>
          <a:p>
            <a:r>
              <a:rPr lang="en-IN" sz="1400" dirty="0" err="1"/>
              <a:t>Analyze</a:t>
            </a:r>
            <a:r>
              <a:rPr lang="en-IN" sz="1400" dirty="0"/>
              <a:t> how incorporating dropout in the neural network model can mitigate overfitting. Discuss the computational trade-offs and the overall impact on model generalization.</a:t>
            </a:r>
            <a:r>
              <a:rPr lang="en-US" sz="1400" dirty="0"/>
              <a:t> </a:t>
            </a:r>
            <a:endParaRPr lang="en-IN" sz="1400" dirty="0"/>
          </a:p>
        </p:txBody>
      </p:sp>
      <p:sp>
        <p:nvSpPr>
          <p:cNvPr id="5" name="Slide Number Placeholder 4">
            <a:extLst>
              <a:ext uri="{FF2B5EF4-FFF2-40B4-BE49-F238E27FC236}">
                <a16:creationId xmlns:a16="http://schemas.microsoft.com/office/drawing/2014/main" id="{B4BA90FE-8815-1FB5-B24E-CDE071D41E4B}"/>
              </a:ext>
            </a:extLst>
          </p:cNvPr>
          <p:cNvSpPr>
            <a:spLocks noGrp="1"/>
          </p:cNvSpPr>
          <p:nvPr>
            <p:ph type="sldNum" sz="quarter" idx="12"/>
          </p:nvPr>
        </p:nvSpPr>
        <p:spPr/>
        <p:txBody>
          <a:bodyPr/>
          <a:lstStyle/>
          <a:p>
            <a:fld id="{BB2CE0DE-867F-455F-B20B-96D381B4AB71}" type="slidenum">
              <a:rPr lang="en-US" smtClean="0"/>
              <a:t>86</a:t>
            </a:fld>
            <a:endParaRPr lang="en-US"/>
          </a:p>
        </p:txBody>
      </p:sp>
    </p:spTree>
    <p:extLst>
      <p:ext uri="{BB962C8B-B14F-4D97-AF65-F5344CB8AC3E}">
        <p14:creationId xmlns:p14="http://schemas.microsoft.com/office/powerpoint/2010/main" val="16002850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FBADC-EA7F-FDCE-2AC5-82AE9186154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866CAF-51CB-6329-AF4E-95D79F10A544}"/>
              </a:ext>
            </a:extLst>
          </p:cNvPr>
          <p:cNvSpPr>
            <a:spLocks noGrp="1"/>
          </p:cNvSpPr>
          <p:nvPr>
            <p:ph idx="1"/>
          </p:nvPr>
        </p:nvSpPr>
        <p:spPr/>
        <p:txBody>
          <a:bodyPr/>
          <a:lstStyle/>
          <a:p>
            <a:r>
              <a:rPr lang="en-IN" sz="3200" dirty="0"/>
              <a:t>Illustrate the imposing of soft constraints on parameters to improve generalization.</a:t>
            </a:r>
            <a:endParaRPr lang="en-US" sz="3200" dirty="0"/>
          </a:p>
          <a:p>
            <a:endParaRPr lang="en-IN" dirty="0"/>
          </a:p>
        </p:txBody>
      </p:sp>
      <p:sp>
        <p:nvSpPr>
          <p:cNvPr id="4" name="Slide Number Placeholder 3">
            <a:extLst>
              <a:ext uri="{FF2B5EF4-FFF2-40B4-BE49-F238E27FC236}">
                <a16:creationId xmlns:a16="http://schemas.microsoft.com/office/drawing/2014/main" id="{5E65FDEB-FD02-16B2-D564-DB063B589882}"/>
              </a:ext>
            </a:extLst>
          </p:cNvPr>
          <p:cNvSpPr>
            <a:spLocks noGrp="1"/>
          </p:cNvSpPr>
          <p:nvPr>
            <p:ph type="sldNum" sz="quarter" idx="12"/>
          </p:nvPr>
        </p:nvSpPr>
        <p:spPr/>
        <p:txBody>
          <a:bodyPr/>
          <a:lstStyle/>
          <a:p>
            <a:fld id="{BB2CE0DE-867F-455F-B20B-96D381B4AB71}" type="slidenum">
              <a:rPr lang="en-US" smtClean="0"/>
              <a:t>87</a:t>
            </a:fld>
            <a:endParaRPr lang="en-US"/>
          </a:p>
        </p:txBody>
      </p:sp>
    </p:spTree>
    <p:extLst>
      <p:ext uri="{BB962C8B-B14F-4D97-AF65-F5344CB8AC3E}">
        <p14:creationId xmlns:p14="http://schemas.microsoft.com/office/powerpoint/2010/main" val="983756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88</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1880</TotalTime>
  <Words>5246</Words>
  <Application>Microsoft Office PowerPoint</Application>
  <PresentationFormat>Widescreen</PresentationFormat>
  <Paragraphs>591</Paragraphs>
  <Slides>88</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88</vt:i4>
      </vt:variant>
    </vt:vector>
  </HeadingPairs>
  <TitlesOfParts>
    <vt:vector size="98" baseType="lpstr">
      <vt:lpstr>Arial</vt:lpstr>
      <vt:lpstr>Calibri</vt:lpstr>
      <vt:lpstr>Cambria Math</vt:lpstr>
      <vt:lpstr>Google Sans</vt:lpstr>
      <vt:lpstr>Inter</vt:lpstr>
      <vt:lpstr>source-serif-pro</vt:lpstr>
      <vt:lpstr>Verdana</vt:lpstr>
      <vt:lpstr>Wingdings</vt:lpstr>
      <vt:lpstr>Work Sans</vt:lpstr>
      <vt:lpstr>Theme1</vt:lpstr>
      <vt:lpstr>Neural Network and Deep Learning 23CS8PENDL/23CS7PENDL</vt:lpstr>
      <vt:lpstr>Unit-3</vt:lpstr>
      <vt:lpstr>What is Deep Learning ?</vt:lpstr>
      <vt:lpstr>Difference between</vt:lpstr>
      <vt:lpstr>Difference between Traditional ML and DL</vt:lpstr>
      <vt:lpstr>Unit-3</vt:lpstr>
      <vt:lpstr>Background: For Regularization</vt:lpstr>
      <vt:lpstr>Bias, Variance, Overfitting, Underfitting</vt:lpstr>
      <vt:lpstr>Bias, Variance, Overfitting, Underfitting</vt:lpstr>
      <vt:lpstr>Bias, Variance, Overfitting, Underfitting</vt:lpstr>
      <vt:lpstr>Bias, Variance, Overfitting, Underfitting</vt:lpstr>
      <vt:lpstr>Bias, Variance, Overfitting, Underfitting</vt:lpstr>
      <vt:lpstr>Background: For Regularization</vt:lpstr>
      <vt:lpstr>Background: For Regularization</vt:lpstr>
      <vt:lpstr>Background: For Regularization</vt:lpstr>
      <vt:lpstr>Why Overfitting happens in Neural networks ?</vt:lpstr>
      <vt:lpstr>Background: For Regularization</vt:lpstr>
      <vt:lpstr>Loss and complexity</vt:lpstr>
      <vt:lpstr>Methods to avoid Overfitting</vt:lpstr>
      <vt:lpstr>Question</vt:lpstr>
      <vt:lpstr>Regularization</vt:lpstr>
      <vt:lpstr>Parameter Norm Penalties</vt:lpstr>
      <vt:lpstr>Parameter Norm Penalties</vt:lpstr>
      <vt:lpstr>Primary Types of Regularization Penalty Terms</vt:lpstr>
      <vt:lpstr>PowerPoint Presentation</vt:lpstr>
      <vt:lpstr>L2 Parameter Regularization </vt:lpstr>
      <vt:lpstr>L2 Parameter Regularization </vt:lpstr>
      <vt:lpstr>L2 Parameter Regularization </vt:lpstr>
      <vt:lpstr>L2 Parameter Regularization </vt:lpstr>
      <vt:lpstr>L2 Parameter Regularization </vt:lpstr>
      <vt:lpstr>L2 Parameter Regularization </vt:lpstr>
      <vt:lpstr>L2 Parameter Regularization </vt:lpstr>
      <vt:lpstr>Background</vt:lpstr>
      <vt:lpstr>Background</vt:lpstr>
      <vt:lpstr>Background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vt:lpstr>
      <vt:lpstr>L2 Regularization: For Linear Regression</vt:lpstr>
      <vt:lpstr>Background: For L1 Regularization</vt:lpstr>
      <vt:lpstr>L1 Regularization</vt:lpstr>
      <vt:lpstr>Simple Numerical Example</vt:lpstr>
      <vt:lpstr>Difference between L1 and l2 Regularization</vt:lpstr>
      <vt:lpstr>Difference between L1 and l2 Regularization</vt:lpstr>
      <vt:lpstr>Difference between L1 and l2 Regularization</vt:lpstr>
      <vt:lpstr>Questions on the topics: Introduction, Parameter Norm Penalties - L2 Parameter Regularization</vt:lpstr>
      <vt:lpstr>Data Augmentation </vt:lpstr>
      <vt:lpstr>Position Data Augmentation </vt:lpstr>
      <vt:lpstr>Color Augmentation </vt:lpstr>
      <vt:lpstr>Data Augmentation: Injecting Noise</vt:lpstr>
      <vt:lpstr>Data Augmentation: Comparing ML algorithms performance</vt:lpstr>
      <vt:lpstr>Questions</vt:lpstr>
      <vt:lpstr>Semi-Supervised Learning (SSL)</vt:lpstr>
      <vt:lpstr>SSL: Combining Unsupervised and Supervised Components</vt:lpstr>
      <vt:lpstr>SSL: Combining Unsupervised and Supervised Components (Contd…)</vt:lpstr>
      <vt:lpstr>SSL: Shared Parameterization of Generative and Discriminative Models (Contd…) </vt:lpstr>
      <vt:lpstr>SSL: Shared Parameterization of Generative and Discriminative Models (Contd…) </vt:lpstr>
      <vt:lpstr>Question</vt:lpstr>
      <vt:lpstr>Multi task Learning</vt:lpstr>
      <vt:lpstr>Multi task Learning (Contd…)</vt:lpstr>
      <vt:lpstr>Multi task learning (Contd…)</vt:lpstr>
      <vt:lpstr>Questions</vt:lpstr>
      <vt:lpstr>Early Stopping</vt:lpstr>
      <vt:lpstr>Early stopping meta-algorithm</vt:lpstr>
      <vt:lpstr>Early Stopping (Contd…)</vt:lpstr>
      <vt:lpstr>Early Stopping (Contd…)</vt:lpstr>
      <vt:lpstr>Early Stopping (Contd…)</vt:lpstr>
      <vt:lpstr>Questions</vt:lpstr>
      <vt:lpstr>Parameter Tying and Parameter Sharing</vt:lpstr>
      <vt:lpstr>Questions</vt:lpstr>
      <vt:lpstr>Sparse Representations</vt:lpstr>
      <vt:lpstr>Dropout</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195</cp:revision>
  <cp:lastPrinted>2014-08-07T03:39:40Z</cp:lastPrinted>
  <dcterms:created xsi:type="dcterms:W3CDTF">2014-08-06T04:28:49Z</dcterms:created>
  <dcterms:modified xsi:type="dcterms:W3CDTF">2026-03-24T06:45:54Z</dcterms:modified>
</cp:coreProperties>
</file>