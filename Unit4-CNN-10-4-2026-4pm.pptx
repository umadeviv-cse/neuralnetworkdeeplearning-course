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6"/>
  </p:notesMasterIdLst>
  <p:handoutMasterIdLst>
    <p:handoutMasterId r:id="rId107"/>
  </p:handoutMasterIdLst>
  <p:sldIdLst>
    <p:sldId id="256" r:id="rId2"/>
    <p:sldId id="349" r:id="rId3"/>
    <p:sldId id="705" r:id="rId4"/>
    <p:sldId id="709" r:id="rId5"/>
    <p:sldId id="710" r:id="rId6"/>
    <p:sldId id="711" r:id="rId7"/>
    <p:sldId id="712" r:id="rId8"/>
    <p:sldId id="713" r:id="rId9"/>
    <p:sldId id="715" r:id="rId10"/>
    <p:sldId id="716" r:id="rId11"/>
    <p:sldId id="717" r:id="rId12"/>
    <p:sldId id="718" r:id="rId13"/>
    <p:sldId id="714" r:id="rId14"/>
    <p:sldId id="719" r:id="rId15"/>
    <p:sldId id="720" r:id="rId16"/>
    <p:sldId id="721" r:id="rId17"/>
    <p:sldId id="722" r:id="rId18"/>
    <p:sldId id="774" r:id="rId19"/>
    <p:sldId id="778" r:id="rId20"/>
    <p:sldId id="771" r:id="rId21"/>
    <p:sldId id="772" r:id="rId22"/>
    <p:sldId id="775" r:id="rId23"/>
    <p:sldId id="776" r:id="rId24"/>
    <p:sldId id="773" r:id="rId25"/>
    <p:sldId id="755" r:id="rId26"/>
    <p:sldId id="779" r:id="rId27"/>
    <p:sldId id="780" r:id="rId28"/>
    <p:sldId id="781" r:id="rId29"/>
    <p:sldId id="782" r:id="rId30"/>
    <p:sldId id="783" r:id="rId31"/>
    <p:sldId id="784" r:id="rId32"/>
    <p:sldId id="786" r:id="rId33"/>
    <p:sldId id="785" r:id="rId34"/>
    <p:sldId id="789" r:id="rId35"/>
    <p:sldId id="790" r:id="rId36"/>
    <p:sldId id="787" r:id="rId37"/>
    <p:sldId id="788" r:id="rId38"/>
    <p:sldId id="791" r:id="rId39"/>
    <p:sldId id="817" r:id="rId40"/>
    <p:sldId id="792" r:id="rId41"/>
    <p:sldId id="793" r:id="rId42"/>
    <p:sldId id="794" r:id="rId43"/>
    <p:sldId id="795" r:id="rId44"/>
    <p:sldId id="796" r:id="rId45"/>
    <p:sldId id="799" r:id="rId46"/>
    <p:sldId id="801" r:id="rId47"/>
    <p:sldId id="802" r:id="rId48"/>
    <p:sldId id="803" r:id="rId49"/>
    <p:sldId id="816" r:id="rId50"/>
    <p:sldId id="706" r:id="rId51"/>
    <p:sldId id="869" r:id="rId52"/>
    <p:sldId id="870" r:id="rId53"/>
    <p:sldId id="818" r:id="rId54"/>
    <p:sldId id="809" r:id="rId55"/>
    <p:sldId id="810" r:id="rId56"/>
    <p:sldId id="819" r:id="rId57"/>
    <p:sldId id="804" r:id="rId58"/>
    <p:sldId id="866" r:id="rId59"/>
    <p:sldId id="699" r:id="rId60"/>
    <p:sldId id="896" r:id="rId61"/>
    <p:sldId id="879" r:id="rId62"/>
    <p:sldId id="872" r:id="rId63"/>
    <p:sldId id="873" r:id="rId64"/>
    <p:sldId id="874" r:id="rId65"/>
    <p:sldId id="875" r:id="rId66"/>
    <p:sldId id="877" r:id="rId67"/>
    <p:sldId id="878" r:id="rId68"/>
    <p:sldId id="880" r:id="rId69"/>
    <p:sldId id="881" r:id="rId70"/>
    <p:sldId id="882" r:id="rId71"/>
    <p:sldId id="876" r:id="rId72"/>
    <p:sldId id="871" r:id="rId73"/>
    <p:sldId id="884" r:id="rId74"/>
    <p:sldId id="887" r:id="rId75"/>
    <p:sldId id="888" r:id="rId76"/>
    <p:sldId id="891" r:id="rId77"/>
    <p:sldId id="889" r:id="rId78"/>
    <p:sldId id="886" r:id="rId79"/>
    <p:sldId id="892" r:id="rId80"/>
    <p:sldId id="894" r:id="rId81"/>
    <p:sldId id="893" r:id="rId82"/>
    <p:sldId id="895" r:id="rId83"/>
    <p:sldId id="897" r:id="rId84"/>
    <p:sldId id="898" r:id="rId85"/>
    <p:sldId id="901" r:id="rId86"/>
    <p:sldId id="902" r:id="rId87"/>
    <p:sldId id="903" r:id="rId88"/>
    <p:sldId id="905" r:id="rId89"/>
    <p:sldId id="908" r:id="rId90"/>
    <p:sldId id="909" r:id="rId91"/>
    <p:sldId id="910" r:id="rId92"/>
    <p:sldId id="911" r:id="rId93"/>
    <p:sldId id="912" r:id="rId94"/>
    <p:sldId id="885" r:id="rId95"/>
    <p:sldId id="883" r:id="rId96"/>
    <p:sldId id="868" r:id="rId97"/>
    <p:sldId id="697" r:id="rId98"/>
    <p:sldId id="698" r:id="rId99"/>
    <p:sldId id="700" r:id="rId100"/>
    <p:sldId id="701" r:id="rId101"/>
    <p:sldId id="702" r:id="rId102"/>
    <p:sldId id="704" r:id="rId103"/>
    <p:sldId id="703" r:id="rId104"/>
    <p:sldId id="305"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9900FF"/>
    <a:srgbClr val="FF00FF"/>
    <a:srgbClr val="00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416" autoAdjust="0"/>
  </p:normalViewPr>
  <p:slideViewPr>
    <p:cSldViewPr>
      <p:cViewPr varScale="1">
        <p:scale>
          <a:sx n="92" d="100"/>
          <a:sy n="92" d="100"/>
        </p:scale>
        <p:origin x="1476" y="78"/>
      </p:cViewPr>
      <p:guideLst>
        <p:guide orient="horz" pos="2160"/>
        <p:guide pos="3840"/>
      </p:guideLst>
    </p:cSldViewPr>
  </p:slideViewPr>
  <p:notesTextViewPr>
    <p:cViewPr>
      <p:scale>
        <a:sx n="1" d="1"/>
        <a:sy n="1" d="1"/>
      </p:scale>
      <p:origin x="0" y="0"/>
    </p:cViewPr>
  </p:notesTextViewPr>
  <p:sorterViewPr>
    <p:cViewPr>
      <p:scale>
        <a:sx n="100" d="100"/>
        <a:sy n="100" d="100"/>
      </p:scale>
      <p:origin x="0" y="-188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3768608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a:t>
            </a:fld>
            <a:endParaRPr lang="en-US"/>
          </a:p>
        </p:txBody>
      </p:sp>
    </p:spTree>
    <p:extLst>
      <p:ext uri="{BB962C8B-B14F-4D97-AF65-F5344CB8AC3E}">
        <p14:creationId xmlns:p14="http://schemas.microsoft.com/office/powerpoint/2010/main" val="236258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a:t>
            </a:fld>
            <a:endParaRPr lang="en-US"/>
          </a:p>
        </p:txBody>
      </p:sp>
    </p:spTree>
    <p:extLst>
      <p:ext uri="{BB962C8B-B14F-4D97-AF65-F5344CB8AC3E}">
        <p14:creationId xmlns:p14="http://schemas.microsoft.com/office/powerpoint/2010/main" val="3613479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496018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https://datahacker.rs/edge-detection-extended/</a:t>
            </a:r>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323143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671542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3289243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If you want to convolve, let’s say, a7 by 7 image with this 3 by 3 filter with a stride of two, what that means is you take the element Y’s product as usual in this upper left 3 by 3region and then multiply and add (that gives you 91 as the first element of the output).</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541970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But then instead of stepping the blue box over by one step, we are going to step over by two steps. So, we are going to make it hop over two steps like on GIF 2. Notice how the blue box jump over by two steps. And then you do the usual element Y’s product (summing it turns out 100)and now we are going to do they do that again, and make the blue box jump over by two steps (summing it up gives you 83).</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162433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37</a:t>
            </a:fld>
            <a:endParaRPr lang="en-US"/>
          </a:p>
        </p:txBody>
      </p:sp>
    </p:spTree>
    <p:extLst>
      <p:ext uri="{BB962C8B-B14F-4D97-AF65-F5344CB8AC3E}">
        <p14:creationId xmlns:p14="http://schemas.microsoft.com/office/powerpoint/2010/main" val="3105824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 4 by 4 matrix output matrix, the output of the convolution operation, plays a role similar to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and the output image plays a role similar to </a:t>
            </a:r>
            <a:r>
              <a:rPr lang="en-US" b="0" i="1" dirty="0">
                <a:solidFill>
                  <a:srgbClr val="242424"/>
                </a:solidFill>
                <a:effectLst/>
                <a:latin typeface="source-serif-pro"/>
              </a:rPr>
              <a:t>a</a:t>
            </a:r>
            <a:r>
              <a:rPr lang="en-US" b="0" i="0" dirty="0">
                <a:solidFill>
                  <a:srgbClr val="242424"/>
                </a:solidFill>
                <a:effectLst/>
                <a:latin typeface="source-serif-pro"/>
              </a:rPr>
              <a:t>^[1] = </a:t>
            </a:r>
            <a:r>
              <a:rPr lang="en-US" b="0" i="1" dirty="0">
                <a:solidFill>
                  <a:srgbClr val="242424"/>
                </a:solidFill>
                <a:effectLst/>
                <a:latin typeface="source-serif-pro"/>
              </a:rPr>
              <a:t>g</a:t>
            </a:r>
            <a:r>
              <a:rPr lang="en-US" b="0" i="0" dirty="0">
                <a:solidFill>
                  <a:srgbClr val="242424"/>
                </a:solidFill>
                <a:effectLst/>
                <a:latin typeface="source-serif-pro"/>
              </a:rPr>
              <a:t>(</a:t>
            </a:r>
            <a:r>
              <a:rPr lang="en-US" b="0" i="1" dirty="0">
                <a:solidFill>
                  <a:srgbClr val="242424"/>
                </a:solidFill>
                <a:effectLst/>
                <a:latin typeface="source-serif-pro"/>
              </a:rPr>
              <a:t>z</a:t>
            </a:r>
            <a:r>
              <a:rPr lang="en-US" b="0" i="0" dirty="0">
                <a:solidFill>
                  <a:srgbClr val="242424"/>
                </a:solidFill>
                <a:effectLst/>
                <a:latin typeface="source-serif-pro"/>
              </a:rPr>
              <a:t>^[1]), where </a:t>
            </a:r>
            <a:r>
              <a:rPr lang="en-US" b="0" i="1" dirty="0">
                <a:solidFill>
                  <a:srgbClr val="242424"/>
                </a:solidFill>
                <a:effectLst/>
                <a:latin typeface="source-serif-pro"/>
              </a:rPr>
              <a:t>g</a:t>
            </a:r>
            <a:r>
              <a:rPr lang="en-US" b="0" i="0" dirty="0">
                <a:solidFill>
                  <a:srgbClr val="242424"/>
                </a:solidFill>
                <a:effectLst/>
                <a:latin typeface="source-serif-pro"/>
              </a:rPr>
              <a:t> is the non-linearity function such as the ReLU and </a:t>
            </a:r>
            <a:r>
              <a:rPr lang="en-US" b="0" i="1" dirty="0">
                <a:solidFill>
                  <a:srgbClr val="242424"/>
                </a:solidFill>
                <a:effectLst/>
                <a:latin typeface="source-serif-pro"/>
              </a:rPr>
              <a:t>z</a:t>
            </a:r>
            <a:r>
              <a:rPr lang="en-US" b="0" i="0" dirty="0">
                <a:solidFill>
                  <a:srgbClr val="242424"/>
                </a:solidFill>
                <a:effectLst/>
                <a:latin typeface="source-serif-pro"/>
              </a:rPr>
              <a:t>^[1] =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 </a:t>
            </a:r>
            <a:r>
              <a:rPr lang="en-US" b="0" i="1" dirty="0">
                <a:solidFill>
                  <a:srgbClr val="242424"/>
                </a:solidFill>
                <a:effectLst/>
                <a:latin typeface="source-serif-pro"/>
              </a:rPr>
              <a:t>b</a:t>
            </a:r>
            <a:r>
              <a:rPr lang="en-US" b="0" i="0" dirty="0">
                <a:solidFill>
                  <a:srgbClr val="242424"/>
                </a:solidFill>
                <a:effectLst/>
                <a:latin typeface="source-serif-pro"/>
              </a:rPr>
              <a:t>^[1]. So we are really just going from </a:t>
            </a:r>
            <a:r>
              <a:rPr lang="en-US" b="0" i="1" dirty="0">
                <a:solidFill>
                  <a:srgbClr val="242424"/>
                </a:solidFill>
                <a:effectLst/>
                <a:latin typeface="source-serif-pro"/>
              </a:rPr>
              <a:t>a</a:t>
            </a:r>
            <a:r>
              <a:rPr lang="en-US" b="0" i="0" dirty="0">
                <a:solidFill>
                  <a:srgbClr val="242424"/>
                </a:solidFill>
                <a:effectLst/>
                <a:latin typeface="source-serif-pro"/>
              </a:rPr>
              <a:t>^[0] to </a:t>
            </a:r>
            <a:r>
              <a:rPr lang="en-US" b="0" i="1" dirty="0">
                <a:solidFill>
                  <a:srgbClr val="242424"/>
                </a:solidFill>
                <a:effectLst/>
                <a:latin typeface="source-serif-pro"/>
              </a:rPr>
              <a:t>a</a:t>
            </a:r>
            <a:r>
              <a:rPr lang="en-US" b="0" i="0" dirty="0">
                <a:solidFill>
                  <a:srgbClr val="242424"/>
                </a:solidFill>
                <a:effectLst/>
                <a:latin typeface="source-serif-pro"/>
              </a:rPr>
              <a:t>^[1], where a^[0] is the 6 by 6 by 3 input image and a^[1] is the 4 by 4 by 2 output image.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4102693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510372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1402089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rgbClr val="242424"/>
                </a:solidFill>
                <a:effectLst/>
                <a:latin typeface="sohne"/>
              </a:rPr>
              <a:t>Calculating the output when an image passes through a Pooling (Max) layer</a:t>
            </a:r>
          </a:p>
          <a:p>
            <a:pPr marL="0" indent="0">
              <a:buNone/>
            </a:pPr>
            <a:r>
              <a:rPr lang="en-US" sz="1200" dirty="0"/>
              <a:t>The input dimensions of the image — &gt; I</a:t>
            </a:r>
          </a:p>
          <a:p>
            <a:pPr marL="0" indent="0">
              <a:buNone/>
            </a:pPr>
            <a:r>
              <a:rPr lang="en-US" sz="1200" dirty="0"/>
              <a:t>For a pooling layer, one can specify only the filter/kernel size (F) and the strides (S).</a:t>
            </a:r>
          </a:p>
          <a:p>
            <a:pPr marL="0" indent="0">
              <a:buNone/>
            </a:pPr>
            <a:endParaRPr lang="en-US" sz="1200" dirty="0"/>
          </a:p>
          <a:p>
            <a:pPr marL="0" indent="0">
              <a:buNone/>
            </a:pPr>
            <a:r>
              <a:rPr lang="en-US" sz="1200" dirty="0"/>
              <a:t>Pooling Output dimension = </a:t>
            </a:r>
          </a:p>
          <a:p>
            <a:pPr marL="0" indent="0">
              <a:buNone/>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44241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58</a:t>
            </a:fld>
            <a:endParaRPr lang="en-US"/>
          </a:p>
        </p:txBody>
      </p:sp>
    </p:spTree>
    <p:extLst>
      <p:ext uri="{BB962C8B-B14F-4D97-AF65-F5344CB8AC3E}">
        <p14:creationId xmlns:p14="http://schemas.microsoft.com/office/powerpoint/2010/main" val="169195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60</a:t>
            </a:fld>
            <a:endParaRPr lang="en-US"/>
          </a:p>
        </p:txBody>
      </p:sp>
    </p:spTree>
    <p:extLst>
      <p:ext uri="{BB962C8B-B14F-4D97-AF65-F5344CB8AC3E}">
        <p14:creationId xmlns:p14="http://schemas.microsoft.com/office/powerpoint/2010/main" val="2864808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68</a:t>
            </a:fld>
            <a:endParaRPr lang="en-US"/>
          </a:p>
        </p:txBody>
      </p:sp>
    </p:spTree>
    <p:extLst>
      <p:ext uri="{BB962C8B-B14F-4D97-AF65-F5344CB8AC3E}">
        <p14:creationId xmlns:p14="http://schemas.microsoft.com/office/powerpoint/2010/main" val="1493133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69</a:t>
            </a:fld>
            <a:endParaRPr lang="en-US"/>
          </a:p>
        </p:txBody>
      </p:sp>
    </p:spTree>
    <p:extLst>
      <p:ext uri="{BB962C8B-B14F-4D97-AF65-F5344CB8AC3E}">
        <p14:creationId xmlns:p14="http://schemas.microsoft.com/office/powerpoint/2010/main" val="22627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71</a:t>
            </a:fld>
            <a:endParaRPr lang="en-US"/>
          </a:p>
        </p:txBody>
      </p:sp>
    </p:spTree>
    <p:extLst>
      <p:ext uri="{BB962C8B-B14F-4D97-AF65-F5344CB8AC3E}">
        <p14:creationId xmlns:p14="http://schemas.microsoft.com/office/powerpoint/2010/main" val="1170045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82</a:t>
            </a:fld>
            <a:endParaRPr lang="en-US"/>
          </a:p>
        </p:txBody>
      </p:sp>
    </p:spTree>
    <p:extLst>
      <p:ext uri="{BB962C8B-B14F-4D97-AF65-F5344CB8AC3E}">
        <p14:creationId xmlns:p14="http://schemas.microsoft.com/office/powerpoint/2010/main" val="2617701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85</a:t>
            </a:fld>
            <a:endParaRPr lang="en-US"/>
          </a:p>
        </p:txBody>
      </p:sp>
    </p:spTree>
    <p:extLst>
      <p:ext uri="{BB962C8B-B14F-4D97-AF65-F5344CB8AC3E}">
        <p14:creationId xmlns:p14="http://schemas.microsoft.com/office/powerpoint/2010/main" val="3271175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86</a:t>
            </a:fld>
            <a:endParaRPr lang="en-US"/>
          </a:p>
        </p:txBody>
      </p:sp>
    </p:spTree>
    <p:extLst>
      <p:ext uri="{BB962C8B-B14F-4D97-AF65-F5344CB8AC3E}">
        <p14:creationId xmlns:p14="http://schemas.microsoft.com/office/powerpoint/2010/main" val="32171366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87</a:t>
            </a:fld>
            <a:endParaRPr lang="en-US"/>
          </a:p>
        </p:txBody>
      </p:sp>
    </p:spTree>
    <p:extLst>
      <p:ext uri="{BB962C8B-B14F-4D97-AF65-F5344CB8AC3E}">
        <p14:creationId xmlns:p14="http://schemas.microsoft.com/office/powerpoint/2010/main" val="1955027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89</a:t>
            </a:fld>
            <a:endParaRPr lang="en-US"/>
          </a:p>
        </p:txBody>
      </p:sp>
    </p:spTree>
    <p:extLst>
      <p:ext uri="{BB962C8B-B14F-4D97-AF65-F5344CB8AC3E}">
        <p14:creationId xmlns:p14="http://schemas.microsoft.com/office/powerpoint/2010/main" val="35941201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91</a:t>
            </a:fld>
            <a:endParaRPr lang="en-US"/>
          </a:p>
        </p:txBody>
      </p:sp>
    </p:spTree>
    <p:extLst>
      <p:ext uri="{BB962C8B-B14F-4D97-AF65-F5344CB8AC3E}">
        <p14:creationId xmlns:p14="http://schemas.microsoft.com/office/powerpoint/2010/main" val="1948209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2474142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96</a:t>
            </a:fld>
            <a:endParaRPr lang="en-US"/>
          </a:p>
        </p:txBody>
      </p:sp>
    </p:spTree>
    <p:extLst>
      <p:ext uri="{BB962C8B-B14F-4D97-AF65-F5344CB8AC3E}">
        <p14:creationId xmlns:p14="http://schemas.microsoft.com/office/powerpoint/2010/main" val="2690860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104</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10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10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10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10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10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10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10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10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10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10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10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10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10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etosa.io/ev/image-kernel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builtin.com/articles/matrix-factorization"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86.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8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9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9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87.png"/><Relationship Id="rId4" Type="http://schemas.openxmlformats.org/officeDocument/2006/relationships/image" Target="../media/image96.png"/></Relationships>
</file>

<file path=ppt/slides/_rels/slide9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Convolution neural networks: </a:t>
            </a:r>
            <a:r>
              <a:rPr lang="en-US" sz="2000" dirty="0">
                <a:solidFill>
                  <a:srgbClr val="262626"/>
                </a:solidFill>
                <a:latin typeface="Inter"/>
              </a:rPr>
              <a:t>The Convolution Operation, Pooling, Convolution and Pooling as an Infinitely Strong Prior, Variants of the Basic Convolution Function, 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9445-EA79-4988-BF24-3EDE94E5F3BD}"/>
              </a:ext>
            </a:extLst>
          </p:cNvPr>
          <p:cNvSpPr>
            <a:spLocks noGrp="1"/>
          </p:cNvSpPr>
          <p:nvPr>
            <p:ph type="title"/>
          </p:nvPr>
        </p:nvSpPr>
        <p:spPr/>
        <p:txBody>
          <a:bodyPr/>
          <a:lstStyle/>
          <a:p>
            <a:r>
              <a:rPr lang="en-US" dirty="0"/>
              <a:t>Convolutional Neural Networks (CNNs)</a:t>
            </a:r>
            <a:endParaRPr lang="en-IN" dirty="0"/>
          </a:p>
        </p:txBody>
      </p:sp>
      <p:sp>
        <p:nvSpPr>
          <p:cNvPr id="3" name="Content Placeholder 2">
            <a:extLst>
              <a:ext uri="{FF2B5EF4-FFF2-40B4-BE49-F238E27FC236}">
                <a16:creationId xmlns:a16="http://schemas.microsoft.com/office/drawing/2014/main" id="{367B5F4B-CD4F-42F7-9A78-33830106F654}"/>
              </a:ext>
            </a:extLst>
          </p:cNvPr>
          <p:cNvSpPr>
            <a:spLocks noGrp="1"/>
          </p:cNvSpPr>
          <p:nvPr>
            <p:ph idx="1"/>
          </p:nvPr>
        </p:nvSpPr>
        <p:spPr/>
        <p:txBody>
          <a:bodyPr/>
          <a:lstStyle/>
          <a:p>
            <a:pPr algn="just"/>
            <a:r>
              <a:rPr lang="en-US" sz="1800" dirty="0"/>
              <a:t>Convolutional networks, also known as convolutional neural networks or CNNs, are a specialized kind of neural network for processing data that has a known, grid-like topology. </a:t>
            </a:r>
          </a:p>
          <a:p>
            <a:pPr algn="just"/>
            <a:r>
              <a:rPr lang="en-US" sz="1800" dirty="0"/>
              <a:t>Examples include time-series data, which can be thought of as a 1D grid taking samples at regular time intervals, and image data, which can be thought of as a 2D grid of pixels. </a:t>
            </a:r>
          </a:p>
          <a:p>
            <a:pPr algn="just"/>
            <a:r>
              <a:rPr lang="en-US" sz="1800" dirty="0"/>
              <a:t>The name “convolutional neural network” indicates that the network employs a mathematical operation called </a:t>
            </a:r>
            <a:r>
              <a:rPr lang="en-US" sz="1800" dirty="0">
                <a:solidFill>
                  <a:srgbClr val="0000FF"/>
                </a:solidFill>
              </a:rPr>
              <a:t>convolution</a:t>
            </a:r>
            <a:r>
              <a:rPr lang="en-US" sz="1800" dirty="0"/>
              <a:t>. Convolution is a specialized kind of linear operation. </a:t>
            </a:r>
          </a:p>
          <a:p>
            <a:pPr algn="just"/>
            <a:r>
              <a:rPr lang="en-US" sz="1800" dirty="0"/>
              <a:t>Convolutional networks are simply neural networks that use convolution in place of general matrix multiplication in at least one of their layers. </a:t>
            </a:r>
            <a:endParaRPr lang="en-IN" sz="1800" dirty="0"/>
          </a:p>
        </p:txBody>
      </p:sp>
      <p:sp>
        <p:nvSpPr>
          <p:cNvPr id="4" name="Slide Number Placeholder 3">
            <a:extLst>
              <a:ext uri="{FF2B5EF4-FFF2-40B4-BE49-F238E27FC236}">
                <a16:creationId xmlns:a16="http://schemas.microsoft.com/office/drawing/2014/main" id="{251B91D0-A39B-4263-8783-073F37513778}"/>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3176850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E1A92-BB07-4517-BE22-A7D215780645}"/>
              </a:ext>
            </a:extLst>
          </p:cNvPr>
          <p:cNvSpPr>
            <a:spLocks noGrp="1"/>
          </p:cNvSpPr>
          <p:nvPr>
            <p:ph type="title"/>
          </p:nvPr>
        </p:nvSpPr>
        <p:spPr/>
        <p:txBody>
          <a:bodyPr/>
          <a:lstStyle/>
          <a:p>
            <a:r>
              <a:rPr lang="en-US" dirty="0"/>
              <a:t>Applications of CNNs</a:t>
            </a:r>
            <a:endParaRPr lang="en-IN" dirty="0"/>
          </a:p>
        </p:txBody>
      </p:sp>
      <p:sp>
        <p:nvSpPr>
          <p:cNvPr id="3" name="Content Placeholder 2">
            <a:extLst>
              <a:ext uri="{FF2B5EF4-FFF2-40B4-BE49-F238E27FC236}">
                <a16:creationId xmlns:a16="http://schemas.microsoft.com/office/drawing/2014/main" id="{A059A579-A044-4EEF-9945-0A2E3555260C}"/>
              </a:ext>
            </a:extLst>
          </p:cNvPr>
          <p:cNvSpPr>
            <a:spLocks noGrp="1"/>
          </p:cNvSpPr>
          <p:nvPr>
            <p:ph idx="1"/>
          </p:nvPr>
        </p:nvSpPr>
        <p:spPr/>
        <p:txBody>
          <a:bodyPr/>
          <a:lstStyle/>
          <a:p>
            <a:pPr algn="just" fontAlgn="base">
              <a:buFont typeface="Arial" panose="020B0604020202020204" pitchFamily="34" charset="0"/>
              <a:buChar char="•"/>
            </a:pPr>
            <a:r>
              <a:rPr lang="en-US" sz="2000" b="1" i="0" dirty="0">
                <a:solidFill>
                  <a:srgbClr val="273239"/>
                </a:solidFill>
                <a:effectLst/>
                <a:latin typeface="Nunito" pitchFamily="2" charset="0"/>
              </a:rPr>
              <a:t>Image classification:</a:t>
            </a:r>
            <a:r>
              <a:rPr lang="en-US" sz="2000" b="0" i="0" dirty="0">
                <a:solidFill>
                  <a:srgbClr val="273239"/>
                </a:solidFill>
                <a:effectLst/>
                <a:latin typeface="Nunito" pitchFamily="2" charset="0"/>
              </a:rPr>
              <a:t> CNNs are the state-of-the-art models for image classification. They can be used to classify images into different categories such as cats and dogs.</a:t>
            </a:r>
          </a:p>
          <a:p>
            <a:pPr algn="just" fontAlgn="base">
              <a:buFont typeface="Arial" panose="020B0604020202020204" pitchFamily="34" charset="0"/>
              <a:buChar char="•"/>
            </a:pPr>
            <a:r>
              <a:rPr lang="en-US" sz="2000" b="1" i="0" dirty="0">
                <a:solidFill>
                  <a:srgbClr val="273239"/>
                </a:solidFill>
                <a:effectLst/>
                <a:latin typeface="Nunito" pitchFamily="2" charset="0"/>
              </a:rPr>
              <a:t>Object detection:</a:t>
            </a:r>
            <a:r>
              <a:rPr lang="en-US" sz="2000" b="0" i="0" dirty="0">
                <a:solidFill>
                  <a:srgbClr val="273239"/>
                </a:solidFill>
                <a:effectLst/>
                <a:latin typeface="Nunito" pitchFamily="2" charset="0"/>
              </a:rPr>
              <a:t> It can be used to detect objects in images such as people, cars and buildings. They can also be used to localize objects in images which means that they can identify the location of an object in an image.</a:t>
            </a:r>
          </a:p>
          <a:p>
            <a:pPr algn="just" fontAlgn="base">
              <a:buFont typeface="Arial" panose="020B0604020202020204" pitchFamily="34" charset="0"/>
              <a:buChar char="•"/>
            </a:pPr>
            <a:r>
              <a:rPr lang="en-US" sz="2000" b="1" i="0" dirty="0">
                <a:solidFill>
                  <a:srgbClr val="273239"/>
                </a:solidFill>
                <a:effectLst/>
                <a:latin typeface="Nunito" pitchFamily="2" charset="0"/>
              </a:rPr>
              <a:t>Image segmentation:</a:t>
            </a:r>
            <a:r>
              <a:rPr lang="en-US" sz="2000" b="0" i="0" dirty="0">
                <a:solidFill>
                  <a:srgbClr val="273239"/>
                </a:solidFill>
                <a:effectLst/>
                <a:latin typeface="Nunito" pitchFamily="2" charset="0"/>
              </a:rPr>
              <a:t> It can be used to segment images which means that they can identify and label different objects in an image. This is useful for applications such as medical imaging and robotics.</a:t>
            </a:r>
          </a:p>
          <a:p>
            <a:pPr algn="just" fontAlgn="base">
              <a:buFont typeface="Arial" panose="020B0604020202020204" pitchFamily="34" charset="0"/>
              <a:buChar char="•"/>
            </a:pPr>
            <a:r>
              <a:rPr lang="en-US" sz="2000" b="1" i="0" dirty="0">
                <a:solidFill>
                  <a:srgbClr val="273239"/>
                </a:solidFill>
                <a:effectLst/>
                <a:latin typeface="Nunito" pitchFamily="2" charset="0"/>
              </a:rPr>
              <a:t>Video analysis:</a:t>
            </a:r>
            <a:r>
              <a:rPr lang="en-US" sz="2000" b="0" i="0" dirty="0">
                <a:solidFill>
                  <a:srgbClr val="273239"/>
                </a:solidFill>
                <a:effectLst/>
                <a:latin typeface="Nunito" pitchFamily="2" charset="0"/>
              </a:rPr>
              <a:t> It can be used to analyze videos such as tracking objects in a video or detecting events in a video. This is useful for applications such as video surveillance and traffic monitoring.</a:t>
            </a:r>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59FBB1F7-86FC-433F-A5AA-6C1C9E8C9C37}"/>
              </a:ext>
            </a:extLst>
          </p:cNvPr>
          <p:cNvSpPr>
            <a:spLocks noGrp="1"/>
          </p:cNvSpPr>
          <p:nvPr>
            <p:ph type="sldNum" sz="quarter" idx="12"/>
          </p:nvPr>
        </p:nvSpPr>
        <p:spPr/>
        <p:txBody>
          <a:bodyPr/>
          <a:lstStyle/>
          <a:p>
            <a:fld id="{BB2CE0DE-867F-455F-B20B-96D381B4AB71}" type="slidenum">
              <a:rPr lang="en-US" smtClean="0"/>
              <a:t>4</a:t>
            </a:fld>
            <a:endParaRPr lang="en-US"/>
          </a:p>
        </p:txBody>
      </p:sp>
      <p:sp>
        <p:nvSpPr>
          <p:cNvPr id="5" name="TextBox 4">
            <a:extLst>
              <a:ext uri="{FF2B5EF4-FFF2-40B4-BE49-F238E27FC236}">
                <a16:creationId xmlns:a16="http://schemas.microsoft.com/office/drawing/2014/main" id="{A08D3BA0-F793-4309-BA63-D5810A4D1A89}"/>
              </a:ext>
            </a:extLst>
          </p:cNvPr>
          <p:cNvSpPr txBox="1"/>
          <p:nvPr/>
        </p:nvSpPr>
        <p:spPr>
          <a:xfrm>
            <a:off x="751169" y="6339271"/>
            <a:ext cx="6572633" cy="230832"/>
          </a:xfrm>
          <a:prstGeom prst="rect">
            <a:avLst/>
          </a:prstGeom>
          <a:noFill/>
        </p:spPr>
        <p:txBody>
          <a:bodyPr wrap="none" rtlCol="0">
            <a:spAutoFit/>
          </a:bodyPr>
          <a:lstStyle/>
          <a:p>
            <a:r>
              <a:rPr lang="en-US" sz="900" dirty="0"/>
              <a:t>Ref. : https://www.geeksforgeeks.org/deep-learning/convolutional-neural-network-cnn-in-machine-learning/</a:t>
            </a:r>
            <a:endParaRPr lang="en-IN" sz="900" dirty="0"/>
          </a:p>
        </p:txBody>
      </p:sp>
    </p:spTree>
    <p:extLst>
      <p:ext uri="{BB962C8B-B14F-4D97-AF65-F5344CB8AC3E}">
        <p14:creationId xmlns:p14="http://schemas.microsoft.com/office/powerpoint/2010/main" val="206612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1071-CE6F-4846-9A95-D948812A1D0E}"/>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B781A851-9C4A-4C88-87E0-1EFC79E7112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3CF0609-5292-46AD-BFBE-7C62629EA211}"/>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3839759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0CB6-1CEC-4496-9F41-398A883F31D5}"/>
              </a:ext>
            </a:extLst>
          </p:cNvPr>
          <p:cNvSpPr>
            <a:spLocks noGrp="1"/>
          </p:cNvSpPr>
          <p:nvPr>
            <p:ph type="title"/>
          </p:nvPr>
        </p:nvSpPr>
        <p:spPr/>
        <p:txBody>
          <a:bodyPr/>
          <a:lstStyle/>
          <a:p>
            <a:r>
              <a:rPr lang="en-US" dirty="0"/>
              <a:t>Advantage of Image data</a:t>
            </a:r>
            <a:endParaRPr lang="en-IN" dirty="0"/>
          </a:p>
        </p:txBody>
      </p:sp>
      <p:sp>
        <p:nvSpPr>
          <p:cNvPr id="3" name="Content Placeholder 2">
            <a:extLst>
              <a:ext uri="{FF2B5EF4-FFF2-40B4-BE49-F238E27FC236}">
                <a16:creationId xmlns:a16="http://schemas.microsoft.com/office/drawing/2014/main" id="{9EB6440A-DC3B-46AB-BCED-7C536169F757}"/>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Spatial Locality: Spatial locality is a fundamental advantage of image data, referring to the principle that pixels physically close to each other in an image are highly likely to be related or similar in value</a:t>
            </a:r>
            <a:r>
              <a:rPr lang="en-US" sz="2000" b="0" i="0" dirty="0">
                <a:effectLst/>
                <a:latin typeface="Times New Roman" panose="02020603050405020304" pitchFamily="18" charset="0"/>
                <a:cs typeface="Times New Roman" panose="02020603050405020304" pitchFamily="18" charset="0"/>
              </a:rPr>
              <a:t>. Example: </a:t>
            </a:r>
            <a:r>
              <a:rPr lang="en-US" sz="2000" dirty="0">
                <a:latin typeface="Times New Roman" panose="02020603050405020304" pitchFamily="18" charset="0"/>
                <a:cs typeface="Times New Roman" panose="02020603050405020304" pitchFamily="18" charset="0"/>
              </a:rPr>
              <a:t>Pixels of cat are next to each other</a:t>
            </a:r>
          </a:p>
          <a:p>
            <a:pPr algn="just"/>
            <a:r>
              <a:rPr lang="en-US" sz="2000" dirty="0">
                <a:latin typeface="Times New Roman" panose="02020603050405020304" pitchFamily="18" charset="0"/>
                <a:cs typeface="Times New Roman" panose="02020603050405020304" pitchFamily="18" charset="0"/>
              </a:rPr>
              <a:t>Translation Invariance: </a:t>
            </a:r>
            <a:r>
              <a:rPr lang="en-US" sz="2000" b="0" i="0" dirty="0">
                <a:effectLst/>
                <a:latin typeface="Times New Roman" panose="02020603050405020304" pitchFamily="18" charset="0"/>
                <a:cs typeface="Times New Roman" panose="02020603050405020304" pitchFamily="18" charset="0"/>
              </a:rPr>
              <a:t>Translation Invariance means that if an object occurs in any image it will be detected irrespective of its position. Example: </a:t>
            </a:r>
            <a:r>
              <a:rPr lang="en-US" sz="2000" dirty="0">
                <a:latin typeface="Times New Roman" panose="02020603050405020304" pitchFamily="18" charset="0"/>
                <a:cs typeface="Times New Roman" panose="02020603050405020304" pitchFamily="18" charset="0"/>
              </a:rPr>
              <a:t>Cat is cat , where ever it is.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4DA07F-1123-49F1-981C-6956CC92C0E1}"/>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5" name="Picture 4">
            <a:extLst>
              <a:ext uri="{FF2B5EF4-FFF2-40B4-BE49-F238E27FC236}">
                <a16:creationId xmlns:a16="http://schemas.microsoft.com/office/drawing/2014/main" id="{4A8ECFB8-6991-4F98-BAD5-AF4E0F959897}"/>
              </a:ext>
            </a:extLst>
          </p:cNvPr>
          <p:cNvPicPr>
            <a:picLocks noChangeAspect="1"/>
          </p:cNvPicPr>
          <p:nvPr/>
        </p:nvPicPr>
        <p:blipFill>
          <a:blip r:embed="rId3"/>
          <a:stretch>
            <a:fillRect/>
          </a:stretch>
        </p:blipFill>
        <p:spPr>
          <a:xfrm>
            <a:off x="2895599" y="3124200"/>
            <a:ext cx="4192255" cy="2819400"/>
          </a:xfrm>
          <a:prstGeom prst="rect">
            <a:avLst/>
          </a:prstGeom>
        </p:spPr>
      </p:pic>
      <p:sp>
        <p:nvSpPr>
          <p:cNvPr id="6" name="TextBox 5">
            <a:extLst>
              <a:ext uri="{FF2B5EF4-FFF2-40B4-BE49-F238E27FC236}">
                <a16:creationId xmlns:a16="http://schemas.microsoft.com/office/drawing/2014/main" id="{3944216B-9B96-4075-8F99-D20DA4642A1E}"/>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74751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A4A6-D668-4531-B0CD-825DA194B7FC}"/>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4947B814-6E76-4156-B161-50A2883993F7}"/>
              </a:ext>
            </a:extLst>
          </p:cNvPr>
          <p:cNvSpPr>
            <a:spLocks noGrp="1"/>
          </p:cNvSpPr>
          <p:nvPr>
            <p:ph idx="1"/>
          </p:nvPr>
        </p:nvSpPr>
        <p:spPr/>
        <p:txBody>
          <a:bodyPr/>
          <a:lstStyle/>
          <a:p>
            <a:pPr marL="0" indent="0">
              <a:buNone/>
            </a:pPr>
            <a:r>
              <a:rPr lang="en-IN" sz="1600" dirty="0"/>
              <a:t>Disadvantages of Multi Layer Perceptron (MLP) or Artificial Neural Network (ANN)</a:t>
            </a:r>
          </a:p>
          <a:p>
            <a:pPr algn="l">
              <a:buFont typeface="Arial" panose="020B0604020202020204" pitchFamily="34" charset="0"/>
              <a:buChar char="•"/>
            </a:pPr>
            <a:r>
              <a:rPr lang="en-US" sz="1600" b="0" i="0" dirty="0">
                <a:solidFill>
                  <a:srgbClr val="3B454E"/>
                </a:solidFill>
                <a:effectLst/>
                <a:latin typeface="Inter"/>
              </a:rPr>
              <a:t>Need to connect neurons in the hidden layer to ALL the neurons in the input layer</a:t>
            </a:r>
          </a:p>
          <a:p>
            <a:pPr algn="l">
              <a:buFont typeface="Arial" panose="020B0604020202020204" pitchFamily="34" charset="0"/>
              <a:buChar char="•"/>
            </a:pPr>
            <a:r>
              <a:rPr lang="en-US" sz="1600" b="0" i="0" dirty="0">
                <a:solidFill>
                  <a:srgbClr val="3B454E"/>
                </a:solidFill>
                <a:effectLst/>
                <a:latin typeface="Inter"/>
              </a:rPr>
              <a:t>No spatial information: Since we reshape the image from 2D to 1D, it doesn't understand the spatial structure of the image, i.e., it is not spatially invariant. For example, if a picture of a cat appears in the top left of the image in one picture and the bottom right of another picture, the MLP will try to correct itself and assume that a cat will always appear in this section of the image.</a:t>
            </a: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dirty="0">
              <a:solidFill>
                <a:srgbClr val="3B454E"/>
              </a:solidFill>
              <a:latin typeface="Inter"/>
            </a:endParaRPr>
          </a:p>
          <a:p>
            <a:pPr>
              <a:buFont typeface="Arial" panose="020B0604020202020204" pitchFamily="34" charset="0"/>
              <a:buChar char="•"/>
            </a:pPr>
            <a:r>
              <a:rPr lang="en-US" sz="1600" b="0" i="0" dirty="0">
                <a:solidFill>
                  <a:srgbClr val="3B454E"/>
                </a:solidFill>
                <a:effectLst/>
                <a:latin typeface="Inter"/>
              </a:rPr>
              <a:t>And many, many parameters to be handled. MLPs use one perceptron for each input (e.g. pixel in an image, multiplied by 3 in RGB case). The amount of weights rapidly becomes unmanageable for large images. For a 224 x 224 pixel image with three color channels, there are around 150,000 weights that must be trained!</a:t>
            </a:r>
          </a:p>
          <a:p>
            <a:pPr algn="l">
              <a:buFont typeface="Arial" panose="020B0604020202020204" pitchFamily="34" charset="0"/>
              <a:buChar char="•"/>
            </a:pPr>
            <a:endParaRPr lang="en-US" sz="1200" b="0" i="0" dirty="0">
              <a:solidFill>
                <a:srgbClr val="3B454E"/>
              </a:solidFill>
              <a:effectLst/>
              <a:latin typeface="Inter"/>
            </a:endParaRPr>
          </a:p>
          <a:p>
            <a:pPr marL="0" indent="0">
              <a:buNone/>
            </a:pPr>
            <a:endParaRPr lang="en-IN" sz="2000" dirty="0"/>
          </a:p>
        </p:txBody>
      </p:sp>
      <p:sp>
        <p:nvSpPr>
          <p:cNvPr id="4" name="Slide Number Placeholder 3">
            <a:extLst>
              <a:ext uri="{FF2B5EF4-FFF2-40B4-BE49-F238E27FC236}">
                <a16:creationId xmlns:a16="http://schemas.microsoft.com/office/drawing/2014/main" id="{C5605F2F-A1F2-4CAF-A4A1-5A5F6485864D}"/>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5" name="Picture 4">
            <a:extLst>
              <a:ext uri="{FF2B5EF4-FFF2-40B4-BE49-F238E27FC236}">
                <a16:creationId xmlns:a16="http://schemas.microsoft.com/office/drawing/2014/main" id="{7C0770D9-D906-46F3-B953-39B4DFFEF982}"/>
              </a:ext>
            </a:extLst>
          </p:cNvPr>
          <p:cNvPicPr>
            <a:picLocks noChangeAspect="1"/>
          </p:cNvPicPr>
          <p:nvPr/>
        </p:nvPicPr>
        <p:blipFill>
          <a:blip r:embed="rId2"/>
          <a:stretch>
            <a:fillRect/>
          </a:stretch>
        </p:blipFill>
        <p:spPr>
          <a:xfrm>
            <a:off x="1360487" y="2895600"/>
            <a:ext cx="7377113" cy="2358532"/>
          </a:xfrm>
          <a:prstGeom prst="rect">
            <a:avLst/>
          </a:prstGeom>
        </p:spPr>
      </p:pic>
      <p:sp>
        <p:nvSpPr>
          <p:cNvPr id="6" name="TextBox 5">
            <a:extLst>
              <a:ext uri="{FF2B5EF4-FFF2-40B4-BE49-F238E27FC236}">
                <a16:creationId xmlns:a16="http://schemas.microsoft.com/office/drawing/2014/main" id="{C6C9224D-6558-470A-8964-4A1EECB95650}"/>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187937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F451-EE76-4BAA-97C5-F6C34AD5E2B0}"/>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5F7C27F6-2E8D-4F8D-9006-B1406C1E6E74}"/>
              </a:ext>
            </a:extLst>
          </p:cNvPr>
          <p:cNvSpPr>
            <a:spLocks noGrp="1"/>
          </p:cNvSpPr>
          <p:nvPr>
            <p:ph idx="1"/>
          </p:nvPr>
        </p:nvSpPr>
        <p:spPr/>
        <p:txBody>
          <a:bodyPr/>
          <a:lstStyle/>
          <a:p>
            <a:pPr marL="0" indent="0">
              <a:buNone/>
            </a:pPr>
            <a:r>
              <a:rPr lang="en-US" sz="2000" dirty="0"/>
              <a:t>Spatial Locality: CNNs leverage spatial structure by using convolutions. Convolution operations captures edges, textures and shapes.</a:t>
            </a:r>
          </a:p>
          <a:p>
            <a:pPr marL="0" indent="0">
              <a:buNone/>
            </a:pPr>
            <a:endParaRPr lang="en-US" sz="2000" dirty="0"/>
          </a:p>
          <a:p>
            <a:pPr marL="0" indent="0">
              <a:buNone/>
            </a:pPr>
            <a:r>
              <a:rPr lang="en-IN" sz="2000" dirty="0">
                <a:hlinkClick r:id="rId2"/>
              </a:rPr>
              <a:t>https://setosa.io/ev/image-kernels/</a:t>
            </a:r>
            <a:endParaRPr lang="en-US" sz="2000" dirty="0"/>
          </a:p>
          <a:p>
            <a:pPr marL="0" indent="0">
              <a:buNone/>
            </a:pPr>
            <a:endParaRPr lang="en-US" sz="2000" dirty="0"/>
          </a:p>
          <a:p>
            <a:pPr marL="0" indent="0">
              <a:buNone/>
            </a:pPr>
            <a:endParaRPr lang="en-US" sz="2000" dirty="0"/>
          </a:p>
          <a:p>
            <a:pPr marL="0" indent="0">
              <a:buNone/>
            </a:pPr>
            <a:r>
              <a:rPr lang="en-US" sz="2000" dirty="0"/>
              <a:t>Translation Invariance: CNNs use pooling layers and shared weights. Robust to image translation.</a:t>
            </a:r>
            <a:endParaRPr lang="en-IN" sz="2000" dirty="0"/>
          </a:p>
        </p:txBody>
      </p:sp>
      <p:sp>
        <p:nvSpPr>
          <p:cNvPr id="4" name="Slide Number Placeholder 3">
            <a:extLst>
              <a:ext uri="{FF2B5EF4-FFF2-40B4-BE49-F238E27FC236}">
                <a16:creationId xmlns:a16="http://schemas.microsoft.com/office/drawing/2014/main" id="{E76418C2-58D2-455F-8973-328A1763909A}"/>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3588400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EEDF-FBBD-4F2A-AD5B-7C5EC1715E37}"/>
              </a:ext>
            </a:extLst>
          </p:cNvPr>
          <p:cNvSpPr>
            <a:spLocks noGrp="1"/>
          </p:cNvSpPr>
          <p:nvPr>
            <p:ph type="title"/>
          </p:nvPr>
        </p:nvSpPr>
        <p:spPr/>
        <p:txBody>
          <a:bodyPr/>
          <a:lstStyle/>
          <a:p>
            <a:r>
              <a:rPr lang="en-IN" dirty="0"/>
              <a:t>What is Convolution?</a:t>
            </a:r>
          </a:p>
        </p:txBody>
      </p:sp>
      <p:sp>
        <p:nvSpPr>
          <p:cNvPr id="3" name="Content Placeholder 2">
            <a:extLst>
              <a:ext uri="{FF2B5EF4-FFF2-40B4-BE49-F238E27FC236}">
                <a16:creationId xmlns:a16="http://schemas.microsoft.com/office/drawing/2014/main" id="{833246EB-4774-4EA3-AC59-8B13407503A2}"/>
              </a:ext>
            </a:extLst>
          </p:cNvPr>
          <p:cNvSpPr>
            <a:spLocks noGrp="1"/>
          </p:cNvSpPr>
          <p:nvPr>
            <p:ph idx="1"/>
          </p:nvPr>
        </p:nvSpPr>
        <p:spPr/>
        <p:txBody>
          <a:bodyPr/>
          <a:lstStyle/>
          <a:p>
            <a:pPr marL="0" indent="0">
              <a:buNone/>
            </a:pPr>
            <a:r>
              <a:rPr lang="en-US" sz="1800" dirty="0"/>
              <a:t>Image processing utilizes convolution, a mathematical operation where a matrix (or kernel or filter) traverses the image and performs a dot product with the overlapping region. A convolution operation involves the following steps:</a:t>
            </a:r>
          </a:p>
          <a:p>
            <a:pPr marL="0" indent="0">
              <a:buNone/>
            </a:pPr>
            <a:r>
              <a:rPr lang="en-US" sz="1800" dirty="0"/>
              <a:t>Define a small matrix (filter or kernel).</a:t>
            </a:r>
          </a:p>
          <a:p>
            <a:pPr marL="438150" lvl="1" indent="0">
              <a:buNone/>
            </a:pPr>
            <a:r>
              <a:rPr lang="en-US" sz="1400" dirty="0"/>
              <a:t>This kernel moves across the input image.</a:t>
            </a:r>
          </a:p>
          <a:p>
            <a:pPr marL="438150" lvl="1" indent="0">
              <a:buNone/>
            </a:pPr>
            <a:r>
              <a:rPr lang="en-US" sz="1400" dirty="0"/>
              <a:t>At each location, the convolution operation computes the dot product of the kernel and the portion of the image it overlaps.</a:t>
            </a:r>
          </a:p>
          <a:p>
            <a:pPr marL="438150" lvl="1" indent="0">
              <a:buNone/>
            </a:pPr>
            <a:r>
              <a:rPr lang="en-US" sz="1400" dirty="0"/>
              <a:t>The result of each dot product forms a new matrix that represents transformed features of the original image.</a:t>
            </a:r>
          </a:p>
          <a:p>
            <a:pPr marL="0" indent="0">
              <a:buNone/>
            </a:pPr>
            <a:r>
              <a:rPr lang="en-US" sz="1800" dirty="0"/>
              <a:t>The primary goal of using convolution in image processing is to extract important features from the image and discard the rest. This results in a condensed representation of an image.</a:t>
            </a:r>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6CE77E1E-5873-455C-86A0-B3ADCA8FC032}"/>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25929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CB44-FBA6-4B85-A726-87FA62E0A98C}"/>
              </a:ext>
            </a:extLst>
          </p:cNvPr>
          <p:cNvSpPr>
            <a:spLocks noGrp="1"/>
          </p:cNvSpPr>
          <p:nvPr>
            <p:ph type="title"/>
          </p:nvPr>
        </p:nvSpPr>
        <p:spPr/>
        <p:txBody>
          <a:bodyPr/>
          <a:lstStyle/>
          <a:p>
            <a:r>
              <a:rPr lang="en-IN" dirty="0"/>
              <a:t>Convolution Operation</a:t>
            </a:r>
          </a:p>
        </p:txBody>
      </p:sp>
      <p:sp>
        <p:nvSpPr>
          <p:cNvPr id="3" name="Content Placeholder 2">
            <a:extLst>
              <a:ext uri="{FF2B5EF4-FFF2-40B4-BE49-F238E27FC236}">
                <a16:creationId xmlns:a16="http://schemas.microsoft.com/office/drawing/2014/main" id="{900D51FF-8425-4FAD-B283-11122AAB170D}"/>
              </a:ext>
            </a:extLst>
          </p:cNvPr>
          <p:cNvSpPr>
            <a:spLocks noGrp="1"/>
          </p:cNvSpPr>
          <p:nvPr>
            <p:ph idx="1"/>
          </p:nvPr>
        </p:nvSpPr>
        <p:spPr/>
        <p:txBody>
          <a:bodyPr/>
          <a:lstStyle/>
          <a:p>
            <a:pPr marL="0" indent="0" algn="l">
              <a:buNone/>
            </a:pPr>
            <a:r>
              <a:rPr lang="en-US" sz="1400" b="0" i="0" dirty="0">
                <a:solidFill>
                  <a:srgbClr val="444444"/>
                </a:solidFill>
                <a:effectLst/>
                <a:latin typeface="Roboto" panose="02000000000000000000" pitchFamily="2" charset="0"/>
              </a:rPr>
              <a:t>To apply the convolution:</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Overlay the Kernel on the Image:</a:t>
            </a:r>
            <a:r>
              <a:rPr lang="en-US" sz="1400" b="0" i="0" dirty="0">
                <a:solidFill>
                  <a:srgbClr val="444444"/>
                </a:solidFill>
                <a:effectLst/>
                <a:latin typeface="Roboto" panose="02000000000000000000" pitchFamily="2" charset="0"/>
              </a:rPr>
              <a:t> Start from the top-left corner of the image and place the kernel so that its center aligns with the current image pixel.</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Element-wise Multiplication:</a:t>
            </a:r>
            <a:r>
              <a:rPr lang="en-US" sz="1400" b="0" i="0" dirty="0">
                <a:solidFill>
                  <a:srgbClr val="444444"/>
                </a:solidFill>
                <a:effectLst/>
                <a:latin typeface="Roboto" panose="02000000000000000000" pitchFamily="2" charset="0"/>
              </a:rPr>
              <a:t> Multiply each element of the kernel with the corresponding element of the image it covers.</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Summation: </a:t>
            </a:r>
            <a:r>
              <a:rPr lang="en-US" sz="1400" b="0" i="0" dirty="0">
                <a:solidFill>
                  <a:srgbClr val="444444"/>
                </a:solidFill>
                <a:effectLst/>
                <a:latin typeface="Roboto" panose="02000000000000000000" pitchFamily="2" charset="0"/>
              </a:rPr>
              <a:t>Sum up all the products obtained from the element-wise multiplication. This sum forms a single pixel in the output feature map.</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Continue the Process:</a:t>
            </a:r>
            <a:r>
              <a:rPr lang="en-US" sz="1400" b="0" i="0" dirty="0">
                <a:solidFill>
                  <a:srgbClr val="444444"/>
                </a:solidFill>
                <a:effectLst/>
                <a:latin typeface="Roboto" panose="02000000000000000000" pitchFamily="2" charset="0"/>
              </a:rPr>
              <a:t> Slide the kernel over to the next pixel and repeat the process across the entire image.</a:t>
            </a:r>
          </a:p>
          <a:p>
            <a:pPr marL="0" indent="0">
              <a:buNone/>
            </a:pPr>
            <a:endParaRPr lang="en-IN" sz="1400" dirty="0"/>
          </a:p>
        </p:txBody>
      </p:sp>
      <p:sp>
        <p:nvSpPr>
          <p:cNvPr id="4" name="Slide Number Placeholder 3">
            <a:extLst>
              <a:ext uri="{FF2B5EF4-FFF2-40B4-BE49-F238E27FC236}">
                <a16:creationId xmlns:a16="http://schemas.microsoft.com/office/drawing/2014/main" id="{848FD43F-FB6B-4B33-B912-F7DDDB621D77}"/>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5" name="Picture 4">
            <a:extLst>
              <a:ext uri="{FF2B5EF4-FFF2-40B4-BE49-F238E27FC236}">
                <a16:creationId xmlns:a16="http://schemas.microsoft.com/office/drawing/2014/main" id="{3B0CAACC-8813-4C9B-959C-B7A3294B2C3A}"/>
              </a:ext>
            </a:extLst>
          </p:cNvPr>
          <p:cNvPicPr>
            <a:picLocks noChangeAspect="1"/>
          </p:cNvPicPr>
          <p:nvPr/>
        </p:nvPicPr>
        <p:blipFill>
          <a:blip r:embed="rId2"/>
          <a:stretch>
            <a:fillRect/>
          </a:stretch>
        </p:blipFill>
        <p:spPr>
          <a:xfrm>
            <a:off x="838200" y="3075911"/>
            <a:ext cx="5791200" cy="3172489"/>
          </a:xfrm>
          <a:prstGeom prst="rect">
            <a:avLst/>
          </a:prstGeom>
        </p:spPr>
      </p:pic>
      <p:sp>
        <p:nvSpPr>
          <p:cNvPr id="6" name="TextBox 5">
            <a:extLst>
              <a:ext uri="{FF2B5EF4-FFF2-40B4-BE49-F238E27FC236}">
                <a16:creationId xmlns:a16="http://schemas.microsoft.com/office/drawing/2014/main" id="{98D1F9C3-A9EF-41AA-85A6-7FC184696BE9}"/>
              </a:ext>
            </a:extLst>
          </p:cNvPr>
          <p:cNvSpPr txBox="1"/>
          <p:nvPr/>
        </p:nvSpPr>
        <p:spPr>
          <a:xfrm>
            <a:off x="742204" y="6437784"/>
            <a:ext cx="3640740" cy="230832"/>
          </a:xfrm>
          <a:prstGeom prst="rect">
            <a:avLst/>
          </a:prstGeom>
          <a:noFill/>
        </p:spPr>
        <p:txBody>
          <a:bodyPr wrap="none" rtlCol="0">
            <a:spAutoFit/>
          </a:bodyPr>
          <a:lstStyle/>
          <a:p>
            <a:r>
              <a:rPr lang="en-US" sz="900" dirty="0"/>
              <a:t>Ref.: https://viso.ai/deep-learning/convolution-operations/</a:t>
            </a:r>
            <a:endParaRPr lang="en-IN" sz="900" dirty="0"/>
          </a:p>
        </p:txBody>
      </p:sp>
      <p:sp>
        <p:nvSpPr>
          <p:cNvPr id="7" name="TextBox 6">
            <a:extLst>
              <a:ext uri="{FF2B5EF4-FFF2-40B4-BE49-F238E27FC236}">
                <a16:creationId xmlns:a16="http://schemas.microsoft.com/office/drawing/2014/main" id="{15B32A09-5E42-4AF7-82A9-01FF6AAEE8E2}"/>
              </a:ext>
            </a:extLst>
          </p:cNvPr>
          <p:cNvSpPr txBox="1"/>
          <p:nvPr/>
        </p:nvSpPr>
        <p:spPr>
          <a:xfrm>
            <a:off x="3048000" y="4191000"/>
            <a:ext cx="332142" cy="369332"/>
          </a:xfrm>
          <a:prstGeom prst="rect">
            <a:avLst/>
          </a:prstGeom>
          <a:noFill/>
        </p:spPr>
        <p:txBody>
          <a:bodyPr wrap="square" rtlCol="0">
            <a:spAutoFit/>
          </a:bodyPr>
          <a:lstStyle/>
          <a:p>
            <a:r>
              <a:rPr lang="en-US" b="1" dirty="0">
                <a:solidFill>
                  <a:srgbClr val="00B050"/>
                </a:solidFill>
              </a:rPr>
              <a:t>*</a:t>
            </a:r>
            <a:endParaRPr lang="en-IN" b="1" dirty="0">
              <a:solidFill>
                <a:srgbClr val="00B050"/>
              </a:solidFill>
            </a:endParaRPr>
          </a:p>
        </p:txBody>
      </p:sp>
      <p:cxnSp>
        <p:nvCxnSpPr>
          <p:cNvPr id="9" name="Straight Arrow Connector 8">
            <a:extLst>
              <a:ext uri="{FF2B5EF4-FFF2-40B4-BE49-F238E27FC236}">
                <a16:creationId xmlns:a16="http://schemas.microsoft.com/office/drawing/2014/main" id="{DD0EC3DD-95DA-424D-888D-20E85F026E60}"/>
              </a:ext>
            </a:extLst>
          </p:cNvPr>
          <p:cNvCxnSpPr>
            <a:stCxn id="7" idx="0"/>
          </p:cNvCxnSpPr>
          <p:nvPr/>
        </p:nvCxnSpPr>
        <p:spPr bwMode="auto">
          <a:xfrm flipH="1" flipV="1">
            <a:off x="3200400" y="3276600"/>
            <a:ext cx="13671"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9799053E-351F-444B-A238-93BA8CC3AE9B}"/>
              </a:ext>
            </a:extLst>
          </p:cNvPr>
          <p:cNvSpPr txBox="1"/>
          <p:nvPr/>
        </p:nvSpPr>
        <p:spPr>
          <a:xfrm>
            <a:off x="2593950" y="2970312"/>
            <a:ext cx="1250535" cy="307777"/>
          </a:xfrm>
          <a:prstGeom prst="rect">
            <a:avLst/>
          </a:prstGeom>
          <a:noFill/>
        </p:spPr>
        <p:txBody>
          <a:bodyPr wrap="none" rtlCol="0">
            <a:spAutoFit/>
          </a:bodyPr>
          <a:lstStyle/>
          <a:p>
            <a:r>
              <a:rPr lang="en-US" sz="1400" dirty="0">
                <a:solidFill>
                  <a:srgbClr val="00B050"/>
                </a:solidFill>
              </a:rPr>
              <a:t>Convolution</a:t>
            </a:r>
            <a:endParaRPr lang="en-IN" sz="1400" dirty="0">
              <a:solidFill>
                <a:srgbClr val="00B050"/>
              </a:solidFill>
            </a:endParaRPr>
          </a:p>
        </p:txBody>
      </p:sp>
      <p:sp>
        <p:nvSpPr>
          <p:cNvPr id="11" name="TextBox 10">
            <a:extLst>
              <a:ext uri="{FF2B5EF4-FFF2-40B4-BE49-F238E27FC236}">
                <a16:creationId xmlns:a16="http://schemas.microsoft.com/office/drawing/2014/main" id="{90FEE151-2A12-4CE8-8BF0-1F1DD606EBFC}"/>
              </a:ext>
            </a:extLst>
          </p:cNvPr>
          <p:cNvSpPr txBox="1"/>
          <p:nvPr/>
        </p:nvSpPr>
        <p:spPr>
          <a:xfrm>
            <a:off x="4094828" y="4375666"/>
            <a:ext cx="332142" cy="369332"/>
          </a:xfrm>
          <a:prstGeom prst="rect">
            <a:avLst/>
          </a:prstGeom>
          <a:noFill/>
        </p:spPr>
        <p:txBody>
          <a:bodyPr wrap="square" rtlCol="0">
            <a:spAutoFit/>
          </a:bodyPr>
          <a:lstStyle/>
          <a:p>
            <a:r>
              <a:rPr lang="en-US" b="1" dirty="0">
                <a:solidFill>
                  <a:srgbClr val="9900FF"/>
                </a:solidFill>
              </a:rPr>
              <a:t>=</a:t>
            </a:r>
            <a:endParaRPr lang="en-IN" b="1" dirty="0">
              <a:solidFill>
                <a:srgbClr val="9900FF"/>
              </a:solidFill>
            </a:endParaRPr>
          </a:p>
        </p:txBody>
      </p:sp>
    </p:spTree>
    <p:extLst>
      <p:ext uri="{BB962C8B-B14F-4D97-AF65-F5344CB8AC3E}">
        <p14:creationId xmlns:p14="http://schemas.microsoft.com/office/powerpoint/2010/main" val="1109229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F4C8-B734-4D6F-97F0-05E1A25965ED}"/>
              </a:ext>
            </a:extLst>
          </p:cNvPr>
          <p:cNvSpPr>
            <a:spLocks noGrp="1"/>
          </p:cNvSpPr>
          <p:nvPr>
            <p:ph type="title"/>
          </p:nvPr>
        </p:nvSpPr>
        <p:spPr/>
        <p:txBody>
          <a:bodyPr/>
          <a:lstStyle/>
          <a:p>
            <a:r>
              <a:rPr lang="en-US" dirty="0"/>
              <a:t>Example of Convolution Operation</a:t>
            </a:r>
            <a:endParaRPr lang="en-IN" dirty="0"/>
          </a:p>
        </p:txBody>
      </p:sp>
      <p:sp>
        <p:nvSpPr>
          <p:cNvPr id="3" name="Content Placeholder 2">
            <a:extLst>
              <a:ext uri="{FF2B5EF4-FFF2-40B4-BE49-F238E27FC236}">
                <a16:creationId xmlns:a16="http://schemas.microsoft.com/office/drawing/2014/main" id="{B0613240-DB5F-4289-8D6F-39CC1C5F49B4}"/>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6C43285A-1616-4A90-9AA3-6CD06C18F7DE}"/>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96EACFD1-D842-4397-B582-85AC48D34073}"/>
              </a:ext>
            </a:extLst>
          </p:cNvPr>
          <p:cNvPicPr>
            <a:picLocks noChangeAspect="1"/>
          </p:cNvPicPr>
          <p:nvPr/>
        </p:nvPicPr>
        <p:blipFill>
          <a:blip r:embed="rId2"/>
          <a:stretch>
            <a:fillRect/>
          </a:stretch>
        </p:blipFill>
        <p:spPr>
          <a:xfrm>
            <a:off x="755651" y="1006476"/>
            <a:ext cx="4345036" cy="5715000"/>
          </a:xfrm>
          <a:prstGeom prst="rect">
            <a:avLst/>
          </a:prstGeom>
        </p:spPr>
      </p:pic>
    </p:spTree>
    <p:extLst>
      <p:ext uri="{BB962C8B-B14F-4D97-AF65-F5344CB8AC3E}">
        <p14:creationId xmlns:p14="http://schemas.microsoft.com/office/powerpoint/2010/main" val="409072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7166-70B8-46D8-9945-868CA7E17E7B}"/>
              </a:ext>
            </a:extLst>
          </p:cNvPr>
          <p:cNvSpPr>
            <a:spLocks noGrp="1"/>
          </p:cNvSpPr>
          <p:nvPr>
            <p:ph type="title"/>
          </p:nvPr>
        </p:nvSpPr>
        <p:spPr/>
        <p:txBody>
          <a:bodyPr/>
          <a:lstStyle/>
          <a:p>
            <a:r>
              <a:rPr lang="en-US" dirty="0"/>
              <a:t>Key Terms in Convolution Operation</a:t>
            </a:r>
            <a:endParaRPr lang="en-IN" dirty="0"/>
          </a:p>
        </p:txBody>
      </p:sp>
      <p:sp>
        <p:nvSpPr>
          <p:cNvPr id="3" name="Content Placeholder 2">
            <a:extLst>
              <a:ext uri="{FF2B5EF4-FFF2-40B4-BE49-F238E27FC236}">
                <a16:creationId xmlns:a16="http://schemas.microsoft.com/office/drawing/2014/main" id="{1CBF5202-C802-4269-9870-69379289D34B}"/>
              </a:ext>
            </a:extLst>
          </p:cNvPr>
          <p:cNvSpPr>
            <a:spLocks noGrp="1"/>
          </p:cNvSpPr>
          <p:nvPr>
            <p:ph idx="1"/>
          </p:nvPr>
        </p:nvSpPr>
        <p:spPr/>
        <p:txBody>
          <a:bodyPr/>
          <a:lstStyle/>
          <a:p>
            <a:pPr algn="just">
              <a:buFont typeface="Arial" panose="020B0604020202020204" pitchFamily="34" charset="0"/>
              <a:buChar char="•"/>
            </a:pPr>
            <a:r>
              <a:rPr lang="en-US" sz="1800" b="1" i="0" dirty="0">
                <a:solidFill>
                  <a:srgbClr val="444444"/>
                </a:solidFill>
                <a:effectLst/>
                <a:latin typeface="Roboto" panose="02000000000000000000" pitchFamily="2" charset="0"/>
              </a:rPr>
              <a:t>Kernel Size:</a:t>
            </a:r>
            <a:r>
              <a:rPr lang="en-US" sz="1800" b="0" i="0" dirty="0">
                <a:solidFill>
                  <a:srgbClr val="444444"/>
                </a:solidFill>
                <a:effectLst/>
                <a:latin typeface="Roboto" panose="02000000000000000000" pitchFamily="2" charset="0"/>
              </a:rPr>
              <a:t>  The convolution operation uses a filter, also known as a kernel, which is typically a square matrix. Common kernel sizes are 3×3, 5×5, or even larger. Larger kernels analyze more context within an image but come at the cost of reduced spatial resolution and increased computational demands.</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Stride:</a:t>
            </a:r>
            <a:r>
              <a:rPr lang="en-US" sz="1800" b="0" i="0" dirty="0">
                <a:solidFill>
                  <a:srgbClr val="444444"/>
                </a:solidFill>
                <a:effectLst/>
                <a:latin typeface="Roboto" panose="02000000000000000000" pitchFamily="2" charset="0"/>
              </a:rPr>
              <a:t> Stride is the number of pixels by which the kernel moves as it slides over the image. A stride of 1 means the kernel moves one pixel at a time, leading to a high-resolution output of the convolution. Increasing the stride reduces the output dimensions, which can help decrease computational cost and control overfitting but at the loss of some image detail.</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Padding:</a:t>
            </a:r>
            <a:r>
              <a:rPr lang="en-US" sz="1800" b="0" i="0" dirty="0">
                <a:solidFill>
                  <a:srgbClr val="444444"/>
                </a:solidFill>
                <a:effectLst/>
                <a:latin typeface="Roboto" panose="02000000000000000000" pitchFamily="2" charset="0"/>
              </a:rPr>
              <a:t> Padding involves adding an appropriate number of rows and columns (typically of zeros) to the input image borders. This ensures that the convolution kernel fits perfectly at the borders, allowing the output image to retain the same size as the input image.</a:t>
            </a:r>
          </a:p>
          <a:p>
            <a:pPr algn="just"/>
            <a:endParaRPr lang="en-IN" sz="1800" dirty="0"/>
          </a:p>
        </p:txBody>
      </p:sp>
      <p:sp>
        <p:nvSpPr>
          <p:cNvPr id="4" name="Slide Number Placeholder 3">
            <a:extLst>
              <a:ext uri="{FF2B5EF4-FFF2-40B4-BE49-F238E27FC236}">
                <a16:creationId xmlns:a16="http://schemas.microsoft.com/office/drawing/2014/main" id="{3D6CAF6E-4AB2-4614-8EBF-B463D665E845}"/>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599082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9564-DEF8-4D5D-9B59-07A285EFBEE4}"/>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744D3B2-C70F-4982-B3AF-F315BF377A5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3CCAD21-D13B-4A39-86F3-49F27504A219}"/>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6" name="Picture 5">
            <a:extLst>
              <a:ext uri="{FF2B5EF4-FFF2-40B4-BE49-F238E27FC236}">
                <a16:creationId xmlns:a16="http://schemas.microsoft.com/office/drawing/2014/main" id="{1AD4A067-650E-4CB9-A524-C861F05E9DA3}"/>
              </a:ext>
            </a:extLst>
          </p:cNvPr>
          <p:cNvPicPr>
            <a:picLocks noChangeAspect="1"/>
          </p:cNvPicPr>
          <p:nvPr/>
        </p:nvPicPr>
        <p:blipFill>
          <a:blip r:embed="rId2"/>
          <a:stretch>
            <a:fillRect/>
          </a:stretch>
        </p:blipFill>
        <p:spPr>
          <a:xfrm>
            <a:off x="152400" y="1048980"/>
            <a:ext cx="5325218" cy="3496163"/>
          </a:xfrm>
          <a:prstGeom prst="rect">
            <a:avLst/>
          </a:prstGeom>
        </p:spPr>
      </p:pic>
      <p:sp>
        <p:nvSpPr>
          <p:cNvPr id="7" name="TextBox 6">
            <a:extLst>
              <a:ext uri="{FF2B5EF4-FFF2-40B4-BE49-F238E27FC236}">
                <a16:creationId xmlns:a16="http://schemas.microsoft.com/office/drawing/2014/main" id="{22345AB5-4ECF-4759-8500-53E0BED7F30D}"/>
              </a:ext>
            </a:extLst>
          </p:cNvPr>
          <p:cNvSpPr txBox="1"/>
          <p:nvPr/>
        </p:nvSpPr>
        <p:spPr>
          <a:xfrm>
            <a:off x="724275" y="6437784"/>
            <a:ext cx="3449983" cy="230832"/>
          </a:xfrm>
          <a:prstGeom prst="rect">
            <a:avLst/>
          </a:prstGeom>
          <a:noFill/>
        </p:spPr>
        <p:txBody>
          <a:bodyPr wrap="none" rtlCol="0">
            <a:spAutoFit/>
          </a:bodyPr>
          <a:lstStyle/>
          <a:p>
            <a:r>
              <a:rPr lang="en-US" sz="900" dirty="0"/>
              <a:t>Ref.: https://www.youtube.com/watch?v=P6d8NbTlEpU</a:t>
            </a:r>
            <a:endParaRPr lang="en-IN" sz="900" dirty="0"/>
          </a:p>
        </p:txBody>
      </p:sp>
      <p:pic>
        <p:nvPicPr>
          <p:cNvPr id="9" name="Picture 8">
            <a:extLst>
              <a:ext uri="{FF2B5EF4-FFF2-40B4-BE49-F238E27FC236}">
                <a16:creationId xmlns:a16="http://schemas.microsoft.com/office/drawing/2014/main" id="{9B945B9C-99FE-4984-8702-CBB61662768D}"/>
              </a:ext>
            </a:extLst>
          </p:cNvPr>
          <p:cNvPicPr>
            <a:picLocks noChangeAspect="1"/>
          </p:cNvPicPr>
          <p:nvPr/>
        </p:nvPicPr>
        <p:blipFill>
          <a:blip r:embed="rId3"/>
          <a:stretch>
            <a:fillRect/>
          </a:stretch>
        </p:blipFill>
        <p:spPr>
          <a:xfrm>
            <a:off x="5782601" y="3542796"/>
            <a:ext cx="6705600" cy="2894988"/>
          </a:xfrm>
          <a:prstGeom prst="rect">
            <a:avLst/>
          </a:prstGeom>
        </p:spPr>
      </p:pic>
      <p:pic>
        <p:nvPicPr>
          <p:cNvPr id="12" name="Picture 11">
            <a:extLst>
              <a:ext uri="{FF2B5EF4-FFF2-40B4-BE49-F238E27FC236}">
                <a16:creationId xmlns:a16="http://schemas.microsoft.com/office/drawing/2014/main" id="{622B369B-F1F8-47EF-90D2-F3B83B976FB2}"/>
              </a:ext>
            </a:extLst>
          </p:cNvPr>
          <p:cNvPicPr>
            <a:picLocks noChangeAspect="1"/>
          </p:cNvPicPr>
          <p:nvPr/>
        </p:nvPicPr>
        <p:blipFill>
          <a:blip r:embed="rId4"/>
          <a:stretch>
            <a:fillRect/>
          </a:stretch>
        </p:blipFill>
        <p:spPr>
          <a:xfrm>
            <a:off x="7086600" y="2421664"/>
            <a:ext cx="3829584" cy="581106"/>
          </a:xfrm>
          <a:prstGeom prst="rect">
            <a:avLst/>
          </a:prstGeom>
        </p:spPr>
      </p:pic>
      <p:sp>
        <p:nvSpPr>
          <p:cNvPr id="13" name="TextBox 12">
            <a:extLst>
              <a:ext uri="{FF2B5EF4-FFF2-40B4-BE49-F238E27FC236}">
                <a16:creationId xmlns:a16="http://schemas.microsoft.com/office/drawing/2014/main" id="{027C1415-2FA5-4311-B1B1-CAD0BC49445D}"/>
              </a:ext>
            </a:extLst>
          </p:cNvPr>
          <p:cNvSpPr txBox="1"/>
          <p:nvPr/>
        </p:nvSpPr>
        <p:spPr>
          <a:xfrm>
            <a:off x="7284822" y="3059668"/>
            <a:ext cx="2349554" cy="369332"/>
          </a:xfrm>
          <a:prstGeom prst="rect">
            <a:avLst/>
          </a:prstGeom>
          <a:noFill/>
        </p:spPr>
        <p:txBody>
          <a:bodyPr wrap="none" rtlCol="0">
            <a:spAutoFit/>
          </a:bodyPr>
          <a:lstStyle/>
          <a:p>
            <a:r>
              <a:rPr lang="en-US" dirty="0"/>
              <a:t>To detect left edge</a:t>
            </a:r>
            <a:endParaRPr lang="en-IN" dirty="0"/>
          </a:p>
        </p:txBody>
      </p:sp>
    </p:spTree>
    <p:extLst>
      <p:ext uri="{BB962C8B-B14F-4D97-AF65-F5344CB8AC3E}">
        <p14:creationId xmlns:p14="http://schemas.microsoft.com/office/powerpoint/2010/main" val="176948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extLst>
              <p:ext uri="{D42A27DB-BD31-4B8C-83A1-F6EECF244321}">
                <p14:modId xmlns:p14="http://schemas.microsoft.com/office/powerpoint/2010/main" val="2229735644"/>
              </p:ext>
            </p:extLst>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extLst>
              <p:ext uri="{D42A27DB-BD31-4B8C-83A1-F6EECF244321}">
                <p14:modId xmlns:p14="http://schemas.microsoft.com/office/powerpoint/2010/main" val="2153549695"/>
              </p:ext>
            </p:extLst>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extLst>
              <p:ext uri="{D42A27DB-BD31-4B8C-83A1-F6EECF244321}">
                <p14:modId xmlns:p14="http://schemas.microsoft.com/office/powerpoint/2010/main" val="2458484404"/>
              </p:ext>
            </p:extLst>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Tree>
    <p:extLst>
      <p:ext uri="{BB962C8B-B14F-4D97-AF65-F5344CB8AC3E}">
        <p14:creationId xmlns:p14="http://schemas.microsoft.com/office/powerpoint/2010/main" val="22884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
        <p:nvSpPr>
          <p:cNvPr id="16" name="TextBox 15">
            <a:extLst>
              <a:ext uri="{FF2B5EF4-FFF2-40B4-BE49-F238E27FC236}">
                <a16:creationId xmlns:a16="http://schemas.microsoft.com/office/drawing/2014/main" id="{D12E2FCD-275D-4BFA-A37B-02033AD562DA}"/>
              </a:ext>
            </a:extLst>
          </p:cNvPr>
          <p:cNvSpPr txBox="1"/>
          <p:nvPr/>
        </p:nvSpPr>
        <p:spPr>
          <a:xfrm>
            <a:off x="4639240" y="3862966"/>
            <a:ext cx="2903359" cy="738664"/>
          </a:xfrm>
          <a:prstGeom prst="rect">
            <a:avLst/>
          </a:prstGeom>
          <a:noFill/>
        </p:spPr>
        <p:txBody>
          <a:bodyPr wrap="none" rtlCol="0">
            <a:spAutoFit/>
          </a:bodyPr>
          <a:lstStyle/>
          <a:p>
            <a:r>
              <a:rPr lang="en-US" sz="1400" dirty="0"/>
              <a:t>Output: Ten data points</a:t>
            </a:r>
          </a:p>
          <a:p>
            <a:r>
              <a:rPr lang="en-US" sz="1400" dirty="0"/>
              <a:t>+1 is exactly at two locations </a:t>
            </a:r>
          </a:p>
          <a:p>
            <a:r>
              <a:rPr lang="en-US" sz="1400" dirty="0"/>
              <a:t>Pixel transitions from 0 to 1</a:t>
            </a:r>
            <a:endParaRPr lang="en-IN" sz="1400" dirty="0"/>
          </a:p>
        </p:txBody>
      </p:sp>
    </p:spTree>
    <p:extLst>
      <p:ext uri="{BB962C8B-B14F-4D97-AF65-F5344CB8AC3E}">
        <p14:creationId xmlns:p14="http://schemas.microsoft.com/office/powerpoint/2010/main" val="162871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048C-A5F3-45EE-AEF0-B436F472C32F}"/>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3CD9711-E938-4069-A6E7-43C5F5F6AC15}"/>
              </a:ext>
            </a:extLst>
          </p:cNvPr>
          <p:cNvSpPr>
            <a:spLocks noGrp="1"/>
          </p:cNvSpPr>
          <p:nvPr>
            <p:ph idx="1"/>
          </p:nvPr>
        </p:nvSpPr>
        <p:spPr/>
        <p:txBody>
          <a:bodyPr/>
          <a:lstStyle/>
          <a:p>
            <a:pPr marL="0" indent="0">
              <a:buNone/>
            </a:pPr>
            <a:r>
              <a:rPr lang="en-US" dirty="0"/>
              <a:t>Filters help us to detect features in images </a:t>
            </a:r>
            <a:endParaRPr lang="en-IN" dirty="0"/>
          </a:p>
        </p:txBody>
      </p:sp>
      <p:sp>
        <p:nvSpPr>
          <p:cNvPr id="4" name="Slide Number Placeholder 3">
            <a:extLst>
              <a:ext uri="{FF2B5EF4-FFF2-40B4-BE49-F238E27FC236}">
                <a16:creationId xmlns:a16="http://schemas.microsoft.com/office/drawing/2014/main" id="{A107C870-753C-45BD-8FC8-32ABABDA2BDD}"/>
              </a:ext>
            </a:extLst>
          </p:cNvPr>
          <p:cNvSpPr>
            <a:spLocks noGrp="1"/>
          </p:cNvSpPr>
          <p:nvPr>
            <p:ph type="sldNum" sz="quarter" idx="12"/>
          </p:nvPr>
        </p:nvSpPr>
        <p:spPr/>
        <p:txBody>
          <a:bodyPr/>
          <a:lstStyle/>
          <a:p>
            <a:fld id="{BB2CE0DE-867F-455F-B20B-96D381B4AB71}" type="slidenum">
              <a:rPr lang="en-US" smtClean="0"/>
              <a:t>16</a:t>
            </a:fld>
            <a:endParaRPr lang="en-US"/>
          </a:p>
        </p:txBody>
      </p:sp>
      <p:graphicFrame>
        <p:nvGraphicFramePr>
          <p:cNvPr id="5" name="Table 12">
            <a:extLst>
              <a:ext uri="{FF2B5EF4-FFF2-40B4-BE49-F238E27FC236}">
                <a16:creationId xmlns:a16="http://schemas.microsoft.com/office/drawing/2014/main" id="{9452E4FC-D784-4215-8E76-F9288F82B47B}"/>
              </a:ext>
            </a:extLst>
          </p:cNvPr>
          <p:cNvGraphicFramePr>
            <a:graphicFrameLocks noGrp="1"/>
          </p:cNvGraphicFramePr>
          <p:nvPr>
            <p:extLst>
              <p:ext uri="{D42A27DB-BD31-4B8C-83A1-F6EECF244321}">
                <p14:modId xmlns:p14="http://schemas.microsoft.com/office/powerpoint/2010/main" val="380367277"/>
              </p:ext>
            </p:extLst>
          </p:nvPr>
        </p:nvGraphicFramePr>
        <p:xfrm>
          <a:off x="922374" y="2013466"/>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6" name="TextBox 5">
            <a:extLst>
              <a:ext uri="{FF2B5EF4-FFF2-40B4-BE49-F238E27FC236}">
                <a16:creationId xmlns:a16="http://schemas.microsoft.com/office/drawing/2014/main" id="{13ED29E4-6E68-4783-8DD9-0D8A385B7795}"/>
              </a:ext>
            </a:extLst>
          </p:cNvPr>
          <p:cNvSpPr txBox="1"/>
          <p:nvPr/>
        </p:nvSpPr>
        <p:spPr>
          <a:xfrm>
            <a:off x="1828800" y="1981200"/>
            <a:ext cx="2930610" cy="369332"/>
          </a:xfrm>
          <a:prstGeom prst="rect">
            <a:avLst/>
          </a:prstGeom>
          <a:noFill/>
        </p:spPr>
        <p:txBody>
          <a:bodyPr wrap="none" rtlCol="0">
            <a:spAutoFit/>
          </a:bodyPr>
          <a:lstStyle/>
          <a:p>
            <a:r>
              <a:rPr lang="en-US" dirty="0"/>
              <a:t>Left edge detector filter</a:t>
            </a:r>
            <a:endParaRPr lang="en-IN" dirty="0"/>
          </a:p>
        </p:txBody>
      </p:sp>
      <p:graphicFrame>
        <p:nvGraphicFramePr>
          <p:cNvPr id="7" name="Table 12">
            <a:extLst>
              <a:ext uri="{FF2B5EF4-FFF2-40B4-BE49-F238E27FC236}">
                <a16:creationId xmlns:a16="http://schemas.microsoft.com/office/drawing/2014/main" id="{5E04E58D-4D28-4382-B853-F6B6BE70385A}"/>
              </a:ext>
            </a:extLst>
          </p:cNvPr>
          <p:cNvGraphicFramePr>
            <a:graphicFrameLocks noGrp="1"/>
          </p:cNvGraphicFramePr>
          <p:nvPr>
            <p:extLst>
              <p:ext uri="{D42A27DB-BD31-4B8C-83A1-F6EECF244321}">
                <p14:modId xmlns:p14="http://schemas.microsoft.com/office/powerpoint/2010/main" val="2142057650"/>
              </p:ext>
            </p:extLst>
          </p:nvPr>
        </p:nvGraphicFramePr>
        <p:xfrm>
          <a:off x="944786" y="268043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8" name="TextBox 7">
            <a:extLst>
              <a:ext uri="{FF2B5EF4-FFF2-40B4-BE49-F238E27FC236}">
                <a16:creationId xmlns:a16="http://schemas.microsoft.com/office/drawing/2014/main" id="{3B0CD469-18A6-44EA-91BB-42C30052C48C}"/>
              </a:ext>
            </a:extLst>
          </p:cNvPr>
          <p:cNvSpPr txBox="1"/>
          <p:nvPr/>
        </p:nvSpPr>
        <p:spPr>
          <a:xfrm>
            <a:off x="1851212" y="2648164"/>
            <a:ext cx="3097323" cy="369332"/>
          </a:xfrm>
          <a:prstGeom prst="rect">
            <a:avLst/>
          </a:prstGeom>
          <a:noFill/>
        </p:spPr>
        <p:txBody>
          <a:bodyPr wrap="none" rtlCol="0">
            <a:spAutoFit/>
          </a:bodyPr>
          <a:lstStyle/>
          <a:p>
            <a:r>
              <a:rPr lang="en-US" dirty="0"/>
              <a:t>Right edge detector filter</a:t>
            </a:r>
            <a:endParaRPr lang="en-IN" dirty="0"/>
          </a:p>
        </p:txBody>
      </p:sp>
      <p:graphicFrame>
        <p:nvGraphicFramePr>
          <p:cNvPr id="9" name="Table 12">
            <a:extLst>
              <a:ext uri="{FF2B5EF4-FFF2-40B4-BE49-F238E27FC236}">
                <a16:creationId xmlns:a16="http://schemas.microsoft.com/office/drawing/2014/main" id="{707BC35C-B4AA-4C97-BDAD-1F9544363F9E}"/>
              </a:ext>
            </a:extLst>
          </p:cNvPr>
          <p:cNvGraphicFramePr>
            <a:graphicFrameLocks noGrp="1"/>
          </p:cNvGraphicFramePr>
          <p:nvPr>
            <p:extLst>
              <p:ext uri="{D42A27DB-BD31-4B8C-83A1-F6EECF244321}">
                <p14:modId xmlns:p14="http://schemas.microsoft.com/office/powerpoint/2010/main" val="1779324194"/>
              </p:ext>
            </p:extLst>
          </p:nvPr>
        </p:nvGraphicFramePr>
        <p:xfrm>
          <a:off x="962714" y="3447828"/>
          <a:ext cx="1399485" cy="304800"/>
        </p:xfrm>
        <a:graphic>
          <a:graphicData uri="http://schemas.openxmlformats.org/drawingml/2006/table">
            <a:tbl>
              <a:tblPr firstRow="1" bandRow="1">
                <a:tableStyleId>{5C22544A-7EE6-4342-B048-85BDC9FD1C3A}</a:tableStyleId>
              </a:tblPr>
              <a:tblGrid>
                <a:gridCol w="466495">
                  <a:extLst>
                    <a:ext uri="{9D8B030D-6E8A-4147-A177-3AD203B41FA5}">
                      <a16:colId xmlns:a16="http://schemas.microsoft.com/office/drawing/2014/main" val="706826312"/>
                    </a:ext>
                  </a:extLst>
                </a:gridCol>
                <a:gridCol w="466495">
                  <a:extLst>
                    <a:ext uri="{9D8B030D-6E8A-4147-A177-3AD203B41FA5}">
                      <a16:colId xmlns:a16="http://schemas.microsoft.com/office/drawing/2014/main" val="1365943266"/>
                    </a:ext>
                  </a:extLst>
                </a:gridCol>
                <a:gridCol w="466495">
                  <a:extLst>
                    <a:ext uri="{9D8B030D-6E8A-4147-A177-3AD203B41FA5}">
                      <a16:colId xmlns:a16="http://schemas.microsoft.com/office/drawing/2014/main" val="1232307014"/>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0" name="TextBox 9">
            <a:extLst>
              <a:ext uri="{FF2B5EF4-FFF2-40B4-BE49-F238E27FC236}">
                <a16:creationId xmlns:a16="http://schemas.microsoft.com/office/drawing/2014/main" id="{06057601-19F7-440A-96FB-49B573569ADB}"/>
              </a:ext>
            </a:extLst>
          </p:cNvPr>
          <p:cNvSpPr txBox="1"/>
          <p:nvPr/>
        </p:nvSpPr>
        <p:spPr>
          <a:xfrm>
            <a:off x="2438400" y="3388677"/>
            <a:ext cx="3997120" cy="369332"/>
          </a:xfrm>
          <a:prstGeom prst="rect">
            <a:avLst/>
          </a:prstGeom>
          <a:noFill/>
        </p:spPr>
        <p:txBody>
          <a:bodyPr wrap="none" rtlCol="0">
            <a:spAutoFit/>
          </a:bodyPr>
          <a:lstStyle/>
          <a:p>
            <a:r>
              <a:rPr lang="en-US" dirty="0"/>
              <a:t>Isolated data pixel detector filter</a:t>
            </a:r>
            <a:endParaRPr lang="en-IN" dirty="0"/>
          </a:p>
        </p:txBody>
      </p:sp>
      <p:pic>
        <p:nvPicPr>
          <p:cNvPr id="12" name="Picture 11">
            <a:extLst>
              <a:ext uri="{FF2B5EF4-FFF2-40B4-BE49-F238E27FC236}">
                <a16:creationId xmlns:a16="http://schemas.microsoft.com/office/drawing/2014/main" id="{5A4E171C-BA63-42DF-A712-D8D7FD5AE92B}"/>
              </a:ext>
            </a:extLst>
          </p:cNvPr>
          <p:cNvPicPr>
            <a:picLocks noChangeAspect="1"/>
          </p:cNvPicPr>
          <p:nvPr/>
        </p:nvPicPr>
        <p:blipFill>
          <a:blip r:embed="rId2"/>
          <a:stretch>
            <a:fillRect/>
          </a:stretch>
        </p:blipFill>
        <p:spPr>
          <a:xfrm>
            <a:off x="1219200" y="3870296"/>
            <a:ext cx="838200" cy="330200"/>
          </a:xfrm>
          <a:prstGeom prst="rect">
            <a:avLst/>
          </a:prstGeom>
        </p:spPr>
      </p:pic>
    </p:spTree>
    <p:extLst>
      <p:ext uri="{BB962C8B-B14F-4D97-AF65-F5344CB8AC3E}">
        <p14:creationId xmlns:p14="http://schemas.microsoft.com/office/powerpoint/2010/main" val="343881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940D-0A84-4532-9987-58DEA7637EDF}"/>
              </a:ext>
            </a:extLst>
          </p:cNvPr>
          <p:cNvSpPr>
            <a:spLocks noGrp="1"/>
          </p:cNvSpPr>
          <p:nvPr>
            <p:ph type="title"/>
          </p:nvPr>
        </p:nvSpPr>
        <p:spPr/>
        <p:txBody>
          <a:bodyPr/>
          <a:lstStyle/>
          <a:p>
            <a:r>
              <a:rPr lang="en-US" dirty="0"/>
              <a:t>Image data: Example of Vertical Edge detection</a:t>
            </a:r>
            <a:endParaRPr lang="en-IN" dirty="0"/>
          </a:p>
        </p:txBody>
      </p:sp>
      <p:sp>
        <p:nvSpPr>
          <p:cNvPr id="3" name="Content Placeholder 2">
            <a:extLst>
              <a:ext uri="{FF2B5EF4-FFF2-40B4-BE49-F238E27FC236}">
                <a16:creationId xmlns:a16="http://schemas.microsoft.com/office/drawing/2014/main" id="{9C8A2602-12DB-46ED-A551-64E5964A2B4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BE84067-6A82-4D93-BFD1-E255716A08A2}"/>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72C50427-76A6-43B7-932D-85781C7CFDD2}"/>
              </a:ext>
            </a:extLst>
          </p:cNvPr>
          <p:cNvPicPr>
            <a:picLocks noChangeAspect="1"/>
          </p:cNvPicPr>
          <p:nvPr/>
        </p:nvPicPr>
        <p:blipFill>
          <a:blip r:embed="rId2"/>
          <a:stretch>
            <a:fillRect/>
          </a:stretch>
        </p:blipFill>
        <p:spPr>
          <a:xfrm>
            <a:off x="854261" y="1219200"/>
            <a:ext cx="7896786" cy="4419600"/>
          </a:xfrm>
          <a:prstGeom prst="rect">
            <a:avLst/>
          </a:prstGeom>
        </p:spPr>
      </p:pic>
      <p:sp>
        <p:nvSpPr>
          <p:cNvPr id="6" name="TextBox 5">
            <a:extLst>
              <a:ext uri="{FF2B5EF4-FFF2-40B4-BE49-F238E27FC236}">
                <a16:creationId xmlns:a16="http://schemas.microsoft.com/office/drawing/2014/main" id="{33822846-5B9D-43CB-ADE4-E5E743DCAB8B}"/>
              </a:ext>
            </a:extLst>
          </p:cNvPr>
          <p:cNvSpPr txBox="1"/>
          <p:nvPr/>
        </p:nvSpPr>
        <p:spPr>
          <a:xfrm>
            <a:off x="609600" y="6403050"/>
            <a:ext cx="5153975" cy="230832"/>
          </a:xfrm>
          <a:prstGeom prst="rect">
            <a:avLst/>
          </a:prstGeom>
          <a:noFill/>
        </p:spPr>
        <p:txBody>
          <a:bodyPr wrap="none" rtlCol="0">
            <a:spAutoFit/>
          </a:bodyPr>
          <a:lstStyle/>
          <a:p>
            <a:r>
              <a:rPr lang="en-US" sz="900" dirty="0"/>
              <a:t>Ref.: https://www.linkedin.com/pulse/deep-learning-cnn-edge-detection-chen-yang/</a:t>
            </a:r>
            <a:endParaRPr lang="en-IN" sz="900" dirty="0"/>
          </a:p>
        </p:txBody>
      </p:sp>
    </p:spTree>
    <p:extLst>
      <p:ext uri="{BB962C8B-B14F-4D97-AF65-F5344CB8AC3E}">
        <p14:creationId xmlns:p14="http://schemas.microsoft.com/office/powerpoint/2010/main" val="2603636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4906-A6D8-27C7-9D14-FEE5C3B93EA6}"/>
              </a:ext>
            </a:extLst>
          </p:cNvPr>
          <p:cNvSpPr>
            <a:spLocks noGrp="1"/>
          </p:cNvSpPr>
          <p:nvPr>
            <p:ph type="title"/>
          </p:nvPr>
        </p:nvSpPr>
        <p:spPr/>
        <p:txBody>
          <a:bodyPr/>
          <a:lstStyle/>
          <a:p>
            <a:r>
              <a:rPr lang="en-US" sz="2400" i="1" dirty="0">
                <a:solidFill>
                  <a:srgbClr val="808080"/>
                </a:solidFill>
                <a:latin typeface="Open Sans" panose="020B0606030504020204" pitchFamily="34" charset="0"/>
              </a:rPr>
              <a:t>An example of vertical edge detection of dark to light transition</a:t>
            </a:r>
            <a:endParaRPr lang="en-IN" sz="2400" dirty="0"/>
          </a:p>
        </p:txBody>
      </p:sp>
      <p:sp>
        <p:nvSpPr>
          <p:cNvPr id="4" name="Date Placeholder 3">
            <a:extLst>
              <a:ext uri="{FF2B5EF4-FFF2-40B4-BE49-F238E27FC236}">
                <a16:creationId xmlns:a16="http://schemas.microsoft.com/office/drawing/2014/main" id="{AFA477E7-3DDB-2583-C6BF-F129AE11086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44063BC7-B1DF-653F-A9CC-581AA1D354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6D38BC-8102-A039-94CB-0A8D13C3CA79}"/>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7" name="Picture 6">
            <a:extLst>
              <a:ext uri="{FF2B5EF4-FFF2-40B4-BE49-F238E27FC236}">
                <a16:creationId xmlns:a16="http://schemas.microsoft.com/office/drawing/2014/main" id="{EE74151E-273C-1498-4DA6-623B486B5F38}"/>
              </a:ext>
            </a:extLst>
          </p:cNvPr>
          <p:cNvPicPr>
            <a:picLocks noChangeAspect="1"/>
          </p:cNvPicPr>
          <p:nvPr/>
        </p:nvPicPr>
        <p:blipFill>
          <a:blip r:embed="rId2"/>
          <a:stretch>
            <a:fillRect/>
          </a:stretch>
        </p:blipFill>
        <p:spPr>
          <a:xfrm>
            <a:off x="1981200" y="1219200"/>
            <a:ext cx="7810500" cy="3238500"/>
          </a:xfrm>
          <a:prstGeom prst="rect">
            <a:avLst/>
          </a:prstGeom>
        </p:spPr>
      </p:pic>
    </p:spTree>
    <p:extLst>
      <p:ext uri="{BB962C8B-B14F-4D97-AF65-F5344CB8AC3E}">
        <p14:creationId xmlns:p14="http://schemas.microsoft.com/office/powerpoint/2010/main" val="2020340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717A-45F6-A86A-1441-72269EC62D0B}"/>
              </a:ext>
            </a:extLst>
          </p:cNvPr>
          <p:cNvSpPr>
            <a:spLocks noGrp="1"/>
          </p:cNvSpPr>
          <p:nvPr>
            <p:ph type="title"/>
          </p:nvPr>
        </p:nvSpPr>
        <p:spPr/>
        <p:txBody>
          <a:bodyPr/>
          <a:lstStyle/>
          <a:p>
            <a:r>
              <a:rPr lang="en-IN" dirty="0"/>
              <a:t>CNN: Vertical Edge Detection</a:t>
            </a:r>
          </a:p>
        </p:txBody>
      </p:sp>
      <p:sp>
        <p:nvSpPr>
          <p:cNvPr id="3" name="Content Placeholder 2">
            <a:extLst>
              <a:ext uri="{FF2B5EF4-FFF2-40B4-BE49-F238E27FC236}">
                <a16:creationId xmlns:a16="http://schemas.microsoft.com/office/drawing/2014/main" id="{94D0B541-61C4-F107-7092-FD8DD57C3395}"/>
              </a:ext>
            </a:extLst>
          </p:cNvPr>
          <p:cNvSpPr>
            <a:spLocks noGrp="1"/>
          </p:cNvSpPr>
          <p:nvPr>
            <p:ph idx="1"/>
          </p:nvPr>
        </p:nvSpPr>
        <p:spPr/>
        <p:txBody>
          <a:bodyPr/>
          <a:lstStyle/>
          <a:p>
            <a:pPr>
              <a:buNone/>
            </a:pPr>
            <a:r>
              <a:rPr lang="en-US" sz="1600" b="1" dirty="0"/>
              <a:t>Why This Filter Detects Vertical Edges:</a:t>
            </a:r>
          </a:p>
          <a:p>
            <a:pPr>
              <a:buFont typeface="+mj-lt"/>
              <a:buAutoNum type="romanUcPeriod"/>
            </a:pPr>
            <a:r>
              <a:rPr lang="en-US" sz="1600" b="1" dirty="0"/>
              <a:t>Directional Sensitivity:</a:t>
            </a:r>
            <a:endParaRPr lang="en-US" sz="1600" dirty="0"/>
          </a:p>
          <a:p>
            <a:pPr marL="857250" lvl="1" indent="-400050">
              <a:buFont typeface="+mj-lt"/>
              <a:buAutoNum type="romanLcPeriod"/>
            </a:pPr>
            <a:r>
              <a:rPr lang="en-US" sz="1400" dirty="0"/>
              <a:t>The kernel compares </a:t>
            </a:r>
            <a:r>
              <a:rPr lang="en-US" sz="1400" b="1" dirty="0"/>
              <a:t>left-side pixels (1s)</a:t>
            </a:r>
            <a:r>
              <a:rPr lang="en-US" sz="1400" dirty="0"/>
              <a:t> with </a:t>
            </a:r>
            <a:r>
              <a:rPr lang="en-US" sz="1400" b="1" dirty="0"/>
              <a:t>right-side pixels (-1s)</a:t>
            </a:r>
            <a:r>
              <a:rPr lang="en-US" sz="1400" dirty="0"/>
              <a:t>.</a:t>
            </a:r>
          </a:p>
          <a:p>
            <a:pPr marL="857250" lvl="1" indent="-400050">
              <a:buFont typeface="+mj-lt"/>
              <a:buAutoNum type="romanLcPeriod"/>
            </a:pPr>
            <a:r>
              <a:rPr lang="en-US" sz="1400" dirty="0"/>
              <a:t>The </a:t>
            </a:r>
            <a:r>
              <a:rPr lang="en-US" sz="1400" b="1" dirty="0"/>
              <a:t>middle column (0s)</a:t>
            </a:r>
            <a:r>
              <a:rPr lang="en-US" sz="1400" dirty="0"/>
              <a:t> ensures that center pixel values are ignored (don't bias the output).</a:t>
            </a:r>
          </a:p>
          <a:p>
            <a:pPr marL="857250" lvl="1" indent="-400050">
              <a:buFont typeface="+mj-lt"/>
              <a:buAutoNum type="romanLcPeriod"/>
            </a:pPr>
            <a:r>
              <a:rPr lang="en-US" sz="1400" dirty="0"/>
              <a:t>When this kernel slides over the image, it gives </a:t>
            </a:r>
            <a:r>
              <a:rPr lang="en-US" sz="1400" b="1" dirty="0"/>
              <a:t>high output values</a:t>
            </a:r>
            <a:r>
              <a:rPr lang="en-US" sz="1400" dirty="0"/>
              <a:t> where there is a </a:t>
            </a:r>
            <a:r>
              <a:rPr lang="en-US" sz="1400" b="1" dirty="0"/>
              <a:t>significant change from left to right</a:t>
            </a:r>
            <a:r>
              <a:rPr lang="en-US" sz="1400" dirty="0"/>
              <a:t>—i.e., vertical edges.</a:t>
            </a:r>
          </a:p>
          <a:p>
            <a:pPr>
              <a:buFont typeface="+mj-lt"/>
              <a:buAutoNum type="romanUcPeriod"/>
            </a:pPr>
            <a:r>
              <a:rPr lang="en-US" sz="1600" b="1" dirty="0"/>
              <a:t>Mathematical Operation:</a:t>
            </a:r>
            <a:endParaRPr lang="en-US" sz="1600" dirty="0"/>
          </a:p>
          <a:p>
            <a:pPr marL="857250" lvl="1" indent="-400050">
              <a:buFont typeface="+mj-lt"/>
              <a:buAutoNum type="romanLcPeriod"/>
            </a:pPr>
            <a:r>
              <a:rPr lang="en-US" sz="1400" dirty="0"/>
              <a:t>At each location, the filter performs an </a:t>
            </a:r>
            <a:r>
              <a:rPr lang="en-US" sz="1400" b="1" dirty="0"/>
              <a:t>element-wise multiplication</a:t>
            </a:r>
            <a:r>
              <a:rPr lang="en-US" sz="1400" dirty="0"/>
              <a:t> (dot product) and </a:t>
            </a:r>
            <a:r>
              <a:rPr lang="en-US" sz="1400" b="1" dirty="0"/>
              <a:t>sums the result</a:t>
            </a:r>
            <a:r>
              <a:rPr lang="en-US" sz="1400" dirty="0"/>
              <a:t>.</a:t>
            </a:r>
          </a:p>
          <a:p>
            <a:pPr marL="857250" lvl="1" indent="-400050">
              <a:buFont typeface="+mj-lt"/>
              <a:buAutoNum type="romanLcPeriod"/>
            </a:pPr>
            <a:r>
              <a:rPr lang="en-US" sz="1400" dirty="0"/>
              <a:t>If the left and right side of a region differ significantly (e.g., from dark to light), the result will be large → indicating a </a:t>
            </a:r>
            <a:r>
              <a:rPr lang="en-US" sz="1400" b="1" dirty="0"/>
              <a:t>vertical edge</a:t>
            </a:r>
            <a:r>
              <a:rPr lang="en-US" sz="1400" dirty="0"/>
              <a:t>.</a:t>
            </a:r>
          </a:p>
          <a:p>
            <a:pPr marL="0" indent="0">
              <a:buNone/>
            </a:pPr>
            <a:endParaRPr lang="en-IN" sz="1600" dirty="0"/>
          </a:p>
        </p:txBody>
      </p:sp>
      <p:sp>
        <p:nvSpPr>
          <p:cNvPr id="4" name="Date Placeholder 3">
            <a:extLst>
              <a:ext uri="{FF2B5EF4-FFF2-40B4-BE49-F238E27FC236}">
                <a16:creationId xmlns:a16="http://schemas.microsoft.com/office/drawing/2014/main" id="{8332BC3F-7AC9-D11E-795D-ED330B17804A}"/>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4D731EE8-4D09-8F25-81BC-515FFB6003F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ED3193-7B0A-BA4B-0D1B-16C17A03D3DF}"/>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8" name="Picture 7">
            <a:extLst>
              <a:ext uri="{FF2B5EF4-FFF2-40B4-BE49-F238E27FC236}">
                <a16:creationId xmlns:a16="http://schemas.microsoft.com/office/drawing/2014/main" id="{BD567BD4-C1D7-69D6-2683-EC739A837162}"/>
              </a:ext>
            </a:extLst>
          </p:cNvPr>
          <p:cNvPicPr>
            <a:picLocks noChangeAspect="1"/>
          </p:cNvPicPr>
          <p:nvPr/>
        </p:nvPicPr>
        <p:blipFill>
          <a:blip r:embed="rId2"/>
          <a:stretch>
            <a:fillRect/>
          </a:stretch>
        </p:blipFill>
        <p:spPr>
          <a:xfrm>
            <a:off x="4800600" y="4359520"/>
            <a:ext cx="2362200" cy="2498481"/>
          </a:xfrm>
          <a:prstGeom prst="rect">
            <a:avLst/>
          </a:prstGeom>
        </p:spPr>
      </p:pic>
    </p:spTree>
    <p:extLst>
      <p:ext uri="{BB962C8B-B14F-4D97-AF65-F5344CB8AC3E}">
        <p14:creationId xmlns:p14="http://schemas.microsoft.com/office/powerpoint/2010/main" val="1871323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74CB-1924-CAFA-6C33-DD3B7458FADB}"/>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CAEDE7FD-084F-D1C4-80C8-90EDAD10CEC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194D6F7-7764-B1AC-F05A-DF07E43F2067}"/>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58ACF7B7-AA21-94C8-9D74-9C7BCACD9F6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94A528-BF0C-1560-2119-4B69A658FA41}"/>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10" name="Picture 9">
            <a:extLst>
              <a:ext uri="{FF2B5EF4-FFF2-40B4-BE49-F238E27FC236}">
                <a16:creationId xmlns:a16="http://schemas.microsoft.com/office/drawing/2014/main" id="{911AF8BD-511B-7600-3FA9-3E3ACE64B272}"/>
              </a:ext>
            </a:extLst>
          </p:cNvPr>
          <p:cNvPicPr>
            <a:picLocks noChangeAspect="1"/>
          </p:cNvPicPr>
          <p:nvPr/>
        </p:nvPicPr>
        <p:blipFill>
          <a:blip r:embed="rId2"/>
          <a:stretch>
            <a:fillRect/>
          </a:stretch>
        </p:blipFill>
        <p:spPr>
          <a:xfrm>
            <a:off x="1827652" y="1219201"/>
            <a:ext cx="8230749" cy="2800741"/>
          </a:xfrm>
          <a:prstGeom prst="rect">
            <a:avLst/>
          </a:prstGeom>
        </p:spPr>
      </p:pic>
    </p:spTree>
    <p:extLst>
      <p:ext uri="{BB962C8B-B14F-4D97-AF65-F5344CB8AC3E}">
        <p14:creationId xmlns:p14="http://schemas.microsoft.com/office/powerpoint/2010/main" val="4006345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32D8B-56ED-29A2-EA4E-F0BB9A4DE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6D06-2C68-F9D5-6957-1C56FBFCBBF4}"/>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F09C3FC1-F578-9E5F-7C2C-67D21B6D2B7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8635F6E-9051-CA34-CFFF-3A9972B85D10}"/>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C6A1353D-534A-F8BE-9AB2-E2017B0354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EF065F-E0BE-6C31-1A82-63050D221A78}"/>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8" name="Picture 7">
            <a:extLst>
              <a:ext uri="{FF2B5EF4-FFF2-40B4-BE49-F238E27FC236}">
                <a16:creationId xmlns:a16="http://schemas.microsoft.com/office/drawing/2014/main" id="{DD373B11-4EF9-C7E1-B5D4-62760AA88F8D}"/>
              </a:ext>
            </a:extLst>
          </p:cNvPr>
          <p:cNvPicPr>
            <a:picLocks noChangeAspect="1"/>
          </p:cNvPicPr>
          <p:nvPr/>
        </p:nvPicPr>
        <p:blipFill>
          <a:blip r:embed="rId2"/>
          <a:stretch>
            <a:fillRect/>
          </a:stretch>
        </p:blipFill>
        <p:spPr>
          <a:xfrm>
            <a:off x="2026669" y="1219200"/>
            <a:ext cx="8145012" cy="4972744"/>
          </a:xfrm>
          <a:prstGeom prst="rect">
            <a:avLst/>
          </a:prstGeom>
        </p:spPr>
      </p:pic>
    </p:spTree>
    <p:extLst>
      <p:ext uri="{BB962C8B-B14F-4D97-AF65-F5344CB8AC3E}">
        <p14:creationId xmlns:p14="http://schemas.microsoft.com/office/powerpoint/2010/main" val="3244718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22F1-589F-85EF-E493-1759902115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8185D3-6952-6F0C-5E25-1BE32EF1FF3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A1D1DC1-57A0-2BD3-99C1-F710C245D7B5}"/>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DDC46BD0-1C9C-0CF3-3677-FAACB04A03F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055748B-9CC3-21E5-5975-F2F9CB5D9782}"/>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E3B06C3D-559A-F8DE-A2A3-430CDDCB32FE}"/>
              </a:ext>
            </a:extLst>
          </p:cNvPr>
          <p:cNvPicPr>
            <a:picLocks noChangeAspect="1"/>
          </p:cNvPicPr>
          <p:nvPr/>
        </p:nvPicPr>
        <p:blipFill>
          <a:blip r:embed="rId2"/>
          <a:stretch>
            <a:fillRect/>
          </a:stretch>
        </p:blipFill>
        <p:spPr>
          <a:xfrm>
            <a:off x="2090057" y="3931140"/>
            <a:ext cx="8001000" cy="2317260"/>
          </a:xfrm>
          <a:prstGeom prst="rect">
            <a:avLst/>
          </a:prstGeom>
        </p:spPr>
      </p:pic>
      <p:pic>
        <p:nvPicPr>
          <p:cNvPr id="9" name="Picture 8">
            <a:extLst>
              <a:ext uri="{FF2B5EF4-FFF2-40B4-BE49-F238E27FC236}">
                <a16:creationId xmlns:a16="http://schemas.microsoft.com/office/drawing/2014/main" id="{7634446A-76B4-3CFF-CB13-363B659AD725}"/>
              </a:ext>
            </a:extLst>
          </p:cNvPr>
          <p:cNvPicPr>
            <a:picLocks noChangeAspect="1"/>
          </p:cNvPicPr>
          <p:nvPr/>
        </p:nvPicPr>
        <p:blipFill>
          <a:blip r:embed="rId3"/>
          <a:stretch>
            <a:fillRect/>
          </a:stretch>
        </p:blipFill>
        <p:spPr>
          <a:xfrm>
            <a:off x="2166257" y="1129130"/>
            <a:ext cx="7245018" cy="2465319"/>
          </a:xfrm>
          <a:prstGeom prst="rect">
            <a:avLst/>
          </a:prstGeom>
        </p:spPr>
      </p:pic>
    </p:spTree>
    <p:extLst>
      <p:ext uri="{BB962C8B-B14F-4D97-AF65-F5344CB8AC3E}">
        <p14:creationId xmlns:p14="http://schemas.microsoft.com/office/powerpoint/2010/main" val="3913444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5D66-BA46-115C-E777-22609AF79AB8}"/>
              </a:ext>
            </a:extLst>
          </p:cNvPr>
          <p:cNvSpPr>
            <a:spLocks noGrp="1"/>
          </p:cNvSpPr>
          <p:nvPr>
            <p:ph type="title"/>
          </p:nvPr>
        </p:nvSpPr>
        <p:spPr/>
        <p:txBody>
          <a:bodyPr/>
          <a:lstStyle/>
          <a:p>
            <a:r>
              <a:rPr lang="en-IN" dirty="0"/>
              <a:t>Learning to Detect Edges</a:t>
            </a:r>
          </a:p>
        </p:txBody>
      </p:sp>
      <p:pic>
        <p:nvPicPr>
          <p:cNvPr id="8" name="Content Placeholder 7">
            <a:extLst>
              <a:ext uri="{FF2B5EF4-FFF2-40B4-BE49-F238E27FC236}">
                <a16:creationId xmlns:a16="http://schemas.microsoft.com/office/drawing/2014/main" id="{B8BA2374-18D5-DE44-2C47-7EB9937C4564}"/>
              </a:ext>
            </a:extLst>
          </p:cNvPr>
          <p:cNvPicPr>
            <a:picLocks noGrp="1" noChangeAspect="1"/>
          </p:cNvPicPr>
          <p:nvPr>
            <p:ph idx="1"/>
          </p:nvPr>
        </p:nvPicPr>
        <p:blipFill>
          <a:blip r:embed="rId3"/>
          <a:stretch>
            <a:fillRect/>
          </a:stretch>
        </p:blipFill>
        <p:spPr>
          <a:xfrm>
            <a:off x="2676324" y="1447800"/>
            <a:ext cx="1438476" cy="1381318"/>
          </a:xfrm>
        </p:spPr>
      </p:pic>
      <p:sp>
        <p:nvSpPr>
          <p:cNvPr id="4" name="Date Placeholder 3">
            <a:extLst>
              <a:ext uri="{FF2B5EF4-FFF2-40B4-BE49-F238E27FC236}">
                <a16:creationId xmlns:a16="http://schemas.microsoft.com/office/drawing/2014/main" id="{87ED9CF5-59D9-06C7-E59A-8219EF063E7F}"/>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4CC4C7E0-9BA2-D634-2FAC-F13E3F49EDF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4A13BE-FE66-2022-A9FA-56CD41645252}"/>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1D06680D-2D2C-C219-D469-8295F3268795}"/>
              </a:ext>
            </a:extLst>
          </p:cNvPr>
          <p:cNvPicPr>
            <a:picLocks noChangeAspect="1"/>
          </p:cNvPicPr>
          <p:nvPr/>
        </p:nvPicPr>
        <p:blipFill>
          <a:blip r:embed="rId4"/>
          <a:stretch>
            <a:fillRect/>
          </a:stretch>
        </p:blipFill>
        <p:spPr>
          <a:xfrm>
            <a:off x="4953001" y="1279559"/>
            <a:ext cx="4772025" cy="1971675"/>
          </a:xfrm>
          <a:prstGeom prst="rect">
            <a:avLst/>
          </a:prstGeom>
        </p:spPr>
      </p:pic>
      <p:sp>
        <p:nvSpPr>
          <p:cNvPr id="12" name="TextBox 11">
            <a:extLst>
              <a:ext uri="{FF2B5EF4-FFF2-40B4-BE49-F238E27FC236}">
                <a16:creationId xmlns:a16="http://schemas.microsoft.com/office/drawing/2014/main" id="{A33543BC-2620-4679-FFDE-37983069D152}"/>
              </a:ext>
            </a:extLst>
          </p:cNvPr>
          <p:cNvSpPr txBox="1"/>
          <p:nvPr/>
        </p:nvSpPr>
        <p:spPr>
          <a:xfrm>
            <a:off x="1828801" y="4028884"/>
            <a:ext cx="9258175" cy="2031325"/>
          </a:xfrm>
          <a:prstGeom prst="rect">
            <a:avLst/>
          </a:prstGeom>
          <a:noFill/>
        </p:spPr>
        <p:txBody>
          <a:bodyPr wrap="none" rtlCol="0">
            <a:spAutoFit/>
          </a:bodyPr>
          <a:lstStyle/>
          <a:p>
            <a:r>
              <a:rPr lang="en-US" sz="1400" dirty="0">
                <a:solidFill>
                  <a:srgbClr val="000000"/>
                </a:solidFill>
                <a:latin typeface="Open Sans" panose="020B0606030504020204" pitchFamily="34" charset="0"/>
              </a:rPr>
              <a:t>It turns out that the </a:t>
            </a:r>
            <a:r>
              <a:rPr lang="en-US" sz="1400" dirty="0">
                <a:solidFill>
                  <a:srgbClr val="000000"/>
                </a:solidFill>
                <a:latin typeface="MathJax_Main"/>
              </a:rPr>
              <a:t>3×3</a:t>
            </a:r>
            <a:r>
              <a:rPr lang="en-US" sz="1400" dirty="0">
                <a:solidFill>
                  <a:srgbClr val="000000"/>
                </a:solidFill>
                <a:latin typeface="Open Sans" panose="020B0606030504020204" pitchFamily="34" charset="0"/>
              </a:rPr>
              <a:t> vertical edge detection filter we’ve used, is just one possible choice and </a:t>
            </a:r>
          </a:p>
          <a:p>
            <a:r>
              <a:rPr lang="en-US" sz="1400" dirty="0">
                <a:solidFill>
                  <a:srgbClr val="000000"/>
                </a:solidFill>
                <a:latin typeface="Open Sans" panose="020B0606030504020204" pitchFamily="34" charset="0"/>
              </a:rPr>
              <a:t>historically in the computer vision literature, there was a fair amount of debate about what is the best set </a:t>
            </a:r>
          </a:p>
          <a:p>
            <a:r>
              <a:rPr lang="en-US" sz="1400" dirty="0">
                <a:solidFill>
                  <a:srgbClr val="000000"/>
                </a:solidFill>
                <a:latin typeface="Open Sans" panose="020B0606030504020204" pitchFamily="34" charset="0"/>
              </a:rPr>
              <a:t>of numbers (coefficients) to use. So, here’s something else we could use which is called a Sobel filter. </a:t>
            </a:r>
          </a:p>
          <a:p>
            <a:r>
              <a:rPr lang="en-US" sz="1400" dirty="0">
                <a:solidFill>
                  <a:srgbClr val="000000"/>
                </a:solidFill>
                <a:latin typeface="Open Sans" panose="020B0606030504020204" pitchFamily="34" charset="0"/>
              </a:rPr>
              <a:t>The advantage of this is that it allows you to put a little bit more weight to the central row of the central pixel,</a:t>
            </a:r>
          </a:p>
          <a:p>
            <a:r>
              <a:rPr lang="en-US" sz="1400" dirty="0">
                <a:solidFill>
                  <a:srgbClr val="000000"/>
                </a:solidFill>
                <a:latin typeface="Open Sans" panose="020B0606030504020204" pitchFamily="34" charset="0"/>
              </a:rPr>
              <a:t> and this makes it maybe a little bit more robust, but computer vision researchers will use other excessive </a:t>
            </a:r>
          </a:p>
          <a:p>
            <a:r>
              <a:rPr lang="en-US" sz="1400" dirty="0">
                <a:solidFill>
                  <a:srgbClr val="000000"/>
                </a:solidFill>
                <a:latin typeface="Open Sans" panose="020B0606030504020204" pitchFamily="34" charset="0"/>
              </a:rPr>
              <a:t>numbers for instance, instead of a </a:t>
            </a:r>
            <a:r>
              <a:rPr lang="en-US" sz="1400" dirty="0">
                <a:solidFill>
                  <a:srgbClr val="000000"/>
                </a:solidFill>
                <a:latin typeface="MathJax_Main"/>
              </a:rPr>
              <a:t>1,2,1</a:t>
            </a:r>
            <a:r>
              <a:rPr lang="en-US" sz="1400" dirty="0">
                <a:solidFill>
                  <a:srgbClr val="000000"/>
                </a:solidFill>
                <a:latin typeface="Open Sans" panose="020B0606030504020204" pitchFamily="34" charset="0"/>
              </a:rPr>
              <a:t> it should be a </a:t>
            </a:r>
            <a:r>
              <a:rPr lang="en-US" sz="1400" dirty="0">
                <a:solidFill>
                  <a:srgbClr val="000000"/>
                </a:solidFill>
                <a:latin typeface="MathJax_Main"/>
              </a:rPr>
              <a:t>3,10,3</a:t>
            </a:r>
            <a:r>
              <a:rPr lang="en-US" sz="1400" dirty="0">
                <a:solidFill>
                  <a:srgbClr val="000000"/>
                </a:solidFill>
                <a:latin typeface="Open Sans" panose="020B0606030504020204" pitchFamily="34" charset="0"/>
              </a:rPr>
              <a:t> and also then </a:t>
            </a:r>
            <a:r>
              <a:rPr lang="en-US" sz="1400" dirty="0">
                <a:solidFill>
                  <a:srgbClr val="000000"/>
                </a:solidFill>
                <a:latin typeface="MathJax_Main"/>
              </a:rPr>
              <a:t>−3,−10,−3</a:t>
            </a:r>
            <a:r>
              <a:rPr lang="en-US" sz="1400" dirty="0">
                <a:solidFill>
                  <a:srgbClr val="000000"/>
                </a:solidFill>
                <a:latin typeface="Open Sans" panose="020B0606030504020204" pitchFamily="34" charset="0"/>
              </a:rPr>
              <a:t>. This is called a </a:t>
            </a:r>
          </a:p>
          <a:p>
            <a:r>
              <a:rPr lang="en-US" sz="1400" dirty="0">
                <a:solidFill>
                  <a:srgbClr val="000000"/>
                </a:solidFill>
                <a:latin typeface="Open Sans" panose="020B0606030504020204" pitchFamily="34" charset="0"/>
              </a:rPr>
              <a:t>Scharr filter and it has slightly different properties. This is just for vertical edge detection and </a:t>
            </a:r>
          </a:p>
          <a:p>
            <a:r>
              <a:rPr lang="en-US" sz="1400" dirty="0">
                <a:solidFill>
                  <a:srgbClr val="000000"/>
                </a:solidFill>
                <a:latin typeface="Open Sans" panose="020B0606030504020204" pitchFamily="34" charset="0"/>
              </a:rPr>
              <a:t>if we rotate it </a:t>
            </a:r>
            <a:r>
              <a:rPr lang="en-US" sz="1400" dirty="0">
                <a:solidFill>
                  <a:srgbClr val="000000"/>
                </a:solidFill>
                <a:latin typeface="MathJax_Main"/>
              </a:rPr>
              <a:t>90°</a:t>
            </a:r>
            <a:r>
              <a:rPr lang="en-US" sz="1400" dirty="0">
                <a:solidFill>
                  <a:srgbClr val="000000"/>
                </a:solidFill>
                <a:latin typeface="Open Sans" panose="020B0606030504020204" pitchFamily="34" charset="0"/>
              </a:rPr>
              <a:t>, we get a horizontal edge detector.</a:t>
            </a:r>
            <a:endParaRPr lang="en-IN" sz="1400" dirty="0"/>
          </a:p>
          <a:p>
            <a:endParaRPr lang="en-IN" sz="1400" dirty="0"/>
          </a:p>
        </p:txBody>
      </p:sp>
    </p:spTree>
    <p:extLst>
      <p:ext uri="{BB962C8B-B14F-4D97-AF65-F5344CB8AC3E}">
        <p14:creationId xmlns:p14="http://schemas.microsoft.com/office/powerpoint/2010/main" val="3846341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CC6C-542E-024E-82BB-665FF563AFB5}"/>
              </a:ext>
            </a:extLst>
          </p:cNvPr>
          <p:cNvSpPr>
            <a:spLocks noGrp="1"/>
          </p:cNvSpPr>
          <p:nvPr>
            <p:ph type="title"/>
          </p:nvPr>
        </p:nvSpPr>
        <p:spPr/>
        <p:txBody>
          <a:bodyPr/>
          <a:lstStyle/>
          <a:p>
            <a:r>
              <a:rPr lang="en-US" dirty="0"/>
              <a:t>How to choose weights in the filter?</a:t>
            </a:r>
            <a:endParaRPr lang="en-IN" dirty="0"/>
          </a:p>
        </p:txBody>
      </p:sp>
      <p:sp>
        <p:nvSpPr>
          <p:cNvPr id="4" name="Date Placeholder 3">
            <a:extLst>
              <a:ext uri="{FF2B5EF4-FFF2-40B4-BE49-F238E27FC236}">
                <a16:creationId xmlns:a16="http://schemas.microsoft.com/office/drawing/2014/main" id="{2ED30466-D613-0325-BAA3-E347C366CB48}"/>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992D6283-B048-4ADB-0829-3CB61C268EC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19EFC-39CE-043F-6AC3-5B54DD0DB468}"/>
              </a:ext>
            </a:extLst>
          </p:cNvPr>
          <p:cNvSpPr>
            <a:spLocks noGrp="1"/>
          </p:cNvSpPr>
          <p:nvPr>
            <p:ph type="sldNum" sz="quarter" idx="12"/>
          </p:nvPr>
        </p:nvSpPr>
        <p:spPr/>
        <p:txBody>
          <a:bodyPr/>
          <a:lstStyle/>
          <a:p>
            <a:fld id="{BB2CE0DE-867F-455F-B20B-96D381B4AB71}" type="slidenum">
              <a:rPr lang="en-US" smtClean="0"/>
              <a:t>24</a:t>
            </a:fld>
            <a:endParaRPr lang="en-US"/>
          </a:p>
        </p:txBody>
      </p:sp>
      <p:grpSp>
        <p:nvGrpSpPr>
          <p:cNvPr id="18" name="Group 17">
            <a:extLst>
              <a:ext uri="{FF2B5EF4-FFF2-40B4-BE49-F238E27FC236}">
                <a16:creationId xmlns:a16="http://schemas.microsoft.com/office/drawing/2014/main" id="{81A75F71-9D22-3257-5A7A-D6F49F9D4203}"/>
              </a:ext>
            </a:extLst>
          </p:cNvPr>
          <p:cNvGrpSpPr/>
          <p:nvPr/>
        </p:nvGrpSpPr>
        <p:grpSpPr>
          <a:xfrm>
            <a:off x="1828801" y="1066800"/>
            <a:ext cx="8764223" cy="2912862"/>
            <a:chOff x="368891" y="1535668"/>
            <a:chExt cx="8764223" cy="2912862"/>
          </a:xfrm>
        </p:grpSpPr>
        <p:pic>
          <p:nvPicPr>
            <p:cNvPr id="10" name="Picture 9">
              <a:extLst>
                <a:ext uri="{FF2B5EF4-FFF2-40B4-BE49-F238E27FC236}">
                  <a16:creationId xmlns:a16="http://schemas.microsoft.com/office/drawing/2014/main" id="{45E1BA30-DF96-08EC-8F97-9531107BF72A}"/>
                </a:ext>
              </a:extLst>
            </p:cNvPr>
            <p:cNvPicPr>
              <a:picLocks noChangeAspect="1"/>
            </p:cNvPicPr>
            <p:nvPr/>
          </p:nvPicPr>
          <p:blipFill>
            <a:blip r:embed="rId3"/>
            <a:stretch>
              <a:fillRect/>
            </a:stretch>
          </p:blipFill>
          <p:spPr>
            <a:xfrm>
              <a:off x="368891" y="1905000"/>
              <a:ext cx="8764223" cy="2543530"/>
            </a:xfrm>
            <a:prstGeom prst="rect">
              <a:avLst/>
            </a:prstGeom>
          </p:spPr>
        </p:pic>
        <p:sp>
          <p:nvSpPr>
            <p:cNvPr id="11" name="TextBox 10">
              <a:extLst>
                <a:ext uri="{FF2B5EF4-FFF2-40B4-BE49-F238E27FC236}">
                  <a16:creationId xmlns:a16="http://schemas.microsoft.com/office/drawing/2014/main" id="{C4B98F01-B49B-49DC-17C5-ED73D1062B40}"/>
                </a:ext>
              </a:extLst>
            </p:cNvPr>
            <p:cNvSpPr txBox="1"/>
            <p:nvPr/>
          </p:nvSpPr>
          <p:spPr>
            <a:xfrm>
              <a:off x="3276600" y="2844225"/>
              <a:ext cx="445956" cy="584775"/>
            </a:xfrm>
            <a:prstGeom prst="rect">
              <a:avLst/>
            </a:prstGeom>
            <a:noFill/>
          </p:spPr>
          <p:txBody>
            <a:bodyPr wrap="none" rtlCol="0">
              <a:spAutoFit/>
            </a:bodyPr>
            <a:lstStyle/>
            <a:p>
              <a:r>
                <a:rPr lang="en-IN" sz="3200" dirty="0"/>
                <a:t>*</a:t>
              </a:r>
            </a:p>
          </p:txBody>
        </p:sp>
        <p:cxnSp>
          <p:nvCxnSpPr>
            <p:cNvPr id="13" name="Straight Arrow Connector 12">
              <a:extLst>
                <a:ext uri="{FF2B5EF4-FFF2-40B4-BE49-F238E27FC236}">
                  <a16:creationId xmlns:a16="http://schemas.microsoft.com/office/drawing/2014/main" id="{6DD44479-C598-93C0-F1BE-DF169C9F4453}"/>
                </a:ext>
              </a:extLst>
            </p:cNvPr>
            <p:cNvCxnSpPr/>
            <p:nvPr/>
          </p:nvCxnSpPr>
          <p:spPr bwMode="auto">
            <a:xfrm>
              <a:off x="3505200" y="2133600"/>
              <a:ext cx="0" cy="6858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E5979CBF-2156-0DD6-9B7A-F33FE5A7FADE}"/>
                </a:ext>
              </a:extLst>
            </p:cNvPr>
            <p:cNvSpPr txBox="1"/>
            <p:nvPr/>
          </p:nvSpPr>
          <p:spPr>
            <a:xfrm>
              <a:off x="2667000" y="1535668"/>
              <a:ext cx="2771593" cy="369332"/>
            </a:xfrm>
            <a:prstGeom prst="rect">
              <a:avLst/>
            </a:prstGeom>
            <a:noFill/>
          </p:spPr>
          <p:txBody>
            <a:bodyPr wrap="none" rtlCol="0">
              <a:spAutoFit/>
            </a:bodyPr>
            <a:lstStyle/>
            <a:p>
              <a:r>
                <a:rPr lang="en-IN" dirty="0"/>
                <a:t>Convolution Operation</a:t>
              </a:r>
            </a:p>
          </p:txBody>
        </p:sp>
        <p:sp>
          <p:nvSpPr>
            <p:cNvPr id="15" name="TextBox 14">
              <a:extLst>
                <a:ext uri="{FF2B5EF4-FFF2-40B4-BE49-F238E27FC236}">
                  <a16:creationId xmlns:a16="http://schemas.microsoft.com/office/drawing/2014/main" id="{E4117FF9-7CA5-2444-0343-0A9237ABB4DB}"/>
                </a:ext>
              </a:extLst>
            </p:cNvPr>
            <p:cNvSpPr txBox="1"/>
            <p:nvPr/>
          </p:nvSpPr>
          <p:spPr>
            <a:xfrm>
              <a:off x="5874580" y="2895600"/>
              <a:ext cx="373820"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3D787ADB-B18C-873E-A4C9-B33457DA68F9}"/>
                </a:ext>
              </a:extLst>
            </p:cNvPr>
            <p:cNvSpPr txBox="1"/>
            <p:nvPr/>
          </p:nvSpPr>
          <p:spPr>
            <a:xfrm>
              <a:off x="4240018" y="3733800"/>
              <a:ext cx="663964" cy="400110"/>
            </a:xfrm>
            <a:prstGeom prst="rect">
              <a:avLst/>
            </a:prstGeom>
            <a:noFill/>
          </p:spPr>
          <p:txBody>
            <a:bodyPr wrap="none" rtlCol="0">
              <a:spAutoFit/>
            </a:bodyPr>
            <a:lstStyle/>
            <a:p>
              <a:r>
                <a:rPr lang="en-IN" sz="2000" dirty="0"/>
                <a:t>3x3</a:t>
              </a:r>
            </a:p>
          </p:txBody>
        </p:sp>
        <p:sp>
          <p:nvSpPr>
            <p:cNvPr id="17" name="TextBox 16">
              <a:extLst>
                <a:ext uri="{FF2B5EF4-FFF2-40B4-BE49-F238E27FC236}">
                  <a16:creationId xmlns:a16="http://schemas.microsoft.com/office/drawing/2014/main" id="{4F87E44F-1F39-7D5F-31AA-2B65A21F2A24}"/>
                </a:ext>
              </a:extLst>
            </p:cNvPr>
            <p:cNvSpPr txBox="1"/>
            <p:nvPr/>
          </p:nvSpPr>
          <p:spPr>
            <a:xfrm>
              <a:off x="7467600" y="3926696"/>
              <a:ext cx="663964" cy="400110"/>
            </a:xfrm>
            <a:prstGeom prst="rect">
              <a:avLst/>
            </a:prstGeom>
            <a:noFill/>
          </p:spPr>
          <p:txBody>
            <a:bodyPr wrap="none" rtlCol="0">
              <a:spAutoFit/>
            </a:bodyPr>
            <a:lstStyle/>
            <a:p>
              <a:r>
                <a:rPr lang="en-IN" sz="2000" dirty="0"/>
                <a:t>4x4</a:t>
              </a:r>
            </a:p>
          </p:txBody>
        </p:sp>
      </p:grpSp>
      <p:sp>
        <p:nvSpPr>
          <p:cNvPr id="21" name="TextBox 20">
            <a:extLst>
              <a:ext uri="{FF2B5EF4-FFF2-40B4-BE49-F238E27FC236}">
                <a16:creationId xmlns:a16="http://schemas.microsoft.com/office/drawing/2014/main" id="{10AE3089-0BD6-5D12-CFE4-A637621DB0E8}"/>
              </a:ext>
            </a:extLst>
          </p:cNvPr>
          <p:cNvSpPr txBox="1"/>
          <p:nvPr/>
        </p:nvSpPr>
        <p:spPr>
          <a:xfrm>
            <a:off x="1612120" y="4301744"/>
            <a:ext cx="9197582" cy="1384995"/>
          </a:xfrm>
          <a:prstGeom prst="rect">
            <a:avLst/>
          </a:prstGeom>
          <a:noFill/>
        </p:spPr>
        <p:txBody>
          <a:bodyPr wrap="none" rtlCol="0">
            <a:spAutoFit/>
          </a:bodyPr>
          <a:lstStyle/>
          <a:p>
            <a:r>
              <a:rPr lang="en-US" sz="1400" dirty="0">
                <a:solidFill>
                  <a:srgbClr val="000000"/>
                </a:solidFill>
                <a:latin typeface="Open Sans" panose="020B0606030504020204" pitchFamily="34" charset="0"/>
              </a:rPr>
              <a:t>With the rise of deep learning one of the things we learned is that when we want to detect edges in some </a:t>
            </a:r>
          </a:p>
          <a:p>
            <a:r>
              <a:rPr lang="en-US" sz="1400" dirty="0">
                <a:solidFill>
                  <a:srgbClr val="000000"/>
                </a:solidFill>
                <a:latin typeface="Open Sans" panose="020B0606030504020204" pitchFamily="34" charset="0"/>
              </a:rPr>
              <a:t>complicated image, maybe we don’t need to have computer vision researchers handpick these </a:t>
            </a:r>
            <a:r>
              <a:rPr lang="en-US" sz="1400" dirty="0">
                <a:solidFill>
                  <a:srgbClr val="000000"/>
                </a:solidFill>
                <a:latin typeface="MathJax_Main"/>
              </a:rPr>
              <a:t>9</a:t>
            </a:r>
            <a:r>
              <a:rPr lang="en-US" sz="1400" dirty="0">
                <a:solidFill>
                  <a:srgbClr val="000000"/>
                </a:solidFill>
                <a:latin typeface="Open Sans" panose="020B0606030504020204" pitchFamily="34" charset="0"/>
              </a:rPr>
              <a:t> numbers. </a:t>
            </a:r>
          </a:p>
          <a:p>
            <a:r>
              <a:rPr lang="en-US" sz="1400" dirty="0">
                <a:solidFill>
                  <a:srgbClr val="000000"/>
                </a:solidFill>
                <a:latin typeface="Open Sans" panose="020B0606030504020204" pitchFamily="34" charset="0"/>
              </a:rPr>
              <a:t>It turns out that we can just learn them and treat the 9 numbers of this matrix as parameters, which we can </a:t>
            </a:r>
          </a:p>
          <a:p>
            <a:r>
              <a:rPr lang="en-US" sz="1400" dirty="0">
                <a:solidFill>
                  <a:srgbClr val="000000"/>
                </a:solidFill>
                <a:latin typeface="Open Sans" panose="020B0606030504020204" pitchFamily="34" charset="0"/>
              </a:rPr>
              <a:t>learn using backpropagation. The goal is to learn </a:t>
            </a:r>
            <a:r>
              <a:rPr lang="en-US" sz="1400" dirty="0">
                <a:solidFill>
                  <a:srgbClr val="000000"/>
                </a:solidFill>
                <a:latin typeface="MathJax_Main"/>
              </a:rPr>
              <a:t>9</a:t>
            </a:r>
            <a:r>
              <a:rPr lang="en-US" sz="1400" dirty="0">
                <a:solidFill>
                  <a:srgbClr val="000000"/>
                </a:solidFill>
                <a:latin typeface="Open Sans" panose="020B0606030504020204" pitchFamily="34" charset="0"/>
              </a:rPr>
              <a:t> parameters so that when we take the </a:t>
            </a:r>
            <a:r>
              <a:rPr lang="en-US" sz="1400" dirty="0">
                <a:solidFill>
                  <a:srgbClr val="000000"/>
                </a:solidFill>
                <a:latin typeface="MathJax_Main"/>
              </a:rPr>
              <a:t>6×6</a:t>
            </a:r>
            <a:r>
              <a:rPr lang="en-US" sz="1400" dirty="0">
                <a:solidFill>
                  <a:srgbClr val="000000"/>
                </a:solidFill>
                <a:latin typeface="Open Sans" panose="020B0606030504020204" pitchFamily="34" charset="0"/>
              </a:rPr>
              <a:t> image and </a:t>
            </a:r>
          </a:p>
          <a:p>
            <a:r>
              <a:rPr lang="en-US" sz="1400" dirty="0">
                <a:solidFill>
                  <a:srgbClr val="000000"/>
                </a:solidFill>
                <a:latin typeface="Open Sans" panose="020B0606030504020204" pitchFamily="34" charset="0"/>
              </a:rPr>
              <a:t>convolve it with our </a:t>
            </a:r>
            <a:r>
              <a:rPr lang="en-US" sz="1400" dirty="0">
                <a:solidFill>
                  <a:srgbClr val="000000"/>
                </a:solidFill>
                <a:latin typeface="MathJax_Main"/>
              </a:rPr>
              <a:t>3×3</a:t>
            </a:r>
            <a:r>
              <a:rPr lang="en-US" sz="1400" dirty="0">
                <a:solidFill>
                  <a:srgbClr val="000000"/>
                </a:solidFill>
                <a:latin typeface="Open Sans" panose="020B0606030504020204" pitchFamily="34" charset="0"/>
              </a:rPr>
              <a:t> filter, it should construct a good edge detector. </a:t>
            </a:r>
            <a:endParaRPr lang="en-IN" sz="1400" dirty="0"/>
          </a:p>
          <a:p>
            <a:endParaRPr lang="en-IN" sz="1400" dirty="0"/>
          </a:p>
        </p:txBody>
      </p:sp>
    </p:spTree>
    <p:extLst>
      <p:ext uri="{BB962C8B-B14F-4D97-AF65-F5344CB8AC3E}">
        <p14:creationId xmlns:p14="http://schemas.microsoft.com/office/powerpoint/2010/main" val="3105067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95F6-964D-3AD1-B29E-CF3867BB6355}"/>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B13F2E6E-47D8-1934-860B-B5766035E0B8}"/>
              </a:ext>
            </a:extLst>
          </p:cNvPr>
          <p:cNvSpPr>
            <a:spLocks noGrp="1"/>
          </p:cNvSpPr>
          <p:nvPr>
            <p:ph idx="1"/>
          </p:nvPr>
        </p:nvSpPr>
        <p:spPr/>
        <p:txBody>
          <a:bodyPr/>
          <a:lstStyle/>
          <a:p>
            <a:pPr marL="0" indent="0">
              <a:buNone/>
            </a:pPr>
            <a:r>
              <a:rPr lang="en-US" sz="2000" b="1" dirty="0">
                <a:solidFill>
                  <a:srgbClr val="302C41"/>
                </a:solidFill>
                <a:latin typeface="Aspira Webfont"/>
              </a:rPr>
              <a:t>Q1 - Consider the following gray scale image, we need to find the vertical and horizontal edges as following. </a:t>
            </a:r>
            <a:r>
              <a:rPr lang="en-US" sz="2000" dirty="0">
                <a:solidFill>
                  <a:srgbClr val="302C41"/>
                </a:solidFill>
                <a:latin typeface="Aspira Webfont"/>
              </a:rPr>
              <a:t>Convolve the following 6x6 image (1 channel) with a vertical and horizontal filter and a stride of 1 to produce two 4X4 images that detect the edges</a:t>
            </a:r>
            <a:endParaRPr lang="en-IN" sz="2000" dirty="0"/>
          </a:p>
        </p:txBody>
      </p:sp>
      <p:sp>
        <p:nvSpPr>
          <p:cNvPr id="4" name="Date Placeholder 3">
            <a:extLst>
              <a:ext uri="{FF2B5EF4-FFF2-40B4-BE49-F238E27FC236}">
                <a16:creationId xmlns:a16="http://schemas.microsoft.com/office/drawing/2014/main" id="{24921336-2AA6-159D-5E12-248FFCD187A5}"/>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30E51D92-5E82-28AC-8F24-03375A9E9B3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E24624C-5128-254B-667C-18EA3A280CBD}"/>
              </a:ext>
            </a:extLst>
          </p:cNvPr>
          <p:cNvSpPr>
            <a:spLocks noGrp="1"/>
          </p:cNvSpPr>
          <p:nvPr>
            <p:ph type="sldNum" sz="quarter" idx="12"/>
          </p:nvPr>
        </p:nvSpPr>
        <p:spPr/>
        <p:txBody>
          <a:bodyPr/>
          <a:lstStyle/>
          <a:p>
            <a:fld id="{BB2CE0DE-867F-455F-B20B-96D381B4AB71}" type="slidenum">
              <a:rPr lang="en-US" smtClean="0"/>
              <a:t>25</a:t>
            </a:fld>
            <a:endParaRPr lang="en-US"/>
          </a:p>
        </p:txBody>
      </p:sp>
      <p:grpSp>
        <p:nvGrpSpPr>
          <p:cNvPr id="22" name="Group 21">
            <a:extLst>
              <a:ext uri="{FF2B5EF4-FFF2-40B4-BE49-F238E27FC236}">
                <a16:creationId xmlns:a16="http://schemas.microsoft.com/office/drawing/2014/main" id="{8B7A5B72-5F61-9F25-B131-72201393596C}"/>
              </a:ext>
            </a:extLst>
          </p:cNvPr>
          <p:cNvGrpSpPr/>
          <p:nvPr/>
        </p:nvGrpSpPr>
        <p:grpSpPr>
          <a:xfrm>
            <a:off x="1971683" y="2737280"/>
            <a:ext cx="4906060" cy="2857856"/>
            <a:chOff x="671170" y="2635108"/>
            <a:chExt cx="4906060" cy="2857856"/>
          </a:xfrm>
        </p:grpSpPr>
        <p:pic>
          <p:nvPicPr>
            <p:cNvPr id="10" name="Picture 9">
              <a:extLst>
                <a:ext uri="{FF2B5EF4-FFF2-40B4-BE49-F238E27FC236}">
                  <a16:creationId xmlns:a16="http://schemas.microsoft.com/office/drawing/2014/main" id="{106A8802-53ED-BCA2-E793-DE7FA4CD5CFF}"/>
                </a:ext>
              </a:extLst>
            </p:cNvPr>
            <p:cNvPicPr>
              <a:picLocks noChangeAspect="1"/>
            </p:cNvPicPr>
            <p:nvPr/>
          </p:nvPicPr>
          <p:blipFill>
            <a:blip r:embed="rId3"/>
            <a:stretch>
              <a:fillRect/>
            </a:stretch>
          </p:blipFill>
          <p:spPr>
            <a:xfrm>
              <a:off x="671170" y="2635108"/>
              <a:ext cx="4906060" cy="1886213"/>
            </a:xfrm>
            <a:prstGeom prst="rect">
              <a:avLst/>
            </a:prstGeom>
          </p:spPr>
        </p:pic>
        <p:pic>
          <p:nvPicPr>
            <p:cNvPr id="12" name="Picture 11">
              <a:extLst>
                <a:ext uri="{FF2B5EF4-FFF2-40B4-BE49-F238E27FC236}">
                  <a16:creationId xmlns:a16="http://schemas.microsoft.com/office/drawing/2014/main" id="{A121CC0C-580B-5746-C50A-B5810C032E5C}"/>
                </a:ext>
              </a:extLst>
            </p:cNvPr>
            <p:cNvPicPr>
              <a:picLocks noChangeAspect="1"/>
            </p:cNvPicPr>
            <p:nvPr/>
          </p:nvPicPr>
          <p:blipFill>
            <a:blip r:embed="rId4"/>
            <a:stretch>
              <a:fillRect/>
            </a:stretch>
          </p:blipFill>
          <p:spPr>
            <a:xfrm>
              <a:off x="3684463" y="4159278"/>
              <a:ext cx="1781424" cy="1333686"/>
            </a:xfrm>
            <a:prstGeom prst="rect">
              <a:avLst/>
            </a:prstGeom>
          </p:spPr>
        </p:pic>
        <p:cxnSp>
          <p:nvCxnSpPr>
            <p:cNvPr id="14" name="Straight Arrow Connector 13">
              <a:extLst>
                <a:ext uri="{FF2B5EF4-FFF2-40B4-BE49-F238E27FC236}">
                  <a16:creationId xmlns:a16="http://schemas.microsoft.com/office/drawing/2014/main" id="{C0F2E992-D7D4-B3A8-60B1-10BA981CAF3B}"/>
                </a:ext>
              </a:extLst>
            </p:cNvPr>
            <p:cNvCxnSpPr/>
            <p:nvPr/>
          </p:nvCxnSpPr>
          <p:spPr bwMode="auto">
            <a:xfrm>
              <a:off x="2286000" y="3930678"/>
              <a:ext cx="1295400" cy="94612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pic>
        <p:nvPicPr>
          <p:cNvPr id="16" name="Picture 15">
            <a:extLst>
              <a:ext uri="{FF2B5EF4-FFF2-40B4-BE49-F238E27FC236}">
                <a16:creationId xmlns:a16="http://schemas.microsoft.com/office/drawing/2014/main" id="{3CEA79B1-63A4-95D7-5B25-3D1594AFEC59}"/>
              </a:ext>
            </a:extLst>
          </p:cNvPr>
          <p:cNvPicPr>
            <a:picLocks noChangeAspect="1"/>
          </p:cNvPicPr>
          <p:nvPr/>
        </p:nvPicPr>
        <p:blipFill>
          <a:blip r:embed="rId5"/>
          <a:stretch>
            <a:fillRect/>
          </a:stretch>
        </p:blipFill>
        <p:spPr>
          <a:xfrm>
            <a:off x="8015354" y="2737281"/>
            <a:ext cx="1981477" cy="1714739"/>
          </a:xfrm>
          <a:prstGeom prst="rect">
            <a:avLst/>
          </a:prstGeom>
        </p:spPr>
      </p:pic>
      <p:pic>
        <p:nvPicPr>
          <p:cNvPr id="18" name="Picture 17">
            <a:extLst>
              <a:ext uri="{FF2B5EF4-FFF2-40B4-BE49-F238E27FC236}">
                <a16:creationId xmlns:a16="http://schemas.microsoft.com/office/drawing/2014/main" id="{1830A52C-BAAD-D563-B3AE-C882720CD1E3}"/>
              </a:ext>
            </a:extLst>
          </p:cNvPr>
          <p:cNvPicPr>
            <a:picLocks noChangeAspect="1"/>
          </p:cNvPicPr>
          <p:nvPr/>
        </p:nvPicPr>
        <p:blipFill>
          <a:blip r:embed="rId6"/>
          <a:stretch>
            <a:fillRect/>
          </a:stretch>
        </p:blipFill>
        <p:spPr>
          <a:xfrm>
            <a:off x="7682236" y="4684197"/>
            <a:ext cx="2505425" cy="1428949"/>
          </a:xfrm>
          <a:prstGeom prst="rect">
            <a:avLst/>
          </a:prstGeom>
        </p:spPr>
      </p:pic>
    </p:spTree>
    <p:extLst>
      <p:ext uri="{BB962C8B-B14F-4D97-AF65-F5344CB8AC3E}">
        <p14:creationId xmlns:p14="http://schemas.microsoft.com/office/powerpoint/2010/main" val="2377557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516B-E145-7A88-D0EB-176CED9D0C51}"/>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947569B1-AE2E-D851-712A-F8CBE4DDE7B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B03374F-C2E2-AF47-4955-8FAEDA95AA4E}"/>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EF2B45C8-E118-A61B-7146-3B60131102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4A1B599-7ED5-7322-D9DE-B9F06A907B2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8" name="Picture 7">
            <a:extLst>
              <a:ext uri="{FF2B5EF4-FFF2-40B4-BE49-F238E27FC236}">
                <a16:creationId xmlns:a16="http://schemas.microsoft.com/office/drawing/2014/main" id="{7B56229F-D5EA-B86A-ED3A-593631B0A0C5}"/>
              </a:ext>
            </a:extLst>
          </p:cNvPr>
          <p:cNvPicPr>
            <a:picLocks noChangeAspect="1"/>
          </p:cNvPicPr>
          <p:nvPr/>
        </p:nvPicPr>
        <p:blipFill>
          <a:blip r:embed="rId2"/>
          <a:stretch>
            <a:fillRect/>
          </a:stretch>
        </p:blipFill>
        <p:spPr>
          <a:xfrm>
            <a:off x="755651" y="1237129"/>
            <a:ext cx="8154538" cy="3982006"/>
          </a:xfrm>
          <a:prstGeom prst="rect">
            <a:avLst/>
          </a:prstGeom>
        </p:spPr>
      </p:pic>
    </p:spTree>
    <p:extLst>
      <p:ext uri="{BB962C8B-B14F-4D97-AF65-F5344CB8AC3E}">
        <p14:creationId xmlns:p14="http://schemas.microsoft.com/office/powerpoint/2010/main" val="1446469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10C90-85CD-3C43-9B0E-B6E8C4B43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73573-3509-6FD1-F3A8-15434583BE8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4798E009-972F-8CFE-E32B-735E038617B8}"/>
              </a:ext>
            </a:extLst>
          </p:cNvPr>
          <p:cNvSpPr>
            <a:spLocks noGrp="1"/>
          </p:cNvSpPr>
          <p:nvPr>
            <p:ph idx="1"/>
          </p:nvPr>
        </p:nvSpPr>
        <p:spPr/>
        <p:txBody>
          <a:bodyPr/>
          <a:lstStyle/>
          <a:p>
            <a:pPr marL="0" indent="0">
              <a:buNone/>
            </a:pPr>
            <a:r>
              <a:rPr lang="en-IN" dirty="0"/>
              <a:t>Why Padding is required ?</a:t>
            </a:r>
          </a:p>
          <a:p>
            <a:pPr marL="0" indent="0" algn="just">
              <a:buNone/>
            </a:pPr>
            <a:r>
              <a:rPr lang="en-US" sz="1600" dirty="0"/>
              <a:t>During convolution, the size of the output feature map is determined by the size of the input feature map, the size of the kernel, and the stride. If we simply apply the kernel on the input feature map, then the output feature map will be smaller than the input. This can result in the loss of information at the borders of the input feature map. In Order to preserve the border information we use padding.</a:t>
            </a:r>
            <a:endParaRPr lang="en-IN" sz="1600" dirty="0"/>
          </a:p>
        </p:txBody>
      </p:sp>
      <p:sp>
        <p:nvSpPr>
          <p:cNvPr id="4" name="Date Placeholder 3">
            <a:extLst>
              <a:ext uri="{FF2B5EF4-FFF2-40B4-BE49-F238E27FC236}">
                <a16:creationId xmlns:a16="http://schemas.microsoft.com/office/drawing/2014/main" id="{0D1DF2CB-0A8B-A4DD-0B9B-B965CAE218A4}"/>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0A8EA69E-8D42-7235-092D-264ED7388B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95826FE-91EA-8377-94E4-9BB276F2BDB9}"/>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2244284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2147-6B82-1330-4F9B-322131338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04C2D-F0B9-9C93-A502-B1821542363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EA874568-19B7-7421-8F82-6A1C150E913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4DB7802-3230-B001-4C42-FE8CEB9817D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74CD625F-4092-421D-5D8F-E27492736B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9760101-9BCE-C238-C826-FBE322F7879F}"/>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8" name="Picture 7">
            <a:extLst>
              <a:ext uri="{FF2B5EF4-FFF2-40B4-BE49-F238E27FC236}">
                <a16:creationId xmlns:a16="http://schemas.microsoft.com/office/drawing/2014/main" id="{39E74FA9-13A9-8439-FB76-3E53AFCCBBB2}"/>
              </a:ext>
            </a:extLst>
          </p:cNvPr>
          <p:cNvPicPr>
            <a:picLocks noChangeAspect="1"/>
          </p:cNvPicPr>
          <p:nvPr/>
        </p:nvPicPr>
        <p:blipFill>
          <a:blip r:embed="rId2"/>
          <a:stretch>
            <a:fillRect/>
          </a:stretch>
        </p:blipFill>
        <p:spPr>
          <a:xfrm>
            <a:off x="755651" y="1069693"/>
            <a:ext cx="8154538" cy="3982006"/>
          </a:xfrm>
          <a:prstGeom prst="rect">
            <a:avLst/>
          </a:prstGeom>
        </p:spPr>
      </p:pic>
    </p:spTree>
    <p:extLst>
      <p:ext uri="{BB962C8B-B14F-4D97-AF65-F5344CB8AC3E}">
        <p14:creationId xmlns:p14="http://schemas.microsoft.com/office/powerpoint/2010/main" val="1692267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D1D8-226D-1B9F-9E34-1A93AE7AE03D}"/>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8DD2814-071A-01F1-1310-ECBCA01E1ED5}"/>
              </a:ext>
            </a:extLst>
          </p:cNvPr>
          <p:cNvSpPr>
            <a:spLocks noGrp="1"/>
          </p:cNvSpPr>
          <p:nvPr>
            <p:ph idx="1"/>
          </p:nvPr>
        </p:nvSpPr>
        <p:spPr/>
        <p:txBody>
          <a:bodyPr/>
          <a:lstStyle/>
          <a:p>
            <a:pPr marL="0" indent="0" algn="just">
              <a:buNone/>
            </a:pPr>
            <a:r>
              <a:rPr lang="en-US" sz="1600" dirty="0">
                <a:solidFill>
                  <a:srgbClr val="6B6B6B"/>
                </a:solidFill>
                <a:latin typeface="sohne"/>
              </a:rPr>
              <a:t>How information is lost on the edges. Note that the red-shaded center pixel overlaps with many (red) filters while the green-shaded pixel can only overlaps with just one (green) filter.</a:t>
            </a:r>
            <a:endParaRPr lang="en-IN" sz="1600" dirty="0"/>
          </a:p>
        </p:txBody>
      </p:sp>
      <p:sp>
        <p:nvSpPr>
          <p:cNvPr id="4" name="Date Placeholder 3">
            <a:extLst>
              <a:ext uri="{FF2B5EF4-FFF2-40B4-BE49-F238E27FC236}">
                <a16:creationId xmlns:a16="http://schemas.microsoft.com/office/drawing/2014/main" id="{3BD5551A-5989-EE05-1ED0-A9923C380C97}"/>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570F1816-082E-E2B0-29D3-1C9D077C78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CF4096E-4C1D-93DA-A402-BD8CD393C5C4}"/>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7" name="Picture 6">
            <a:extLst>
              <a:ext uri="{FF2B5EF4-FFF2-40B4-BE49-F238E27FC236}">
                <a16:creationId xmlns:a16="http://schemas.microsoft.com/office/drawing/2014/main" id="{673DF5CC-A8D0-E958-822B-F3736CCDB5FA}"/>
              </a:ext>
            </a:extLst>
          </p:cNvPr>
          <p:cNvPicPr>
            <a:picLocks noChangeAspect="1"/>
          </p:cNvPicPr>
          <p:nvPr/>
        </p:nvPicPr>
        <p:blipFill>
          <a:blip r:embed="rId2"/>
          <a:stretch>
            <a:fillRect/>
          </a:stretch>
        </p:blipFill>
        <p:spPr>
          <a:xfrm>
            <a:off x="2286000" y="2057401"/>
            <a:ext cx="7162800" cy="4030703"/>
          </a:xfrm>
          <a:prstGeom prst="rect">
            <a:avLst/>
          </a:prstGeom>
        </p:spPr>
      </p:pic>
    </p:spTree>
    <p:extLst>
      <p:ext uri="{BB962C8B-B14F-4D97-AF65-F5344CB8AC3E}">
        <p14:creationId xmlns:p14="http://schemas.microsoft.com/office/powerpoint/2010/main" val="2631466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90E6-EBEE-D4FB-4AB1-D075E917C73B}"/>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FDCE396-AA2F-9EC8-ECE9-79010CF844F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7445DFA-1287-D019-ECBD-63D1100BEBFA}"/>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063F61FA-7A0A-2A64-A3E1-B0BC560527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41A2A6-6B2C-8FA8-5C92-15AD6E9BE976}"/>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8" name="Picture 7">
            <a:extLst>
              <a:ext uri="{FF2B5EF4-FFF2-40B4-BE49-F238E27FC236}">
                <a16:creationId xmlns:a16="http://schemas.microsoft.com/office/drawing/2014/main" id="{EF2F0CBD-78CB-D2CF-78AF-481754F7EDF4}"/>
              </a:ext>
            </a:extLst>
          </p:cNvPr>
          <p:cNvPicPr>
            <a:picLocks noChangeAspect="1"/>
          </p:cNvPicPr>
          <p:nvPr/>
        </p:nvPicPr>
        <p:blipFill>
          <a:blip r:embed="rId2"/>
          <a:stretch>
            <a:fillRect/>
          </a:stretch>
        </p:blipFill>
        <p:spPr>
          <a:xfrm>
            <a:off x="770715" y="1262498"/>
            <a:ext cx="7848600" cy="4376302"/>
          </a:xfrm>
          <a:prstGeom prst="rect">
            <a:avLst/>
          </a:prstGeom>
        </p:spPr>
      </p:pic>
    </p:spTree>
    <p:extLst>
      <p:ext uri="{BB962C8B-B14F-4D97-AF65-F5344CB8AC3E}">
        <p14:creationId xmlns:p14="http://schemas.microsoft.com/office/powerpoint/2010/main" val="3325505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D361-48E5-5AE3-3654-D187D188FF09}"/>
              </a:ext>
            </a:extLst>
          </p:cNvPr>
          <p:cNvSpPr>
            <a:spLocks noGrp="1"/>
          </p:cNvSpPr>
          <p:nvPr>
            <p:ph type="title"/>
          </p:nvPr>
        </p:nvSpPr>
        <p:spPr/>
        <p:txBody>
          <a:bodyPr/>
          <a:lstStyle/>
          <a:p>
            <a:r>
              <a:rPr lang="en-IN" dirty="0"/>
              <a:t>Valid and Same Padding</a:t>
            </a:r>
          </a:p>
        </p:txBody>
      </p:sp>
      <p:pic>
        <p:nvPicPr>
          <p:cNvPr id="8" name="Content Placeholder 7">
            <a:extLst>
              <a:ext uri="{FF2B5EF4-FFF2-40B4-BE49-F238E27FC236}">
                <a16:creationId xmlns:a16="http://schemas.microsoft.com/office/drawing/2014/main" id="{763231F7-07A5-339D-5B50-D12D26CA7C1D}"/>
              </a:ext>
            </a:extLst>
          </p:cNvPr>
          <p:cNvPicPr>
            <a:picLocks noGrp="1" noChangeAspect="1"/>
          </p:cNvPicPr>
          <p:nvPr>
            <p:ph idx="1"/>
          </p:nvPr>
        </p:nvPicPr>
        <p:blipFill>
          <a:blip r:embed="rId3"/>
          <a:stretch>
            <a:fillRect/>
          </a:stretch>
        </p:blipFill>
        <p:spPr>
          <a:xfrm>
            <a:off x="609600" y="1251086"/>
            <a:ext cx="8001000" cy="3778114"/>
          </a:xfrm>
        </p:spPr>
      </p:pic>
      <p:sp>
        <p:nvSpPr>
          <p:cNvPr id="4" name="Date Placeholder 3">
            <a:extLst>
              <a:ext uri="{FF2B5EF4-FFF2-40B4-BE49-F238E27FC236}">
                <a16:creationId xmlns:a16="http://schemas.microsoft.com/office/drawing/2014/main" id="{2395D15B-B77F-3CED-2007-D7EF8F50B5C4}"/>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2B2F1082-C8E5-FA63-9FAB-9B818BEE3AC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8B150D-EA93-504E-25C4-BC2E5623A6C5}"/>
              </a:ext>
            </a:extLst>
          </p:cNvPr>
          <p:cNvSpPr>
            <a:spLocks noGrp="1"/>
          </p:cNvSpPr>
          <p:nvPr>
            <p:ph type="sldNum" sz="quarter" idx="12"/>
          </p:nvPr>
        </p:nvSpPr>
        <p:spPr/>
        <p:txBody>
          <a:bodyPr/>
          <a:lstStyle/>
          <a:p>
            <a:fld id="{BB2CE0DE-867F-455F-B20B-96D381B4AB71}" type="slidenum">
              <a:rPr lang="en-US" smtClean="0"/>
              <a:t>31</a:t>
            </a:fld>
            <a:endParaRPr lang="en-US"/>
          </a:p>
        </p:txBody>
      </p:sp>
      <p:sp>
        <p:nvSpPr>
          <p:cNvPr id="3" name="TextBox 2">
            <a:extLst>
              <a:ext uri="{FF2B5EF4-FFF2-40B4-BE49-F238E27FC236}">
                <a16:creationId xmlns:a16="http://schemas.microsoft.com/office/drawing/2014/main" id="{8D4BC3C9-2451-484D-94F2-442B491F4BB6}"/>
              </a:ext>
            </a:extLst>
          </p:cNvPr>
          <p:cNvSpPr txBox="1"/>
          <p:nvPr/>
        </p:nvSpPr>
        <p:spPr>
          <a:xfrm>
            <a:off x="3733800" y="3200400"/>
            <a:ext cx="76200" cy="457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745266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C6C2-ACB5-0268-489F-1FFAAEAB0402}"/>
              </a:ext>
            </a:extLst>
          </p:cNvPr>
          <p:cNvSpPr>
            <a:spLocks noGrp="1"/>
          </p:cNvSpPr>
          <p:nvPr>
            <p:ph type="title"/>
          </p:nvPr>
        </p:nvSpPr>
        <p:spPr/>
        <p:txBody>
          <a:bodyPr/>
          <a:lstStyle/>
          <a:p>
            <a:r>
              <a:rPr lang="en-US" dirty="0"/>
              <a:t>Striding</a:t>
            </a:r>
            <a:endParaRPr lang="en-IN" dirty="0"/>
          </a:p>
        </p:txBody>
      </p:sp>
      <p:sp>
        <p:nvSpPr>
          <p:cNvPr id="3" name="Content Placeholder 2">
            <a:extLst>
              <a:ext uri="{FF2B5EF4-FFF2-40B4-BE49-F238E27FC236}">
                <a16:creationId xmlns:a16="http://schemas.microsoft.com/office/drawing/2014/main" id="{4E8DDD41-E3B2-BC93-B248-970FAF99FA4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A8EFEBD-7A87-9DD8-E22B-9A2F0DCBDAC5}"/>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CFC9178F-D37A-9CBD-D492-0A286B7EC3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36A35DC-080D-9EB4-09C9-FCC467136AB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7" name="Picture 6">
            <a:extLst>
              <a:ext uri="{FF2B5EF4-FFF2-40B4-BE49-F238E27FC236}">
                <a16:creationId xmlns:a16="http://schemas.microsoft.com/office/drawing/2014/main" id="{B6BDAD6F-5036-E70B-4ACF-33943D8355A9}"/>
              </a:ext>
            </a:extLst>
          </p:cNvPr>
          <p:cNvPicPr>
            <a:picLocks noChangeAspect="1"/>
          </p:cNvPicPr>
          <p:nvPr/>
        </p:nvPicPr>
        <p:blipFill>
          <a:blip r:embed="rId3"/>
          <a:stretch>
            <a:fillRect/>
          </a:stretch>
        </p:blipFill>
        <p:spPr>
          <a:xfrm>
            <a:off x="766233" y="1241612"/>
            <a:ext cx="6781800" cy="3816304"/>
          </a:xfrm>
          <a:prstGeom prst="rect">
            <a:avLst/>
          </a:prstGeom>
        </p:spPr>
      </p:pic>
    </p:spTree>
    <p:extLst>
      <p:ext uri="{BB962C8B-B14F-4D97-AF65-F5344CB8AC3E}">
        <p14:creationId xmlns:p14="http://schemas.microsoft.com/office/powerpoint/2010/main" val="3947700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B8FC-37C3-9226-3A56-CCDF86A7342D}"/>
              </a:ext>
            </a:extLst>
          </p:cNvPr>
          <p:cNvSpPr>
            <a:spLocks noGrp="1"/>
          </p:cNvSpPr>
          <p:nvPr>
            <p:ph type="title"/>
          </p:nvPr>
        </p:nvSpPr>
        <p:spPr/>
        <p:txBody>
          <a:bodyPr/>
          <a:lstStyle/>
          <a:p>
            <a:r>
              <a:rPr lang="en-IN" dirty="0"/>
              <a:t>Striding</a:t>
            </a:r>
          </a:p>
        </p:txBody>
      </p:sp>
      <p:sp>
        <p:nvSpPr>
          <p:cNvPr id="3" name="Content Placeholder 2">
            <a:extLst>
              <a:ext uri="{FF2B5EF4-FFF2-40B4-BE49-F238E27FC236}">
                <a16:creationId xmlns:a16="http://schemas.microsoft.com/office/drawing/2014/main" id="{D5C04258-DF0D-E026-F7D5-C3E8D45C5F6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F905CCF-8492-F31A-9224-266519060DC5}"/>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35F38A81-AC12-FC4A-1219-4A090A637CE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A4CCC5-BECD-0417-D60C-A9A378D1A670}"/>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8" name="Picture 7">
            <a:extLst>
              <a:ext uri="{FF2B5EF4-FFF2-40B4-BE49-F238E27FC236}">
                <a16:creationId xmlns:a16="http://schemas.microsoft.com/office/drawing/2014/main" id="{0F67850E-C26A-D26A-63AC-178F7001F5EA}"/>
              </a:ext>
            </a:extLst>
          </p:cNvPr>
          <p:cNvPicPr>
            <a:picLocks noChangeAspect="1"/>
          </p:cNvPicPr>
          <p:nvPr/>
        </p:nvPicPr>
        <p:blipFill>
          <a:blip r:embed="rId3"/>
          <a:stretch>
            <a:fillRect/>
          </a:stretch>
        </p:blipFill>
        <p:spPr>
          <a:xfrm>
            <a:off x="755651" y="1219200"/>
            <a:ext cx="8394811" cy="4019925"/>
          </a:xfrm>
          <a:prstGeom prst="rect">
            <a:avLst/>
          </a:prstGeom>
        </p:spPr>
      </p:pic>
    </p:spTree>
    <p:extLst>
      <p:ext uri="{BB962C8B-B14F-4D97-AF65-F5344CB8AC3E}">
        <p14:creationId xmlns:p14="http://schemas.microsoft.com/office/powerpoint/2010/main" val="1038683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1078-F0FF-924A-D1D9-CCDBC76C71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59B771-3C40-F863-599A-D6457F6D8B2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3BEADEA-8444-FD2F-DF0B-7D625D046B52}"/>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BE18D625-A3AD-25A0-C181-BF08940CCD3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CA0927-8889-FF20-1B58-ECF5924B6B31}"/>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FC3B7611-23FE-CE07-046D-AB574A3CAE5C}"/>
              </a:ext>
            </a:extLst>
          </p:cNvPr>
          <p:cNvPicPr>
            <a:picLocks noChangeAspect="1"/>
          </p:cNvPicPr>
          <p:nvPr/>
        </p:nvPicPr>
        <p:blipFill>
          <a:blip r:embed="rId2"/>
          <a:stretch>
            <a:fillRect/>
          </a:stretch>
        </p:blipFill>
        <p:spPr>
          <a:xfrm>
            <a:off x="766233" y="1219200"/>
            <a:ext cx="7947979" cy="4305496"/>
          </a:xfrm>
          <a:prstGeom prst="rect">
            <a:avLst/>
          </a:prstGeom>
        </p:spPr>
      </p:pic>
    </p:spTree>
    <p:extLst>
      <p:ext uri="{BB962C8B-B14F-4D97-AF65-F5344CB8AC3E}">
        <p14:creationId xmlns:p14="http://schemas.microsoft.com/office/powerpoint/2010/main" val="3573075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4FF6-B3AD-502E-13F9-131A73FBE0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3891DD-1152-729F-350B-6BE015F689D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43CAED3-E739-514C-F320-3EA3D9655E5A}"/>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307B394A-BB06-F433-BB4A-991A33F8F3D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ADBED5-0BE7-B689-8DD7-813127715D1C}"/>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10" name="Picture 9">
            <a:extLst>
              <a:ext uri="{FF2B5EF4-FFF2-40B4-BE49-F238E27FC236}">
                <a16:creationId xmlns:a16="http://schemas.microsoft.com/office/drawing/2014/main" id="{70C50911-4D96-119F-AD25-7AF5A6CB0D3B}"/>
              </a:ext>
            </a:extLst>
          </p:cNvPr>
          <p:cNvPicPr>
            <a:picLocks noChangeAspect="1"/>
          </p:cNvPicPr>
          <p:nvPr/>
        </p:nvPicPr>
        <p:blipFill>
          <a:blip r:embed="rId2"/>
          <a:stretch>
            <a:fillRect/>
          </a:stretch>
        </p:blipFill>
        <p:spPr>
          <a:xfrm>
            <a:off x="755651" y="1219200"/>
            <a:ext cx="8569817" cy="4181771"/>
          </a:xfrm>
          <a:prstGeom prst="rect">
            <a:avLst/>
          </a:prstGeom>
        </p:spPr>
      </p:pic>
    </p:spTree>
    <p:extLst>
      <p:ext uri="{BB962C8B-B14F-4D97-AF65-F5344CB8AC3E}">
        <p14:creationId xmlns:p14="http://schemas.microsoft.com/office/powerpoint/2010/main" val="1301949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849B-E97E-E129-5073-E9096CC4CF4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5EEF1277-EE8A-45F9-E35F-F65413D4DE65}"/>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725B9736-F717-96BB-63BD-BED52C21DA2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2871E05-4CF8-4BB3-69D0-59A749437F9F}"/>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FFEDB313-FB7F-CCC4-4140-5B07C5A7BB5C}"/>
              </a:ext>
            </a:extLst>
          </p:cNvPr>
          <p:cNvPicPr>
            <a:picLocks noChangeAspect="1"/>
          </p:cNvPicPr>
          <p:nvPr/>
        </p:nvPicPr>
        <p:blipFill>
          <a:blip r:embed="rId2"/>
          <a:stretch>
            <a:fillRect/>
          </a:stretch>
        </p:blipFill>
        <p:spPr>
          <a:xfrm>
            <a:off x="1927108" y="1186543"/>
            <a:ext cx="8740893" cy="4734266"/>
          </a:xfrm>
          <a:prstGeom prst="rect">
            <a:avLst/>
          </a:prstGeom>
        </p:spPr>
      </p:pic>
    </p:spTree>
    <p:extLst>
      <p:ext uri="{BB962C8B-B14F-4D97-AF65-F5344CB8AC3E}">
        <p14:creationId xmlns:p14="http://schemas.microsoft.com/office/powerpoint/2010/main" val="327382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A2FF-B260-7610-4BEE-9B4763F7F8A2}"/>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1E991BB5-B729-51B5-FE9F-D69B07B41EF2}"/>
              </a:ext>
            </a:extLst>
          </p:cNvPr>
          <p:cNvSpPr>
            <a:spLocks noGrp="1"/>
          </p:cNvSpPr>
          <p:nvPr>
            <p:ph idx="1"/>
          </p:nvPr>
        </p:nvSpPr>
        <p:spPr/>
        <p:txBody>
          <a:bodyPr/>
          <a:lstStyle/>
          <a:p>
            <a:pPr marL="0" indent="0" algn="just">
              <a:buNone/>
            </a:pPr>
            <a:r>
              <a:rPr lang="en-US" sz="1800" dirty="0">
                <a:solidFill>
                  <a:srgbClr val="242424"/>
                </a:solidFill>
                <a:latin typeface="source-serif-pro"/>
              </a:rPr>
              <a:t>And if you use padding </a:t>
            </a:r>
            <a:r>
              <a:rPr lang="en-US" sz="1800" i="1" dirty="0">
                <a:solidFill>
                  <a:srgbClr val="242424"/>
                </a:solidFill>
                <a:latin typeface="source-serif-pro"/>
              </a:rPr>
              <a:t>p</a:t>
            </a:r>
            <a:r>
              <a:rPr lang="en-US" sz="1800" dirty="0">
                <a:solidFill>
                  <a:srgbClr val="242424"/>
                </a:solidFill>
                <a:latin typeface="source-serif-pro"/>
              </a:rPr>
              <a:t> and stride </a:t>
            </a:r>
            <a:r>
              <a:rPr lang="en-US" sz="1800" i="1" dirty="0">
                <a:solidFill>
                  <a:srgbClr val="242424"/>
                </a:solidFill>
                <a:latin typeface="source-serif-pro"/>
              </a:rPr>
              <a:t>s</a:t>
            </a:r>
            <a:r>
              <a:rPr lang="en-US" sz="1800" dirty="0">
                <a:solidFill>
                  <a:srgbClr val="242424"/>
                </a:solidFill>
                <a:latin typeface="source-serif-pro"/>
              </a:rPr>
              <a:t>. In this example, </a:t>
            </a:r>
            <a:r>
              <a:rPr lang="en-US" sz="1800" i="1" dirty="0">
                <a:solidFill>
                  <a:srgbClr val="242424"/>
                </a:solidFill>
                <a:latin typeface="source-serif-pro"/>
              </a:rPr>
              <a:t>s </a:t>
            </a:r>
            <a:r>
              <a:rPr lang="en-US" sz="1800" dirty="0">
                <a:solidFill>
                  <a:srgbClr val="242424"/>
                </a:solidFill>
                <a:latin typeface="source-serif-pro"/>
              </a:rPr>
              <a:t>= 2</a:t>
            </a:r>
            <a:r>
              <a:rPr lang="en-US" sz="1800" i="1" dirty="0">
                <a:solidFill>
                  <a:srgbClr val="242424"/>
                </a:solidFill>
                <a:latin typeface="source-serif-pro"/>
              </a:rPr>
              <a:t> </a:t>
            </a:r>
            <a:r>
              <a:rPr lang="en-US" sz="1800" dirty="0">
                <a:solidFill>
                  <a:srgbClr val="242424"/>
                </a:solidFill>
                <a:latin typeface="source-serif-pro"/>
              </a:rPr>
              <a:t>then you end up with an output that is </a:t>
            </a:r>
            <a:r>
              <a:rPr lang="en-US" sz="1800" i="1" dirty="0">
                <a:solidFill>
                  <a:srgbClr val="242424"/>
                </a:solidFill>
                <a:latin typeface="source-serif-pro"/>
              </a:rPr>
              <a:t>n+ </a:t>
            </a:r>
            <a:r>
              <a:rPr lang="en-US" sz="1800" dirty="0">
                <a:solidFill>
                  <a:srgbClr val="242424"/>
                </a:solidFill>
                <a:latin typeface="source-serif-pro"/>
              </a:rPr>
              <a:t>2 </a:t>
            </a:r>
            <a:r>
              <a:rPr lang="en-US" sz="1800" i="1" dirty="0">
                <a:solidFill>
                  <a:srgbClr val="242424"/>
                </a:solidFill>
                <a:latin typeface="source-serif-pro"/>
              </a:rPr>
              <a:t>— f </a:t>
            </a:r>
            <a:r>
              <a:rPr lang="en-US" sz="1800" dirty="0">
                <a:solidFill>
                  <a:srgbClr val="242424"/>
                </a:solidFill>
                <a:latin typeface="source-serif-pro"/>
              </a:rPr>
              <a:t>, and now</a:t>
            </a:r>
            <a:r>
              <a:rPr lang="en-US" sz="1800" i="1" dirty="0">
                <a:solidFill>
                  <a:srgbClr val="242424"/>
                </a:solidFill>
                <a:latin typeface="source-serif-pro"/>
              </a:rPr>
              <a:t> because you’re stepping S steps of the time, you step just one step of the time</a:t>
            </a:r>
            <a:r>
              <a:rPr lang="en-US" sz="1800" dirty="0">
                <a:solidFill>
                  <a:srgbClr val="242424"/>
                </a:solidFill>
                <a:latin typeface="source-serif-pro"/>
              </a:rPr>
              <a:t>, </a:t>
            </a:r>
            <a:r>
              <a:rPr lang="en-US" sz="1800" i="1" dirty="0">
                <a:solidFill>
                  <a:srgbClr val="242424"/>
                </a:solidFill>
                <a:latin typeface="source-serif-pro"/>
              </a:rPr>
              <a:t>you now divide by S plus one and then can apply the same thing.</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09A47E2D-1016-D69D-9996-669A74B8187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EDE7E126-8379-E877-C6B0-77002256AB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0E81A2-7715-B98E-D2AE-28623820B675}"/>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9" name="Picture 8">
            <a:extLst>
              <a:ext uri="{FF2B5EF4-FFF2-40B4-BE49-F238E27FC236}">
                <a16:creationId xmlns:a16="http://schemas.microsoft.com/office/drawing/2014/main" id="{5015A642-AAD5-94E4-DBF4-C47879F1482D}"/>
              </a:ext>
            </a:extLst>
          </p:cNvPr>
          <p:cNvPicPr>
            <a:picLocks noChangeAspect="1"/>
          </p:cNvPicPr>
          <p:nvPr/>
        </p:nvPicPr>
        <p:blipFill>
          <a:blip r:embed="rId3"/>
          <a:stretch>
            <a:fillRect/>
          </a:stretch>
        </p:blipFill>
        <p:spPr>
          <a:xfrm>
            <a:off x="1981200" y="2801182"/>
            <a:ext cx="8077200" cy="1255637"/>
          </a:xfrm>
          <a:prstGeom prst="rect">
            <a:avLst/>
          </a:prstGeom>
        </p:spPr>
      </p:pic>
    </p:spTree>
    <p:extLst>
      <p:ext uri="{BB962C8B-B14F-4D97-AF65-F5344CB8AC3E}">
        <p14:creationId xmlns:p14="http://schemas.microsoft.com/office/powerpoint/2010/main" val="1433214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3CBC-4720-4C34-9DB3-B511C093E950}"/>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3FD92A2D-701D-E4AE-A918-7B62225E560C}"/>
              </a:ext>
            </a:extLst>
          </p:cNvPr>
          <p:cNvSpPr>
            <a:spLocks noGrp="1"/>
          </p:cNvSpPr>
          <p:nvPr>
            <p:ph idx="1"/>
          </p:nvPr>
        </p:nvSpPr>
        <p:spPr/>
        <p:txBody>
          <a:bodyPr/>
          <a:lstStyle/>
          <a:p>
            <a:pPr marL="0" indent="0">
              <a:buNone/>
            </a:pPr>
            <a:r>
              <a:rPr lang="en-US" b="0" i="0" dirty="0">
                <a:solidFill>
                  <a:srgbClr val="242424"/>
                </a:solidFill>
                <a:effectLst/>
                <a:latin typeface="source-serif-pro"/>
              </a:rPr>
              <a:t>Now, just one last detail, what if this (</a:t>
            </a:r>
            <a:r>
              <a:rPr lang="en-US" b="0" i="1" dirty="0">
                <a:solidFill>
                  <a:srgbClr val="242424"/>
                </a:solidFill>
                <a:effectLst/>
                <a:latin typeface="source-serif-pro"/>
              </a:rPr>
              <a:t>n+</a:t>
            </a:r>
            <a:r>
              <a:rPr lang="en-US" b="0" i="0" dirty="0">
                <a:solidFill>
                  <a:srgbClr val="242424"/>
                </a:solidFill>
                <a:effectLst/>
                <a:latin typeface="source-serif-pro"/>
              </a:rPr>
              <a:t>2</a:t>
            </a:r>
            <a:r>
              <a:rPr lang="en-US" b="0" i="1" dirty="0">
                <a:solidFill>
                  <a:srgbClr val="242424"/>
                </a:solidFill>
                <a:effectLst/>
                <a:latin typeface="source-serif-pro"/>
              </a:rPr>
              <a:t>p — f</a:t>
            </a:r>
            <a:r>
              <a:rPr lang="en-US" b="0" i="0" dirty="0">
                <a:solidFill>
                  <a:srgbClr val="242424"/>
                </a:solidFill>
                <a:effectLst/>
                <a:latin typeface="source-serif-pro"/>
              </a:rPr>
              <a:t>) /</a:t>
            </a:r>
            <a:r>
              <a:rPr lang="en-US" b="0" i="1" dirty="0">
                <a:solidFill>
                  <a:srgbClr val="242424"/>
                </a:solidFill>
                <a:effectLst/>
                <a:latin typeface="source-serif-pro"/>
              </a:rPr>
              <a:t>s</a:t>
            </a:r>
            <a:r>
              <a:rPr lang="en-US" b="0" i="0" dirty="0">
                <a:solidFill>
                  <a:srgbClr val="242424"/>
                </a:solidFill>
                <a:effectLst/>
                <a:latin typeface="source-serif-pro"/>
              </a:rPr>
              <a:t> fraction is not an integer? In that case, we’re going to round the fraction down (</a:t>
            </a:r>
            <a:r>
              <a:rPr lang="en-US" b="0" i="0" dirty="0" err="1">
                <a:solidFill>
                  <a:srgbClr val="242424"/>
                </a:solidFill>
                <a:effectLst/>
                <a:latin typeface="source-serif-pro"/>
              </a:rPr>
              <a:t>i.e</a:t>
            </a:r>
            <a:r>
              <a:rPr lang="en-US" b="0" i="0" dirty="0">
                <a:solidFill>
                  <a:srgbClr val="242424"/>
                </a:solidFill>
                <a:effectLst/>
                <a:latin typeface="source-serif-pro"/>
              </a:rPr>
              <a:t> take the floor of the fraction).</a:t>
            </a:r>
            <a:endParaRPr lang="en-IN" dirty="0"/>
          </a:p>
        </p:txBody>
      </p:sp>
      <p:sp>
        <p:nvSpPr>
          <p:cNvPr id="4" name="Date Placeholder 3">
            <a:extLst>
              <a:ext uri="{FF2B5EF4-FFF2-40B4-BE49-F238E27FC236}">
                <a16:creationId xmlns:a16="http://schemas.microsoft.com/office/drawing/2014/main" id="{ACCCC683-C6A5-F8EF-B831-1A7B2600FF6E}"/>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426F31B0-ED07-9844-CFA3-A8F4282BB75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8A72652-DBD2-49D4-CDE6-210E177EA338}"/>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7" name="Picture 6">
            <a:extLst>
              <a:ext uri="{FF2B5EF4-FFF2-40B4-BE49-F238E27FC236}">
                <a16:creationId xmlns:a16="http://schemas.microsoft.com/office/drawing/2014/main" id="{5084409B-B5BD-95A7-6664-400BDAA87EAB}"/>
              </a:ext>
            </a:extLst>
          </p:cNvPr>
          <p:cNvPicPr>
            <a:picLocks noChangeAspect="1"/>
          </p:cNvPicPr>
          <p:nvPr/>
        </p:nvPicPr>
        <p:blipFill>
          <a:blip r:embed="rId2"/>
          <a:stretch>
            <a:fillRect/>
          </a:stretch>
        </p:blipFill>
        <p:spPr>
          <a:xfrm>
            <a:off x="2286000" y="3200400"/>
            <a:ext cx="8001000" cy="2895884"/>
          </a:xfrm>
          <a:prstGeom prst="rect">
            <a:avLst/>
          </a:prstGeom>
        </p:spPr>
      </p:pic>
    </p:spTree>
    <p:extLst>
      <p:ext uri="{BB962C8B-B14F-4D97-AF65-F5344CB8AC3E}">
        <p14:creationId xmlns:p14="http://schemas.microsoft.com/office/powerpoint/2010/main" val="962698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92AE-FCF9-4947-A7A9-7AC753077E4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1178625D-A5ED-4EDF-BA42-E32A39E106A6}"/>
              </a:ext>
            </a:extLst>
          </p:cNvPr>
          <p:cNvSpPr>
            <a:spLocks noGrp="1"/>
          </p:cNvSpPr>
          <p:nvPr>
            <p:ph idx="1"/>
          </p:nvPr>
        </p:nvSpPr>
        <p:spPr/>
        <p:txBody>
          <a:bodyPr/>
          <a:lstStyle/>
          <a:p>
            <a:pPr marL="0" indent="0">
              <a:buNone/>
            </a:pPr>
            <a:r>
              <a:rPr lang="en-US" sz="1600" dirty="0"/>
              <a:t>The input image has been converted into a matrix of size 12 x 12 and a kernel/filter of size 3 x 3 with a stride of 1. Determine the size of the convoluted matrix?</a:t>
            </a:r>
          </a:p>
          <a:p>
            <a:pPr marL="0" indent="0" algn="l">
              <a:buNone/>
            </a:pPr>
            <a:endParaRPr lang="en-US" sz="1600" b="0" i="0" dirty="0">
              <a:solidFill>
                <a:srgbClr val="1C1C1C"/>
              </a:solidFill>
              <a:effectLst/>
              <a:latin typeface="Lato" panose="020F0502020204030203" pitchFamily="34" charset="0"/>
            </a:endParaRPr>
          </a:p>
          <a:p>
            <a:pPr marL="0" indent="0" algn="l">
              <a:buNone/>
            </a:pPr>
            <a:r>
              <a:rPr lang="en-US" sz="1600" b="0" i="0" dirty="0">
                <a:solidFill>
                  <a:srgbClr val="1C1C1C"/>
                </a:solidFill>
                <a:effectLst/>
                <a:latin typeface="Lato" panose="020F0502020204030203" pitchFamily="34" charset="0"/>
              </a:rPr>
              <a:t>To calculate the size of the convoluted matrix, we use the generalized equation, given by:</a:t>
            </a:r>
          </a:p>
          <a:p>
            <a:pPr marL="0" indent="0" algn="l">
              <a:buNone/>
            </a:pPr>
            <a:r>
              <a:rPr lang="en-US" sz="1600" b="1" i="0" dirty="0">
                <a:solidFill>
                  <a:srgbClr val="1C1C1C"/>
                </a:solidFill>
                <a:effectLst/>
                <a:latin typeface="Lato" panose="020F0502020204030203" pitchFamily="34" charset="0"/>
              </a:rPr>
              <a:t>C = ((n-f+2p)/s)+1</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where,</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C</a:t>
            </a:r>
            <a:r>
              <a:rPr lang="en-US" sz="1600" b="0" i="0" dirty="0">
                <a:solidFill>
                  <a:srgbClr val="1C1C1C"/>
                </a:solidFill>
                <a:effectLst/>
                <a:latin typeface="Lato" panose="020F0502020204030203" pitchFamily="34" charset="0"/>
              </a:rPr>
              <a:t> is the size of the convoluted matrix.</a:t>
            </a:r>
          </a:p>
          <a:p>
            <a:pPr marL="0" indent="0" algn="l">
              <a:buNone/>
            </a:pPr>
            <a:r>
              <a:rPr lang="en-US" sz="1600" b="1" i="0" dirty="0">
                <a:solidFill>
                  <a:srgbClr val="1C1C1C"/>
                </a:solidFill>
                <a:effectLst/>
                <a:latin typeface="Lato" panose="020F0502020204030203" pitchFamily="34" charset="0"/>
              </a:rPr>
              <a:t>n</a:t>
            </a:r>
            <a:r>
              <a:rPr lang="en-US" sz="1600" b="0" i="0" dirty="0">
                <a:solidFill>
                  <a:srgbClr val="1C1C1C"/>
                </a:solidFill>
                <a:effectLst/>
                <a:latin typeface="Lato" panose="020F0502020204030203" pitchFamily="34" charset="0"/>
              </a:rPr>
              <a:t> is the size of the input matrix.</a:t>
            </a:r>
          </a:p>
          <a:p>
            <a:pPr marL="0" indent="0" algn="l">
              <a:buNone/>
            </a:pPr>
            <a:r>
              <a:rPr lang="en-US" sz="1600" b="1" i="0" dirty="0">
                <a:solidFill>
                  <a:srgbClr val="1C1C1C"/>
                </a:solidFill>
                <a:effectLst/>
                <a:latin typeface="Lato" panose="020F0502020204030203" pitchFamily="34" charset="0"/>
              </a:rPr>
              <a:t>f</a:t>
            </a:r>
            <a:r>
              <a:rPr lang="en-US" sz="1600" b="0" i="0" dirty="0">
                <a:solidFill>
                  <a:srgbClr val="1C1C1C"/>
                </a:solidFill>
                <a:effectLst/>
                <a:latin typeface="Lato" panose="020F0502020204030203" pitchFamily="34" charset="0"/>
              </a:rPr>
              <a:t> is the size of the filter matrix.</a:t>
            </a:r>
          </a:p>
          <a:p>
            <a:pPr marL="0" indent="0" algn="l">
              <a:buNone/>
            </a:pPr>
            <a:r>
              <a:rPr lang="en-US" sz="1600" b="1" i="0" dirty="0">
                <a:solidFill>
                  <a:srgbClr val="1C1C1C"/>
                </a:solidFill>
                <a:effectLst/>
                <a:latin typeface="Lato" panose="020F0502020204030203" pitchFamily="34" charset="0"/>
              </a:rPr>
              <a:t>p</a:t>
            </a:r>
            <a:r>
              <a:rPr lang="en-US" sz="1600" b="0" i="0" dirty="0">
                <a:solidFill>
                  <a:srgbClr val="1C1C1C"/>
                </a:solidFill>
                <a:effectLst/>
                <a:latin typeface="Lato" panose="020F0502020204030203" pitchFamily="34" charset="0"/>
              </a:rPr>
              <a:t> is the Padding amount.</a:t>
            </a:r>
          </a:p>
          <a:p>
            <a:pPr marL="0" indent="0" algn="l">
              <a:buNone/>
            </a:pPr>
            <a:r>
              <a:rPr lang="en-US" sz="1600" b="0" i="0" dirty="0">
                <a:solidFill>
                  <a:srgbClr val="1C1C1C"/>
                </a:solidFill>
                <a:effectLst/>
                <a:latin typeface="Lato" panose="020F0502020204030203" pitchFamily="34" charset="0"/>
              </a:rPr>
              <a:t>s is the Stride applied.</a:t>
            </a:r>
          </a:p>
          <a:p>
            <a:pPr marL="0" indent="0" algn="l">
              <a:buNone/>
            </a:pPr>
            <a:r>
              <a:rPr lang="en-US" sz="1600" b="0" i="0" dirty="0">
                <a:solidFill>
                  <a:srgbClr val="1C1C1C"/>
                </a:solidFill>
                <a:effectLst/>
                <a:latin typeface="Lato" panose="020F0502020204030203" pitchFamily="34" charset="0"/>
              </a:rPr>
              <a:t>Here n = 12, f = 3, p = 0, s = 1</a:t>
            </a:r>
          </a:p>
          <a:p>
            <a:pPr marL="0" indent="0" algn="l">
              <a:buNone/>
            </a:pPr>
            <a:r>
              <a:rPr lang="en-US" sz="1600" b="0" i="0" dirty="0">
                <a:solidFill>
                  <a:srgbClr val="1C1C1C"/>
                </a:solidFill>
                <a:effectLst/>
                <a:latin typeface="Lato" panose="020F0502020204030203" pitchFamily="34" charset="0"/>
              </a:rPr>
              <a:t>Therefore the size of the convoluted matrix is 10 X 10.</a:t>
            </a:r>
          </a:p>
          <a:p>
            <a:pPr marL="0" indent="0">
              <a:buNone/>
            </a:pPr>
            <a:endParaRPr lang="en-IN" sz="1600" dirty="0"/>
          </a:p>
        </p:txBody>
      </p:sp>
      <p:sp>
        <p:nvSpPr>
          <p:cNvPr id="4" name="Slide Number Placeholder 3">
            <a:extLst>
              <a:ext uri="{FF2B5EF4-FFF2-40B4-BE49-F238E27FC236}">
                <a16:creationId xmlns:a16="http://schemas.microsoft.com/office/drawing/2014/main" id="{F1609DDD-8EDB-45F0-BD19-FC54B9B35C60}"/>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3226535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0C0B-70FF-3A7F-318F-936A29574C83}"/>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4DBDCBA9-912F-2439-79E3-1692937079E2}"/>
              </a:ext>
            </a:extLst>
          </p:cNvPr>
          <p:cNvSpPr>
            <a:spLocks noGrp="1"/>
          </p:cNvSpPr>
          <p:nvPr>
            <p:ph idx="1"/>
          </p:nvPr>
        </p:nvSpPr>
        <p:spPr/>
        <p:txBody>
          <a:bodyPr/>
          <a:lstStyle/>
          <a:p>
            <a:pPr>
              <a:lnSpc>
                <a:spcPts val="1800"/>
              </a:lnSpc>
              <a:buNone/>
            </a:pPr>
            <a:r>
              <a:rPr lang="en-IN" b="1" i="0" dirty="0">
                <a:solidFill>
                  <a:srgbClr val="242424"/>
                </a:solidFill>
                <a:effectLst/>
                <a:latin typeface="sohne"/>
              </a:rPr>
              <a:t>Convolutions on RGB images</a:t>
            </a:r>
          </a:p>
          <a:p>
            <a:pPr>
              <a:buNone/>
            </a:pPr>
            <a:br>
              <a:rPr lang="en-IN" dirty="0">
                <a:effectLst/>
              </a:rPr>
            </a:br>
            <a:endParaRPr lang="en-IN" dirty="0"/>
          </a:p>
        </p:txBody>
      </p:sp>
      <p:sp>
        <p:nvSpPr>
          <p:cNvPr id="4" name="Date Placeholder 3">
            <a:extLst>
              <a:ext uri="{FF2B5EF4-FFF2-40B4-BE49-F238E27FC236}">
                <a16:creationId xmlns:a16="http://schemas.microsoft.com/office/drawing/2014/main" id="{14A8B5C4-9E20-AC7B-7D7F-A355231A13D8}"/>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A7B2BA2F-A993-D799-E9A7-B977F470D57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5127A4-3B47-7B22-E98C-B8455EBE05BA}"/>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8" name="Picture 7">
            <a:extLst>
              <a:ext uri="{FF2B5EF4-FFF2-40B4-BE49-F238E27FC236}">
                <a16:creationId xmlns:a16="http://schemas.microsoft.com/office/drawing/2014/main" id="{347C9C85-ACE1-1A1E-13FC-572FD65D82B5}"/>
              </a:ext>
            </a:extLst>
          </p:cNvPr>
          <p:cNvPicPr>
            <a:picLocks noChangeAspect="1"/>
          </p:cNvPicPr>
          <p:nvPr/>
        </p:nvPicPr>
        <p:blipFill>
          <a:blip r:embed="rId2"/>
          <a:stretch>
            <a:fillRect/>
          </a:stretch>
        </p:blipFill>
        <p:spPr>
          <a:xfrm>
            <a:off x="863600" y="1676400"/>
            <a:ext cx="8312251" cy="3725594"/>
          </a:xfrm>
          <a:prstGeom prst="rect">
            <a:avLst/>
          </a:prstGeom>
        </p:spPr>
      </p:pic>
    </p:spTree>
    <p:extLst>
      <p:ext uri="{BB962C8B-B14F-4D97-AF65-F5344CB8AC3E}">
        <p14:creationId xmlns:p14="http://schemas.microsoft.com/office/powerpoint/2010/main" val="99544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50A2-2B65-9F1F-8A08-7F2A515372D5}"/>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3E5D6E8F-7C50-5CAB-F3E2-D4B5E7BD33E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A2B27A9-B567-551E-10DD-86D18982488F}"/>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C79FCB78-DA67-547B-9370-E5B97D050FF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E0569CB-E28A-322A-7D0A-9AF4E3D823DD}"/>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8" name="Picture 7">
            <a:extLst>
              <a:ext uri="{FF2B5EF4-FFF2-40B4-BE49-F238E27FC236}">
                <a16:creationId xmlns:a16="http://schemas.microsoft.com/office/drawing/2014/main" id="{87C0D406-568E-2341-7897-BFF8FA1EF853}"/>
              </a:ext>
            </a:extLst>
          </p:cNvPr>
          <p:cNvPicPr>
            <a:picLocks noChangeAspect="1"/>
          </p:cNvPicPr>
          <p:nvPr/>
        </p:nvPicPr>
        <p:blipFill>
          <a:blip r:embed="rId2"/>
          <a:stretch>
            <a:fillRect/>
          </a:stretch>
        </p:blipFill>
        <p:spPr>
          <a:xfrm>
            <a:off x="812800" y="1223682"/>
            <a:ext cx="8347962" cy="4648200"/>
          </a:xfrm>
          <a:prstGeom prst="rect">
            <a:avLst/>
          </a:prstGeom>
        </p:spPr>
      </p:pic>
    </p:spTree>
    <p:extLst>
      <p:ext uri="{BB962C8B-B14F-4D97-AF65-F5344CB8AC3E}">
        <p14:creationId xmlns:p14="http://schemas.microsoft.com/office/powerpoint/2010/main" val="477469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39CB-C218-97AC-9D5A-38D9BC62C7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F1BC91-0491-DCEE-3613-16B804964EA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D68E1A1-8945-3014-64B2-FC14E921887A}"/>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8E24FD55-E1D2-62E6-C8A9-9247E1BAA6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F79DB-24CB-F23B-8A39-7FB9513677B1}"/>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8" name="Picture 7">
            <a:extLst>
              <a:ext uri="{FF2B5EF4-FFF2-40B4-BE49-F238E27FC236}">
                <a16:creationId xmlns:a16="http://schemas.microsoft.com/office/drawing/2014/main" id="{EE1407B9-BF56-8271-4DF8-58BE10C50C62}"/>
              </a:ext>
            </a:extLst>
          </p:cNvPr>
          <p:cNvPicPr>
            <a:picLocks noChangeAspect="1"/>
          </p:cNvPicPr>
          <p:nvPr/>
        </p:nvPicPr>
        <p:blipFill>
          <a:blip r:embed="rId2"/>
          <a:stretch>
            <a:fillRect/>
          </a:stretch>
        </p:blipFill>
        <p:spPr>
          <a:xfrm>
            <a:off x="755651" y="1242106"/>
            <a:ext cx="9240790" cy="4373788"/>
          </a:xfrm>
          <a:prstGeom prst="rect">
            <a:avLst/>
          </a:prstGeom>
        </p:spPr>
      </p:pic>
      <p:sp>
        <p:nvSpPr>
          <p:cNvPr id="9" name="TextBox 8">
            <a:extLst>
              <a:ext uri="{FF2B5EF4-FFF2-40B4-BE49-F238E27FC236}">
                <a16:creationId xmlns:a16="http://schemas.microsoft.com/office/drawing/2014/main" id="{4133A2EA-4A14-1073-FD7C-019DB5E5314C}"/>
              </a:ext>
            </a:extLst>
          </p:cNvPr>
          <p:cNvSpPr txBox="1"/>
          <p:nvPr/>
        </p:nvSpPr>
        <p:spPr>
          <a:xfrm>
            <a:off x="5867400" y="5069768"/>
            <a:ext cx="3090526" cy="523220"/>
          </a:xfrm>
          <a:prstGeom prst="rect">
            <a:avLst/>
          </a:prstGeom>
          <a:noFill/>
        </p:spPr>
        <p:txBody>
          <a:bodyPr wrap="none" rtlCol="0">
            <a:spAutoFit/>
          </a:bodyPr>
          <a:lstStyle/>
          <a:p>
            <a:r>
              <a:rPr lang="en-US" sz="1400" dirty="0">
                <a:solidFill>
                  <a:srgbClr val="242424"/>
                </a:solidFill>
                <a:latin typeface="source-serif-pro"/>
              </a:rPr>
              <a:t>Add up all those 27 numbers and </a:t>
            </a:r>
          </a:p>
          <a:p>
            <a:r>
              <a:rPr lang="en-US" sz="1400" dirty="0">
                <a:solidFill>
                  <a:srgbClr val="242424"/>
                </a:solidFill>
                <a:latin typeface="source-serif-pro"/>
              </a:rPr>
              <a:t>this gives the first number in the output</a:t>
            </a:r>
            <a:endParaRPr lang="en-IN" sz="1400" dirty="0"/>
          </a:p>
        </p:txBody>
      </p:sp>
    </p:spTree>
    <p:extLst>
      <p:ext uri="{BB962C8B-B14F-4D97-AF65-F5344CB8AC3E}">
        <p14:creationId xmlns:p14="http://schemas.microsoft.com/office/powerpoint/2010/main" val="1374458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D074-8E92-0C62-082D-ABAF77E711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68C1B-93C2-0EAB-CF15-9399453BAFC3}"/>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24FA48B-42FE-836E-7EC0-1A59EF9DB829}"/>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E5A94EB2-72F3-DAFA-AB49-9385D304E9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68F11C6-AD44-7A6E-2D9B-4EFB3940D4EB}"/>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7" name="Picture 6">
            <a:extLst>
              <a:ext uri="{FF2B5EF4-FFF2-40B4-BE49-F238E27FC236}">
                <a16:creationId xmlns:a16="http://schemas.microsoft.com/office/drawing/2014/main" id="{3DB76FE5-D9D5-E6C0-1B37-DDD97341FC6A}"/>
              </a:ext>
            </a:extLst>
          </p:cNvPr>
          <p:cNvPicPr>
            <a:picLocks noChangeAspect="1"/>
          </p:cNvPicPr>
          <p:nvPr/>
        </p:nvPicPr>
        <p:blipFill>
          <a:blip r:embed="rId2"/>
          <a:stretch>
            <a:fillRect/>
          </a:stretch>
        </p:blipFill>
        <p:spPr>
          <a:xfrm>
            <a:off x="685800" y="878106"/>
            <a:ext cx="7832420" cy="4393276"/>
          </a:xfrm>
          <a:prstGeom prst="rect">
            <a:avLst/>
          </a:prstGeom>
        </p:spPr>
      </p:pic>
      <p:sp>
        <p:nvSpPr>
          <p:cNvPr id="8" name="TextBox 7">
            <a:extLst>
              <a:ext uri="{FF2B5EF4-FFF2-40B4-BE49-F238E27FC236}">
                <a16:creationId xmlns:a16="http://schemas.microsoft.com/office/drawing/2014/main" id="{357209EC-C2E2-B20B-D42F-002C37694AFA}"/>
              </a:ext>
            </a:extLst>
          </p:cNvPr>
          <p:cNvSpPr txBox="1"/>
          <p:nvPr/>
        </p:nvSpPr>
        <p:spPr>
          <a:xfrm>
            <a:off x="543922" y="5288874"/>
            <a:ext cx="8211607" cy="646331"/>
          </a:xfrm>
          <a:prstGeom prst="rect">
            <a:avLst/>
          </a:prstGeom>
          <a:noFill/>
        </p:spPr>
        <p:txBody>
          <a:bodyPr wrap="none" rtlCol="0">
            <a:spAutoFit/>
          </a:bodyPr>
          <a:lstStyle/>
          <a:p>
            <a:r>
              <a:rPr lang="en-US" dirty="0">
                <a:solidFill>
                  <a:srgbClr val="6B6B6B"/>
                </a:solidFill>
                <a:latin typeface="sohne"/>
              </a:rPr>
              <a:t>FIGURE : a representation of a 3D convolution that we have seen in the first section. </a:t>
            </a:r>
          </a:p>
          <a:p>
            <a:r>
              <a:rPr lang="en-US" dirty="0">
                <a:solidFill>
                  <a:srgbClr val="6B6B6B"/>
                </a:solidFill>
                <a:latin typeface="sohne"/>
              </a:rPr>
              <a:t>The yellow filter is now thought of to be a vertical edge filter.</a:t>
            </a:r>
            <a:endParaRPr lang="en-IN" dirty="0"/>
          </a:p>
        </p:txBody>
      </p:sp>
    </p:spTree>
    <p:extLst>
      <p:ext uri="{BB962C8B-B14F-4D97-AF65-F5344CB8AC3E}">
        <p14:creationId xmlns:p14="http://schemas.microsoft.com/office/powerpoint/2010/main" val="23626258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BF18-DB76-FA2A-1CC0-26E9429F6C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2FAF52-A5C5-DF19-E0AB-6CB0288976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DFE69A7-DD15-E6A0-0C21-69381540CDD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A0DC0ED2-425C-AEDC-4F73-A59F6BEC290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C4A776-6F33-BC2E-FD8D-4EEF0744A5F6}"/>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7" name="Picture 6">
            <a:extLst>
              <a:ext uri="{FF2B5EF4-FFF2-40B4-BE49-F238E27FC236}">
                <a16:creationId xmlns:a16="http://schemas.microsoft.com/office/drawing/2014/main" id="{07049EC9-2485-4D7A-53F2-584BA46CFCE9}"/>
              </a:ext>
            </a:extLst>
          </p:cNvPr>
          <p:cNvPicPr>
            <a:picLocks noChangeAspect="1"/>
          </p:cNvPicPr>
          <p:nvPr/>
        </p:nvPicPr>
        <p:blipFill>
          <a:blip r:embed="rId2"/>
          <a:stretch>
            <a:fillRect/>
          </a:stretch>
        </p:blipFill>
        <p:spPr>
          <a:xfrm>
            <a:off x="812800" y="696016"/>
            <a:ext cx="8153400" cy="4573316"/>
          </a:xfrm>
          <a:prstGeom prst="rect">
            <a:avLst/>
          </a:prstGeom>
        </p:spPr>
      </p:pic>
      <p:sp>
        <p:nvSpPr>
          <p:cNvPr id="8" name="TextBox 7">
            <a:extLst>
              <a:ext uri="{FF2B5EF4-FFF2-40B4-BE49-F238E27FC236}">
                <a16:creationId xmlns:a16="http://schemas.microsoft.com/office/drawing/2014/main" id="{1CBFBEEB-602B-459E-5222-892192E5A9DC}"/>
              </a:ext>
            </a:extLst>
          </p:cNvPr>
          <p:cNvSpPr txBox="1"/>
          <p:nvPr/>
        </p:nvSpPr>
        <p:spPr>
          <a:xfrm>
            <a:off x="755651" y="5312377"/>
            <a:ext cx="7780207" cy="369332"/>
          </a:xfrm>
          <a:prstGeom prst="rect">
            <a:avLst/>
          </a:prstGeom>
          <a:noFill/>
        </p:spPr>
        <p:txBody>
          <a:bodyPr wrap="none" rtlCol="0">
            <a:spAutoFit/>
          </a:bodyPr>
          <a:lstStyle/>
          <a:p>
            <a:r>
              <a:rPr lang="en-US" dirty="0">
                <a:solidFill>
                  <a:srgbClr val="6B6B6B"/>
                </a:solidFill>
                <a:latin typeface="sohne"/>
              </a:rPr>
              <a:t>FIGURE : the orange filter at the bottom is thought to be a horizontal edge filter.</a:t>
            </a:r>
            <a:endParaRPr lang="en-IN" dirty="0"/>
          </a:p>
        </p:txBody>
      </p:sp>
    </p:spTree>
    <p:extLst>
      <p:ext uri="{BB962C8B-B14F-4D97-AF65-F5344CB8AC3E}">
        <p14:creationId xmlns:p14="http://schemas.microsoft.com/office/powerpoint/2010/main" val="3935085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D0A5-3E79-1C08-B309-91A801BB90F9}"/>
              </a:ext>
            </a:extLst>
          </p:cNvPr>
          <p:cNvSpPr>
            <a:spLocks noGrp="1"/>
          </p:cNvSpPr>
          <p:nvPr>
            <p:ph type="title"/>
          </p:nvPr>
        </p:nvSpPr>
        <p:spPr/>
        <p:txBody>
          <a:bodyPr/>
          <a:lstStyle/>
          <a:p>
            <a:r>
              <a:rPr lang="en-IN" dirty="0"/>
              <a:t>One Layer of CNN</a:t>
            </a:r>
          </a:p>
        </p:txBody>
      </p:sp>
      <p:sp>
        <p:nvSpPr>
          <p:cNvPr id="3" name="Content Placeholder 2">
            <a:extLst>
              <a:ext uri="{FF2B5EF4-FFF2-40B4-BE49-F238E27FC236}">
                <a16:creationId xmlns:a16="http://schemas.microsoft.com/office/drawing/2014/main" id="{863CB840-1E09-5EAC-A4EA-305D9A7DADD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AA63794-7CE3-A3C7-5381-C519BB6C7AEE}"/>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0EC1C4BB-4300-8431-4D0F-5A6DA53290D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560013-FE17-A800-5927-8DC16EC24761}"/>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8" name="Picture 7">
            <a:extLst>
              <a:ext uri="{FF2B5EF4-FFF2-40B4-BE49-F238E27FC236}">
                <a16:creationId xmlns:a16="http://schemas.microsoft.com/office/drawing/2014/main" id="{38883316-335D-4A49-1E74-6BB2E4DBC564}"/>
              </a:ext>
            </a:extLst>
          </p:cNvPr>
          <p:cNvPicPr>
            <a:picLocks noChangeAspect="1"/>
          </p:cNvPicPr>
          <p:nvPr/>
        </p:nvPicPr>
        <p:blipFill>
          <a:blip r:embed="rId2"/>
          <a:stretch>
            <a:fillRect/>
          </a:stretch>
        </p:blipFill>
        <p:spPr>
          <a:xfrm>
            <a:off x="812800" y="1219200"/>
            <a:ext cx="8001000" cy="4367178"/>
          </a:xfrm>
          <a:prstGeom prst="rect">
            <a:avLst/>
          </a:prstGeom>
        </p:spPr>
      </p:pic>
    </p:spTree>
    <p:extLst>
      <p:ext uri="{BB962C8B-B14F-4D97-AF65-F5344CB8AC3E}">
        <p14:creationId xmlns:p14="http://schemas.microsoft.com/office/powerpoint/2010/main" val="1153369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2EBF-C2F0-7637-2E61-BB8181C07C4F}"/>
              </a:ext>
            </a:extLst>
          </p:cNvPr>
          <p:cNvSpPr>
            <a:spLocks noGrp="1"/>
          </p:cNvSpPr>
          <p:nvPr>
            <p:ph type="title"/>
          </p:nvPr>
        </p:nvSpPr>
        <p:spPr/>
        <p:txBody>
          <a:bodyPr/>
          <a:lstStyle/>
          <a:p>
            <a:r>
              <a:rPr lang="en-IN" dirty="0"/>
              <a:t>Forward Propagation in CNN</a:t>
            </a:r>
          </a:p>
        </p:txBody>
      </p:sp>
      <p:sp>
        <p:nvSpPr>
          <p:cNvPr id="3" name="Content Placeholder 2">
            <a:extLst>
              <a:ext uri="{FF2B5EF4-FFF2-40B4-BE49-F238E27FC236}">
                <a16:creationId xmlns:a16="http://schemas.microsoft.com/office/drawing/2014/main" id="{464476FA-3B9E-6DE1-12BF-8022A42C19E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B6B1EBD-EC35-DBDF-8B9C-CCE66E280177}"/>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F517A956-2787-DF5C-07AF-BFAEFCACABE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4BB6FB2-FFD8-0743-1527-79CE16289E6C}"/>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ECC315E9-A771-95E3-0629-1B74CDD5EE93}"/>
              </a:ext>
            </a:extLst>
          </p:cNvPr>
          <p:cNvPicPr>
            <a:picLocks noChangeAspect="1"/>
          </p:cNvPicPr>
          <p:nvPr/>
        </p:nvPicPr>
        <p:blipFill>
          <a:blip r:embed="rId3"/>
          <a:stretch>
            <a:fillRect/>
          </a:stretch>
        </p:blipFill>
        <p:spPr>
          <a:xfrm>
            <a:off x="755651" y="1257300"/>
            <a:ext cx="8887037" cy="4953000"/>
          </a:xfrm>
          <a:prstGeom prst="rect">
            <a:avLst/>
          </a:prstGeom>
        </p:spPr>
      </p:pic>
    </p:spTree>
    <p:extLst>
      <p:ext uri="{BB962C8B-B14F-4D97-AF65-F5344CB8AC3E}">
        <p14:creationId xmlns:p14="http://schemas.microsoft.com/office/powerpoint/2010/main" val="3817510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FDF7-1364-3002-F526-2E57A4B3CF7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8B84F19A-9C5F-8CF3-F5CA-9F48191F770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5F27EC68-708A-B111-665C-936182753CA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D2CA19-74D6-0B36-80B2-E341867A5C78}"/>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14A2684C-7757-2319-E99E-4D978C8DBB35}"/>
              </a:ext>
            </a:extLst>
          </p:cNvPr>
          <p:cNvPicPr>
            <a:picLocks noChangeAspect="1"/>
          </p:cNvPicPr>
          <p:nvPr/>
        </p:nvPicPr>
        <p:blipFill>
          <a:blip r:embed="rId2"/>
          <a:stretch>
            <a:fillRect/>
          </a:stretch>
        </p:blipFill>
        <p:spPr>
          <a:xfrm>
            <a:off x="812800" y="354995"/>
            <a:ext cx="8059275" cy="2972215"/>
          </a:xfrm>
          <a:prstGeom prst="rect">
            <a:avLst/>
          </a:prstGeom>
        </p:spPr>
      </p:pic>
      <p:sp>
        <p:nvSpPr>
          <p:cNvPr id="11" name="TextBox 10">
            <a:extLst>
              <a:ext uri="{FF2B5EF4-FFF2-40B4-BE49-F238E27FC236}">
                <a16:creationId xmlns:a16="http://schemas.microsoft.com/office/drawing/2014/main" id="{14413DC0-CDF3-9F10-7A3B-5A436656B8CF}"/>
              </a:ext>
            </a:extLst>
          </p:cNvPr>
          <p:cNvSpPr txBox="1"/>
          <p:nvPr/>
        </p:nvSpPr>
        <p:spPr>
          <a:xfrm>
            <a:off x="761751" y="3429000"/>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2929966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6C34-0A51-341D-D499-5A5136161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0FDD1-2A7C-9BED-DD6B-30958F0BBA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C9ECD7-2CD3-3316-296B-688A481FB70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461DED33-FA37-E0D3-C873-E04DFE1BAB2C}"/>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98B7C419-5B67-3B69-A37C-1D71861E91D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F118F33-F6EF-5C71-1206-2256B8371659}"/>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8" name="Picture 7">
            <a:extLst>
              <a:ext uri="{FF2B5EF4-FFF2-40B4-BE49-F238E27FC236}">
                <a16:creationId xmlns:a16="http://schemas.microsoft.com/office/drawing/2014/main" id="{8AB84D5D-35FC-8D19-23F6-D8FC67994358}"/>
              </a:ext>
            </a:extLst>
          </p:cNvPr>
          <p:cNvPicPr>
            <a:picLocks noChangeAspect="1"/>
          </p:cNvPicPr>
          <p:nvPr/>
        </p:nvPicPr>
        <p:blipFill>
          <a:blip r:embed="rId2"/>
          <a:stretch>
            <a:fillRect/>
          </a:stretch>
        </p:blipFill>
        <p:spPr>
          <a:xfrm>
            <a:off x="781424" y="190915"/>
            <a:ext cx="8059275" cy="2972215"/>
          </a:xfrm>
          <a:prstGeom prst="rect">
            <a:avLst/>
          </a:prstGeom>
        </p:spPr>
      </p:pic>
      <p:pic>
        <p:nvPicPr>
          <p:cNvPr id="10" name="Picture 9">
            <a:extLst>
              <a:ext uri="{FF2B5EF4-FFF2-40B4-BE49-F238E27FC236}">
                <a16:creationId xmlns:a16="http://schemas.microsoft.com/office/drawing/2014/main" id="{54DCB1F3-F2C9-DA97-C487-37D76B9222C3}"/>
              </a:ext>
            </a:extLst>
          </p:cNvPr>
          <p:cNvPicPr>
            <a:picLocks noChangeAspect="1"/>
          </p:cNvPicPr>
          <p:nvPr/>
        </p:nvPicPr>
        <p:blipFill>
          <a:blip r:embed="rId3"/>
          <a:stretch>
            <a:fillRect/>
          </a:stretch>
        </p:blipFill>
        <p:spPr>
          <a:xfrm>
            <a:off x="1557819" y="3770993"/>
            <a:ext cx="6506483" cy="2486372"/>
          </a:xfrm>
          <a:prstGeom prst="rect">
            <a:avLst/>
          </a:prstGeom>
        </p:spPr>
      </p:pic>
      <p:sp>
        <p:nvSpPr>
          <p:cNvPr id="11" name="TextBox 10">
            <a:extLst>
              <a:ext uri="{FF2B5EF4-FFF2-40B4-BE49-F238E27FC236}">
                <a16:creationId xmlns:a16="http://schemas.microsoft.com/office/drawing/2014/main" id="{80C1A7F3-CE78-BDA1-5A40-7EE7CC4F8D8A}"/>
              </a:ext>
            </a:extLst>
          </p:cNvPr>
          <p:cNvSpPr txBox="1"/>
          <p:nvPr/>
        </p:nvSpPr>
        <p:spPr>
          <a:xfrm>
            <a:off x="1234424" y="3098597"/>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645674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265B-0967-1528-3FD4-B86B8C5AD0B6}"/>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6E6E274D-F8C2-760A-D58D-0495E9F84E30}"/>
              </a:ext>
            </a:extLst>
          </p:cNvPr>
          <p:cNvSpPr>
            <a:spLocks noGrp="1"/>
          </p:cNvSpPr>
          <p:nvPr>
            <p:ph idx="1"/>
          </p:nvPr>
        </p:nvSpPr>
        <p:spPr/>
        <p:txBody>
          <a:bodyPr/>
          <a:lstStyle/>
          <a:p>
            <a:pPr marL="0" indent="0">
              <a:buNone/>
            </a:pPr>
            <a:r>
              <a:rPr lang="en-US" sz="2400" dirty="0">
                <a:solidFill>
                  <a:srgbClr val="242424"/>
                </a:solidFill>
                <a:latin typeface="source-serif-pro"/>
              </a:rPr>
              <a:t>Parameters = (</a:t>
            </a:r>
            <a:r>
              <a:rPr lang="en-US" sz="2400" dirty="0" err="1">
                <a:solidFill>
                  <a:srgbClr val="242424"/>
                </a:solidFill>
                <a:latin typeface="source-serif-pro"/>
              </a:rPr>
              <a:t>FxF</a:t>
            </a:r>
            <a:r>
              <a:rPr lang="en-US" sz="2400" dirty="0">
                <a:solidFill>
                  <a:srgbClr val="242424"/>
                </a:solidFill>
                <a:latin typeface="source-serif-pro"/>
              </a:rPr>
              <a:t> * number of channels + bias-term) * D</a:t>
            </a:r>
          </a:p>
          <a:p>
            <a:pPr marL="0" indent="0">
              <a:lnSpc>
                <a:spcPts val="2400"/>
              </a:lnSpc>
              <a:buNone/>
            </a:pPr>
            <a:endParaRPr lang="en-US" sz="2400" dirty="0">
              <a:solidFill>
                <a:srgbClr val="242424"/>
              </a:solidFill>
              <a:latin typeface="source-serif-pro"/>
            </a:endParaRPr>
          </a:p>
          <a:p>
            <a:pPr marL="0" indent="0">
              <a:lnSpc>
                <a:spcPts val="2400"/>
              </a:lnSpc>
              <a:buNone/>
            </a:pPr>
            <a:r>
              <a:rPr lang="en-US" sz="2400" dirty="0">
                <a:solidFill>
                  <a:srgbClr val="242424"/>
                </a:solidFill>
                <a:latin typeface="source-serif-pro"/>
              </a:rPr>
              <a:t>The size of filter/kernel — &gt; F (</a:t>
            </a:r>
            <a:r>
              <a:rPr lang="en-US" sz="2400" dirty="0" err="1">
                <a:solidFill>
                  <a:srgbClr val="242424"/>
                </a:solidFill>
                <a:latin typeface="source-serif-pro"/>
              </a:rPr>
              <a:t>FxF</a:t>
            </a:r>
            <a:r>
              <a:rPr lang="en-US" sz="2400" dirty="0">
                <a:solidFill>
                  <a:srgbClr val="242424"/>
                </a:solidFill>
                <a:latin typeface="source-serif-pro"/>
              </a:rPr>
              <a:t>)</a:t>
            </a:r>
          </a:p>
          <a:p>
            <a:pPr marL="0" indent="0">
              <a:lnSpc>
                <a:spcPts val="2400"/>
              </a:lnSpc>
              <a:buNone/>
            </a:pPr>
            <a:r>
              <a:rPr lang="en-US" sz="2400" dirty="0">
                <a:solidFill>
                  <a:srgbClr val="242424"/>
                </a:solidFill>
                <a:latin typeface="source-serif-pro"/>
              </a:rPr>
              <a:t>Depth/Number of feature Maps/Kernels/Filters/Activation maps — &gt; D (integer)</a:t>
            </a:r>
          </a:p>
          <a:p>
            <a:pPr marL="0" indent="0">
              <a:buNone/>
            </a:pPr>
            <a:endParaRPr lang="en-IN" sz="2400" dirty="0"/>
          </a:p>
        </p:txBody>
      </p:sp>
      <p:sp>
        <p:nvSpPr>
          <p:cNvPr id="4" name="Date Placeholder 3">
            <a:extLst>
              <a:ext uri="{FF2B5EF4-FFF2-40B4-BE49-F238E27FC236}">
                <a16:creationId xmlns:a16="http://schemas.microsoft.com/office/drawing/2014/main" id="{CF4AADFB-7FF8-CED1-9B8F-875D9CB630B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8BEA7410-BD98-2AEB-BCD0-D474AE4542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167CC51-1965-0835-2D16-540D3695569D}"/>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35189974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BB0F-62E7-4DC7-BB91-9C60FB38F504}"/>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C100DB98-4B95-4DE5-8B46-1722B36EF651}"/>
              </a:ext>
            </a:extLst>
          </p:cNvPr>
          <p:cNvSpPr>
            <a:spLocks noGrp="1"/>
          </p:cNvSpPr>
          <p:nvPr>
            <p:ph idx="1"/>
          </p:nvPr>
        </p:nvSpPr>
        <p:spPr/>
        <p:txBody>
          <a:bodyPr/>
          <a:lstStyle/>
          <a:p>
            <a:r>
              <a:rPr lang="en-US" dirty="0"/>
              <a:t>Convolution stage</a:t>
            </a:r>
          </a:p>
          <a:p>
            <a:r>
              <a:rPr lang="en-US" dirty="0"/>
              <a:t>Detector stage</a:t>
            </a:r>
          </a:p>
          <a:p>
            <a:r>
              <a:rPr lang="en-US" dirty="0"/>
              <a:t>Pooling stage</a:t>
            </a:r>
            <a:endParaRPr lang="en-IN" dirty="0"/>
          </a:p>
        </p:txBody>
      </p:sp>
      <p:sp>
        <p:nvSpPr>
          <p:cNvPr id="4" name="Slide Number Placeholder 3">
            <a:extLst>
              <a:ext uri="{FF2B5EF4-FFF2-40B4-BE49-F238E27FC236}">
                <a16:creationId xmlns:a16="http://schemas.microsoft.com/office/drawing/2014/main" id="{710CD1CC-B063-4C8A-B2D3-AC3ED018B4FD}"/>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6" name="Picture 5">
            <a:extLst>
              <a:ext uri="{FF2B5EF4-FFF2-40B4-BE49-F238E27FC236}">
                <a16:creationId xmlns:a16="http://schemas.microsoft.com/office/drawing/2014/main" id="{2CE7F7C6-CEF3-489B-A7ED-15EE4708D6FD}"/>
              </a:ext>
            </a:extLst>
          </p:cNvPr>
          <p:cNvPicPr>
            <a:picLocks noChangeAspect="1"/>
          </p:cNvPicPr>
          <p:nvPr/>
        </p:nvPicPr>
        <p:blipFill>
          <a:blip r:embed="rId2"/>
          <a:stretch>
            <a:fillRect/>
          </a:stretch>
        </p:blipFill>
        <p:spPr>
          <a:xfrm>
            <a:off x="7537282" y="1177681"/>
            <a:ext cx="2400635" cy="4429743"/>
          </a:xfrm>
          <a:prstGeom prst="rect">
            <a:avLst/>
          </a:prstGeom>
        </p:spPr>
      </p:pic>
    </p:spTree>
    <p:extLst>
      <p:ext uri="{BB962C8B-B14F-4D97-AF65-F5344CB8AC3E}">
        <p14:creationId xmlns:p14="http://schemas.microsoft.com/office/powerpoint/2010/main" val="34147956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CE5F-85F8-4DFF-A40A-9804933637A5}"/>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22D577E-7445-4829-BEFA-8D470068EA99}"/>
              </a:ext>
            </a:extLst>
          </p:cNvPr>
          <p:cNvSpPr>
            <a:spLocks noGrp="1"/>
          </p:cNvSpPr>
          <p:nvPr>
            <p:ph idx="1"/>
          </p:nvPr>
        </p:nvSpPr>
        <p:spPr/>
        <p:txBody>
          <a:bodyPr/>
          <a:lstStyle/>
          <a:p>
            <a:pPr marL="0" indent="0">
              <a:buNone/>
            </a:pPr>
            <a:r>
              <a:rPr lang="fr-FR" sz="1100" dirty="0"/>
              <a:t>1. Convolution Stage (Affine Transformation)</a:t>
            </a:r>
          </a:p>
          <a:p>
            <a:r>
              <a:rPr lang="en-US" sz="1100" dirty="0"/>
              <a:t>In this stage, the network performs a </a:t>
            </a:r>
            <a:r>
              <a:rPr lang="en-US" sz="1100" b="1" dirty="0"/>
              <a:t>convolution operation</a:t>
            </a:r>
            <a:r>
              <a:rPr lang="en-US" sz="1100" dirty="0"/>
              <a:t> between the input image (or feature map) and a set of </a:t>
            </a:r>
            <a:r>
              <a:rPr lang="en-US" sz="1100" b="1" dirty="0"/>
              <a:t>learnable filters (kernels)</a:t>
            </a:r>
            <a:r>
              <a:rPr lang="en-US" sz="1100" dirty="0"/>
              <a:t>.</a:t>
            </a:r>
          </a:p>
          <a:p>
            <a:r>
              <a:rPr lang="en-US" sz="1100" b="1" dirty="0"/>
              <a:t>Mathematical Operation</a:t>
            </a:r>
          </a:p>
          <a:p>
            <a:r>
              <a:rPr lang="en-US" sz="1100" dirty="0"/>
              <a:t>For input X and kernel W:</a:t>
            </a:r>
          </a:p>
          <a:p>
            <a:endParaRPr lang="en-US" sz="1100" dirty="0"/>
          </a:p>
          <a:p>
            <a:endParaRPr lang="en-US" sz="1100" dirty="0"/>
          </a:p>
          <a:p>
            <a:endParaRPr lang="en-US" sz="1100" dirty="0"/>
          </a:p>
          <a:p>
            <a:endParaRPr lang="en-US" sz="1100" dirty="0"/>
          </a:p>
          <a:p>
            <a:endParaRPr lang="en-US" sz="1100" dirty="0"/>
          </a:p>
          <a:p>
            <a:endParaRPr lang="en-US" sz="1100" dirty="0"/>
          </a:p>
          <a:p>
            <a:r>
              <a:rPr lang="en-US" sz="1200" b="1" dirty="0"/>
              <a:t>m</a:t>
            </a:r>
            <a:r>
              <a:rPr lang="en-US" sz="1200" dirty="0"/>
              <a:t> and </a:t>
            </a:r>
            <a:r>
              <a:rPr lang="en-US" sz="1200" b="1" dirty="0"/>
              <a:t>n</a:t>
            </a:r>
            <a:r>
              <a:rPr lang="en-US" sz="1200" dirty="0"/>
              <a:t> represent the </a:t>
            </a:r>
            <a:r>
              <a:rPr lang="en-US" sz="1200" b="1" dirty="0"/>
              <a:t>indices (positions) of the convolution kernel/filter</a:t>
            </a:r>
            <a:r>
              <a:rPr lang="en-US" sz="1200" dirty="0"/>
              <a:t>. </a:t>
            </a:r>
            <a:r>
              <a:rPr lang="en-US" sz="1000" dirty="0"/>
              <a:t>m moves </a:t>
            </a:r>
            <a:r>
              <a:rPr lang="en-US" sz="1000" b="1" dirty="0"/>
              <a:t>vertically inside the kernel</a:t>
            </a:r>
            <a:r>
              <a:rPr lang="en-US" sz="1000" dirty="0"/>
              <a:t> n moves </a:t>
            </a:r>
            <a:r>
              <a:rPr lang="en-US" sz="1000" b="1" dirty="0"/>
              <a:t>horizontally inside the kernel</a:t>
            </a:r>
            <a:endParaRPr lang="en-IN" sz="1000" dirty="0"/>
          </a:p>
          <a:p>
            <a:endParaRPr lang="en-US" sz="1600" dirty="0"/>
          </a:p>
          <a:p>
            <a:endParaRPr lang="en-IN" sz="1100" dirty="0"/>
          </a:p>
          <a:p>
            <a:pPr marL="0" indent="0">
              <a:buNone/>
            </a:pPr>
            <a:endParaRPr lang="en-IN" sz="1100" dirty="0"/>
          </a:p>
        </p:txBody>
      </p:sp>
      <p:sp>
        <p:nvSpPr>
          <p:cNvPr id="4" name="Slide Number Placeholder 3">
            <a:extLst>
              <a:ext uri="{FF2B5EF4-FFF2-40B4-BE49-F238E27FC236}">
                <a16:creationId xmlns:a16="http://schemas.microsoft.com/office/drawing/2014/main" id="{91707C40-288F-4DEC-AC00-ADE483B66560}"/>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91899973-B37A-456C-A9AA-1BF0D596EC17}"/>
              </a:ext>
            </a:extLst>
          </p:cNvPr>
          <p:cNvPicPr>
            <a:picLocks noChangeAspect="1"/>
          </p:cNvPicPr>
          <p:nvPr/>
        </p:nvPicPr>
        <p:blipFill>
          <a:blip r:embed="rId3"/>
          <a:stretch>
            <a:fillRect/>
          </a:stretch>
        </p:blipFill>
        <p:spPr>
          <a:xfrm>
            <a:off x="3657600" y="1905000"/>
            <a:ext cx="4210638" cy="657317"/>
          </a:xfrm>
          <a:prstGeom prst="rect">
            <a:avLst/>
          </a:prstGeom>
        </p:spPr>
      </p:pic>
      <p:pic>
        <p:nvPicPr>
          <p:cNvPr id="8" name="Picture 7">
            <a:extLst>
              <a:ext uri="{FF2B5EF4-FFF2-40B4-BE49-F238E27FC236}">
                <a16:creationId xmlns:a16="http://schemas.microsoft.com/office/drawing/2014/main" id="{5D40C878-FBEE-4EF5-A2A0-7EC7F1D4BE34}"/>
              </a:ext>
            </a:extLst>
          </p:cNvPr>
          <p:cNvPicPr>
            <a:picLocks noChangeAspect="1"/>
          </p:cNvPicPr>
          <p:nvPr/>
        </p:nvPicPr>
        <p:blipFill>
          <a:blip r:embed="rId4"/>
          <a:stretch>
            <a:fillRect/>
          </a:stretch>
        </p:blipFill>
        <p:spPr>
          <a:xfrm>
            <a:off x="8089929" y="1752600"/>
            <a:ext cx="2657846" cy="1467055"/>
          </a:xfrm>
          <a:prstGeom prst="rect">
            <a:avLst/>
          </a:prstGeom>
        </p:spPr>
      </p:pic>
      <p:pic>
        <p:nvPicPr>
          <p:cNvPr id="10" name="Picture 9">
            <a:extLst>
              <a:ext uri="{FF2B5EF4-FFF2-40B4-BE49-F238E27FC236}">
                <a16:creationId xmlns:a16="http://schemas.microsoft.com/office/drawing/2014/main" id="{8D6F4FFD-920E-4670-9F7C-250EC2F954C2}"/>
              </a:ext>
            </a:extLst>
          </p:cNvPr>
          <p:cNvPicPr>
            <a:picLocks noChangeAspect="1"/>
          </p:cNvPicPr>
          <p:nvPr/>
        </p:nvPicPr>
        <p:blipFill>
          <a:blip r:embed="rId5"/>
          <a:stretch>
            <a:fillRect/>
          </a:stretch>
        </p:blipFill>
        <p:spPr>
          <a:xfrm>
            <a:off x="3657599" y="3753054"/>
            <a:ext cx="5056951" cy="2952545"/>
          </a:xfrm>
          <a:prstGeom prst="rect">
            <a:avLst/>
          </a:prstGeom>
        </p:spPr>
      </p:pic>
    </p:spTree>
    <p:extLst>
      <p:ext uri="{BB962C8B-B14F-4D97-AF65-F5344CB8AC3E}">
        <p14:creationId xmlns:p14="http://schemas.microsoft.com/office/powerpoint/2010/main" val="1042561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1F45-819A-48E5-8A59-FB6E6EB707ED}"/>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4241034-D82B-4A32-BDDE-5D0C55A3B6A4}"/>
              </a:ext>
            </a:extLst>
          </p:cNvPr>
          <p:cNvSpPr>
            <a:spLocks noGrp="1"/>
          </p:cNvSpPr>
          <p:nvPr>
            <p:ph idx="1"/>
          </p:nvPr>
        </p:nvSpPr>
        <p:spPr/>
        <p:txBody>
          <a:bodyPr/>
          <a:lstStyle/>
          <a:p>
            <a:pPr marL="0" indent="0">
              <a:buNone/>
            </a:pPr>
            <a:r>
              <a:rPr lang="en-US" sz="1400" dirty="0"/>
              <a:t>2. Detector Stage (Nonlinearity / Activation)</a:t>
            </a:r>
          </a:p>
          <a:p>
            <a:r>
              <a:rPr lang="en-US" sz="1400" dirty="0"/>
              <a:t>After convolution, the output is passed through a </a:t>
            </a:r>
            <a:r>
              <a:rPr lang="en-US" sz="1400" b="1" dirty="0"/>
              <a:t>nonlinear activation function</a:t>
            </a:r>
            <a:r>
              <a:rPr lang="en-US" sz="1400" dirty="0"/>
              <a:t>, typically </a:t>
            </a:r>
            <a:r>
              <a:rPr lang="en-US" sz="1400" b="1" dirty="0" err="1"/>
              <a:t>ReLU</a:t>
            </a:r>
            <a:r>
              <a:rPr lang="en-US" sz="1400" b="1" dirty="0"/>
              <a:t> (Rectified Linear Unit)</a:t>
            </a:r>
            <a:r>
              <a:rPr lang="en-US" sz="1400" dirty="0"/>
              <a:t>.</a:t>
            </a:r>
          </a:p>
          <a:p>
            <a:r>
              <a:rPr lang="en-US" sz="1400" b="1" dirty="0" err="1"/>
              <a:t>ReLU</a:t>
            </a:r>
            <a:r>
              <a:rPr lang="en-US" sz="1400" b="1" dirty="0"/>
              <a:t> Function </a:t>
            </a:r>
            <a:r>
              <a:rPr lang="en-US" sz="1400" dirty="0"/>
              <a:t>f(x)=max⁡(0,x)</a:t>
            </a:r>
          </a:p>
          <a:p>
            <a:r>
              <a:rPr lang="en-US" sz="1400" b="1" dirty="0"/>
              <a:t>Purpose</a:t>
            </a:r>
          </a:p>
          <a:p>
            <a:pPr>
              <a:buFont typeface="Arial" panose="020B0604020202020204" pitchFamily="34" charset="0"/>
              <a:buChar char="•"/>
            </a:pPr>
            <a:r>
              <a:rPr lang="en-US" sz="1400" dirty="0"/>
              <a:t>Introduces </a:t>
            </a:r>
            <a:r>
              <a:rPr lang="en-US" sz="1400" b="1" dirty="0"/>
              <a:t>non-linearity</a:t>
            </a:r>
            <a:r>
              <a:rPr lang="en-US" sz="1400" dirty="0"/>
              <a:t> into the model </a:t>
            </a:r>
          </a:p>
          <a:p>
            <a:pPr>
              <a:buFont typeface="Arial" panose="020B0604020202020204" pitchFamily="34" charset="0"/>
              <a:buChar char="•"/>
            </a:pPr>
            <a:r>
              <a:rPr lang="en-US" sz="1400" dirty="0"/>
              <a:t>Enables the network to learn </a:t>
            </a:r>
            <a:r>
              <a:rPr lang="en-US" sz="1400" b="1" dirty="0"/>
              <a:t>complex patterns</a:t>
            </a:r>
            <a:r>
              <a:rPr lang="en-US" sz="1400" dirty="0"/>
              <a:t> </a:t>
            </a:r>
          </a:p>
          <a:p>
            <a:pPr>
              <a:buFont typeface="Arial" panose="020B0604020202020204" pitchFamily="34" charset="0"/>
              <a:buChar char="•"/>
            </a:pPr>
            <a:r>
              <a:rPr lang="en-US" sz="1400" dirty="0"/>
              <a:t>Removes negative values, keeping only </a:t>
            </a:r>
            <a:r>
              <a:rPr lang="en-US" sz="1400" b="1" dirty="0"/>
              <a:t>positive activations</a:t>
            </a:r>
            <a:r>
              <a:rPr lang="en-US" sz="1400" dirty="0"/>
              <a:t> </a:t>
            </a:r>
          </a:p>
          <a:p>
            <a:r>
              <a:rPr lang="en-US" sz="1400" dirty="0"/>
              <a:t>The result is called the </a:t>
            </a:r>
            <a:r>
              <a:rPr lang="en-US" sz="1400" b="1" dirty="0"/>
              <a:t>activated feature map</a:t>
            </a:r>
            <a:r>
              <a:rPr lang="en-US" sz="1400" dirty="0"/>
              <a:t>.</a:t>
            </a:r>
          </a:p>
          <a:p>
            <a:pPr marL="0" indent="0">
              <a:buNone/>
            </a:pPr>
            <a:endParaRPr lang="en-US" sz="1400" dirty="0"/>
          </a:p>
          <a:p>
            <a:pPr marL="0" indent="0">
              <a:buNone/>
            </a:pPr>
            <a:r>
              <a:rPr lang="en-IN" sz="1400" dirty="0"/>
              <a:t>3. Pooling Stage</a:t>
            </a:r>
            <a:endParaRPr lang="en-US" sz="1400" dirty="0"/>
          </a:p>
          <a:p>
            <a:pPr marL="0" indent="0">
              <a:buNone/>
            </a:pPr>
            <a:r>
              <a:rPr lang="en-US" sz="1400" dirty="0"/>
              <a:t>Pooling performs </a:t>
            </a:r>
            <a:r>
              <a:rPr lang="en-US" sz="1400" b="1" dirty="0" err="1"/>
              <a:t>downsampling</a:t>
            </a:r>
            <a:r>
              <a:rPr lang="en-US" sz="1400" dirty="0"/>
              <a:t> on the activated feature map.</a:t>
            </a:r>
          </a:p>
          <a:p>
            <a:pPr marL="0" indent="0">
              <a:buNone/>
            </a:pPr>
            <a:r>
              <a:rPr lang="en-US" sz="1400" dirty="0"/>
              <a:t>Common types: </a:t>
            </a:r>
            <a:r>
              <a:rPr lang="en-US" sz="1400" b="1" dirty="0"/>
              <a:t>Max Pooling</a:t>
            </a:r>
            <a:r>
              <a:rPr lang="en-US" sz="1400" dirty="0"/>
              <a:t> , </a:t>
            </a:r>
            <a:r>
              <a:rPr lang="en-US" sz="1400" b="1" dirty="0"/>
              <a:t>Average Pooling</a:t>
            </a:r>
          </a:p>
          <a:p>
            <a:pPr marL="0" indent="0">
              <a:buNone/>
            </a:pPr>
            <a:r>
              <a:rPr lang="en-US" sz="1400" dirty="0"/>
              <a:t>The </a:t>
            </a:r>
            <a:r>
              <a:rPr lang="en-US" sz="1400" b="1" dirty="0"/>
              <a:t>pooling stage modifies the output layer</a:t>
            </a:r>
            <a:r>
              <a:rPr lang="en-US" sz="1400" dirty="0"/>
              <a:t> by:</a:t>
            </a:r>
          </a:p>
          <a:p>
            <a:pPr>
              <a:buFont typeface="Arial" panose="020B0604020202020204" pitchFamily="34" charset="0"/>
              <a:buChar char="•"/>
            </a:pPr>
            <a:r>
              <a:rPr lang="en-US" sz="1400" dirty="0"/>
              <a:t>reducing the spatial size of feature maps, </a:t>
            </a:r>
          </a:p>
          <a:p>
            <a:pPr>
              <a:buFont typeface="Arial" panose="020B0604020202020204" pitchFamily="34" charset="0"/>
              <a:buChar char="•"/>
            </a:pPr>
            <a:r>
              <a:rPr lang="en-US" sz="1400" dirty="0"/>
              <a:t>decreasing computational complexity, </a:t>
            </a:r>
          </a:p>
          <a:p>
            <a:pPr>
              <a:buFont typeface="Arial" panose="020B0604020202020204" pitchFamily="34" charset="0"/>
              <a:buChar char="•"/>
            </a:pPr>
            <a:r>
              <a:rPr lang="en-US" sz="1400" dirty="0"/>
              <a:t>retaining dominant features, </a:t>
            </a:r>
          </a:p>
          <a:p>
            <a:pPr>
              <a:buFont typeface="Arial" panose="020B0604020202020204" pitchFamily="34" charset="0"/>
              <a:buChar char="•"/>
            </a:pPr>
            <a:r>
              <a:rPr lang="en-US" sz="1400" dirty="0"/>
              <a:t>providing translation invariance. </a:t>
            </a:r>
          </a:p>
          <a:p>
            <a:pPr marL="0" indent="0">
              <a:buNone/>
            </a:pPr>
            <a:r>
              <a:rPr lang="en-US" sz="1400" dirty="0"/>
              <a:t>Thus, pooling produces a </a:t>
            </a:r>
            <a:r>
              <a:rPr lang="en-US" sz="1400" b="1" dirty="0"/>
              <a:t>smaller and more robust representation of the features</a:t>
            </a:r>
            <a:r>
              <a:rPr lang="en-US" sz="1400" dirty="0"/>
              <a:t> before passing them to the next layer.</a:t>
            </a:r>
          </a:p>
          <a:p>
            <a:pPr marL="0" indent="0">
              <a:buNone/>
            </a:pPr>
            <a:endParaRPr lang="en-US" sz="1000" dirty="0"/>
          </a:p>
          <a:p>
            <a:pPr marL="0" indent="0">
              <a:buNone/>
            </a:pPr>
            <a:endParaRPr lang="en-US" sz="1400" dirty="0"/>
          </a:p>
          <a:p>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9CA5F7C9-F25A-4A2C-83D1-734BF9BDE149}"/>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2868979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0B18-510B-4217-98B9-890A2D8A786D}"/>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6C18023B-B8E3-4D1F-9421-76BD2675CC31}"/>
              </a:ext>
            </a:extLst>
          </p:cNvPr>
          <p:cNvSpPr>
            <a:spLocks noGrp="1"/>
          </p:cNvSpPr>
          <p:nvPr>
            <p:ph idx="1"/>
          </p:nvPr>
        </p:nvSpPr>
        <p:spPr/>
        <p:txBody>
          <a:bodyPr/>
          <a:lstStyle/>
          <a:p>
            <a:r>
              <a:rPr lang="en-US" sz="2000" dirty="0"/>
              <a:t>Discuss the three stages involved in the convolution network, how does the third stage of applying the pooling function modify the output layer.</a:t>
            </a:r>
            <a:endParaRPr lang="en-IN" sz="2000" dirty="0"/>
          </a:p>
        </p:txBody>
      </p:sp>
      <p:sp>
        <p:nvSpPr>
          <p:cNvPr id="4" name="Slide Number Placeholder 3">
            <a:extLst>
              <a:ext uri="{FF2B5EF4-FFF2-40B4-BE49-F238E27FC236}">
                <a16:creationId xmlns:a16="http://schemas.microsoft.com/office/drawing/2014/main" id="{9AB9E2C0-D184-4D2F-A718-E6D2700D5877}"/>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9314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8E65-3252-1DB8-74E4-5518880642EB}"/>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CBEF2B7C-F8C9-1447-D732-E618B3CF779E}"/>
              </a:ext>
            </a:extLst>
          </p:cNvPr>
          <p:cNvSpPr>
            <a:spLocks noGrp="1"/>
          </p:cNvSpPr>
          <p:nvPr>
            <p:ph idx="1"/>
          </p:nvPr>
        </p:nvSpPr>
        <p:spPr/>
        <p:txBody>
          <a:bodyPr/>
          <a:lstStyle/>
          <a:p>
            <a:pPr marL="0" indent="0">
              <a:buNone/>
            </a:pPr>
            <a:r>
              <a:rPr lang="en-IN" sz="2400" dirty="0"/>
              <a:t>Max Pooling</a:t>
            </a:r>
          </a:p>
        </p:txBody>
      </p:sp>
      <p:sp>
        <p:nvSpPr>
          <p:cNvPr id="4" name="Date Placeholder 3">
            <a:extLst>
              <a:ext uri="{FF2B5EF4-FFF2-40B4-BE49-F238E27FC236}">
                <a16:creationId xmlns:a16="http://schemas.microsoft.com/office/drawing/2014/main" id="{9CE907C9-A145-AB57-E532-C6337D220422}"/>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EDDB4B29-20AA-3963-5F1F-6F1322F834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7AF8E-89CB-B00D-1319-62CC9A6BFA3A}"/>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8" name="Picture 7">
            <a:extLst>
              <a:ext uri="{FF2B5EF4-FFF2-40B4-BE49-F238E27FC236}">
                <a16:creationId xmlns:a16="http://schemas.microsoft.com/office/drawing/2014/main" id="{99A83DF5-8195-E2DA-DE23-D3781B9E7DD9}"/>
              </a:ext>
            </a:extLst>
          </p:cNvPr>
          <p:cNvPicPr>
            <a:picLocks noChangeAspect="1"/>
          </p:cNvPicPr>
          <p:nvPr/>
        </p:nvPicPr>
        <p:blipFill>
          <a:blip r:embed="rId2"/>
          <a:stretch>
            <a:fillRect/>
          </a:stretch>
        </p:blipFill>
        <p:spPr>
          <a:xfrm>
            <a:off x="2438400" y="1757633"/>
            <a:ext cx="6172200" cy="2799761"/>
          </a:xfrm>
          <a:prstGeom prst="rect">
            <a:avLst/>
          </a:prstGeom>
        </p:spPr>
      </p:pic>
      <p:sp>
        <p:nvSpPr>
          <p:cNvPr id="9" name="TextBox 8">
            <a:extLst>
              <a:ext uri="{FF2B5EF4-FFF2-40B4-BE49-F238E27FC236}">
                <a16:creationId xmlns:a16="http://schemas.microsoft.com/office/drawing/2014/main" id="{50B51E41-55E3-54C5-1955-E08077BBABF1}"/>
              </a:ext>
            </a:extLst>
          </p:cNvPr>
          <p:cNvSpPr txBox="1"/>
          <p:nvPr/>
        </p:nvSpPr>
        <p:spPr>
          <a:xfrm>
            <a:off x="1371600" y="4659331"/>
            <a:ext cx="8131329" cy="1477328"/>
          </a:xfrm>
          <a:prstGeom prst="rect">
            <a:avLst/>
          </a:prstGeom>
          <a:noFill/>
        </p:spPr>
        <p:txBody>
          <a:bodyPr wrap="none" rtlCol="0">
            <a:spAutoFit/>
          </a:bodyPr>
          <a:lstStyle/>
          <a:p>
            <a:r>
              <a:rPr lang="en-US" b="1" u="sng" dirty="0">
                <a:solidFill>
                  <a:srgbClr val="001D35"/>
                </a:solidFill>
                <a:latin typeface="Google Sans"/>
              </a:rPr>
              <a:t>Intuition behind Max Pooling</a:t>
            </a:r>
          </a:p>
          <a:p>
            <a:r>
              <a:rPr lang="en-US" dirty="0">
                <a:solidFill>
                  <a:srgbClr val="001D35"/>
                </a:solidFill>
                <a:latin typeface="Google Sans"/>
              </a:rPr>
              <a:t>By selecting the maximum value, it emphasizes the most salient feature within a </a:t>
            </a:r>
          </a:p>
          <a:p>
            <a:r>
              <a:rPr lang="en-US" dirty="0">
                <a:solidFill>
                  <a:srgbClr val="001D35"/>
                </a:solidFill>
                <a:latin typeface="Google Sans"/>
              </a:rPr>
              <a:t>region and reduces the impact of less important or noisy activations.</a:t>
            </a:r>
          </a:p>
          <a:p>
            <a:r>
              <a:rPr lang="en-US" dirty="0">
                <a:solidFill>
                  <a:srgbClr val="242424"/>
                </a:solidFill>
                <a:latin typeface="source-serif-pro"/>
              </a:rPr>
              <a:t>Much bigger max number of a particular quadrant corresponds to a feature detected.</a:t>
            </a:r>
            <a:endParaRPr lang="en-US" dirty="0">
              <a:solidFill>
                <a:srgbClr val="001D35"/>
              </a:solidFill>
              <a:latin typeface="Google Sans"/>
            </a:endParaRPr>
          </a:p>
          <a:p>
            <a:endParaRPr lang="en-IN" dirty="0"/>
          </a:p>
        </p:txBody>
      </p:sp>
    </p:spTree>
    <p:extLst>
      <p:ext uri="{BB962C8B-B14F-4D97-AF65-F5344CB8AC3E}">
        <p14:creationId xmlns:p14="http://schemas.microsoft.com/office/powerpoint/2010/main" val="518157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CFFD-CD79-4BFE-11BC-83D3A40682CF}"/>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3228DD55-9F55-9FE6-6881-6D7177F0388D}"/>
              </a:ext>
            </a:extLst>
          </p:cNvPr>
          <p:cNvSpPr>
            <a:spLocks noGrp="1"/>
          </p:cNvSpPr>
          <p:nvPr>
            <p:ph idx="1"/>
          </p:nvPr>
        </p:nvSpPr>
        <p:spPr/>
        <p:txBody>
          <a:bodyPr/>
          <a:lstStyle/>
          <a:p>
            <a:pPr marL="0" indent="0">
              <a:buNone/>
            </a:pPr>
            <a:r>
              <a:rPr lang="en-US" dirty="0"/>
              <a:t>Average Pooling</a:t>
            </a:r>
            <a:endParaRPr lang="en-IN" dirty="0"/>
          </a:p>
        </p:txBody>
      </p:sp>
      <p:sp>
        <p:nvSpPr>
          <p:cNvPr id="4" name="Date Placeholder 3">
            <a:extLst>
              <a:ext uri="{FF2B5EF4-FFF2-40B4-BE49-F238E27FC236}">
                <a16:creationId xmlns:a16="http://schemas.microsoft.com/office/drawing/2014/main" id="{D5855068-6DF7-6F29-ABBA-691FDC8E2F8A}"/>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CEEA1599-760C-D6A4-59CD-50E3DEFB57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4508C61-2533-29E7-7560-03146153482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8" name="Picture 7">
            <a:extLst>
              <a:ext uri="{FF2B5EF4-FFF2-40B4-BE49-F238E27FC236}">
                <a16:creationId xmlns:a16="http://schemas.microsoft.com/office/drawing/2014/main" id="{0CD6E442-CB16-D4A0-711D-FE622DEA2C06}"/>
              </a:ext>
            </a:extLst>
          </p:cNvPr>
          <p:cNvPicPr>
            <a:picLocks noChangeAspect="1"/>
          </p:cNvPicPr>
          <p:nvPr/>
        </p:nvPicPr>
        <p:blipFill>
          <a:blip r:embed="rId2"/>
          <a:stretch>
            <a:fillRect/>
          </a:stretch>
        </p:blipFill>
        <p:spPr>
          <a:xfrm>
            <a:off x="2098675" y="2254235"/>
            <a:ext cx="6192114" cy="3362794"/>
          </a:xfrm>
          <a:prstGeom prst="rect">
            <a:avLst/>
          </a:prstGeom>
        </p:spPr>
      </p:pic>
    </p:spTree>
    <p:extLst>
      <p:ext uri="{BB962C8B-B14F-4D97-AF65-F5344CB8AC3E}">
        <p14:creationId xmlns:p14="http://schemas.microsoft.com/office/powerpoint/2010/main" val="888865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79529-66B1-DEBD-3FE6-BC79D1D461FE}"/>
              </a:ext>
            </a:extLst>
          </p:cNvPr>
          <p:cNvSpPr>
            <a:spLocks noGrp="1"/>
          </p:cNvSpPr>
          <p:nvPr>
            <p:ph type="title"/>
          </p:nvPr>
        </p:nvSpPr>
        <p:spPr/>
        <p:txBody>
          <a:bodyPr/>
          <a:lstStyle/>
          <a:p>
            <a:r>
              <a:rPr lang="en-US" sz="2000" dirty="0">
                <a:solidFill>
                  <a:srgbClr val="242424"/>
                </a:solidFill>
                <a:latin typeface="sohne"/>
              </a:rPr>
              <a:t>Calculating the output when an image passes through a Pooling (Max) layer</a:t>
            </a:r>
            <a:endParaRPr lang="en-IN" sz="2000" dirty="0"/>
          </a:p>
        </p:txBody>
      </p:sp>
      <p:sp>
        <p:nvSpPr>
          <p:cNvPr id="3" name="Content Placeholder 2">
            <a:extLst>
              <a:ext uri="{FF2B5EF4-FFF2-40B4-BE49-F238E27FC236}">
                <a16:creationId xmlns:a16="http://schemas.microsoft.com/office/drawing/2014/main" id="{5EC2FD4A-5646-930E-33CC-0F8DB9BAF897}"/>
              </a:ext>
            </a:extLst>
          </p:cNvPr>
          <p:cNvSpPr>
            <a:spLocks noGrp="1"/>
          </p:cNvSpPr>
          <p:nvPr>
            <p:ph idx="1"/>
          </p:nvPr>
        </p:nvSpPr>
        <p:spPr/>
        <p:txBody>
          <a:bodyPr/>
          <a:lstStyle/>
          <a:p>
            <a:pPr marL="0" indent="0">
              <a:buNone/>
            </a:pPr>
            <a:r>
              <a:rPr lang="en-US" sz="2400" dirty="0"/>
              <a:t>The input dimensions of the image — &gt; I</a:t>
            </a:r>
          </a:p>
          <a:p>
            <a:pPr marL="0" indent="0">
              <a:buNone/>
            </a:pPr>
            <a:r>
              <a:rPr lang="en-US" sz="2400" dirty="0"/>
              <a:t>For a pooling layer, one can specify only the filter/kernel size (F) and the strides (S).</a:t>
            </a:r>
          </a:p>
          <a:p>
            <a:pPr marL="0" indent="0">
              <a:buNone/>
            </a:pPr>
            <a:endParaRPr lang="en-US" sz="2400" dirty="0"/>
          </a:p>
          <a:p>
            <a:pPr marL="0" indent="0">
              <a:buNone/>
            </a:pPr>
            <a:r>
              <a:rPr lang="en-US" sz="2400" dirty="0"/>
              <a:t>Pooling Output dimension = </a:t>
            </a:r>
          </a:p>
          <a:p>
            <a:pPr marL="0" indent="0">
              <a:buNone/>
            </a:pPr>
            <a:r>
              <a:rPr lang="en-US" sz="2400" dirty="0"/>
              <a:t>[(I - F) / S] + 1 x D</a:t>
            </a:r>
            <a:endParaRPr lang="en-IN" sz="2400" dirty="0"/>
          </a:p>
        </p:txBody>
      </p:sp>
      <p:sp>
        <p:nvSpPr>
          <p:cNvPr id="4" name="Date Placeholder 3">
            <a:extLst>
              <a:ext uri="{FF2B5EF4-FFF2-40B4-BE49-F238E27FC236}">
                <a16:creationId xmlns:a16="http://schemas.microsoft.com/office/drawing/2014/main" id="{07758840-AA9B-045E-5056-B728F3A05B5B}"/>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B7DBBF1A-118D-2B47-310F-735D5ED322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1CDA91-4451-35D4-66DA-B3025FFA48C2}"/>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35418083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57</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684643" y="1074638"/>
            <a:ext cx="9343466" cy="4792762"/>
          </a:xfrm>
          <a:prstGeom prst="rect">
            <a:avLst/>
          </a:prstGeom>
        </p:spPr>
      </p:pic>
    </p:spTree>
    <p:extLst>
      <p:ext uri="{BB962C8B-B14F-4D97-AF65-F5344CB8AC3E}">
        <p14:creationId xmlns:p14="http://schemas.microsoft.com/office/powerpoint/2010/main" val="25741131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10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3"/>
          <a:stretch>
            <a:fillRect/>
          </a:stretch>
        </p:blipFill>
        <p:spPr>
          <a:xfrm>
            <a:off x="672074" y="1141494"/>
            <a:ext cx="7354326" cy="3772426"/>
          </a:xfrm>
          <a:prstGeom prst="rect">
            <a:avLst/>
          </a:prstGeom>
        </p:spPr>
      </p:pic>
      <p:pic>
        <p:nvPicPr>
          <p:cNvPr id="11" name="Picture 10">
            <a:extLst>
              <a:ext uri="{FF2B5EF4-FFF2-40B4-BE49-F238E27FC236}">
                <a16:creationId xmlns:a16="http://schemas.microsoft.com/office/drawing/2014/main" id="{8A73A103-4537-B1F2-B221-B3FF42CC8596}"/>
              </a:ext>
            </a:extLst>
          </p:cNvPr>
          <p:cNvPicPr>
            <a:picLocks noChangeAspect="1"/>
          </p:cNvPicPr>
          <p:nvPr/>
        </p:nvPicPr>
        <p:blipFill>
          <a:blip r:embed="rId4"/>
          <a:stretch>
            <a:fillRect/>
          </a:stretch>
        </p:blipFill>
        <p:spPr>
          <a:xfrm>
            <a:off x="755651" y="5119018"/>
            <a:ext cx="2095792" cy="714475"/>
          </a:xfrm>
          <a:prstGeom prst="rect">
            <a:avLst/>
          </a:prstGeom>
        </p:spPr>
      </p:pic>
    </p:spTree>
    <p:extLst>
      <p:ext uri="{BB962C8B-B14F-4D97-AF65-F5344CB8AC3E}">
        <p14:creationId xmlns:p14="http://schemas.microsoft.com/office/powerpoint/2010/main" val="3629902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8B705-F3B7-4566-A537-25B46D569B91}"/>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AA6D95FA-5341-44DB-81BC-4E1902DED94C}"/>
              </a:ext>
            </a:extLst>
          </p:cNvPr>
          <p:cNvSpPr>
            <a:spLocks noGrp="1"/>
          </p:cNvSpPr>
          <p:nvPr>
            <p:ph idx="1"/>
          </p:nvPr>
        </p:nvSpPr>
        <p:spPr/>
        <p:txBody>
          <a:bodyPr/>
          <a:lstStyle/>
          <a:p>
            <a:pPr marL="0" indent="0">
              <a:buNone/>
            </a:pPr>
            <a:r>
              <a:rPr lang="en-IN" sz="2000" dirty="0" err="1"/>
              <a:t>i</a:t>
            </a:r>
            <a:r>
              <a:rPr lang="en-IN" sz="2000" dirty="0"/>
              <a:t>. For the input matrix:</a:t>
            </a:r>
          </a:p>
          <a:p>
            <a:pPr marL="0" indent="0">
              <a:buNone/>
            </a:pPr>
            <a:r>
              <a:rPr lang="en-US" sz="2000" dirty="0"/>
              <a:t>A. Perform max pooling with a 2×2 kernel and stride 2. </a:t>
            </a:r>
          </a:p>
          <a:p>
            <a:pPr marL="0" indent="0">
              <a:buNone/>
            </a:pPr>
            <a:r>
              <a:rPr lang="en-US" sz="2000" dirty="0"/>
              <a:t>B. Perform average pooling with a 2×2 kernel and stride. Compare the two resulting matrices. </a:t>
            </a:r>
          </a:p>
        </p:txBody>
      </p:sp>
      <p:sp>
        <p:nvSpPr>
          <p:cNvPr id="4" name="Slide Number Placeholder 3">
            <a:extLst>
              <a:ext uri="{FF2B5EF4-FFF2-40B4-BE49-F238E27FC236}">
                <a16:creationId xmlns:a16="http://schemas.microsoft.com/office/drawing/2014/main" id="{C1C84DCE-647F-443A-859D-22F419CD4D8D}"/>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6" name="Picture 5">
            <a:extLst>
              <a:ext uri="{FF2B5EF4-FFF2-40B4-BE49-F238E27FC236}">
                <a16:creationId xmlns:a16="http://schemas.microsoft.com/office/drawing/2014/main" id="{2D93B714-B751-41D1-9DA1-01510FB55974}"/>
              </a:ext>
            </a:extLst>
          </p:cNvPr>
          <p:cNvPicPr>
            <a:picLocks noChangeAspect="1"/>
          </p:cNvPicPr>
          <p:nvPr/>
        </p:nvPicPr>
        <p:blipFill>
          <a:blip r:embed="rId2"/>
          <a:stretch>
            <a:fillRect/>
          </a:stretch>
        </p:blipFill>
        <p:spPr>
          <a:xfrm>
            <a:off x="8153400" y="242887"/>
            <a:ext cx="2057400" cy="1343025"/>
          </a:xfrm>
          <a:prstGeom prst="rect">
            <a:avLst/>
          </a:prstGeom>
        </p:spPr>
      </p:pic>
    </p:spTree>
    <p:extLst>
      <p:ext uri="{BB962C8B-B14F-4D97-AF65-F5344CB8AC3E}">
        <p14:creationId xmlns:p14="http://schemas.microsoft.com/office/powerpoint/2010/main" val="593322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dirty="0">
                <a:solidFill>
                  <a:schemeClr val="bg1">
                    <a:lumMod val="65000"/>
                  </a:schemeClr>
                </a:solidFill>
                <a:latin typeface="Inter"/>
              </a:rPr>
              <a:t>Convolution neural networks: The Convolution Operation, Pooling,</a:t>
            </a:r>
            <a:r>
              <a:rPr lang="en-US" sz="2000" dirty="0">
                <a:solidFill>
                  <a:srgbClr val="262626"/>
                </a:solidFill>
                <a:latin typeface="Inter"/>
              </a:rPr>
              <a:t> </a:t>
            </a:r>
            <a:r>
              <a:rPr lang="en-US" sz="2000" b="1" dirty="0">
                <a:latin typeface="Inter"/>
              </a:rPr>
              <a:t>Convolution and Pooling as an Infinitely Strong Prior, Variants of the Basic Convolution Function</a:t>
            </a:r>
            <a:r>
              <a:rPr lang="en-US" sz="2000" dirty="0">
                <a:solidFill>
                  <a:srgbClr val="262626"/>
                </a:solidFill>
                <a:latin typeface="Inter"/>
              </a:rPr>
              <a:t>, 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223376502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898C-B477-4D03-9828-D20478D2738E}"/>
              </a:ext>
            </a:extLst>
          </p:cNvPr>
          <p:cNvSpPr>
            <a:spLocks noGrp="1"/>
          </p:cNvSpPr>
          <p:nvPr>
            <p:ph type="title"/>
          </p:nvPr>
        </p:nvSpPr>
        <p:spPr/>
        <p:txBody>
          <a:bodyPr/>
          <a:lstStyle/>
          <a:p>
            <a:r>
              <a:rPr lang="en-US" sz="2800" dirty="0"/>
              <a:t>Convolution and Pooling as an Infinitely Strong Prior</a:t>
            </a:r>
            <a:endParaRPr lang="en-IN" sz="2800" dirty="0"/>
          </a:p>
        </p:txBody>
      </p:sp>
      <p:sp>
        <p:nvSpPr>
          <p:cNvPr id="3" name="Content Placeholder 2">
            <a:extLst>
              <a:ext uri="{FF2B5EF4-FFF2-40B4-BE49-F238E27FC236}">
                <a16:creationId xmlns:a16="http://schemas.microsoft.com/office/drawing/2014/main" id="{14F0A6C9-EF8B-4C82-AAC9-0801A161A5E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649336B-456E-402A-A497-D6090F67B5C3}"/>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25635846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2013255-B67C-473D-A9A0-3BC08EF4AA33}"/>
              </a:ext>
            </a:extLst>
          </p:cNvPr>
          <p:cNvGraphicFramePr>
            <a:graphicFrameLocks noGrp="1"/>
          </p:cNvGraphicFramePr>
          <p:nvPr>
            <p:ph idx="1"/>
          </p:nvPr>
        </p:nvGraphicFramePr>
        <p:xfrm>
          <a:off x="304800" y="106680"/>
          <a:ext cx="11811000" cy="3548863"/>
        </p:xfrm>
        <a:graphic>
          <a:graphicData uri="http://schemas.openxmlformats.org/drawingml/2006/table">
            <a:tbl>
              <a:tblPr firstRow="1" bandRow="1">
                <a:tableStyleId>{5C22544A-7EE6-4342-B048-85BDC9FD1C3A}</a:tableStyleId>
              </a:tblPr>
              <a:tblGrid>
                <a:gridCol w="5905500">
                  <a:extLst>
                    <a:ext uri="{9D8B030D-6E8A-4147-A177-3AD203B41FA5}">
                      <a16:colId xmlns:a16="http://schemas.microsoft.com/office/drawing/2014/main" val="1849055824"/>
                    </a:ext>
                  </a:extLst>
                </a:gridCol>
                <a:gridCol w="5905500">
                  <a:extLst>
                    <a:ext uri="{9D8B030D-6E8A-4147-A177-3AD203B41FA5}">
                      <a16:colId xmlns:a16="http://schemas.microsoft.com/office/drawing/2014/main" val="2317832889"/>
                    </a:ext>
                  </a:extLst>
                </a:gridCol>
              </a:tblGrid>
              <a:tr h="439903">
                <a:tc>
                  <a:txBody>
                    <a:bodyPr/>
                    <a:lstStyle/>
                    <a:p>
                      <a:r>
                        <a:rPr lang="en-US" sz="1600" b="0" dirty="0">
                          <a:solidFill>
                            <a:schemeClr val="tx1"/>
                          </a:solidFill>
                        </a:rPr>
                        <a:t>Full Connect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Convolutional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412950"/>
                  </a:ext>
                </a:extLst>
              </a:tr>
              <a:tr h="977417">
                <a:tc>
                  <a:txBody>
                    <a:bodyPr/>
                    <a:lstStyle/>
                    <a:p>
                      <a:r>
                        <a:rPr lang="en-US" sz="1600" b="0" i="0" kern="1200" dirty="0">
                          <a:solidFill>
                            <a:schemeClr val="dk1"/>
                          </a:solidFill>
                          <a:effectLst/>
                          <a:latin typeface="+mn-lt"/>
                          <a:ea typeface="+mn-ea"/>
                          <a:cs typeface="+mn-cs"/>
                        </a:rPr>
                        <a:t>A fully connected layer is a type of neural network</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 layer where each neuron is connected to every neuron in the previous layer, enabling global feature learning.</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kern="1200" dirty="0">
                          <a:solidFill>
                            <a:schemeClr val="dk1"/>
                          </a:solidFill>
                          <a:effectLst/>
                          <a:latin typeface="+mn-lt"/>
                          <a:ea typeface="+mn-ea"/>
                          <a:cs typeface="+mn-cs"/>
                        </a:rPr>
                        <a:t>A convolutional layer, by contrast, uses filters that </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connect only to local regions of the input, allowing it to detect spatial patterns like edges or textures while using fewer parameters.</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454196"/>
                  </a:ext>
                </a:extLst>
              </a:tr>
              <a:tr h="1410101">
                <a:tc>
                  <a:txBody>
                    <a:bodyPr/>
                    <a:lstStyle/>
                    <a:p>
                      <a:r>
                        <a:rPr lang="en-US" sz="1600" b="0" i="0" kern="1200" dirty="0">
                          <a:solidFill>
                            <a:schemeClr val="dk1"/>
                          </a:solidFill>
                          <a:effectLst/>
                          <a:latin typeface="+mn-lt"/>
                          <a:ea typeface="+mn-ea"/>
                          <a:cs typeface="+mn-cs"/>
                        </a:rPr>
                        <a:t>If we take a layer in a fully connected neural network with an input size of nine and an output size of four, the operation can be visualized as follows:</a:t>
                      </a:r>
                    </a:p>
                    <a:p>
                      <a:r>
                        <a:rPr lang="en-US" sz="1600" b="0" i="0" kern="1200" dirty="0">
                          <a:solidFill>
                            <a:schemeClr val="dk1"/>
                          </a:solidFill>
                          <a:effectLst/>
                          <a:latin typeface="+mn-lt"/>
                          <a:ea typeface="+mn-ea"/>
                          <a:cs typeface="+mn-cs"/>
                        </a:rPr>
                        <a:t>The input is a 1x9 vector, the weights matrix is a 9x4 </a:t>
                      </a:r>
                      <a:r>
                        <a:rPr lang="en-US" sz="1600" b="0" i="0" kern="1200" dirty="0">
                          <a:solidFill>
                            <a:schemeClr val="dk1"/>
                          </a:solidFill>
                          <a:effectLst/>
                          <a:latin typeface="+mn-lt"/>
                          <a:ea typeface="+mn-ea"/>
                          <a:cs typeface="+mn-cs"/>
                          <a:hlinkClick r:id="rId2"/>
                        </a:rPr>
                        <a:t>matrix</a:t>
                      </a:r>
                      <a:r>
                        <a:rPr lang="en-US" sz="1600" b="0" i="0" kern="1200" dirty="0">
                          <a:solidFill>
                            <a:schemeClr val="dk1"/>
                          </a:solidFill>
                          <a:effectLst/>
                          <a:latin typeface="+mn-lt"/>
                          <a:ea typeface="+mn-ea"/>
                          <a:cs typeface="+mn-cs"/>
                        </a:rPr>
                        <a:t>. By taking the dot product and applying the non-linear transformation with the activation function we get the output vector (1x4).</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965652"/>
                  </a:ext>
                </a:extLst>
              </a:tr>
            </a:tbl>
          </a:graphicData>
        </a:graphic>
      </p:graphicFrame>
      <p:sp>
        <p:nvSpPr>
          <p:cNvPr id="4" name="Slide Number Placeholder 3">
            <a:extLst>
              <a:ext uri="{FF2B5EF4-FFF2-40B4-BE49-F238E27FC236}">
                <a16:creationId xmlns:a16="http://schemas.microsoft.com/office/drawing/2014/main" id="{3D74A532-7720-4CBB-B4BB-24DC6B08FFC4}"/>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7" name="Picture 6">
            <a:extLst>
              <a:ext uri="{FF2B5EF4-FFF2-40B4-BE49-F238E27FC236}">
                <a16:creationId xmlns:a16="http://schemas.microsoft.com/office/drawing/2014/main" id="{93612D6D-0D09-4100-AC3C-B1F0FC739C96}"/>
              </a:ext>
            </a:extLst>
          </p:cNvPr>
          <p:cNvPicPr>
            <a:picLocks noChangeAspect="1"/>
          </p:cNvPicPr>
          <p:nvPr/>
        </p:nvPicPr>
        <p:blipFill rotWithShape="1">
          <a:blip r:embed="rId3"/>
          <a:srcRect l="11482" t="9457" r="9506" b="9071"/>
          <a:stretch/>
        </p:blipFill>
        <p:spPr>
          <a:xfrm>
            <a:off x="308264" y="3792683"/>
            <a:ext cx="4732952" cy="2590800"/>
          </a:xfrm>
          <a:prstGeom prst="rect">
            <a:avLst/>
          </a:prstGeom>
        </p:spPr>
      </p:pic>
      <p:sp>
        <p:nvSpPr>
          <p:cNvPr id="8" name="TextBox 7">
            <a:extLst>
              <a:ext uri="{FF2B5EF4-FFF2-40B4-BE49-F238E27FC236}">
                <a16:creationId xmlns:a16="http://schemas.microsoft.com/office/drawing/2014/main" id="{68BE0E47-E317-44D4-A256-A16F572F6126}"/>
              </a:ext>
            </a:extLst>
          </p:cNvPr>
          <p:cNvSpPr txBox="1"/>
          <p:nvPr/>
        </p:nvSpPr>
        <p:spPr>
          <a:xfrm>
            <a:off x="304800" y="6561138"/>
            <a:ext cx="3966150" cy="230832"/>
          </a:xfrm>
          <a:prstGeom prst="rect">
            <a:avLst/>
          </a:prstGeom>
          <a:noFill/>
        </p:spPr>
        <p:txBody>
          <a:bodyPr wrap="none" rtlCol="0">
            <a:spAutoFit/>
          </a:bodyPr>
          <a:lstStyle/>
          <a:p>
            <a:r>
              <a:rPr lang="en-US" sz="900" dirty="0"/>
              <a:t>Ref.: https://builtin.com/machine-learning/fully-connected-layer</a:t>
            </a:r>
            <a:endParaRPr lang="en-IN" sz="900" dirty="0"/>
          </a:p>
        </p:txBody>
      </p:sp>
    </p:spTree>
    <p:extLst>
      <p:ext uri="{BB962C8B-B14F-4D97-AF65-F5344CB8AC3E}">
        <p14:creationId xmlns:p14="http://schemas.microsoft.com/office/powerpoint/2010/main" val="2922082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2013255-B67C-473D-A9A0-3BC08EF4AA33}"/>
              </a:ext>
            </a:extLst>
          </p:cNvPr>
          <p:cNvGraphicFramePr>
            <a:graphicFrameLocks noGrp="1"/>
          </p:cNvGraphicFramePr>
          <p:nvPr>
            <p:ph idx="1"/>
          </p:nvPr>
        </p:nvGraphicFramePr>
        <p:xfrm>
          <a:off x="304800" y="106680"/>
          <a:ext cx="11811000" cy="3792703"/>
        </p:xfrm>
        <a:graphic>
          <a:graphicData uri="http://schemas.openxmlformats.org/drawingml/2006/table">
            <a:tbl>
              <a:tblPr firstRow="1" bandRow="1">
                <a:tableStyleId>{5C22544A-7EE6-4342-B048-85BDC9FD1C3A}</a:tableStyleId>
              </a:tblPr>
              <a:tblGrid>
                <a:gridCol w="5905500">
                  <a:extLst>
                    <a:ext uri="{9D8B030D-6E8A-4147-A177-3AD203B41FA5}">
                      <a16:colId xmlns:a16="http://schemas.microsoft.com/office/drawing/2014/main" val="1849055824"/>
                    </a:ext>
                  </a:extLst>
                </a:gridCol>
                <a:gridCol w="5905500">
                  <a:extLst>
                    <a:ext uri="{9D8B030D-6E8A-4147-A177-3AD203B41FA5}">
                      <a16:colId xmlns:a16="http://schemas.microsoft.com/office/drawing/2014/main" val="2317832889"/>
                    </a:ext>
                  </a:extLst>
                </a:gridCol>
              </a:tblGrid>
              <a:tr h="439903">
                <a:tc>
                  <a:txBody>
                    <a:bodyPr/>
                    <a:lstStyle/>
                    <a:p>
                      <a:r>
                        <a:rPr lang="en-US" sz="1600" b="0" dirty="0">
                          <a:solidFill>
                            <a:schemeClr val="tx1"/>
                          </a:solidFill>
                        </a:rPr>
                        <a:t>Full Connect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Convolutional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412950"/>
                  </a:ext>
                </a:extLst>
              </a:tr>
              <a:tr h="977417">
                <a:tc>
                  <a:txBody>
                    <a:bodyPr/>
                    <a:lstStyle/>
                    <a:p>
                      <a:r>
                        <a:rPr lang="en-US" sz="1600" b="0" i="0" kern="1200" dirty="0">
                          <a:solidFill>
                            <a:schemeClr val="dk1"/>
                          </a:solidFill>
                          <a:effectLst/>
                          <a:latin typeface="+mn-lt"/>
                          <a:ea typeface="+mn-ea"/>
                          <a:cs typeface="+mn-cs"/>
                        </a:rPr>
                        <a:t>A fully connected layer is a type of neural network</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 layer where each neuron is connected to every neuron in the previous layer, enabling global feature learning.</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kern="1200" dirty="0">
                          <a:solidFill>
                            <a:schemeClr val="dk1"/>
                          </a:solidFill>
                          <a:effectLst/>
                          <a:latin typeface="+mn-lt"/>
                          <a:ea typeface="+mn-ea"/>
                          <a:cs typeface="+mn-cs"/>
                        </a:rPr>
                        <a:t>A convolutional layer, by contrast, uses filters that </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connect only to local regions of the input, allowing it to detect spatial patterns like edges or textures while using fewer parameters.</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454196"/>
                  </a:ext>
                </a:extLst>
              </a:tr>
              <a:tr h="1410101">
                <a:tc>
                  <a:txBody>
                    <a:bodyPr/>
                    <a:lstStyle/>
                    <a:p>
                      <a:r>
                        <a:rPr lang="en-US" sz="1600" b="0" i="0" kern="1200" dirty="0">
                          <a:solidFill>
                            <a:schemeClr val="dk1"/>
                          </a:solidFill>
                          <a:effectLst/>
                          <a:latin typeface="+mn-lt"/>
                          <a:ea typeface="+mn-ea"/>
                          <a:cs typeface="+mn-cs"/>
                        </a:rPr>
                        <a:t>If we take a layer in a fully connected neural network with an input size of nine and an output size of four, the operation can be visualized as follows</a:t>
                      </a:r>
                    </a:p>
                    <a:p>
                      <a:r>
                        <a:rPr lang="en-US" sz="1600" b="0" i="0" kern="1200" dirty="0">
                          <a:solidFill>
                            <a:schemeClr val="dk1"/>
                          </a:solidFill>
                          <a:effectLst/>
                          <a:latin typeface="+mn-lt"/>
                          <a:ea typeface="+mn-ea"/>
                          <a:cs typeface="+mn-cs"/>
                        </a:rPr>
                        <a:t>The input is a 1x9 vector, the weights matrix is a 9x4 matrix. By taking the dot product and applying the non-linear transformation with the activation function we get the output vector (1x4).</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Convolutions are not densely connected; not all input nodes affect all output nodes. This gives convolutional layers more flexibility in learning. Moreover, the number of weights per layer is a lot smaller, which helps with high-dimensional inputs such as image data. These advantages are what give CNNs their well-known characteristic of learning features in the data, such as shapes and textures in image data.</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965652"/>
                  </a:ext>
                </a:extLst>
              </a:tr>
            </a:tbl>
          </a:graphicData>
        </a:graphic>
      </p:graphicFrame>
      <p:sp>
        <p:nvSpPr>
          <p:cNvPr id="4" name="Slide Number Placeholder 3">
            <a:extLst>
              <a:ext uri="{FF2B5EF4-FFF2-40B4-BE49-F238E27FC236}">
                <a16:creationId xmlns:a16="http://schemas.microsoft.com/office/drawing/2014/main" id="{3D74A532-7720-4CBB-B4BB-24DC6B08FFC4}"/>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39247533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D2013255-B67C-473D-A9A0-3BC08EF4AA33}"/>
              </a:ext>
            </a:extLst>
          </p:cNvPr>
          <p:cNvGraphicFramePr>
            <a:graphicFrameLocks noGrp="1"/>
          </p:cNvGraphicFramePr>
          <p:nvPr>
            <p:ph idx="1"/>
          </p:nvPr>
        </p:nvGraphicFramePr>
        <p:xfrm>
          <a:off x="304800" y="106680"/>
          <a:ext cx="11811000" cy="3548863"/>
        </p:xfrm>
        <a:graphic>
          <a:graphicData uri="http://schemas.openxmlformats.org/drawingml/2006/table">
            <a:tbl>
              <a:tblPr firstRow="1" bandRow="1">
                <a:tableStyleId>{5C22544A-7EE6-4342-B048-85BDC9FD1C3A}</a:tableStyleId>
              </a:tblPr>
              <a:tblGrid>
                <a:gridCol w="5905500">
                  <a:extLst>
                    <a:ext uri="{9D8B030D-6E8A-4147-A177-3AD203B41FA5}">
                      <a16:colId xmlns:a16="http://schemas.microsoft.com/office/drawing/2014/main" val="1849055824"/>
                    </a:ext>
                  </a:extLst>
                </a:gridCol>
                <a:gridCol w="5905500">
                  <a:extLst>
                    <a:ext uri="{9D8B030D-6E8A-4147-A177-3AD203B41FA5}">
                      <a16:colId xmlns:a16="http://schemas.microsoft.com/office/drawing/2014/main" val="2317832889"/>
                    </a:ext>
                  </a:extLst>
                </a:gridCol>
              </a:tblGrid>
              <a:tr h="439903">
                <a:tc>
                  <a:txBody>
                    <a:bodyPr/>
                    <a:lstStyle/>
                    <a:p>
                      <a:r>
                        <a:rPr lang="en-US" sz="1600" b="0" dirty="0">
                          <a:solidFill>
                            <a:schemeClr val="tx1"/>
                          </a:solidFill>
                        </a:rPr>
                        <a:t>Full Connect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dirty="0">
                          <a:solidFill>
                            <a:schemeClr val="tx1"/>
                          </a:solidFill>
                        </a:rPr>
                        <a:t>Convolutional Layer</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412950"/>
                  </a:ext>
                </a:extLst>
              </a:tr>
              <a:tr h="977417">
                <a:tc>
                  <a:txBody>
                    <a:bodyPr/>
                    <a:lstStyle/>
                    <a:p>
                      <a:r>
                        <a:rPr lang="en-US" sz="1600" b="0" i="0" kern="1200" dirty="0">
                          <a:solidFill>
                            <a:schemeClr val="dk1"/>
                          </a:solidFill>
                          <a:effectLst/>
                          <a:latin typeface="+mn-lt"/>
                          <a:ea typeface="+mn-ea"/>
                          <a:cs typeface="+mn-cs"/>
                        </a:rPr>
                        <a:t>A fully connected layer is a type of neural network</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 layer where each neuron is connected to every neuron in the previous layer, enabling global feature learning.</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kern="1200" dirty="0">
                          <a:solidFill>
                            <a:schemeClr val="dk1"/>
                          </a:solidFill>
                          <a:effectLst/>
                          <a:latin typeface="+mn-lt"/>
                          <a:ea typeface="+mn-ea"/>
                          <a:cs typeface="+mn-cs"/>
                        </a:rPr>
                        <a:t>A convolutional layer, by contrast, uses filters that </a:t>
                      </a:r>
                    </a:p>
                    <a:p>
                      <a:endParaRPr lang="en-US" sz="1600" b="0" i="0" kern="1200" dirty="0">
                        <a:solidFill>
                          <a:schemeClr val="dk1"/>
                        </a:solidFill>
                        <a:effectLst/>
                        <a:latin typeface="+mn-lt"/>
                        <a:ea typeface="+mn-ea"/>
                        <a:cs typeface="+mn-cs"/>
                      </a:endParaRPr>
                    </a:p>
                    <a:p>
                      <a:r>
                        <a:rPr lang="en-US" sz="1600" b="0" i="0" kern="1200" dirty="0">
                          <a:solidFill>
                            <a:schemeClr val="dk1"/>
                          </a:solidFill>
                          <a:effectLst/>
                          <a:latin typeface="+mn-lt"/>
                          <a:ea typeface="+mn-ea"/>
                          <a:cs typeface="+mn-cs"/>
                        </a:rPr>
                        <a:t>connect only to local regions of the input, allowing it to detect spatial patterns like edges or textures while using fewer parameters.</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1454196"/>
                  </a:ext>
                </a:extLst>
              </a:tr>
              <a:tr h="1410101">
                <a:tc>
                  <a:txBody>
                    <a:bodyPr/>
                    <a:lstStyle/>
                    <a:p>
                      <a:r>
                        <a:rPr lang="en-US" sz="1600" b="0" i="0" kern="1200" dirty="0">
                          <a:solidFill>
                            <a:schemeClr val="dk1"/>
                          </a:solidFill>
                          <a:effectLst/>
                          <a:latin typeface="+mn-lt"/>
                          <a:ea typeface="+mn-ea"/>
                          <a:cs typeface="+mn-cs"/>
                        </a:rPr>
                        <a:t>If we take a layer in a fully connected neural network with an input size of nine and an output size of four, the operation can be visualized as follows</a:t>
                      </a:r>
                    </a:p>
                    <a:p>
                      <a:r>
                        <a:rPr lang="en-US" sz="1600" b="0" i="0" kern="1200" dirty="0">
                          <a:solidFill>
                            <a:schemeClr val="dk1"/>
                          </a:solidFill>
                          <a:effectLst/>
                          <a:latin typeface="+mn-lt"/>
                          <a:ea typeface="+mn-ea"/>
                          <a:cs typeface="+mn-cs"/>
                        </a:rPr>
                        <a:t>The input is a 1x9 vector, the weights matrix is a 9x4 matrix. By taking the dot product and applying the non-linear transformation with the activation function we get the output vector (1x4).</a:t>
                      </a:r>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965652"/>
                  </a:ext>
                </a:extLst>
              </a:tr>
            </a:tbl>
          </a:graphicData>
        </a:graphic>
      </p:graphicFrame>
      <p:sp>
        <p:nvSpPr>
          <p:cNvPr id="4" name="Slide Number Placeholder 3">
            <a:extLst>
              <a:ext uri="{FF2B5EF4-FFF2-40B4-BE49-F238E27FC236}">
                <a16:creationId xmlns:a16="http://schemas.microsoft.com/office/drawing/2014/main" id="{3D74A532-7720-4CBB-B4BB-24DC6B08FFC4}"/>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2" name="Picture 1">
            <a:extLst>
              <a:ext uri="{FF2B5EF4-FFF2-40B4-BE49-F238E27FC236}">
                <a16:creationId xmlns:a16="http://schemas.microsoft.com/office/drawing/2014/main" id="{DD93DAD2-627B-4E22-9B35-65F1262BB76C}"/>
              </a:ext>
            </a:extLst>
          </p:cNvPr>
          <p:cNvPicPr>
            <a:picLocks noChangeAspect="1"/>
          </p:cNvPicPr>
          <p:nvPr/>
        </p:nvPicPr>
        <p:blipFill rotWithShape="1">
          <a:blip r:embed="rId2"/>
          <a:srcRect l="26296" t="2366" r="26296" b="3589"/>
          <a:stretch/>
        </p:blipFill>
        <p:spPr>
          <a:xfrm>
            <a:off x="1447800" y="3902076"/>
            <a:ext cx="1757548" cy="2819400"/>
          </a:xfrm>
          <a:prstGeom prst="rect">
            <a:avLst/>
          </a:prstGeom>
        </p:spPr>
      </p:pic>
      <p:pic>
        <p:nvPicPr>
          <p:cNvPr id="3" name="Picture 2">
            <a:extLst>
              <a:ext uri="{FF2B5EF4-FFF2-40B4-BE49-F238E27FC236}">
                <a16:creationId xmlns:a16="http://schemas.microsoft.com/office/drawing/2014/main" id="{0AB20290-CC9A-4186-8B8E-3F9BB6BC459E}"/>
              </a:ext>
            </a:extLst>
          </p:cNvPr>
          <p:cNvPicPr>
            <a:picLocks noChangeAspect="1"/>
          </p:cNvPicPr>
          <p:nvPr/>
        </p:nvPicPr>
        <p:blipFill rotWithShape="1">
          <a:blip r:embed="rId3"/>
          <a:srcRect l="12534" t="13944" r="10494" b="13943"/>
          <a:stretch/>
        </p:blipFill>
        <p:spPr>
          <a:xfrm>
            <a:off x="6400800" y="1881111"/>
            <a:ext cx="3933208" cy="1614968"/>
          </a:xfrm>
          <a:prstGeom prst="rect">
            <a:avLst/>
          </a:prstGeom>
        </p:spPr>
      </p:pic>
      <p:pic>
        <p:nvPicPr>
          <p:cNvPr id="6" name="Picture 5">
            <a:extLst>
              <a:ext uri="{FF2B5EF4-FFF2-40B4-BE49-F238E27FC236}">
                <a16:creationId xmlns:a16="http://schemas.microsoft.com/office/drawing/2014/main" id="{1E12D326-8F4A-46A0-BBAE-9CA436D66562}"/>
              </a:ext>
            </a:extLst>
          </p:cNvPr>
          <p:cNvPicPr>
            <a:picLocks noChangeAspect="1"/>
          </p:cNvPicPr>
          <p:nvPr/>
        </p:nvPicPr>
        <p:blipFill rotWithShape="1">
          <a:blip r:embed="rId4"/>
          <a:srcRect l="22346" t="16917" r="21358" b="16917"/>
          <a:stretch/>
        </p:blipFill>
        <p:spPr>
          <a:xfrm>
            <a:off x="6210300" y="3810000"/>
            <a:ext cx="3429000" cy="1323474"/>
          </a:xfrm>
          <a:prstGeom prst="rect">
            <a:avLst/>
          </a:prstGeom>
        </p:spPr>
      </p:pic>
      <p:pic>
        <p:nvPicPr>
          <p:cNvPr id="8" name="Picture 7">
            <a:extLst>
              <a:ext uri="{FF2B5EF4-FFF2-40B4-BE49-F238E27FC236}">
                <a16:creationId xmlns:a16="http://schemas.microsoft.com/office/drawing/2014/main" id="{25263242-1678-4E9A-BAC9-33DBAF9FF735}"/>
              </a:ext>
            </a:extLst>
          </p:cNvPr>
          <p:cNvPicPr>
            <a:picLocks noChangeAspect="1"/>
          </p:cNvPicPr>
          <p:nvPr/>
        </p:nvPicPr>
        <p:blipFill rotWithShape="1">
          <a:blip r:embed="rId5"/>
          <a:srcRect l="23333" t="2000" r="27285"/>
          <a:stretch/>
        </p:blipFill>
        <p:spPr>
          <a:xfrm>
            <a:off x="9677400" y="3655543"/>
            <a:ext cx="1828800" cy="3136392"/>
          </a:xfrm>
          <a:prstGeom prst="rect">
            <a:avLst/>
          </a:prstGeom>
        </p:spPr>
      </p:pic>
    </p:spTree>
    <p:extLst>
      <p:ext uri="{BB962C8B-B14F-4D97-AF65-F5344CB8AC3E}">
        <p14:creationId xmlns:p14="http://schemas.microsoft.com/office/powerpoint/2010/main" val="3782198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038C-FB99-4646-9A2B-8EA2353C101C}"/>
              </a:ext>
            </a:extLst>
          </p:cNvPr>
          <p:cNvSpPr>
            <a:spLocks noGrp="1"/>
          </p:cNvSpPr>
          <p:nvPr>
            <p:ph type="title"/>
          </p:nvPr>
        </p:nvSpPr>
        <p:spPr/>
        <p:txBody>
          <a:bodyPr/>
          <a:lstStyle/>
          <a:p>
            <a:r>
              <a:rPr lang="en-US" sz="2400" dirty="0"/>
              <a:t>Convolution and Pooling as an Infinitely Strong Prior</a:t>
            </a:r>
            <a:endParaRPr lang="en-IN" sz="2400" dirty="0"/>
          </a:p>
        </p:txBody>
      </p:sp>
      <p:sp>
        <p:nvSpPr>
          <p:cNvPr id="3" name="Content Placeholder 2">
            <a:extLst>
              <a:ext uri="{FF2B5EF4-FFF2-40B4-BE49-F238E27FC236}">
                <a16:creationId xmlns:a16="http://schemas.microsoft.com/office/drawing/2014/main" id="{40940F66-F8D6-400F-8D5C-7A29A4DBB1CC}"/>
              </a:ext>
            </a:extLst>
          </p:cNvPr>
          <p:cNvSpPr>
            <a:spLocks noGrp="1"/>
          </p:cNvSpPr>
          <p:nvPr>
            <p:ph idx="1"/>
          </p:nvPr>
        </p:nvSpPr>
        <p:spPr/>
        <p:txBody>
          <a:bodyPr/>
          <a:lstStyle/>
          <a:p>
            <a:pPr marL="0" indent="0">
              <a:buNone/>
            </a:pPr>
            <a:r>
              <a:rPr lang="en-US" sz="2000" dirty="0"/>
              <a:t>What is a Prior in Machine Learning?</a:t>
            </a:r>
          </a:p>
          <a:p>
            <a:pPr marL="0" indent="0">
              <a:buNone/>
            </a:pPr>
            <a:r>
              <a:rPr lang="en-US" sz="2000" dirty="0"/>
              <a:t>In machine learning, a prior represents assumptions about the structure of the data before learning begins.</a:t>
            </a:r>
          </a:p>
          <a:p>
            <a:pPr marL="0" indent="0">
              <a:buNone/>
            </a:pPr>
            <a:endParaRPr lang="en-US" sz="2000" dirty="0"/>
          </a:p>
          <a:p>
            <a:pPr marL="0" indent="0">
              <a:buNone/>
            </a:pPr>
            <a:r>
              <a:rPr lang="en-US" sz="2000" dirty="0"/>
              <a:t>Examples of priors:</a:t>
            </a:r>
          </a:p>
          <a:p>
            <a:pPr marL="0" indent="0">
              <a:buNone/>
            </a:pPr>
            <a:r>
              <a:rPr lang="en-US" sz="2000" dirty="0"/>
              <a:t>Model	Prior Assumption</a:t>
            </a:r>
          </a:p>
          <a:p>
            <a:pPr marL="0" indent="0">
              <a:buNone/>
            </a:pPr>
            <a:r>
              <a:rPr lang="en-US" sz="2000" dirty="0"/>
              <a:t>Linear Regression: Relationship between variables is linear</a:t>
            </a:r>
          </a:p>
          <a:p>
            <a:pPr marL="0" indent="0">
              <a:buNone/>
            </a:pPr>
            <a:r>
              <a:rPr lang="en-US" sz="2000" dirty="0"/>
              <a:t>Decision Trees: Data can be split hierarchically</a:t>
            </a:r>
          </a:p>
          <a:p>
            <a:pPr marL="0" indent="0">
              <a:buNone/>
            </a:pPr>
            <a:r>
              <a:rPr lang="en-US" sz="2000" dirty="0"/>
              <a:t>CNN:	Images contain local patterns that repeat across space</a:t>
            </a:r>
            <a:endParaRPr lang="en-IN" sz="2000" dirty="0"/>
          </a:p>
        </p:txBody>
      </p:sp>
      <p:sp>
        <p:nvSpPr>
          <p:cNvPr id="4" name="Slide Number Placeholder 3">
            <a:extLst>
              <a:ext uri="{FF2B5EF4-FFF2-40B4-BE49-F238E27FC236}">
                <a16:creationId xmlns:a16="http://schemas.microsoft.com/office/drawing/2014/main" id="{BF67CF03-F3CC-4EF4-8DD4-9E812B1A7827}"/>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8873344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1A58-E66F-4B73-91FE-E8BF7236AEFC}"/>
              </a:ext>
            </a:extLst>
          </p:cNvPr>
          <p:cNvSpPr>
            <a:spLocks noGrp="1"/>
          </p:cNvSpPr>
          <p:nvPr>
            <p:ph type="title"/>
          </p:nvPr>
        </p:nvSpPr>
        <p:spPr/>
        <p:txBody>
          <a:bodyPr/>
          <a:lstStyle/>
          <a:p>
            <a:r>
              <a:rPr lang="en-IN" dirty="0"/>
              <a:t>Convolution as a Prior</a:t>
            </a:r>
          </a:p>
        </p:txBody>
      </p:sp>
      <p:sp>
        <p:nvSpPr>
          <p:cNvPr id="3" name="Content Placeholder 2">
            <a:extLst>
              <a:ext uri="{FF2B5EF4-FFF2-40B4-BE49-F238E27FC236}">
                <a16:creationId xmlns:a16="http://schemas.microsoft.com/office/drawing/2014/main" id="{56C3705D-2EE3-4726-92EA-523997618175}"/>
              </a:ext>
            </a:extLst>
          </p:cNvPr>
          <p:cNvSpPr>
            <a:spLocks noGrp="1"/>
          </p:cNvSpPr>
          <p:nvPr>
            <p:ph idx="1"/>
          </p:nvPr>
        </p:nvSpPr>
        <p:spPr/>
        <p:txBody>
          <a:bodyPr/>
          <a:lstStyle/>
          <a:p>
            <a:pPr marL="0" indent="0">
              <a:buNone/>
            </a:pPr>
            <a:r>
              <a:rPr lang="en-US" sz="1800" dirty="0"/>
              <a:t>Key Assumption (Prior): Features detected in one location of an image are useful in other locations as well.</a:t>
            </a:r>
          </a:p>
          <a:p>
            <a:pPr marL="0" indent="0">
              <a:buNone/>
            </a:pPr>
            <a:r>
              <a:rPr lang="en-US" sz="1800" dirty="0"/>
              <a:t>For example: An edge detector should work whether the edge appears top, bottom, or center of the image.</a:t>
            </a:r>
          </a:p>
          <a:p>
            <a:endParaRPr lang="en-US" sz="1800" dirty="0"/>
          </a:p>
          <a:p>
            <a:pPr marL="0" indent="0">
              <a:buNone/>
            </a:pPr>
            <a:r>
              <a:rPr lang="en-US" sz="1800" dirty="0"/>
              <a:t>How CNN Enforces This Prior: Through weight sharing.</a:t>
            </a:r>
          </a:p>
          <a:p>
            <a:pPr marL="0" indent="0">
              <a:buNone/>
            </a:pPr>
            <a:r>
              <a:rPr lang="en-US" sz="1800" dirty="0"/>
              <a:t>Instead of learning separate weights for every pixel location, CNN uses one filter applied everywhere.</a:t>
            </a:r>
          </a:p>
          <a:p>
            <a:endParaRPr lang="en-US" sz="1800" dirty="0"/>
          </a:p>
          <a:p>
            <a:pPr marL="0" indent="0">
              <a:buNone/>
            </a:pPr>
            <a:r>
              <a:rPr lang="en-US" sz="1800" dirty="0"/>
              <a:t>Fully Connected Layer (No Prior): Each pixel has independent weights.</a:t>
            </a:r>
          </a:p>
          <a:p>
            <a:pPr marL="0" indent="0">
              <a:buNone/>
            </a:pPr>
            <a:r>
              <a:rPr lang="en-US" sz="1800" dirty="0"/>
              <a:t>Example: For a 32×32 image:  32×32=1024 weights per neuron</a:t>
            </a:r>
          </a:p>
          <a:p>
            <a:endParaRPr lang="en-US" sz="1800" dirty="0"/>
          </a:p>
          <a:p>
            <a:pPr marL="0" indent="0">
              <a:buNone/>
            </a:pPr>
            <a:r>
              <a:rPr lang="en-US" sz="1800" dirty="0"/>
              <a:t>Convolution Layer (Strong Prior): A 3×3 filter: 3×3=9 weights This same filter is applied across the whole image.</a:t>
            </a:r>
          </a:p>
          <a:p>
            <a:pPr marL="0" indent="0">
              <a:buNone/>
            </a:pPr>
            <a:endParaRPr lang="en-US" sz="1800" dirty="0"/>
          </a:p>
          <a:p>
            <a:pPr marL="0" indent="0">
              <a:buNone/>
            </a:pPr>
            <a:r>
              <a:rPr lang="en-US" sz="1800" dirty="0"/>
              <a:t>Thus CNN assumes: The same feature can appear anywhere in the image.</a:t>
            </a:r>
            <a:endParaRPr lang="en-IN" sz="1800" dirty="0"/>
          </a:p>
        </p:txBody>
      </p:sp>
      <p:sp>
        <p:nvSpPr>
          <p:cNvPr id="4" name="Slide Number Placeholder 3">
            <a:extLst>
              <a:ext uri="{FF2B5EF4-FFF2-40B4-BE49-F238E27FC236}">
                <a16:creationId xmlns:a16="http://schemas.microsoft.com/office/drawing/2014/main" id="{42B8572F-20DD-4666-AA98-37EC1F42AAC8}"/>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25775098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9A30-4CBD-499D-A952-5DE1B32F7EC5}"/>
              </a:ext>
            </a:extLst>
          </p:cNvPr>
          <p:cNvSpPr>
            <a:spLocks noGrp="1"/>
          </p:cNvSpPr>
          <p:nvPr>
            <p:ph type="title"/>
          </p:nvPr>
        </p:nvSpPr>
        <p:spPr/>
        <p:txBody>
          <a:bodyPr/>
          <a:lstStyle/>
          <a:p>
            <a:r>
              <a:rPr lang="en-IN" dirty="0"/>
              <a:t>Convolution as a Prior</a:t>
            </a:r>
          </a:p>
        </p:txBody>
      </p:sp>
      <p:sp>
        <p:nvSpPr>
          <p:cNvPr id="3" name="Content Placeholder 2">
            <a:extLst>
              <a:ext uri="{FF2B5EF4-FFF2-40B4-BE49-F238E27FC236}">
                <a16:creationId xmlns:a16="http://schemas.microsoft.com/office/drawing/2014/main" id="{B5062734-08EE-4139-8B9E-BCB688835A55}"/>
              </a:ext>
            </a:extLst>
          </p:cNvPr>
          <p:cNvSpPr>
            <a:spLocks noGrp="1"/>
          </p:cNvSpPr>
          <p:nvPr>
            <p:ph idx="1"/>
          </p:nvPr>
        </p:nvSpPr>
        <p:spPr/>
        <p:txBody>
          <a:bodyPr/>
          <a:lstStyle/>
          <a:p>
            <a:pPr marL="0" indent="0">
              <a:buNone/>
            </a:pPr>
            <a:r>
              <a:rPr lang="en-US" sz="1600" dirty="0"/>
              <a:t>Why is it Called an "Infinitely Strong Prior"?</a:t>
            </a:r>
          </a:p>
          <a:p>
            <a:pPr marL="0" indent="0">
              <a:buNone/>
            </a:pPr>
            <a:r>
              <a:rPr lang="en-US" sz="1600" dirty="0"/>
              <a:t>In CNNs:</a:t>
            </a:r>
          </a:p>
          <a:p>
            <a:r>
              <a:rPr lang="en-US" sz="1600" dirty="0"/>
              <a:t>The model cannot learn different weights for different spatial locations.</a:t>
            </a:r>
          </a:p>
          <a:p>
            <a:r>
              <a:rPr lang="en-US" sz="1600" dirty="0"/>
              <a:t>The same filter must be used everywhere.</a:t>
            </a:r>
          </a:p>
          <a:p>
            <a:endParaRPr lang="en-US" sz="1600" dirty="0"/>
          </a:p>
          <a:p>
            <a:pPr marL="0" indent="0">
              <a:buNone/>
            </a:pPr>
            <a:r>
              <a:rPr lang="en-US" sz="1600" dirty="0"/>
              <a:t>Therefore:</a:t>
            </a:r>
          </a:p>
          <a:p>
            <a:r>
              <a:rPr lang="en-US" sz="1600" dirty="0"/>
              <a:t>The assumption of translation invariance is enforced strictly, not learned.</a:t>
            </a:r>
          </a:p>
          <a:p>
            <a:r>
              <a:rPr lang="en-US" sz="1600" dirty="0"/>
              <a:t>This is why convolution is called an infinitely strong prior.</a:t>
            </a:r>
            <a:endParaRPr lang="en-IN" sz="1600" dirty="0"/>
          </a:p>
        </p:txBody>
      </p:sp>
      <p:sp>
        <p:nvSpPr>
          <p:cNvPr id="4" name="Slide Number Placeholder 3">
            <a:extLst>
              <a:ext uri="{FF2B5EF4-FFF2-40B4-BE49-F238E27FC236}">
                <a16:creationId xmlns:a16="http://schemas.microsoft.com/office/drawing/2014/main" id="{9CF45FA4-9AEC-4944-A2F7-A5A0427B7D54}"/>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787557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DF1A6-DA49-4A61-B986-EF115F387903}"/>
              </a:ext>
            </a:extLst>
          </p:cNvPr>
          <p:cNvSpPr>
            <a:spLocks noGrp="1"/>
          </p:cNvSpPr>
          <p:nvPr>
            <p:ph type="title"/>
          </p:nvPr>
        </p:nvSpPr>
        <p:spPr/>
        <p:txBody>
          <a:bodyPr/>
          <a:lstStyle/>
          <a:p>
            <a:r>
              <a:rPr lang="en-IN" dirty="0"/>
              <a:t>Pooling as a Prior</a:t>
            </a:r>
          </a:p>
        </p:txBody>
      </p:sp>
      <p:sp>
        <p:nvSpPr>
          <p:cNvPr id="3" name="Content Placeholder 2">
            <a:extLst>
              <a:ext uri="{FF2B5EF4-FFF2-40B4-BE49-F238E27FC236}">
                <a16:creationId xmlns:a16="http://schemas.microsoft.com/office/drawing/2014/main" id="{CDD5E5B6-7DAA-40BF-ABAD-05968089C953}"/>
              </a:ext>
            </a:extLst>
          </p:cNvPr>
          <p:cNvSpPr>
            <a:spLocks noGrp="1"/>
          </p:cNvSpPr>
          <p:nvPr>
            <p:ph idx="1"/>
          </p:nvPr>
        </p:nvSpPr>
        <p:spPr/>
        <p:txBody>
          <a:bodyPr/>
          <a:lstStyle/>
          <a:p>
            <a:pPr marL="0" indent="0">
              <a:buNone/>
            </a:pPr>
            <a:r>
              <a:rPr lang="en-US" sz="1600" dirty="0"/>
              <a:t>Pooling introduces another strong assumption: Small changes in the position of features should not change the output significantly. This is called local translation invariance.</a:t>
            </a:r>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DF0493C0-4656-4508-B160-737C8F699286}"/>
              </a:ext>
            </a:extLst>
          </p:cNvPr>
          <p:cNvSpPr>
            <a:spLocks noGrp="1"/>
          </p:cNvSpPr>
          <p:nvPr>
            <p:ph type="sldNum" sz="quarter" idx="12"/>
          </p:nvPr>
        </p:nvSpPr>
        <p:spPr/>
        <p:txBody>
          <a:bodyPr/>
          <a:lstStyle/>
          <a:p>
            <a:fld id="{BB2CE0DE-867F-455F-B20B-96D381B4AB71}" type="slidenum">
              <a:rPr lang="en-US" smtClean="0"/>
              <a:t>68</a:t>
            </a:fld>
            <a:endParaRPr lang="en-US"/>
          </a:p>
        </p:txBody>
      </p:sp>
      <p:pic>
        <p:nvPicPr>
          <p:cNvPr id="6" name="Picture 5">
            <a:extLst>
              <a:ext uri="{FF2B5EF4-FFF2-40B4-BE49-F238E27FC236}">
                <a16:creationId xmlns:a16="http://schemas.microsoft.com/office/drawing/2014/main" id="{F7D43F3F-F959-43E0-A140-B133B7467801}"/>
              </a:ext>
            </a:extLst>
          </p:cNvPr>
          <p:cNvPicPr>
            <a:picLocks noChangeAspect="1"/>
          </p:cNvPicPr>
          <p:nvPr/>
        </p:nvPicPr>
        <p:blipFill>
          <a:blip r:embed="rId3"/>
          <a:stretch>
            <a:fillRect/>
          </a:stretch>
        </p:blipFill>
        <p:spPr>
          <a:xfrm>
            <a:off x="797406" y="1905000"/>
            <a:ext cx="4372585" cy="2715004"/>
          </a:xfrm>
          <a:prstGeom prst="rect">
            <a:avLst/>
          </a:prstGeom>
        </p:spPr>
      </p:pic>
    </p:spTree>
    <p:extLst>
      <p:ext uri="{BB962C8B-B14F-4D97-AF65-F5344CB8AC3E}">
        <p14:creationId xmlns:p14="http://schemas.microsoft.com/office/powerpoint/2010/main" val="9724178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576DB-9F15-472A-A9E9-E0F4E4538ADE}"/>
              </a:ext>
            </a:extLst>
          </p:cNvPr>
          <p:cNvSpPr>
            <a:spLocks noGrp="1"/>
          </p:cNvSpPr>
          <p:nvPr>
            <p:ph type="title"/>
          </p:nvPr>
        </p:nvSpPr>
        <p:spPr/>
        <p:txBody>
          <a:bodyPr/>
          <a:lstStyle/>
          <a:p>
            <a:r>
              <a:rPr lang="en-IN" dirty="0"/>
              <a:t>Convolution and Pooling as a Prior</a:t>
            </a:r>
          </a:p>
        </p:txBody>
      </p:sp>
      <p:sp>
        <p:nvSpPr>
          <p:cNvPr id="3" name="Content Placeholder 2">
            <a:extLst>
              <a:ext uri="{FF2B5EF4-FFF2-40B4-BE49-F238E27FC236}">
                <a16:creationId xmlns:a16="http://schemas.microsoft.com/office/drawing/2014/main" id="{47E0D756-4568-4A67-B97A-0751CEEE115B}"/>
              </a:ext>
            </a:extLst>
          </p:cNvPr>
          <p:cNvSpPr>
            <a:spLocks noGrp="1"/>
          </p:cNvSpPr>
          <p:nvPr>
            <p:ph idx="1"/>
          </p:nvPr>
        </p:nvSpPr>
        <p:spPr/>
        <p:txBody>
          <a:bodyPr/>
          <a:lstStyle/>
          <a:p>
            <a:pPr marL="0" indent="0">
              <a:buNone/>
            </a:pPr>
            <a:r>
              <a:rPr lang="en-US" sz="1400" b="1" dirty="0"/>
              <a:t>Example: Object Detection in Images </a:t>
            </a:r>
          </a:p>
          <a:p>
            <a:pPr marL="0" indent="0">
              <a:buNone/>
            </a:pPr>
            <a:r>
              <a:rPr lang="en-US" sz="1400" dirty="0"/>
              <a:t>Consider detecting </a:t>
            </a:r>
            <a:r>
              <a:rPr lang="en-US" sz="1400" b="1" dirty="0"/>
              <a:t>a cat in an image</a:t>
            </a:r>
            <a:r>
              <a:rPr lang="en-US" sz="1400" dirty="0"/>
              <a:t>.</a:t>
            </a:r>
          </a:p>
          <a:p>
            <a:pPr marL="0" indent="0">
              <a:buNone/>
            </a:pPr>
            <a:endParaRPr lang="en-US" sz="1400" b="1" dirty="0"/>
          </a:p>
          <a:p>
            <a:pPr marL="0" indent="0">
              <a:buNone/>
            </a:pPr>
            <a:r>
              <a:rPr lang="en-US" sz="1400" b="1" dirty="0"/>
              <a:t>Without Convolution Prior</a:t>
            </a:r>
          </a:p>
          <a:p>
            <a:pPr marL="0" indent="0">
              <a:buNone/>
            </a:pPr>
            <a:r>
              <a:rPr lang="en-US" sz="1400" dirty="0"/>
              <a:t>The network must learn separately:</a:t>
            </a:r>
          </a:p>
          <a:p>
            <a:pPr marL="0" indent="0">
              <a:buNone/>
            </a:pPr>
            <a:r>
              <a:rPr lang="en-US" sz="1400" dirty="0"/>
              <a:t>Cat at top-left </a:t>
            </a:r>
          </a:p>
          <a:p>
            <a:pPr marL="0" indent="0">
              <a:buNone/>
            </a:pPr>
            <a:r>
              <a:rPr lang="en-US" sz="1400" dirty="0"/>
              <a:t>Cat at center </a:t>
            </a:r>
          </a:p>
          <a:p>
            <a:pPr marL="0" indent="0">
              <a:buNone/>
            </a:pPr>
            <a:r>
              <a:rPr lang="en-US" sz="1400" dirty="0"/>
              <a:t>Cat at bottom-right </a:t>
            </a:r>
          </a:p>
          <a:p>
            <a:pPr marL="0" indent="0">
              <a:buNone/>
            </a:pPr>
            <a:r>
              <a:rPr lang="en-US" sz="1400" dirty="0"/>
              <a:t>This requires </a:t>
            </a:r>
            <a:r>
              <a:rPr lang="en-US" sz="1400" b="1" dirty="0"/>
              <a:t>huge number of parameters</a:t>
            </a:r>
            <a:r>
              <a:rPr lang="en-US" sz="1400" dirty="0"/>
              <a:t>.</a:t>
            </a:r>
          </a:p>
          <a:p>
            <a:pPr marL="0" indent="0">
              <a:buNone/>
            </a:pPr>
            <a:endParaRPr lang="en-US" sz="1400" b="1" dirty="0"/>
          </a:p>
          <a:p>
            <a:pPr marL="0" indent="0">
              <a:buNone/>
            </a:pPr>
            <a:r>
              <a:rPr lang="en-US" sz="1400" b="1" dirty="0"/>
              <a:t>With Convolution Prior</a:t>
            </a:r>
          </a:p>
          <a:p>
            <a:pPr marL="0" indent="0">
              <a:buNone/>
            </a:pPr>
            <a:r>
              <a:rPr lang="en-US" sz="1400" dirty="0"/>
              <a:t>The network learns </a:t>
            </a:r>
            <a:r>
              <a:rPr lang="en-US" sz="1400" b="1" dirty="0"/>
              <a:t>one cat feature detector</a:t>
            </a:r>
            <a:r>
              <a:rPr lang="en-US" sz="1400" dirty="0"/>
              <a:t>.</a:t>
            </a:r>
          </a:p>
          <a:p>
            <a:pPr marL="0" indent="0">
              <a:buNone/>
            </a:pPr>
            <a:r>
              <a:rPr lang="en-US" sz="1400" dirty="0"/>
              <a:t>That filter works </a:t>
            </a:r>
            <a:r>
              <a:rPr lang="en-US" sz="1400" b="1" dirty="0"/>
              <a:t>everywhere in the image</a:t>
            </a:r>
            <a:r>
              <a:rPr lang="en-US" sz="1400" dirty="0"/>
              <a:t>.</a:t>
            </a:r>
          </a:p>
          <a:p>
            <a:pPr marL="0" indent="0">
              <a:buNone/>
            </a:pPr>
            <a:endParaRPr lang="en-US" sz="1400" b="1" dirty="0"/>
          </a:p>
          <a:p>
            <a:pPr marL="0" indent="0">
              <a:buNone/>
            </a:pPr>
            <a:r>
              <a:rPr lang="en-US" sz="1400" b="1" dirty="0"/>
              <a:t>With Pooling</a:t>
            </a:r>
          </a:p>
          <a:p>
            <a:pPr marL="0" indent="0">
              <a:buNone/>
            </a:pPr>
            <a:r>
              <a:rPr lang="en-US" sz="1400" dirty="0"/>
              <a:t>Even if the cat shifts slightly:</a:t>
            </a:r>
          </a:p>
          <a:p>
            <a:pPr marL="0" indent="0">
              <a:buNone/>
            </a:pPr>
            <a:r>
              <a:rPr lang="en-US" sz="1400" dirty="0"/>
              <a:t>left , right , up, down </a:t>
            </a:r>
          </a:p>
          <a:p>
            <a:pPr marL="0" indent="0">
              <a:buNone/>
            </a:pPr>
            <a:r>
              <a:rPr lang="en-US" sz="1400" dirty="0"/>
              <a:t>The network still recognizes it.</a:t>
            </a:r>
          </a:p>
          <a:p>
            <a:pPr marL="0" indent="0">
              <a:buNone/>
            </a:pPr>
            <a:endParaRPr lang="en-IN" sz="1600" dirty="0"/>
          </a:p>
        </p:txBody>
      </p:sp>
      <p:sp>
        <p:nvSpPr>
          <p:cNvPr id="4" name="Slide Number Placeholder 3">
            <a:extLst>
              <a:ext uri="{FF2B5EF4-FFF2-40B4-BE49-F238E27FC236}">
                <a16:creationId xmlns:a16="http://schemas.microsoft.com/office/drawing/2014/main" id="{FBEB4633-6FC5-4A1E-8DFF-B2D47F06676C}"/>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2190102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5ED0E-C2B1-44A1-9685-FFE1A5F02AAA}"/>
              </a:ext>
            </a:extLst>
          </p:cNvPr>
          <p:cNvSpPr>
            <a:spLocks noGrp="1"/>
          </p:cNvSpPr>
          <p:nvPr>
            <p:ph type="title"/>
          </p:nvPr>
        </p:nvSpPr>
        <p:spPr/>
        <p:txBody>
          <a:bodyPr/>
          <a:lstStyle/>
          <a:p>
            <a:r>
              <a:rPr lang="en-IN" dirty="0"/>
              <a:t>Convolution and Pooling as a Prior</a:t>
            </a:r>
          </a:p>
        </p:txBody>
      </p:sp>
      <p:sp>
        <p:nvSpPr>
          <p:cNvPr id="3" name="Content Placeholder 2">
            <a:extLst>
              <a:ext uri="{FF2B5EF4-FFF2-40B4-BE49-F238E27FC236}">
                <a16:creationId xmlns:a16="http://schemas.microsoft.com/office/drawing/2014/main" id="{98CA9BE6-A974-4F13-91C6-C1BC42FD51BE}"/>
              </a:ext>
            </a:extLst>
          </p:cNvPr>
          <p:cNvSpPr>
            <a:spLocks noGrp="1"/>
          </p:cNvSpPr>
          <p:nvPr>
            <p:ph idx="1"/>
          </p:nvPr>
        </p:nvSpPr>
        <p:spPr/>
        <p:txBody>
          <a:bodyPr/>
          <a:lstStyle/>
          <a:p>
            <a:pPr marL="0" indent="0" algn="just">
              <a:buNone/>
            </a:pPr>
            <a:r>
              <a:rPr lang="en-US" sz="1800" dirty="0"/>
              <a:t>Convolution and pooling in CNN act as infinitely strong priors because they impose strict assumptions about image structure. </a:t>
            </a:r>
          </a:p>
          <a:p>
            <a:pPr marL="0" indent="0" algn="just">
              <a:buNone/>
            </a:pPr>
            <a:r>
              <a:rPr lang="en-US" sz="1800" dirty="0"/>
              <a:t>Convolution assumes that features learned in one location are useful across the entire image, implemented through weight sharing. </a:t>
            </a:r>
          </a:p>
          <a:p>
            <a:pPr marL="0" indent="0" algn="just">
              <a:buNone/>
            </a:pPr>
            <a:r>
              <a:rPr lang="en-US" sz="1800" dirty="0"/>
              <a:t>Pooling introduces local translation invariance, ensuring that small shifts in feature location do not affect detection. </a:t>
            </a:r>
          </a:p>
          <a:p>
            <a:pPr marL="0" indent="0" algn="just">
              <a:buNone/>
            </a:pPr>
            <a:r>
              <a:rPr lang="en-US" sz="1800" dirty="0"/>
              <a:t>These assumptions are built into the architecture and cannot be violated during training. As a result, CNNs require fewer parameters and generalize better for image data.</a:t>
            </a:r>
            <a:endParaRPr lang="en-IN" sz="1800" dirty="0"/>
          </a:p>
          <a:p>
            <a:pPr algn="just"/>
            <a:endParaRPr lang="en-IN" sz="1800" dirty="0"/>
          </a:p>
        </p:txBody>
      </p:sp>
      <p:sp>
        <p:nvSpPr>
          <p:cNvPr id="4" name="Slide Number Placeholder 3">
            <a:extLst>
              <a:ext uri="{FF2B5EF4-FFF2-40B4-BE49-F238E27FC236}">
                <a16:creationId xmlns:a16="http://schemas.microsoft.com/office/drawing/2014/main" id="{5062C6E1-B36F-4FD6-A702-3AA7C2CC0E4C}"/>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3790067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FA07-699E-4E2C-B611-017D5DC1829B}"/>
              </a:ext>
            </a:extLst>
          </p:cNvPr>
          <p:cNvSpPr>
            <a:spLocks noGrp="1"/>
          </p:cNvSpPr>
          <p:nvPr>
            <p:ph type="title"/>
          </p:nvPr>
        </p:nvSpPr>
        <p:spPr/>
        <p:txBody>
          <a:bodyPr/>
          <a:lstStyle/>
          <a:p>
            <a:r>
              <a:rPr lang="en-US" sz="2800" dirty="0"/>
              <a:t>Convolution and Pooling as an Infinitely Strong Prior</a:t>
            </a:r>
            <a:endParaRPr lang="en-IN" sz="2800" dirty="0"/>
          </a:p>
        </p:txBody>
      </p:sp>
      <p:sp>
        <p:nvSpPr>
          <p:cNvPr id="3" name="Content Placeholder 2">
            <a:extLst>
              <a:ext uri="{FF2B5EF4-FFF2-40B4-BE49-F238E27FC236}">
                <a16:creationId xmlns:a16="http://schemas.microsoft.com/office/drawing/2014/main" id="{7676596D-8B53-4215-B8F6-F44662F4FAB7}"/>
              </a:ext>
            </a:extLst>
          </p:cNvPr>
          <p:cNvSpPr>
            <a:spLocks noGrp="1"/>
          </p:cNvSpPr>
          <p:nvPr>
            <p:ph idx="1"/>
          </p:nvPr>
        </p:nvSpPr>
        <p:spPr/>
        <p:txBody>
          <a:bodyPr/>
          <a:lstStyle/>
          <a:p>
            <a:r>
              <a:rPr lang="en-US" sz="1800" dirty="0"/>
              <a:t>Convolution and pooling are considered an "infinitely strong prior" in convolutional neural networks (CNNs) because they force the model to assume features are locally connected, spatially invariant, and hierarchical. </a:t>
            </a:r>
          </a:p>
          <a:p>
            <a:r>
              <a:rPr lang="en-US" sz="1800" dirty="0"/>
              <a:t>Convolution (Local Interaction &amp; Translation Invariance): Convolution assumes that neighboring pixels are related and that features are shift-invariant. It enforces this by having adjacent units share the same weights (translated in space) and forcing non-local weights to be zero.</a:t>
            </a:r>
          </a:p>
          <a:p>
            <a:r>
              <a:rPr lang="en-US" sz="1800" dirty="0"/>
              <a:t>Pooling (Invariance to Small Translations): Pooling adds the assumption that the precise location of a feature is less important than its existence, making the network invariant to small input translations.</a:t>
            </a:r>
            <a:endParaRPr lang="en-IN" sz="1800" dirty="0"/>
          </a:p>
        </p:txBody>
      </p:sp>
      <p:sp>
        <p:nvSpPr>
          <p:cNvPr id="4" name="Slide Number Placeholder 3">
            <a:extLst>
              <a:ext uri="{FF2B5EF4-FFF2-40B4-BE49-F238E27FC236}">
                <a16:creationId xmlns:a16="http://schemas.microsoft.com/office/drawing/2014/main" id="{58AE22B5-44B9-4E26-A880-B5DA720D2990}"/>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32359930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5A59-F8BF-4B71-9065-680252F1417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D6504993-DD17-4C53-BF16-ED25289BFA55}"/>
              </a:ext>
            </a:extLst>
          </p:cNvPr>
          <p:cNvSpPr>
            <a:spLocks noGrp="1"/>
          </p:cNvSpPr>
          <p:nvPr>
            <p:ph idx="1"/>
          </p:nvPr>
        </p:nvSpPr>
        <p:spPr/>
        <p:txBody>
          <a:bodyPr/>
          <a:lstStyle/>
          <a:p>
            <a:r>
              <a:rPr lang="en-US" sz="2000" dirty="0"/>
              <a:t>Mention various priors and analyze the concept of viewing a convolutional network as a fully connected network with an infinitely strong prior. Examine how this perspective provides insights into convolutional networks' operation</a:t>
            </a:r>
          </a:p>
          <a:p>
            <a:endParaRPr lang="en-IN" sz="2000" dirty="0"/>
          </a:p>
        </p:txBody>
      </p:sp>
      <p:sp>
        <p:nvSpPr>
          <p:cNvPr id="4" name="Slide Number Placeholder 3">
            <a:extLst>
              <a:ext uri="{FF2B5EF4-FFF2-40B4-BE49-F238E27FC236}">
                <a16:creationId xmlns:a16="http://schemas.microsoft.com/office/drawing/2014/main" id="{27CE46EC-F8BB-455E-9203-0C1520C22D1B}"/>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42128116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4A49-4F20-46E9-AE06-4FF986560D5F}"/>
              </a:ext>
            </a:extLst>
          </p:cNvPr>
          <p:cNvSpPr>
            <a:spLocks noGrp="1"/>
          </p:cNvSpPr>
          <p:nvPr>
            <p:ph type="title"/>
          </p:nvPr>
        </p:nvSpPr>
        <p:spPr/>
        <p:txBody>
          <a:bodyPr/>
          <a:lstStyle/>
          <a:p>
            <a:r>
              <a:rPr lang="en-US" sz="3200" dirty="0">
                <a:solidFill>
                  <a:srgbClr val="262626"/>
                </a:solidFill>
                <a:latin typeface="Inter"/>
              </a:rPr>
              <a:t>Variants of the Basic Convolution Function</a:t>
            </a:r>
            <a:endParaRPr lang="en-IN" dirty="0"/>
          </a:p>
        </p:txBody>
      </p:sp>
      <p:sp>
        <p:nvSpPr>
          <p:cNvPr id="3" name="Content Placeholder 2">
            <a:extLst>
              <a:ext uri="{FF2B5EF4-FFF2-40B4-BE49-F238E27FC236}">
                <a16:creationId xmlns:a16="http://schemas.microsoft.com/office/drawing/2014/main" id="{367CC315-DD99-4798-9BE5-700DCC8FFA83}"/>
              </a:ext>
            </a:extLst>
          </p:cNvPr>
          <p:cNvSpPr>
            <a:spLocks noGrp="1"/>
          </p:cNvSpPr>
          <p:nvPr>
            <p:ph idx="1"/>
          </p:nvPr>
        </p:nvSpPr>
        <p:spPr/>
        <p:txBody>
          <a:bodyPr/>
          <a:lstStyle/>
          <a:p>
            <a:pPr algn="just"/>
            <a:r>
              <a:rPr lang="en-US" sz="1800" dirty="0"/>
              <a:t>First, when we refer to convolution in the context of neural networks, we usually actually mean an operation that consists of many applications of convolution in parallel. </a:t>
            </a:r>
          </a:p>
          <a:p>
            <a:pPr algn="just"/>
            <a:r>
              <a:rPr lang="en-US" sz="1800" dirty="0"/>
              <a:t>This is because convolution with a single kernel can only extract one kind of feature, although at many spatial locations. </a:t>
            </a:r>
          </a:p>
          <a:p>
            <a:pPr algn="just"/>
            <a:r>
              <a:rPr lang="en-US" sz="1800" dirty="0"/>
              <a:t>Usually we want each layer of our network to extract many kinds of features, at many locations.</a:t>
            </a:r>
            <a:endParaRPr lang="en-IN" sz="1800" dirty="0"/>
          </a:p>
        </p:txBody>
      </p:sp>
      <p:sp>
        <p:nvSpPr>
          <p:cNvPr id="4" name="Slide Number Placeholder 3">
            <a:extLst>
              <a:ext uri="{FF2B5EF4-FFF2-40B4-BE49-F238E27FC236}">
                <a16:creationId xmlns:a16="http://schemas.microsoft.com/office/drawing/2014/main" id="{A49EF99A-8A9D-4816-AB84-FAB8A380EC61}"/>
              </a:ext>
            </a:extLst>
          </p:cNvPr>
          <p:cNvSpPr>
            <a:spLocks noGrp="1"/>
          </p:cNvSpPr>
          <p:nvPr>
            <p:ph type="sldNum" sz="quarter" idx="12"/>
          </p:nvPr>
        </p:nvSpPr>
        <p:spPr/>
        <p:txBody>
          <a:bodyPr/>
          <a:lstStyle/>
          <a:p>
            <a:fld id="{BB2CE0DE-867F-455F-B20B-96D381B4AB71}" type="slidenum">
              <a:rPr lang="en-US" smtClean="0"/>
              <a:t>73</a:t>
            </a:fld>
            <a:endParaRPr lang="en-US"/>
          </a:p>
        </p:txBody>
      </p:sp>
    </p:spTree>
    <p:extLst>
      <p:ext uri="{BB962C8B-B14F-4D97-AF65-F5344CB8AC3E}">
        <p14:creationId xmlns:p14="http://schemas.microsoft.com/office/powerpoint/2010/main" val="942005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B300-E584-448F-9F9E-68738B3EB736}"/>
              </a:ext>
            </a:extLst>
          </p:cNvPr>
          <p:cNvSpPr>
            <a:spLocks noGrp="1"/>
          </p:cNvSpPr>
          <p:nvPr>
            <p:ph type="title"/>
          </p:nvPr>
        </p:nvSpPr>
        <p:spPr/>
        <p:txBody>
          <a:bodyPr/>
          <a:lstStyle/>
          <a:p>
            <a:r>
              <a:rPr lang="en-US" sz="2400" dirty="0">
                <a:solidFill>
                  <a:srgbClr val="262626"/>
                </a:solidFill>
                <a:latin typeface="Inter"/>
              </a:rPr>
              <a:t>Variants of the Basic Convolution Function:</a:t>
            </a:r>
            <a:br>
              <a:rPr lang="en-US" sz="2400" dirty="0">
                <a:solidFill>
                  <a:srgbClr val="262626"/>
                </a:solidFill>
                <a:latin typeface="Inter"/>
              </a:rPr>
            </a:br>
            <a:r>
              <a:rPr lang="en-US" sz="2400" b="1" dirty="0">
                <a:solidFill>
                  <a:srgbClr val="262626"/>
                </a:solidFill>
                <a:latin typeface="Inter"/>
              </a:rPr>
              <a:t>Equation to compute output feature map</a:t>
            </a:r>
            <a:endParaRPr lang="en-IN" sz="2400" b="1" dirty="0"/>
          </a:p>
        </p:txBody>
      </p:sp>
      <p:sp>
        <p:nvSpPr>
          <p:cNvPr id="4" name="Slide Number Placeholder 3">
            <a:extLst>
              <a:ext uri="{FF2B5EF4-FFF2-40B4-BE49-F238E27FC236}">
                <a16:creationId xmlns:a16="http://schemas.microsoft.com/office/drawing/2014/main" id="{06CEE433-5357-40CD-8BB9-35E57528C0A2}"/>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DBF7DC63-D605-47B2-926F-99EE31CE3821}"/>
              </a:ext>
            </a:extLst>
          </p:cNvPr>
          <p:cNvPicPr>
            <a:picLocks noChangeAspect="1"/>
          </p:cNvPicPr>
          <p:nvPr/>
        </p:nvPicPr>
        <p:blipFill>
          <a:blip r:embed="rId2"/>
          <a:stretch>
            <a:fillRect/>
          </a:stretch>
        </p:blipFill>
        <p:spPr>
          <a:xfrm>
            <a:off x="1371600" y="1295400"/>
            <a:ext cx="6052938" cy="1477328"/>
          </a:xfrm>
          <a:prstGeom prst="rect">
            <a:avLst/>
          </a:prstGeom>
        </p:spPr>
      </p:pic>
      <p:sp>
        <p:nvSpPr>
          <p:cNvPr id="7" name="TextBox 6">
            <a:extLst>
              <a:ext uri="{FF2B5EF4-FFF2-40B4-BE49-F238E27FC236}">
                <a16:creationId xmlns:a16="http://schemas.microsoft.com/office/drawing/2014/main" id="{9F84C327-BD67-4B57-802A-2B6280CD3BF6}"/>
              </a:ext>
            </a:extLst>
          </p:cNvPr>
          <p:cNvSpPr txBox="1"/>
          <p:nvPr/>
        </p:nvSpPr>
        <p:spPr>
          <a:xfrm>
            <a:off x="990600" y="3048000"/>
            <a:ext cx="7038978" cy="1477328"/>
          </a:xfrm>
          <a:prstGeom prst="rect">
            <a:avLst/>
          </a:prstGeom>
          <a:noFill/>
        </p:spPr>
        <p:txBody>
          <a:bodyPr wrap="none" rtlCol="0">
            <a:spAutoFit/>
          </a:bodyPr>
          <a:lstStyle/>
          <a:p>
            <a:r>
              <a:rPr lang="en-US" dirty="0"/>
              <a:t>This equation describes how a convolution layer computes </a:t>
            </a:r>
          </a:p>
          <a:p>
            <a:r>
              <a:rPr lang="en-US" dirty="0"/>
              <a:t>the output feature map when multiple channels exist.</a:t>
            </a:r>
          </a:p>
          <a:p>
            <a:endParaRPr lang="en-US" dirty="0"/>
          </a:p>
          <a:p>
            <a:r>
              <a:rPr lang="en-US" dirty="0"/>
              <a:t>Unlike simple convolution (single filter on a single image), </a:t>
            </a:r>
          </a:p>
          <a:p>
            <a:r>
              <a:rPr lang="en-US" dirty="0"/>
              <a:t>CNN filters operate across all input channels.</a:t>
            </a:r>
            <a:endParaRPr lang="en-IN" dirty="0"/>
          </a:p>
        </p:txBody>
      </p:sp>
    </p:spTree>
    <p:extLst>
      <p:ext uri="{BB962C8B-B14F-4D97-AF65-F5344CB8AC3E}">
        <p14:creationId xmlns:p14="http://schemas.microsoft.com/office/powerpoint/2010/main" val="10161507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F66DE-7E62-4A37-94DA-04F1D553A7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49FA66-3AA8-4FAB-8343-9D19E16F2147}"/>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1C152800-5896-4061-AE94-904074A2D075}"/>
              </a:ext>
            </a:extLst>
          </p:cNvPr>
          <p:cNvSpPr>
            <a:spLocks noGrp="1"/>
          </p:cNvSpPr>
          <p:nvPr>
            <p:ph type="sldNum" sz="quarter" idx="12"/>
          </p:nvPr>
        </p:nvSpPr>
        <p:spPr/>
        <p:txBody>
          <a:bodyPr/>
          <a:lstStyle/>
          <a:p>
            <a:fld id="{BB2CE0DE-867F-455F-B20B-96D381B4AB71}" type="slidenum">
              <a:rPr lang="en-US" smtClean="0"/>
              <a:t>75</a:t>
            </a:fld>
            <a:endParaRPr lang="en-US"/>
          </a:p>
        </p:txBody>
      </p:sp>
      <p:pic>
        <p:nvPicPr>
          <p:cNvPr id="5" name="Picture 4">
            <a:extLst>
              <a:ext uri="{FF2B5EF4-FFF2-40B4-BE49-F238E27FC236}">
                <a16:creationId xmlns:a16="http://schemas.microsoft.com/office/drawing/2014/main" id="{C3B1A001-B9E1-4C5B-A184-63854DB79071}"/>
              </a:ext>
            </a:extLst>
          </p:cNvPr>
          <p:cNvPicPr>
            <a:picLocks noChangeAspect="1"/>
          </p:cNvPicPr>
          <p:nvPr/>
        </p:nvPicPr>
        <p:blipFill>
          <a:blip r:embed="rId2"/>
          <a:stretch>
            <a:fillRect/>
          </a:stretch>
        </p:blipFill>
        <p:spPr>
          <a:xfrm>
            <a:off x="228600" y="20782"/>
            <a:ext cx="6052938" cy="1477328"/>
          </a:xfrm>
          <a:prstGeom prst="rect">
            <a:avLst/>
          </a:prstGeom>
        </p:spPr>
      </p:pic>
      <p:pic>
        <p:nvPicPr>
          <p:cNvPr id="7" name="Picture 6">
            <a:extLst>
              <a:ext uri="{FF2B5EF4-FFF2-40B4-BE49-F238E27FC236}">
                <a16:creationId xmlns:a16="http://schemas.microsoft.com/office/drawing/2014/main" id="{920136A5-86D4-4DD5-91E4-CA00F23F8C83}"/>
              </a:ext>
            </a:extLst>
          </p:cNvPr>
          <p:cNvPicPr>
            <a:picLocks noChangeAspect="1"/>
          </p:cNvPicPr>
          <p:nvPr/>
        </p:nvPicPr>
        <p:blipFill>
          <a:blip r:embed="rId3"/>
          <a:stretch>
            <a:fillRect/>
          </a:stretch>
        </p:blipFill>
        <p:spPr>
          <a:xfrm>
            <a:off x="6414432" y="34637"/>
            <a:ext cx="5365763" cy="6518563"/>
          </a:xfrm>
          <a:prstGeom prst="rect">
            <a:avLst/>
          </a:prstGeom>
        </p:spPr>
      </p:pic>
      <p:sp>
        <p:nvSpPr>
          <p:cNvPr id="8" name="TextBox 7">
            <a:extLst>
              <a:ext uri="{FF2B5EF4-FFF2-40B4-BE49-F238E27FC236}">
                <a16:creationId xmlns:a16="http://schemas.microsoft.com/office/drawing/2014/main" id="{B606D07E-5DA3-42E7-8F9D-F74636E464CA}"/>
              </a:ext>
            </a:extLst>
          </p:cNvPr>
          <p:cNvSpPr txBox="1"/>
          <p:nvPr/>
        </p:nvSpPr>
        <p:spPr>
          <a:xfrm>
            <a:off x="8153400" y="31173"/>
            <a:ext cx="718466" cy="369332"/>
          </a:xfrm>
          <a:prstGeom prst="rect">
            <a:avLst/>
          </a:prstGeom>
          <a:noFill/>
        </p:spPr>
        <p:txBody>
          <a:bodyPr wrap="none" rtlCol="0">
            <a:spAutoFit/>
          </a:bodyPr>
          <a:lstStyle/>
          <a:p>
            <a:r>
              <a:rPr lang="en-US" dirty="0"/>
              <a:t>(2D)</a:t>
            </a:r>
            <a:endParaRPr lang="en-IN" dirty="0"/>
          </a:p>
        </p:txBody>
      </p:sp>
    </p:spTree>
    <p:extLst>
      <p:ext uri="{BB962C8B-B14F-4D97-AF65-F5344CB8AC3E}">
        <p14:creationId xmlns:p14="http://schemas.microsoft.com/office/powerpoint/2010/main" val="16115482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152800-5896-4061-AE94-904074A2D075}"/>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5" name="Picture 4">
            <a:extLst>
              <a:ext uri="{FF2B5EF4-FFF2-40B4-BE49-F238E27FC236}">
                <a16:creationId xmlns:a16="http://schemas.microsoft.com/office/drawing/2014/main" id="{C3B1A001-B9E1-4C5B-A184-63854DB79071}"/>
              </a:ext>
            </a:extLst>
          </p:cNvPr>
          <p:cNvPicPr>
            <a:picLocks noChangeAspect="1"/>
          </p:cNvPicPr>
          <p:nvPr/>
        </p:nvPicPr>
        <p:blipFill>
          <a:blip r:embed="rId2"/>
          <a:stretch>
            <a:fillRect/>
          </a:stretch>
        </p:blipFill>
        <p:spPr>
          <a:xfrm>
            <a:off x="228600" y="20782"/>
            <a:ext cx="4724400" cy="1153075"/>
          </a:xfrm>
          <a:prstGeom prst="rect">
            <a:avLst/>
          </a:prstGeom>
        </p:spPr>
      </p:pic>
      <p:pic>
        <p:nvPicPr>
          <p:cNvPr id="3" name="Picture 2">
            <a:extLst>
              <a:ext uri="{FF2B5EF4-FFF2-40B4-BE49-F238E27FC236}">
                <a16:creationId xmlns:a16="http://schemas.microsoft.com/office/drawing/2014/main" id="{06719F4C-3219-4DD6-B6FB-D963398C1A2B}"/>
              </a:ext>
            </a:extLst>
          </p:cNvPr>
          <p:cNvPicPr>
            <a:picLocks noChangeAspect="1"/>
          </p:cNvPicPr>
          <p:nvPr/>
        </p:nvPicPr>
        <p:blipFill>
          <a:blip r:embed="rId3"/>
          <a:stretch>
            <a:fillRect/>
          </a:stretch>
        </p:blipFill>
        <p:spPr>
          <a:xfrm>
            <a:off x="5257800" y="20782"/>
            <a:ext cx="6733309" cy="6608618"/>
          </a:xfrm>
          <a:prstGeom prst="rect">
            <a:avLst/>
          </a:prstGeom>
        </p:spPr>
      </p:pic>
    </p:spTree>
    <p:extLst>
      <p:ext uri="{BB962C8B-B14F-4D97-AF65-F5344CB8AC3E}">
        <p14:creationId xmlns:p14="http://schemas.microsoft.com/office/powerpoint/2010/main" val="2798502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152800-5896-4061-AE94-904074A2D075}"/>
              </a:ext>
            </a:extLst>
          </p:cNvPr>
          <p:cNvSpPr>
            <a:spLocks noGrp="1"/>
          </p:cNvSpPr>
          <p:nvPr>
            <p:ph type="sldNum" sz="quarter" idx="12"/>
          </p:nvPr>
        </p:nvSpPr>
        <p:spPr/>
        <p:txBody>
          <a:bodyPr/>
          <a:lstStyle/>
          <a:p>
            <a:fld id="{BB2CE0DE-867F-455F-B20B-96D381B4AB71}" type="slidenum">
              <a:rPr lang="en-US" smtClean="0"/>
              <a:t>77</a:t>
            </a:fld>
            <a:endParaRPr lang="en-US"/>
          </a:p>
        </p:txBody>
      </p:sp>
      <p:pic>
        <p:nvPicPr>
          <p:cNvPr id="5" name="Picture 4">
            <a:extLst>
              <a:ext uri="{FF2B5EF4-FFF2-40B4-BE49-F238E27FC236}">
                <a16:creationId xmlns:a16="http://schemas.microsoft.com/office/drawing/2014/main" id="{C3B1A001-B9E1-4C5B-A184-63854DB79071}"/>
              </a:ext>
            </a:extLst>
          </p:cNvPr>
          <p:cNvPicPr>
            <a:picLocks noChangeAspect="1"/>
          </p:cNvPicPr>
          <p:nvPr/>
        </p:nvPicPr>
        <p:blipFill>
          <a:blip r:embed="rId2"/>
          <a:stretch>
            <a:fillRect/>
          </a:stretch>
        </p:blipFill>
        <p:spPr>
          <a:xfrm>
            <a:off x="228600" y="20782"/>
            <a:ext cx="6052938" cy="1477328"/>
          </a:xfrm>
          <a:prstGeom prst="rect">
            <a:avLst/>
          </a:prstGeom>
        </p:spPr>
      </p:pic>
      <p:pic>
        <p:nvPicPr>
          <p:cNvPr id="9" name="Picture 8">
            <a:extLst>
              <a:ext uri="{FF2B5EF4-FFF2-40B4-BE49-F238E27FC236}">
                <a16:creationId xmlns:a16="http://schemas.microsoft.com/office/drawing/2014/main" id="{B72F63A7-9015-4ABC-8C69-30FFE2989AF2}"/>
              </a:ext>
            </a:extLst>
          </p:cNvPr>
          <p:cNvPicPr>
            <a:picLocks noChangeAspect="1"/>
          </p:cNvPicPr>
          <p:nvPr/>
        </p:nvPicPr>
        <p:blipFill>
          <a:blip r:embed="rId3"/>
          <a:stretch>
            <a:fillRect/>
          </a:stretch>
        </p:blipFill>
        <p:spPr>
          <a:xfrm>
            <a:off x="6511246" y="0"/>
            <a:ext cx="4867954" cy="3353268"/>
          </a:xfrm>
          <a:prstGeom prst="rect">
            <a:avLst/>
          </a:prstGeom>
        </p:spPr>
      </p:pic>
      <p:pic>
        <p:nvPicPr>
          <p:cNvPr id="11" name="Picture 10">
            <a:extLst>
              <a:ext uri="{FF2B5EF4-FFF2-40B4-BE49-F238E27FC236}">
                <a16:creationId xmlns:a16="http://schemas.microsoft.com/office/drawing/2014/main" id="{CAB71CBD-A87F-44A8-B821-CC40D94E953F}"/>
              </a:ext>
            </a:extLst>
          </p:cNvPr>
          <p:cNvPicPr>
            <a:picLocks noChangeAspect="1"/>
          </p:cNvPicPr>
          <p:nvPr/>
        </p:nvPicPr>
        <p:blipFill>
          <a:blip r:embed="rId4"/>
          <a:stretch>
            <a:fillRect/>
          </a:stretch>
        </p:blipFill>
        <p:spPr>
          <a:xfrm>
            <a:off x="228600" y="2990374"/>
            <a:ext cx="5867400" cy="3653095"/>
          </a:xfrm>
          <a:prstGeom prst="rect">
            <a:avLst/>
          </a:prstGeom>
        </p:spPr>
      </p:pic>
    </p:spTree>
    <p:extLst>
      <p:ext uri="{BB962C8B-B14F-4D97-AF65-F5344CB8AC3E}">
        <p14:creationId xmlns:p14="http://schemas.microsoft.com/office/powerpoint/2010/main" val="6314782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3FC39F-0620-442D-ACCB-3F16BFB25459}"/>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035991EC-F532-45E2-A95C-7D5D89950092}"/>
              </a:ext>
            </a:extLst>
          </p:cNvPr>
          <p:cNvPicPr>
            <a:picLocks noChangeAspect="1"/>
          </p:cNvPicPr>
          <p:nvPr/>
        </p:nvPicPr>
        <p:blipFill>
          <a:blip r:embed="rId2"/>
          <a:stretch>
            <a:fillRect/>
          </a:stretch>
        </p:blipFill>
        <p:spPr>
          <a:xfrm>
            <a:off x="3352800" y="2057400"/>
            <a:ext cx="1352739" cy="1724266"/>
          </a:xfrm>
          <a:prstGeom prst="rect">
            <a:avLst/>
          </a:prstGeom>
        </p:spPr>
      </p:pic>
      <p:sp>
        <p:nvSpPr>
          <p:cNvPr id="7" name="TextBox 6">
            <a:extLst>
              <a:ext uri="{FF2B5EF4-FFF2-40B4-BE49-F238E27FC236}">
                <a16:creationId xmlns:a16="http://schemas.microsoft.com/office/drawing/2014/main" id="{3F05B575-5212-42C3-9979-CB4E9CEA399F}"/>
              </a:ext>
            </a:extLst>
          </p:cNvPr>
          <p:cNvSpPr txBox="1"/>
          <p:nvPr/>
        </p:nvSpPr>
        <p:spPr>
          <a:xfrm>
            <a:off x="2645564" y="1406601"/>
            <a:ext cx="2836482" cy="523220"/>
          </a:xfrm>
          <a:prstGeom prst="rect">
            <a:avLst/>
          </a:prstGeom>
          <a:noFill/>
        </p:spPr>
        <p:txBody>
          <a:bodyPr wrap="none" rtlCol="0">
            <a:spAutoFit/>
          </a:bodyPr>
          <a:lstStyle/>
          <a:p>
            <a:r>
              <a:rPr lang="en-IN" sz="1400" b="1" dirty="0"/>
              <a:t>Filter-1</a:t>
            </a:r>
            <a:r>
              <a:rPr lang="en-IN" sz="1400" dirty="0"/>
              <a:t>: For input channel-1</a:t>
            </a:r>
          </a:p>
          <a:p>
            <a:r>
              <a:rPr lang="en-IN" sz="1400" dirty="0"/>
              <a:t>            and Channel-2</a:t>
            </a:r>
          </a:p>
        </p:txBody>
      </p:sp>
      <p:pic>
        <p:nvPicPr>
          <p:cNvPr id="9" name="Picture 8">
            <a:extLst>
              <a:ext uri="{FF2B5EF4-FFF2-40B4-BE49-F238E27FC236}">
                <a16:creationId xmlns:a16="http://schemas.microsoft.com/office/drawing/2014/main" id="{222E8AA1-6E58-42D2-BCB0-2B6D6DFB6C4F}"/>
              </a:ext>
            </a:extLst>
          </p:cNvPr>
          <p:cNvPicPr>
            <a:picLocks noChangeAspect="1"/>
          </p:cNvPicPr>
          <p:nvPr/>
        </p:nvPicPr>
        <p:blipFill>
          <a:blip r:embed="rId3"/>
          <a:stretch>
            <a:fillRect/>
          </a:stretch>
        </p:blipFill>
        <p:spPr>
          <a:xfrm>
            <a:off x="3352800" y="4403477"/>
            <a:ext cx="1267002" cy="1600423"/>
          </a:xfrm>
          <a:prstGeom prst="rect">
            <a:avLst/>
          </a:prstGeom>
        </p:spPr>
      </p:pic>
      <p:sp>
        <p:nvSpPr>
          <p:cNvPr id="10" name="TextBox 9">
            <a:extLst>
              <a:ext uri="{FF2B5EF4-FFF2-40B4-BE49-F238E27FC236}">
                <a16:creationId xmlns:a16="http://schemas.microsoft.com/office/drawing/2014/main" id="{746BDBD3-99E9-4927-95C1-CB72F9AAB3B0}"/>
              </a:ext>
            </a:extLst>
          </p:cNvPr>
          <p:cNvSpPr txBox="1"/>
          <p:nvPr/>
        </p:nvSpPr>
        <p:spPr>
          <a:xfrm>
            <a:off x="2610928" y="3880257"/>
            <a:ext cx="2836482" cy="523220"/>
          </a:xfrm>
          <a:prstGeom prst="rect">
            <a:avLst/>
          </a:prstGeom>
          <a:noFill/>
        </p:spPr>
        <p:txBody>
          <a:bodyPr wrap="none" rtlCol="0">
            <a:spAutoFit/>
          </a:bodyPr>
          <a:lstStyle/>
          <a:p>
            <a:r>
              <a:rPr lang="en-IN" sz="1400" b="1" dirty="0"/>
              <a:t>Filter-2</a:t>
            </a:r>
            <a:r>
              <a:rPr lang="en-IN" sz="1400" dirty="0"/>
              <a:t>: For input channel-1</a:t>
            </a:r>
          </a:p>
          <a:p>
            <a:r>
              <a:rPr lang="en-IN" sz="1400" dirty="0"/>
              <a:t>            and Channel-2</a:t>
            </a:r>
          </a:p>
        </p:txBody>
      </p:sp>
      <p:sp>
        <p:nvSpPr>
          <p:cNvPr id="11" name="TextBox 10">
            <a:extLst>
              <a:ext uri="{FF2B5EF4-FFF2-40B4-BE49-F238E27FC236}">
                <a16:creationId xmlns:a16="http://schemas.microsoft.com/office/drawing/2014/main" id="{523CAD85-D8BE-4F9A-A446-F82624E78267}"/>
              </a:ext>
            </a:extLst>
          </p:cNvPr>
          <p:cNvSpPr txBox="1"/>
          <p:nvPr/>
        </p:nvSpPr>
        <p:spPr>
          <a:xfrm>
            <a:off x="2819400" y="159380"/>
            <a:ext cx="2235548" cy="830997"/>
          </a:xfrm>
          <a:prstGeom prst="rect">
            <a:avLst/>
          </a:prstGeom>
          <a:noFill/>
        </p:spPr>
        <p:txBody>
          <a:bodyPr wrap="none" rtlCol="0">
            <a:spAutoFit/>
          </a:bodyPr>
          <a:lstStyle/>
          <a:p>
            <a:r>
              <a:rPr lang="en-US" sz="1200" dirty="0"/>
              <a:t>Kernel Tensor (4D)</a:t>
            </a:r>
          </a:p>
          <a:p>
            <a:r>
              <a:rPr lang="en-US" sz="1200" dirty="0"/>
              <a:t>Since we have two filters, </a:t>
            </a:r>
          </a:p>
          <a:p>
            <a:r>
              <a:rPr lang="en-US" sz="1200" dirty="0"/>
              <a:t>each filter must span </a:t>
            </a:r>
          </a:p>
          <a:p>
            <a:r>
              <a:rPr lang="en-US" sz="1200" dirty="0"/>
              <a:t>both input channels.</a:t>
            </a:r>
            <a:endParaRPr lang="en-IN" sz="1200" dirty="0"/>
          </a:p>
        </p:txBody>
      </p:sp>
      <p:pic>
        <p:nvPicPr>
          <p:cNvPr id="13" name="Picture 12">
            <a:extLst>
              <a:ext uri="{FF2B5EF4-FFF2-40B4-BE49-F238E27FC236}">
                <a16:creationId xmlns:a16="http://schemas.microsoft.com/office/drawing/2014/main" id="{FE747941-C55B-4CA8-991F-8570917B62B6}"/>
              </a:ext>
            </a:extLst>
          </p:cNvPr>
          <p:cNvPicPr>
            <a:picLocks noChangeAspect="1"/>
          </p:cNvPicPr>
          <p:nvPr/>
        </p:nvPicPr>
        <p:blipFill>
          <a:blip r:embed="rId4"/>
          <a:stretch>
            <a:fillRect/>
          </a:stretch>
        </p:blipFill>
        <p:spPr>
          <a:xfrm>
            <a:off x="5054948" y="159380"/>
            <a:ext cx="1543265" cy="724001"/>
          </a:xfrm>
          <a:prstGeom prst="rect">
            <a:avLst/>
          </a:prstGeom>
        </p:spPr>
      </p:pic>
      <p:pic>
        <p:nvPicPr>
          <p:cNvPr id="15" name="Picture 14">
            <a:extLst>
              <a:ext uri="{FF2B5EF4-FFF2-40B4-BE49-F238E27FC236}">
                <a16:creationId xmlns:a16="http://schemas.microsoft.com/office/drawing/2014/main" id="{1662AA08-31B3-4D50-AEC8-F24B5C349FF7}"/>
              </a:ext>
            </a:extLst>
          </p:cNvPr>
          <p:cNvPicPr>
            <a:picLocks noChangeAspect="1"/>
          </p:cNvPicPr>
          <p:nvPr/>
        </p:nvPicPr>
        <p:blipFill>
          <a:blip r:embed="rId5"/>
          <a:stretch>
            <a:fillRect/>
          </a:stretch>
        </p:blipFill>
        <p:spPr>
          <a:xfrm>
            <a:off x="321056" y="2542934"/>
            <a:ext cx="1343212" cy="1724266"/>
          </a:xfrm>
          <a:prstGeom prst="rect">
            <a:avLst/>
          </a:prstGeom>
        </p:spPr>
      </p:pic>
      <p:sp>
        <p:nvSpPr>
          <p:cNvPr id="16" name="TextBox 15">
            <a:extLst>
              <a:ext uri="{FF2B5EF4-FFF2-40B4-BE49-F238E27FC236}">
                <a16:creationId xmlns:a16="http://schemas.microsoft.com/office/drawing/2014/main" id="{C2C12F83-8FC4-4CD4-85FB-19BD9E923DEE}"/>
              </a:ext>
            </a:extLst>
          </p:cNvPr>
          <p:cNvSpPr txBox="1"/>
          <p:nvPr/>
        </p:nvSpPr>
        <p:spPr>
          <a:xfrm>
            <a:off x="66158" y="1879981"/>
            <a:ext cx="2637260" cy="461665"/>
          </a:xfrm>
          <a:prstGeom prst="rect">
            <a:avLst/>
          </a:prstGeom>
          <a:noFill/>
        </p:spPr>
        <p:txBody>
          <a:bodyPr wrap="none" rtlCol="0">
            <a:spAutoFit/>
          </a:bodyPr>
          <a:lstStyle/>
          <a:p>
            <a:r>
              <a:rPr lang="en-IN" sz="1200" dirty="0"/>
              <a:t>Input tensor V (3D): Channel-1</a:t>
            </a:r>
          </a:p>
          <a:p>
            <a:r>
              <a:rPr lang="en-IN" sz="1200" dirty="0"/>
              <a:t>And Channel-2</a:t>
            </a:r>
          </a:p>
        </p:txBody>
      </p:sp>
      <p:sp>
        <p:nvSpPr>
          <p:cNvPr id="17" name="TextBox 16">
            <a:extLst>
              <a:ext uri="{FF2B5EF4-FFF2-40B4-BE49-F238E27FC236}">
                <a16:creationId xmlns:a16="http://schemas.microsoft.com/office/drawing/2014/main" id="{C8F58A4E-4022-4369-8551-ACDD14626DC9}"/>
              </a:ext>
            </a:extLst>
          </p:cNvPr>
          <p:cNvSpPr txBox="1"/>
          <p:nvPr/>
        </p:nvSpPr>
        <p:spPr>
          <a:xfrm>
            <a:off x="219549" y="199683"/>
            <a:ext cx="1991251" cy="461665"/>
          </a:xfrm>
          <a:prstGeom prst="rect">
            <a:avLst/>
          </a:prstGeom>
          <a:noFill/>
        </p:spPr>
        <p:txBody>
          <a:bodyPr wrap="none" rtlCol="0">
            <a:spAutoFit/>
          </a:bodyPr>
          <a:lstStyle/>
          <a:p>
            <a:r>
              <a:rPr lang="en-US" sz="1200" dirty="0"/>
              <a:t>Input has 2 channels, </a:t>
            </a:r>
          </a:p>
          <a:p>
            <a:r>
              <a:rPr lang="en-US" sz="1200" dirty="0"/>
              <a:t>each 2×2</a:t>
            </a:r>
            <a:endParaRPr lang="en-IN" sz="1200" dirty="0"/>
          </a:p>
        </p:txBody>
      </p:sp>
      <p:pic>
        <p:nvPicPr>
          <p:cNvPr id="19" name="Picture 18">
            <a:extLst>
              <a:ext uri="{FF2B5EF4-FFF2-40B4-BE49-F238E27FC236}">
                <a16:creationId xmlns:a16="http://schemas.microsoft.com/office/drawing/2014/main" id="{7247ADF0-D6C1-4D1D-962B-B0E64473CEC0}"/>
              </a:ext>
            </a:extLst>
          </p:cNvPr>
          <p:cNvPicPr>
            <a:picLocks noChangeAspect="1"/>
          </p:cNvPicPr>
          <p:nvPr/>
        </p:nvPicPr>
        <p:blipFill>
          <a:blip r:embed="rId6"/>
          <a:stretch>
            <a:fillRect/>
          </a:stretch>
        </p:blipFill>
        <p:spPr>
          <a:xfrm>
            <a:off x="286481" y="667205"/>
            <a:ext cx="1924319" cy="762106"/>
          </a:xfrm>
          <a:prstGeom prst="rect">
            <a:avLst/>
          </a:prstGeom>
        </p:spPr>
      </p:pic>
      <p:pic>
        <p:nvPicPr>
          <p:cNvPr id="21" name="Picture 20">
            <a:extLst>
              <a:ext uri="{FF2B5EF4-FFF2-40B4-BE49-F238E27FC236}">
                <a16:creationId xmlns:a16="http://schemas.microsoft.com/office/drawing/2014/main" id="{EFB4CA4E-6022-4BF5-B60F-E8469D681B8F}"/>
              </a:ext>
            </a:extLst>
          </p:cNvPr>
          <p:cNvPicPr>
            <a:picLocks noChangeAspect="1"/>
          </p:cNvPicPr>
          <p:nvPr/>
        </p:nvPicPr>
        <p:blipFill>
          <a:blip r:embed="rId7"/>
          <a:stretch>
            <a:fillRect/>
          </a:stretch>
        </p:blipFill>
        <p:spPr>
          <a:xfrm>
            <a:off x="5398531" y="1752601"/>
            <a:ext cx="3978766" cy="2019874"/>
          </a:xfrm>
          <a:prstGeom prst="rect">
            <a:avLst/>
          </a:prstGeom>
        </p:spPr>
      </p:pic>
      <p:pic>
        <p:nvPicPr>
          <p:cNvPr id="23" name="Picture 22">
            <a:extLst>
              <a:ext uri="{FF2B5EF4-FFF2-40B4-BE49-F238E27FC236}">
                <a16:creationId xmlns:a16="http://schemas.microsoft.com/office/drawing/2014/main" id="{F676082F-A952-47D9-84C0-B2040ACA4EDF}"/>
              </a:ext>
            </a:extLst>
          </p:cNvPr>
          <p:cNvPicPr>
            <a:picLocks noChangeAspect="1"/>
          </p:cNvPicPr>
          <p:nvPr/>
        </p:nvPicPr>
        <p:blipFill>
          <a:blip r:embed="rId8"/>
          <a:stretch>
            <a:fillRect/>
          </a:stretch>
        </p:blipFill>
        <p:spPr>
          <a:xfrm>
            <a:off x="5499364" y="4106862"/>
            <a:ext cx="3684598" cy="2370137"/>
          </a:xfrm>
          <a:prstGeom prst="rect">
            <a:avLst/>
          </a:prstGeom>
        </p:spPr>
      </p:pic>
      <p:pic>
        <p:nvPicPr>
          <p:cNvPr id="25" name="Picture 24">
            <a:extLst>
              <a:ext uri="{FF2B5EF4-FFF2-40B4-BE49-F238E27FC236}">
                <a16:creationId xmlns:a16="http://schemas.microsoft.com/office/drawing/2014/main" id="{6210D258-2246-49A1-A812-3FF96F892F9D}"/>
              </a:ext>
            </a:extLst>
          </p:cNvPr>
          <p:cNvPicPr>
            <a:picLocks noChangeAspect="1"/>
          </p:cNvPicPr>
          <p:nvPr/>
        </p:nvPicPr>
        <p:blipFill>
          <a:blip r:embed="rId9"/>
          <a:stretch>
            <a:fillRect/>
          </a:stretch>
        </p:blipFill>
        <p:spPr>
          <a:xfrm>
            <a:off x="10254637" y="3668263"/>
            <a:ext cx="857370" cy="543001"/>
          </a:xfrm>
          <a:prstGeom prst="rect">
            <a:avLst/>
          </a:prstGeom>
        </p:spPr>
      </p:pic>
      <p:sp>
        <p:nvSpPr>
          <p:cNvPr id="26" name="TextBox 25">
            <a:extLst>
              <a:ext uri="{FF2B5EF4-FFF2-40B4-BE49-F238E27FC236}">
                <a16:creationId xmlns:a16="http://schemas.microsoft.com/office/drawing/2014/main" id="{3C4A2818-0613-4EA7-9A46-88B72C8EE628}"/>
              </a:ext>
            </a:extLst>
          </p:cNvPr>
          <p:cNvSpPr txBox="1"/>
          <p:nvPr/>
        </p:nvSpPr>
        <p:spPr>
          <a:xfrm>
            <a:off x="9845681" y="1918398"/>
            <a:ext cx="2230098" cy="646331"/>
          </a:xfrm>
          <a:prstGeom prst="rect">
            <a:avLst/>
          </a:prstGeom>
          <a:noFill/>
        </p:spPr>
        <p:txBody>
          <a:bodyPr wrap="none" rtlCol="0">
            <a:spAutoFit/>
          </a:bodyPr>
          <a:lstStyle/>
          <a:p>
            <a:r>
              <a:rPr lang="en-US" sz="1200" dirty="0"/>
              <a:t>Output Tensor (3D):</a:t>
            </a:r>
          </a:p>
          <a:p>
            <a:r>
              <a:rPr lang="en-US" sz="1200" dirty="0"/>
              <a:t>Since we have 2 filters, </a:t>
            </a:r>
          </a:p>
          <a:p>
            <a:r>
              <a:rPr lang="en-US" sz="1200" dirty="0"/>
              <a:t>we obtain 2 feature maps.</a:t>
            </a:r>
          </a:p>
        </p:txBody>
      </p:sp>
      <p:pic>
        <p:nvPicPr>
          <p:cNvPr id="28" name="Picture 27">
            <a:extLst>
              <a:ext uri="{FF2B5EF4-FFF2-40B4-BE49-F238E27FC236}">
                <a16:creationId xmlns:a16="http://schemas.microsoft.com/office/drawing/2014/main" id="{4B691255-DE39-415B-857C-DACDE52EFF98}"/>
              </a:ext>
            </a:extLst>
          </p:cNvPr>
          <p:cNvPicPr>
            <a:picLocks noChangeAspect="1"/>
          </p:cNvPicPr>
          <p:nvPr/>
        </p:nvPicPr>
        <p:blipFill>
          <a:blip r:embed="rId10"/>
          <a:stretch>
            <a:fillRect/>
          </a:stretch>
        </p:blipFill>
        <p:spPr>
          <a:xfrm>
            <a:off x="10070290" y="2616364"/>
            <a:ext cx="1267002" cy="695422"/>
          </a:xfrm>
          <a:prstGeom prst="rect">
            <a:avLst/>
          </a:prstGeom>
        </p:spPr>
      </p:pic>
    </p:spTree>
    <p:extLst>
      <p:ext uri="{BB962C8B-B14F-4D97-AF65-F5344CB8AC3E}">
        <p14:creationId xmlns:p14="http://schemas.microsoft.com/office/powerpoint/2010/main" val="35919598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5D8-E81D-432C-A808-AABBA869000F}"/>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Stride</a:t>
            </a:r>
            <a:endParaRPr lang="en-IN" dirty="0"/>
          </a:p>
        </p:txBody>
      </p:sp>
      <p:sp>
        <p:nvSpPr>
          <p:cNvPr id="3" name="Content Placeholder 2">
            <a:extLst>
              <a:ext uri="{FF2B5EF4-FFF2-40B4-BE49-F238E27FC236}">
                <a16:creationId xmlns:a16="http://schemas.microsoft.com/office/drawing/2014/main" id="{87132660-C4C5-4843-A7E3-2E1619213AFC}"/>
              </a:ext>
            </a:extLst>
          </p:cNvPr>
          <p:cNvSpPr>
            <a:spLocks noGrp="1"/>
          </p:cNvSpPr>
          <p:nvPr>
            <p:ph idx="1"/>
          </p:nvPr>
        </p:nvSpPr>
        <p:spPr/>
        <p:txBody>
          <a:bodyPr/>
          <a:lstStyle/>
          <a:p>
            <a:pPr marL="0" indent="0">
              <a:buNone/>
            </a:pPr>
            <a:r>
              <a:rPr lang="en-US" sz="1600" dirty="0"/>
              <a:t>Normally in convolution, the filter moves one pixel at a time across the image.</a:t>
            </a:r>
          </a:p>
          <a:p>
            <a:pPr marL="0" indent="0">
              <a:buNone/>
            </a:pPr>
            <a:r>
              <a:rPr lang="en-US" sz="1600" dirty="0"/>
              <a:t>This is called: Stride = 1</a:t>
            </a:r>
          </a:p>
          <a:p>
            <a:pPr marL="0" indent="0">
              <a:buNone/>
            </a:pPr>
            <a:endParaRPr lang="en-US" sz="1600" dirty="0"/>
          </a:p>
          <a:p>
            <a:pPr marL="0" indent="0">
              <a:buNone/>
            </a:pPr>
            <a:r>
              <a:rPr lang="en-US" sz="1600" dirty="0"/>
              <a:t>But sometimes we intentionally skip some positions to reduce computation.</a:t>
            </a:r>
          </a:p>
          <a:p>
            <a:pPr marL="0" indent="0">
              <a:buNone/>
            </a:pPr>
            <a:r>
              <a:rPr lang="en-US" sz="1600" dirty="0"/>
              <a:t>This skipping distance is called stride (s).</a:t>
            </a:r>
          </a:p>
          <a:p>
            <a:pPr marL="0" indent="0">
              <a:buNone/>
            </a:pPr>
            <a:r>
              <a:rPr lang="en-US" sz="1600" dirty="0"/>
              <a:t>Example:</a:t>
            </a:r>
          </a:p>
          <a:p>
            <a:pPr marL="0" indent="0">
              <a:buNone/>
            </a:pPr>
            <a:r>
              <a:rPr lang="en-US" sz="1600" dirty="0"/>
              <a:t>Stride	Movement</a:t>
            </a:r>
          </a:p>
          <a:p>
            <a:pPr marL="0" indent="0">
              <a:buNone/>
            </a:pPr>
            <a:r>
              <a:rPr lang="en-US" sz="1600" dirty="0"/>
              <a:t>s = 1	move 1 pixel</a:t>
            </a:r>
          </a:p>
          <a:p>
            <a:pPr marL="0" indent="0">
              <a:buNone/>
            </a:pPr>
            <a:r>
              <a:rPr lang="en-US" sz="1600" dirty="0"/>
              <a:t>s = 2	move 2 pixels</a:t>
            </a:r>
          </a:p>
          <a:p>
            <a:pPr marL="0" indent="0">
              <a:buNone/>
            </a:pPr>
            <a:r>
              <a:rPr lang="en-US" sz="1600" dirty="0"/>
              <a:t>s = 3	move 3 pixels</a:t>
            </a:r>
            <a:endParaRPr lang="en-IN" sz="1600" dirty="0"/>
          </a:p>
        </p:txBody>
      </p:sp>
      <p:sp>
        <p:nvSpPr>
          <p:cNvPr id="4" name="Slide Number Placeholder 3">
            <a:extLst>
              <a:ext uri="{FF2B5EF4-FFF2-40B4-BE49-F238E27FC236}">
                <a16:creationId xmlns:a16="http://schemas.microsoft.com/office/drawing/2014/main" id="{9349EEBE-4EC6-4715-BE75-422B3736F1E8}"/>
              </a:ext>
            </a:extLst>
          </p:cNvPr>
          <p:cNvSpPr>
            <a:spLocks noGrp="1"/>
          </p:cNvSpPr>
          <p:nvPr>
            <p:ph type="sldNum" sz="quarter" idx="12"/>
          </p:nvPr>
        </p:nvSpPr>
        <p:spPr/>
        <p:txBody>
          <a:bodyPr/>
          <a:lstStyle/>
          <a:p>
            <a:fld id="{BB2CE0DE-867F-455F-B20B-96D381B4AB71}" type="slidenum">
              <a:rPr lang="en-US" smtClean="0"/>
              <a:t>79</a:t>
            </a:fld>
            <a:endParaRPr lang="en-US"/>
          </a:p>
        </p:txBody>
      </p:sp>
    </p:spTree>
    <p:extLst>
      <p:ext uri="{BB962C8B-B14F-4D97-AF65-F5344CB8AC3E}">
        <p14:creationId xmlns:p14="http://schemas.microsoft.com/office/powerpoint/2010/main" val="20860471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5D8-E81D-432C-A808-AABBA869000F}"/>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Stride</a:t>
            </a:r>
            <a:endParaRPr lang="en-IN" dirty="0"/>
          </a:p>
        </p:txBody>
      </p:sp>
      <p:sp>
        <p:nvSpPr>
          <p:cNvPr id="3" name="Content Placeholder 2">
            <a:extLst>
              <a:ext uri="{FF2B5EF4-FFF2-40B4-BE49-F238E27FC236}">
                <a16:creationId xmlns:a16="http://schemas.microsoft.com/office/drawing/2014/main" id="{87132660-C4C5-4843-A7E3-2E1619213AFC}"/>
              </a:ext>
            </a:extLst>
          </p:cNvPr>
          <p:cNvSpPr>
            <a:spLocks noGrp="1"/>
          </p:cNvSpPr>
          <p:nvPr>
            <p:ph idx="1"/>
          </p:nvPr>
        </p:nvSpPr>
        <p:spPr/>
        <p:txBody>
          <a:bodyPr/>
          <a:lstStyle/>
          <a:p>
            <a:pPr marL="0" indent="0">
              <a:buNone/>
            </a:pPr>
            <a:r>
              <a:rPr lang="en-US" sz="1600" dirty="0"/>
              <a:t>Normally in convolution, the filter moves one pixel at a time across the image.</a:t>
            </a:r>
          </a:p>
          <a:p>
            <a:pPr marL="0" indent="0">
              <a:buNone/>
            </a:pPr>
            <a:r>
              <a:rPr lang="en-US" sz="1600" dirty="0"/>
              <a:t>This is called: Stride = 1</a:t>
            </a:r>
          </a:p>
          <a:p>
            <a:pPr marL="0" indent="0">
              <a:buNone/>
            </a:pPr>
            <a:endParaRPr lang="en-US" sz="1600" dirty="0"/>
          </a:p>
          <a:p>
            <a:pPr marL="0" indent="0">
              <a:buNone/>
            </a:pPr>
            <a:r>
              <a:rPr lang="en-US" sz="1600" dirty="0"/>
              <a:t>But sometimes we intentionally skip some positions to reduce computation.</a:t>
            </a:r>
          </a:p>
          <a:p>
            <a:pPr marL="0" indent="0">
              <a:buNone/>
            </a:pPr>
            <a:r>
              <a:rPr lang="en-US" sz="1600" dirty="0"/>
              <a:t>This skipping distance is called stride (s).</a:t>
            </a:r>
          </a:p>
          <a:p>
            <a:pPr marL="0" indent="0">
              <a:buNone/>
            </a:pPr>
            <a:r>
              <a:rPr lang="en-US" sz="1600" dirty="0"/>
              <a:t>Example:</a:t>
            </a:r>
          </a:p>
          <a:p>
            <a:pPr marL="0" indent="0">
              <a:buNone/>
            </a:pPr>
            <a:r>
              <a:rPr lang="en-US" sz="1600" dirty="0"/>
              <a:t>Stride	Movement</a:t>
            </a:r>
          </a:p>
          <a:p>
            <a:pPr marL="0" indent="0">
              <a:buNone/>
            </a:pPr>
            <a:r>
              <a:rPr lang="en-US" sz="1600" dirty="0"/>
              <a:t>s = 1	move 1 pixel</a:t>
            </a:r>
          </a:p>
          <a:p>
            <a:pPr marL="0" indent="0">
              <a:buNone/>
            </a:pPr>
            <a:r>
              <a:rPr lang="en-US" sz="1600" dirty="0"/>
              <a:t>s = 2	move 2 pixels</a:t>
            </a:r>
          </a:p>
          <a:p>
            <a:pPr marL="0" indent="0">
              <a:buNone/>
            </a:pPr>
            <a:r>
              <a:rPr lang="en-US" sz="1600" dirty="0"/>
              <a:t>s = 3	move 3 pixels</a:t>
            </a:r>
            <a:endParaRPr lang="en-IN" sz="1600" dirty="0"/>
          </a:p>
        </p:txBody>
      </p:sp>
      <p:sp>
        <p:nvSpPr>
          <p:cNvPr id="4" name="Slide Number Placeholder 3">
            <a:extLst>
              <a:ext uri="{FF2B5EF4-FFF2-40B4-BE49-F238E27FC236}">
                <a16:creationId xmlns:a16="http://schemas.microsoft.com/office/drawing/2014/main" id="{9349EEBE-4EC6-4715-BE75-422B3736F1E8}"/>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11" name="Picture 10">
            <a:extLst>
              <a:ext uri="{FF2B5EF4-FFF2-40B4-BE49-F238E27FC236}">
                <a16:creationId xmlns:a16="http://schemas.microsoft.com/office/drawing/2014/main" id="{0AAF6C6F-02C0-48E5-A0C4-87726BADBA48}"/>
              </a:ext>
            </a:extLst>
          </p:cNvPr>
          <p:cNvPicPr>
            <a:picLocks noChangeAspect="1"/>
          </p:cNvPicPr>
          <p:nvPr/>
        </p:nvPicPr>
        <p:blipFill>
          <a:blip r:embed="rId2"/>
          <a:stretch>
            <a:fillRect/>
          </a:stretch>
        </p:blipFill>
        <p:spPr>
          <a:xfrm>
            <a:off x="4343400" y="3323817"/>
            <a:ext cx="6916115" cy="2924583"/>
          </a:xfrm>
          <a:prstGeom prst="rect">
            <a:avLst/>
          </a:prstGeom>
        </p:spPr>
      </p:pic>
      <p:sp>
        <p:nvSpPr>
          <p:cNvPr id="12" name="TextBox 11">
            <a:extLst>
              <a:ext uri="{FF2B5EF4-FFF2-40B4-BE49-F238E27FC236}">
                <a16:creationId xmlns:a16="http://schemas.microsoft.com/office/drawing/2014/main" id="{0E16B09E-9520-4FA1-A337-E5E9A65E6FFC}"/>
              </a:ext>
            </a:extLst>
          </p:cNvPr>
          <p:cNvSpPr txBox="1"/>
          <p:nvPr/>
        </p:nvSpPr>
        <p:spPr>
          <a:xfrm>
            <a:off x="4495800" y="6437784"/>
            <a:ext cx="5371983" cy="230832"/>
          </a:xfrm>
          <a:prstGeom prst="rect">
            <a:avLst/>
          </a:prstGeom>
          <a:noFill/>
        </p:spPr>
        <p:txBody>
          <a:bodyPr wrap="none" rtlCol="0">
            <a:spAutoFit/>
          </a:bodyPr>
          <a:lstStyle/>
          <a:p>
            <a:r>
              <a:rPr lang="en-US" sz="900" dirty="0"/>
              <a:t>Ref.: https://medium.com/@akp83540/stride-of-a-convolution-operation-05bc7365d91c</a:t>
            </a:r>
            <a:endParaRPr lang="en-IN" sz="900" dirty="0"/>
          </a:p>
        </p:txBody>
      </p:sp>
    </p:spTree>
    <p:extLst>
      <p:ext uri="{BB962C8B-B14F-4D97-AF65-F5344CB8AC3E}">
        <p14:creationId xmlns:p14="http://schemas.microsoft.com/office/powerpoint/2010/main" val="31306975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5D8-E81D-432C-A808-AABBA869000F}"/>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Stride</a:t>
            </a:r>
            <a:endParaRPr lang="en-IN" dirty="0"/>
          </a:p>
        </p:txBody>
      </p:sp>
      <p:sp>
        <p:nvSpPr>
          <p:cNvPr id="4" name="Slide Number Placeholder 3">
            <a:extLst>
              <a:ext uri="{FF2B5EF4-FFF2-40B4-BE49-F238E27FC236}">
                <a16:creationId xmlns:a16="http://schemas.microsoft.com/office/drawing/2014/main" id="{9349EEBE-4EC6-4715-BE75-422B3736F1E8}"/>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1E8BBA96-E1A5-4FE4-A1F5-5DAE619DE161}"/>
              </a:ext>
            </a:extLst>
          </p:cNvPr>
          <p:cNvPicPr>
            <a:picLocks noChangeAspect="1"/>
          </p:cNvPicPr>
          <p:nvPr/>
        </p:nvPicPr>
        <p:blipFill>
          <a:blip r:embed="rId2"/>
          <a:stretch>
            <a:fillRect/>
          </a:stretch>
        </p:blipFill>
        <p:spPr>
          <a:xfrm>
            <a:off x="628440" y="2787158"/>
            <a:ext cx="4503949" cy="1283683"/>
          </a:xfrm>
          <a:prstGeom prst="rect">
            <a:avLst/>
          </a:prstGeom>
        </p:spPr>
      </p:pic>
      <p:pic>
        <p:nvPicPr>
          <p:cNvPr id="8" name="Picture 7">
            <a:extLst>
              <a:ext uri="{FF2B5EF4-FFF2-40B4-BE49-F238E27FC236}">
                <a16:creationId xmlns:a16="http://schemas.microsoft.com/office/drawing/2014/main" id="{E0158C6D-451A-4D18-AF9B-5A29A73D9CD8}"/>
              </a:ext>
            </a:extLst>
          </p:cNvPr>
          <p:cNvPicPr>
            <a:picLocks noChangeAspect="1"/>
          </p:cNvPicPr>
          <p:nvPr/>
        </p:nvPicPr>
        <p:blipFill>
          <a:blip r:embed="rId3"/>
          <a:stretch>
            <a:fillRect/>
          </a:stretch>
        </p:blipFill>
        <p:spPr>
          <a:xfrm>
            <a:off x="5678331" y="1260102"/>
            <a:ext cx="5820797" cy="3921497"/>
          </a:xfrm>
          <a:prstGeom prst="rect">
            <a:avLst/>
          </a:prstGeom>
        </p:spPr>
      </p:pic>
      <p:sp>
        <p:nvSpPr>
          <p:cNvPr id="9" name="TextBox 8">
            <a:extLst>
              <a:ext uri="{FF2B5EF4-FFF2-40B4-BE49-F238E27FC236}">
                <a16:creationId xmlns:a16="http://schemas.microsoft.com/office/drawing/2014/main" id="{50A238D9-425D-488D-A1C8-11ACD706C32B}"/>
              </a:ext>
            </a:extLst>
          </p:cNvPr>
          <p:cNvSpPr txBox="1"/>
          <p:nvPr/>
        </p:nvSpPr>
        <p:spPr>
          <a:xfrm>
            <a:off x="766233" y="4234513"/>
            <a:ext cx="3820213" cy="738664"/>
          </a:xfrm>
          <a:prstGeom prst="rect">
            <a:avLst/>
          </a:prstGeom>
          <a:noFill/>
        </p:spPr>
        <p:txBody>
          <a:bodyPr wrap="none" rtlCol="0">
            <a:spAutoFit/>
          </a:bodyPr>
          <a:lstStyle/>
          <a:p>
            <a:pPr algn="ctr"/>
            <a:r>
              <a:rPr lang="en-US" sz="1400" dirty="0"/>
              <a:t>(j−1)s, (k−1)s</a:t>
            </a:r>
          </a:p>
          <a:p>
            <a:pPr algn="ctr"/>
            <a:r>
              <a:rPr lang="en-US" sz="1400" dirty="0"/>
              <a:t>This shows the kernel jumps </a:t>
            </a:r>
          </a:p>
          <a:p>
            <a:pPr algn="ctr"/>
            <a:r>
              <a:rPr lang="en-US" sz="1400" dirty="0"/>
              <a:t>by </a:t>
            </a:r>
            <a:r>
              <a:rPr lang="en-US" sz="1400" b="1" dirty="0"/>
              <a:t>s</a:t>
            </a:r>
            <a:r>
              <a:rPr lang="en-US" sz="1400" dirty="0"/>
              <a:t> pixels instead of moving by 1 pixel.</a:t>
            </a:r>
            <a:endParaRPr lang="en-IN" sz="1400" dirty="0"/>
          </a:p>
        </p:txBody>
      </p:sp>
      <p:sp>
        <p:nvSpPr>
          <p:cNvPr id="5" name="TextBox 4">
            <a:extLst>
              <a:ext uri="{FF2B5EF4-FFF2-40B4-BE49-F238E27FC236}">
                <a16:creationId xmlns:a16="http://schemas.microsoft.com/office/drawing/2014/main" id="{7BA14CA1-9DCB-41B2-B07A-C2ABF9CD2BE3}"/>
              </a:ext>
            </a:extLst>
          </p:cNvPr>
          <p:cNvSpPr txBox="1"/>
          <p:nvPr/>
        </p:nvSpPr>
        <p:spPr>
          <a:xfrm>
            <a:off x="199599" y="1884822"/>
            <a:ext cx="5509906" cy="738664"/>
          </a:xfrm>
          <a:prstGeom prst="rect">
            <a:avLst/>
          </a:prstGeom>
          <a:noFill/>
        </p:spPr>
        <p:txBody>
          <a:bodyPr wrap="none" rtlCol="0">
            <a:spAutoFit/>
          </a:bodyPr>
          <a:lstStyle/>
          <a:p>
            <a:r>
              <a:rPr lang="en-US" sz="1400" dirty="0"/>
              <a:t>This equation describes how a convolution layer computes </a:t>
            </a:r>
          </a:p>
          <a:p>
            <a:r>
              <a:rPr lang="en-US" sz="1400" dirty="0"/>
              <a:t>the output feature map when multiple channels exist </a:t>
            </a:r>
          </a:p>
          <a:p>
            <a:r>
              <a:rPr lang="en-US" sz="1400" dirty="0"/>
              <a:t>considering a stride of s.</a:t>
            </a:r>
            <a:endParaRPr lang="en-IN" sz="1400" dirty="0"/>
          </a:p>
        </p:txBody>
      </p:sp>
    </p:spTree>
    <p:extLst>
      <p:ext uri="{BB962C8B-B14F-4D97-AF65-F5344CB8AC3E}">
        <p14:creationId xmlns:p14="http://schemas.microsoft.com/office/powerpoint/2010/main" val="15104642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6CBD0-0EF9-4921-964D-1FAC1F8C801B}"/>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EB4C6FBF-299C-4179-BB0E-B17792601406}"/>
              </a:ext>
            </a:extLst>
          </p:cNvPr>
          <p:cNvSpPr>
            <a:spLocks noGrp="1"/>
          </p:cNvSpPr>
          <p:nvPr>
            <p:ph idx="1"/>
          </p:nvPr>
        </p:nvSpPr>
        <p:spPr/>
        <p:txBody>
          <a:bodyPr/>
          <a:lstStyle/>
          <a:p>
            <a:pPr marL="0" indent="0" algn="just">
              <a:buNone/>
            </a:pPr>
            <a:r>
              <a:rPr lang="en-US" sz="1600" dirty="0"/>
              <a:t>Padding is a variant of the basic convolution function used to control the size of the output feature map during convolution. When the filter reaches the border of an image, it may not fully overlap with the input. To solve this, we add extra pixels (usually zeros) around the input image, which is called padding.</a:t>
            </a:r>
          </a:p>
          <a:p>
            <a:pPr marL="0" indent="0" algn="just">
              <a:buNone/>
            </a:pPr>
            <a:r>
              <a:rPr lang="en-US" sz="1600" b="1" dirty="0"/>
              <a:t>Why Padding is Needed</a:t>
            </a:r>
          </a:p>
          <a:p>
            <a:pPr marL="0" indent="0" algn="just">
              <a:buNone/>
            </a:pPr>
            <a:r>
              <a:rPr lang="en-US" sz="1600" dirty="0"/>
              <a:t>During convolution, the filter slides across the image. If no padding is used, the filter cannot move beyond the image boundary. Thus the output size becomes smaller after convolution.</a:t>
            </a:r>
          </a:p>
          <a:p>
            <a:pPr marL="0" indent="0" algn="just">
              <a:buNone/>
            </a:pPr>
            <a:r>
              <a:rPr lang="en-US" sz="1600" dirty="0"/>
              <a:t>General output size formula:</a:t>
            </a:r>
          </a:p>
          <a:p>
            <a:pPr marL="0" indent="0" algn="just">
              <a:buNone/>
            </a:pPr>
            <a:endParaRPr lang="en-US" sz="1600" dirty="0"/>
          </a:p>
          <a:p>
            <a:pPr marL="0" indent="0" algn="just">
              <a:buNone/>
            </a:pPr>
            <a:endParaRPr lang="en-IN" sz="1600" dirty="0"/>
          </a:p>
        </p:txBody>
      </p:sp>
      <p:sp>
        <p:nvSpPr>
          <p:cNvPr id="4" name="Slide Number Placeholder 3">
            <a:extLst>
              <a:ext uri="{FF2B5EF4-FFF2-40B4-BE49-F238E27FC236}">
                <a16:creationId xmlns:a16="http://schemas.microsoft.com/office/drawing/2014/main" id="{32F2B1FF-AC4C-467E-92E9-763517684DB8}"/>
              </a:ext>
            </a:extLst>
          </p:cNvPr>
          <p:cNvSpPr>
            <a:spLocks noGrp="1"/>
          </p:cNvSpPr>
          <p:nvPr>
            <p:ph type="sldNum" sz="quarter" idx="12"/>
          </p:nvPr>
        </p:nvSpPr>
        <p:spPr/>
        <p:txBody>
          <a:bodyPr/>
          <a:lstStyle/>
          <a:p>
            <a:fld id="{BB2CE0DE-867F-455F-B20B-96D381B4AB71}" type="slidenum">
              <a:rPr lang="en-US" smtClean="0"/>
              <a:t>82</a:t>
            </a:fld>
            <a:endParaRPr lang="en-US"/>
          </a:p>
        </p:txBody>
      </p:sp>
      <p:pic>
        <p:nvPicPr>
          <p:cNvPr id="6" name="Picture 5">
            <a:extLst>
              <a:ext uri="{FF2B5EF4-FFF2-40B4-BE49-F238E27FC236}">
                <a16:creationId xmlns:a16="http://schemas.microsoft.com/office/drawing/2014/main" id="{A2EF1700-B253-412F-BC7E-E1F5D6D014B7}"/>
              </a:ext>
            </a:extLst>
          </p:cNvPr>
          <p:cNvPicPr>
            <a:picLocks noChangeAspect="1"/>
          </p:cNvPicPr>
          <p:nvPr/>
        </p:nvPicPr>
        <p:blipFill>
          <a:blip r:embed="rId3"/>
          <a:stretch>
            <a:fillRect/>
          </a:stretch>
        </p:blipFill>
        <p:spPr>
          <a:xfrm>
            <a:off x="759306" y="3446318"/>
            <a:ext cx="2819794" cy="876422"/>
          </a:xfrm>
          <a:prstGeom prst="rect">
            <a:avLst/>
          </a:prstGeom>
        </p:spPr>
      </p:pic>
      <p:pic>
        <p:nvPicPr>
          <p:cNvPr id="8" name="Picture 7">
            <a:extLst>
              <a:ext uri="{FF2B5EF4-FFF2-40B4-BE49-F238E27FC236}">
                <a16:creationId xmlns:a16="http://schemas.microsoft.com/office/drawing/2014/main" id="{04DC4551-4CFD-4729-AAC8-F230E1D9F759}"/>
              </a:ext>
            </a:extLst>
          </p:cNvPr>
          <p:cNvPicPr>
            <a:picLocks noChangeAspect="1"/>
          </p:cNvPicPr>
          <p:nvPr/>
        </p:nvPicPr>
        <p:blipFill>
          <a:blip r:embed="rId4"/>
          <a:stretch>
            <a:fillRect/>
          </a:stretch>
        </p:blipFill>
        <p:spPr>
          <a:xfrm>
            <a:off x="3838261" y="3446318"/>
            <a:ext cx="4515480" cy="1981477"/>
          </a:xfrm>
          <a:prstGeom prst="rect">
            <a:avLst/>
          </a:prstGeom>
        </p:spPr>
      </p:pic>
    </p:spTree>
    <p:extLst>
      <p:ext uri="{BB962C8B-B14F-4D97-AF65-F5344CB8AC3E}">
        <p14:creationId xmlns:p14="http://schemas.microsoft.com/office/powerpoint/2010/main" val="27908763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907F-B4E5-4C39-B680-F1BE4A4F50AB}"/>
              </a:ext>
            </a:extLst>
          </p:cNvPr>
          <p:cNvSpPr>
            <a:spLocks noGrp="1"/>
          </p:cNvSpPr>
          <p:nvPr>
            <p:ph type="title"/>
          </p:nvPr>
        </p:nvSpPr>
        <p:spPr/>
        <p:txBody>
          <a:bodyPr/>
          <a:lstStyle/>
          <a:p>
            <a:r>
              <a:rPr lang="en-US" sz="2800" dirty="0">
                <a:solidFill>
                  <a:srgbClr val="262626"/>
                </a:solidFill>
                <a:latin typeface="Inter"/>
              </a:rPr>
              <a:t>Variants of the Basic Convolution Function:</a:t>
            </a:r>
            <a:br>
              <a:rPr lang="en-US" sz="2800" dirty="0">
                <a:solidFill>
                  <a:srgbClr val="262626"/>
                </a:solidFill>
                <a:latin typeface="Inter"/>
              </a:rPr>
            </a:br>
            <a:r>
              <a:rPr lang="en-US" sz="2800" dirty="0">
                <a:solidFill>
                  <a:srgbClr val="262626"/>
                </a:solidFill>
                <a:latin typeface="Inter"/>
              </a:rPr>
              <a:t>Padding</a:t>
            </a:r>
            <a:endParaRPr lang="en-IN" sz="2800" dirty="0"/>
          </a:p>
        </p:txBody>
      </p:sp>
      <p:sp>
        <p:nvSpPr>
          <p:cNvPr id="3" name="Content Placeholder 2">
            <a:extLst>
              <a:ext uri="{FF2B5EF4-FFF2-40B4-BE49-F238E27FC236}">
                <a16:creationId xmlns:a16="http://schemas.microsoft.com/office/drawing/2014/main" id="{0BE6B36B-006D-4133-9F5A-DCFC75F7EDA3}"/>
              </a:ext>
            </a:extLst>
          </p:cNvPr>
          <p:cNvSpPr>
            <a:spLocks noGrp="1"/>
          </p:cNvSpPr>
          <p:nvPr>
            <p:ph idx="1"/>
          </p:nvPr>
        </p:nvSpPr>
        <p:spPr/>
        <p:txBody>
          <a:bodyPr/>
          <a:lstStyle/>
          <a:p>
            <a:pPr marL="0" indent="0">
              <a:buNone/>
            </a:pPr>
            <a:r>
              <a:rPr lang="en-US" b="1" dirty="0"/>
              <a:t>Zero padding</a:t>
            </a:r>
            <a:r>
              <a:rPr lang="en-US" dirty="0"/>
              <a:t> is a technique in convolutional neural networks (CNNs) that adds a border of zeros around the edge of an input matrix (image) before convolution.</a:t>
            </a:r>
          </a:p>
          <a:p>
            <a:pPr marL="0" indent="0">
              <a:buNone/>
            </a:pPr>
            <a:r>
              <a:rPr lang="en-US" dirty="0"/>
              <a:t>Different types of Zero-padding: Valid, Same, Full</a:t>
            </a:r>
            <a:endParaRPr lang="en-IN" dirty="0"/>
          </a:p>
        </p:txBody>
      </p:sp>
      <p:sp>
        <p:nvSpPr>
          <p:cNvPr id="4" name="Slide Number Placeholder 3">
            <a:extLst>
              <a:ext uri="{FF2B5EF4-FFF2-40B4-BE49-F238E27FC236}">
                <a16:creationId xmlns:a16="http://schemas.microsoft.com/office/drawing/2014/main" id="{9BB32D4C-68BB-413F-B32E-BB5623EC26D9}"/>
              </a:ext>
            </a:extLst>
          </p:cNvPr>
          <p:cNvSpPr>
            <a:spLocks noGrp="1"/>
          </p:cNvSpPr>
          <p:nvPr>
            <p:ph type="sldNum" sz="quarter" idx="12"/>
          </p:nvPr>
        </p:nvSpPr>
        <p:spPr/>
        <p:txBody>
          <a:bodyPr/>
          <a:lstStyle/>
          <a:p>
            <a:fld id="{BB2CE0DE-867F-455F-B20B-96D381B4AB71}" type="slidenum">
              <a:rPr lang="en-US" smtClean="0"/>
              <a:t>83</a:t>
            </a:fld>
            <a:endParaRPr lang="en-US"/>
          </a:p>
        </p:txBody>
      </p:sp>
    </p:spTree>
    <p:extLst>
      <p:ext uri="{BB962C8B-B14F-4D97-AF65-F5344CB8AC3E}">
        <p14:creationId xmlns:p14="http://schemas.microsoft.com/office/powerpoint/2010/main" val="10587437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E3E3-9082-4B8D-9C83-D0DFB43F12E1}"/>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96E5B0D9-E947-4420-9001-DB3611925E2B}"/>
              </a:ext>
            </a:extLst>
          </p:cNvPr>
          <p:cNvSpPr>
            <a:spLocks noGrp="1"/>
          </p:cNvSpPr>
          <p:nvPr>
            <p:ph idx="1"/>
          </p:nvPr>
        </p:nvSpPr>
        <p:spPr/>
        <p:txBody>
          <a:bodyPr/>
          <a:lstStyle/>
          <a:p>
            <a:pPr marL="0" indent="0">
              <a:buNone/>
            </a:pPr>
            <a:r>
              <a:rPr lang="en-US" sz="2000" dirty="0">
                <a:solidFill>
                  <a:srgbClr val="C00000"/>
                </a:solidFill>
              </a:rPr>
              <a:t>Valid Zero padding: </a:t>
            </a:r>
            <a:r>
              <a:rPr lang="en-US" sz="2000" dirty="0"/>
              <a:t>Valid padding (No padding) means no extra pixels are added.</a:t>
            </a:r>
            <a:endParaRPr lang="en-IN" sz="2000" dirty="0"/>
          </a:p>
        </p:txBody>
      </p:sp>
      <p:sp>
        <p:nvSpPr>
          <p:cNvPr id="4" name="Slide Number Placeholder 3">
            <a:extLst>
              <a:ext uri="{FF2B5EF4-FFF2-40B4-BE49-F238E27FC236}">
                <a16:creationId xmlns:a16="http://schemas.microsoft.com/office/drawing/2014/main" id="{9F2315D1-93F9-40B3-9B3A-2226C95E4E93}"/>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BD6BE7C4-782C-44EB-8333-6BB3743536B1}"/>
              </a:ext>
            </a:extLst>
          </p:cNvPr>
          <p:cNvPicPr>
            <a:picLocks noChangeAspect="1"/>
          </p:cNvPicPr>
          <p:nvPr/>
        </p:nvPicPr>
        <p:blipFill>
          <a:blip r:embed="rId2"/>
          <a:stretch>
            <a:fillRect/>
          </a:stretch>
        </p:blipFill>
        <p:spPr>
          <a:xfrm>
            <a:off x="755651" y="2057400"/>
            <a:ext cx="1419423" cy="1857634"/>
          </a:xfrm>
          <a:prstGeom prst="rect">
            <a:avLst/>
          </a:prstGeom>
        </p:spPr>
      </p:pic>
      <p:sp>
        <p:nvSpPr>
          <p:cNvPr id="7" name="TextBox 6">
            <a:extLst>
              <a:ext uri="{FF2B5EF4-FFF2-40B4-BE49-F238E27FC236}">
                <a16:creationId xmlns:a16="http://schemas.microsoft.com/office/drawing/2014/main" id="{A6213F78-4DFA-4332-A199-D106FECCAAA0}"/>
              </a:ext>
            </a:extLst>
          </p:cNvPr>
          <p:cNvSpPr txBox="1"/>
          <p:nvPr/>
        </p:nvSpPr>
        <p:spPr>
          <a:xfrm>
            <a:off x="808040" y="1752600"/>
            <a:ext cx="809837" cy="369332"/>
          </a:xfrm>
          <a:prstGeom prst="rect">
            <a:avLst/>
          </a:prstGeom>
          <a:noFill/>
        </p:spPr>
        <p:txBody>
          <a:bodyPr wrap="none" rtlCol="0">
            <a:spAutoFit/>
          </a:bodyPr>
          <a:lstStyle/>
          <a:p>
            <a:r>
              <a:rPr lang="en-US" dirty="0"/>
              <a:t>Input</a:t>
            </a:r>
            <a:endParaRPr lang="en-IN" dirty="0"/>
          </a:p>
        </p:txBody>
      </p:sp>
      <p:sp>
        <p:nvSpPr>
          <p:cNvPr id="8" name="TextBox 7">
            <a:extLst>
              <a:ext uri="{FF2B5EF4-FFF2-40B4-BE49-F238E27FC236}">
                <a16:creationId xmlns:a16="http://schemas.microsoft.com/office/drawing/2014/main" id="{1306A4DD-9778-4D11-8018-403C7226664D}"/>
              </a:ext>
            </a:extLst>
          </p:cNvPr>
          <p:cNvSpPr txBox="1"/>
          <p:nvPr/>
        </p:nvSpPr>
        <p:spPr>
          <a:xfrm>
            <a:off x="671611" y="3059668"/>
            <a:ext cx="772969" cy="369332"/>
          </a:xfrm>
          <a:prstGeom prst="rect">
            <a:avLst/>
          </a:prstGeom>
          <a:noFill/>
        </p:spPr>
        <p:txBody>
          <a:bodyPr wrap="none" rtlCol="0">
            <a:spAutoFit/>
          </a:bodyPr>
          <a:lstStyle/>
          <a:p>
            <a:r>
              <a:rPr lang="en-US" dirty="0"/>
              <a:t>Filter</a:t>
            </a:r>
            <a:endParaRPr lang="en-IN" dirty="0"/>
          </a:p>
        </p:txBody>
      </p:sp>
      <p:pic>
        <p:nvPicPr>
          <p:cNvPr id="10" name="Picture 9">
            <a:extLst>
              <a:ext uri="{FF2B5EF4-FFF2-40B4-BE49-F238E27FC236}">
                <a16:creationId xmlns:a16="http://schemas.microsoft.com/office/drawing/2014/main" id="{B2FBE7CB-C7BC-4F4E-8AAB-8F3D8CC67491}"/>
              </a:ext>
            </a:extLst>
          </p:cNvPr>
          <p:cNvPicPr>
            <a:picLocks noChangeAspect="1"/>
          </p:cNvPicPr>
          <p:nvPr/>
        </p:nvPicPr>
        <p:blipFill>
          <a:blip r:embed="rId3"/>
          <a:stretch>
            <a:fillRect/>
          </a:stretch>
        </p:blipFill>
        <p:spPr>
          <a:xfrm>
            <a:off x="4547902" y="2205923"/>
            <a:ext cx="1945135" cy="1223077"/>
          </a:xfrm>
          <a:prstGeom prst="rect">
            <a:avLst/>
          </a:prstGeom>
        </p:spPr>
      </p:pic>
      <p:sp>
        <p:nvSpPr>
          <p:cNvPr id="11" name="TextBox 10">
            <a:extLst>
              <a:ext uri="{FF2B5EF4-FFF2-40B4-BE49-F238E27FC236}">
                <a16:creationId xmlns:a16="http://schemas.microsoft.com/office/drawing/2014/main" id="{13B80A12-9316-43A9-8754-4B806FDEBA04}"/>
              </a:ext>
            </a:extLst>
          </p:cNvPr>
          <p:cNvSpPr txBox="1"/>
          <p:nvPr/>
        </p:nvSpPr>
        <p:spPr>
          <a:xfrm>
            <a:off x="4814617" y="1830757"/>
            <a:ext cx="984565" cy="369332"/>
          </a:xfrm>
          <a:prstGeom prst="rect">
            <a:avLst/>
          </a:prstGeom>
          <a:noFill/>
        </p:spPr>
        <p:txBody>
          <a:bodyPr wrap="none" rtlCol="0">
            <a:spAutoFit/>
          </a:bodyPr>
          <a:lstStyle/>
          <a:p>
            <a:r>
              <a:rPr lang="en-US" dirty="0"/>
              <a:t>Output</a:t>
            </a:r>
            <a:endParaRPr lang="en-IN" dirty="0"/>
          </a:p>
        </p:txBody>
      </p:sp>
      <p:sp>
        <p:nvSpPr>
          <p:cNvPr id="12" name="TextBox 11">
            <a:extLst>
              <a:ext uri="{FF2B5EF4-FFF2-40B4-BE49-F238E27FC236}">
                <a16:creationId xmlns:a16="http://schemas.microsoft.com/office/drawing/2014/main" id="{22615801-F267-4BE1-9E0F-6309DE0C1A23}"/>
              </a:ext>
            </a:extLst>
          </p:cNvPr>
          <p:cNvSpPr txBox="1"/>
          <p:nvPr/>
        </p:nvSpPr>
        <p:spPr>
          <a:xfrm>
            <a:off x="2441789" y="2200089"/>
            <a:ext cx="1636987" cy="461665"/>
          </a:xfrm>
          <a:prstGeom prst="rect">
            <a:avLst/>
          </a:prstGeom>
          <a:noFill/>
        </p:spPr>
        <p:txBody>
          <a:bodyPr wrap="none" rtlCol="0">
            <a:spAutoFit/>
          </a:bodyPr>
          <a:lstStyle/>
          <a:p>
            <a:r>
              <a:rPr lang="en-US" sz="1200" dirty="0"/>
              <a:t>With padding P=0,</a:t>
            </a:r>
          </a:p>
          <a:p>
            <a:r>
              <a:rPr lang="en-US" sz="1200" dirty="0"/>
              <a:t>Stride S=1</a:t>
            </a:r>
            <a:endParaRPr lang="en-IN" sz="1200" dirty="0"/>
          </a:p>
        </p:txBody>
      </p:sp>
    </p:spTree>
    <p:extLst>
      <p:ext uri="{BB962C8B-B14F-4D97-AF65-F5344CB8AC3E}">
        <p14:creationId xmlns:p14="http://schemas.microsoft.com/office/powerpoint/2010/main" val="773340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E3E3-9082-4B8D-9C83-D0DFB43F12E1}"/>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96E5B0D9-E947-4420-9001-DB3611925E2B}"/>
              </a:ext>
            </a:extLst>
          </p:cNvPr>
          <p:cNvSpPr>
            <a:spLocks noGrp="1"/>
          </p:cNvSpPr>
          <p:nvPr>
            <p:ph idx="1"/>
          </p:nvPr>
        </p:nvSpPr>
        <p:spPr/>
        <p:txBody>
          <a:bodyPr/>
          <a:lstStyle/>
          <a:p>
            <a:pPr marL="0" indent="0">
              <a:buNone/>
            </a:pPr>
            <a:r>
              <a:rPr lang="en-US" sz="1400" dirty="0">
                <a:solidFill>
                  <a:srgbClr val="C00000"/>
                </a:solidFill>
              </a:rPr>
              <a:t>Same Zero padding: </a:t>
            </a:r>
            <a:r>
              <a:rPr lang="en-US" sz="1400" dirty="0"/>
              <a:t>Same padding adds zeros around the image so that</a:t>
            </a:r>
          </a:p>
          <a:p>
            <a:r>
              <a:rPr lang="en-US" sz="1400" dirty="0"/>
              <a:t>Output size =  Input size</a:t>
            </a:r>
            <a:endParaRPr lang="en-IN" sz="1400" dirty="0"/>
          </a:p>
        </p:txBody>
      </p:sp>
      <p:sp>
        <p:nvSpPr>
          <p:cNvPr id="4" name="Slide Number Placeholder 3">
            <a:extLst>
              <a:ext uri="{FF2B5EF4-FFF2-40B4-BE49-F238E27FC236}">
                <a16:creationId xmlns:a16="http://schemas.microsoft.com/office/drawing/2014/main" id="{9F2315D1-93F9-40B3-9B3A-2226C95E4E93}"/>
              </a:ext>
            </a:extLst>
          </p:cNvPr>
          <p:cNvSpPr>
            <a:spLocks noGrp="1"/>
          </p:cNvSpPr>
          <p:nvPr>
            <p:ph type="sldNum" sz="quarter" idx="12"/>
          </p:nvPr>
        </p:nvSpPr>
        <p:spPr/>
        <p:txBody>
          <a:bodyPr/>
          <a:lstStyle/>
          <a:p>
            <a:fld id="{BB2CE0DE-867F-455F-B20B-96D381B4AB71}" type="slidenum">
              <a:rPr lang="en-US" smtClean="0"/>
              <a:t>85</a:t>
            </a:fld>
            <a:endParaRPr lang="en-US"/>
          </a:p>
        </p:txBody>
      </p:sp>
      <p:pic>
        <p:nvPicPr>
          <p:cNvPr id="6" name="Picture 5">
            <a:extLst>
              <a:ext uri="{FF2B5EF4-FFF2-40B4-BE49-F238E27FC236}">
                <a16:creationId xmlns:a16="http://schemas.microsoft.com/office/drawing/2014/main" id="{BD6BE7C4-782C-44EB-8333-6BB3743536B1}"/>
              </a:ext>
            </a:extLst>
          </p:cNvPr>
          <p:cNvPicPr>
            <a:picLocks noChangeAspect="1"/>
          </p:cNvPicPr>
          <p:nvPr/>
        </p:nvPicPr>
        <p:blipFill>
          <a:blip r:embed="rId3"/>
          <a:stretch>
            <a:fillRect/>
          </a:stretch>
        </p:blipFill>
        <p:spPr>
          <a:xfrm>
            <a:off x="867400" y="2777423"/>
            <a:ext cx="1419423" cy="1857634"/>
          </a:xfrm>
          <a:prstGeom prst="rect">
            <a:avLst/>
          </a:prstGeom>
        </p:spPr>
      </p:pic>
      <p:sp>
        <p:nvSpPr>
          <p:cNvPr id="7" name="TextBox 6">
            <a:extLst>
              <a:ext uri="{FF2B5EF4-FFF2-40B4-BE49-F238E27FC236}">
                <a16:creationId xmlns:a16="http://schemas.microsoft.com/office/drawing/2014/main" id="{A6213F78-4DFA-4332-A199-D106FECCAAA0}"/>
              </a:ext>
            </a:extLst>
          </p:cNvPr>
          <p:cNvSpPr txBox="1"/>
          <p:nvPr/>
        </p:nvSpPr>
        <p:spPr>
          <a:xfrm>
            <a:off x="919789" y="2329934"/>
            <a:ext cx="809837" cy="369332"/>
          </a:xfrm>
          <a:prstGeom prst="rect">
            <a:avLst/>
          </a:prstGeom>
          <a:noFill/>
        </p:spPr>
        <p:txBody>
          <a:bodyPr wrap="none" rtlCol="0">
            <a:spAutoFit/>
          </a:bodyPr>
          <a:lstStyle/>
          <a:p>
            <a:r>
              <a:rPr lang="en-US" dirty="0"/>
              <a:t>Input</a:t>
            </a:r>
            <a:endParaRPr lang="en-IN" dirty="0"/>
          </a:p>
        </p:txBody>
      </p:sp>
      <p:sp>
        <p:nvSpPr>
          <p:cNvPr id="8" name="TextBox 7">
            <a:extLst>
              <a:ext uri="{FF2B5EF4-FFF2-40B4-BE49-F238E27FC236}">
                <a16:creationId xmlns:a16="http://schemas.microsoft.com/office/drawing/2014/main" id="{1306A4DD-9778-4D11-8018-403C7226664D}"/>
              </a:ext>
            </a:extLst>
          </p:cNvPr>
          <p:cNvSpPr txBox="1"/>
          <p:nvPr/>
        </p:nvSpPr>
        <p:spPr>
          <a:xfrm>
            <a:off x="783360" y="3637002"/>
            <a:ext cx="772969" cy="369332"/>
          </a:xfrm>
          <a:prstGeom prst="rect">
            <a:avLst/>
          </a:prstGeom>
          <a:noFill/>
        </p:spPr>
        <p:txBody>
          <a:bodyPr wrap="none" rtlCol="0">
            <a:spAutoFit/>
          </a:bodyPr>
          <a:lstStyle/>
          <a:p>
            <a:r>
              <a:rPr lang="en-US" dirty="0"/>
              <a:t>Filter</a:t>
            </a:r>
            <a:endParaRPr lang="en-IN" dirty="0"/>
          </a:p>
        </p:txBody>
      </p:sp>
      <p:sp>
        <p:nvSpPr>
          <p:cNvPr id="11" name="TextBox 10">
            <a:extLst>
              <a:ext uri="{FF2B5EF4-FFF2-40B4-BE49-F238E27FC236}">
                <a16:creationId xmlns:a16="http://schemas.microsoft.com/office/drawing/2014/main" id="{13B80A12-9316-43A9-8754-4B806FDEBA04}"/>
              </a:ext>
            </a:extLst>
          </p:cNvPr>
          <p:cNvSpPr txBox="1"/>
          <p:nvPr/>
        </p:nvSpPr>
        <p:spPr>
          <a:xfrm>
            <a:off x="7732692" y="2514600"/>
            <a:ext cx="984565" cy="369332"/>
          </a:xfrm>
          <a:prstGeom prst="rect">
            <a:avLst/>
          </a:prstGeom>
          <a:noFill/>
        </p:spPr>
        <p:txBody>
          <a:bodyPr wrap="none" rtlCol="0">
            <a:spAutoFit/>
          </a:bodyPr>
          <a:lstStyle/>
          <a:p>
            <a:r>
              <a:rPr lang="en-US" dirty="0"/>
              <a:t>Output</a:t>
            </a:r>
            <a:endParaRPr lang="en-IN" dirty="0"/>
          </a:p>
        </p:txBody>
      </p:sp>
      <p:sp>
        <p:nvSpPr>
          <p:cNvPr id="12" name="TextBox 11">
            <a:extLst>
              <a:ext uri="{FF2B5EF4-FFF2-40B4-BE49-F238E27FC236}">
                <a16:creationId xmlns:a16="http://schemas.microsoft.com/office/drawing/2014/main" id="{22615801-F267-4BE1-9E0F-6309DE0C1A23}"/>
              </a:ext>
            </a:extLst>
          </p:cNvPr>
          <p:cNvSpPr txBox="1"/>
          <p:nvPr/>
        </p:nvSpPr>
        <p:spPr>
          <a:xfrm>
            <a:off x="2553538" y="2777423"/>
            <a:ext cx="1636987" cy="461665"/>
          </a:xfrm>
          <a:prstGeom prst="rect">
            <a:avLst/>
          </a:prstGeom>
          <a:noFill/>
        </p:spPr>
        <p:txBody>
          <a:bodyPr wrap="none" rtlCol="0">
            <a:spAutoFit/>
          </a:bodyPr>
          <a:lstStyle/>
          <a:p>
            <a:r>
              <a:rPr lang="en-US" sz="1200" dirty="0"/>
              <a:t>With padding P=1,</a:t>
            </a:r>
          </a:p>
          <a:p>
            <a:r>
              <a:rPr lang="en-US" sz="1200" dirty="0"/>
              <a:t>Stride S=1</a:t>
            </a:r>
            <a:endParaRPr lang="en-IN" sz="1200" dirty="0"/>
          </a:p>
        </p:txBody>
      </p:sp>
      <p:pic>
        <p:nvPicPr>
          <p:cNvPr id="9" name="Picture 8">
            <a:extLst>
              <a:ext uri="{FF2B5EF4-FFF2-40B4-BE49-F238E27FC236}">
                <a16:creationId xmlns:a16="http://schemas.microsoft.com/office/drawing/2014/main" id="{0962B7A8-C02A-429C-B294-3AEEB60EBF09}"/>
              </a:ext>
            </a:extLst>
          </p:cNvPr>
          <p:cNvPicPr>
            <a:picLocks noChangeAspect="1"/>
          </p:cNvPicPr>
          <p:nvPr/>
        </p:nvPicPr>
        <p:blipFill>
          <a:blip r:embed="rId4"/>
          <a:stretch>
            <a:fillRect/>
          </a:stretch>
        </p:blipFill>
        <p:spPr>
          <a:xfrm>
            <a:off x="4276806" y="2740600"/>
            <a:ext cx="2003445" cy="1600384"/>
          </a:xfrm>
          <a:prstGeom prst="rect">
            <a:avLst/>
          </a:prstGeom>
        </p:spPr>
      </p:pic>
      <p:sp>
        <p:nvSpPr>
          <p:cNvPr id="13" name="TextBox 12">
            <a:extLst>
              <a:ext uri="{FF2B5EF4-FFF2-40B4-BE49-F238E27FC236}">
                <a16:creationId xmlns:a16="http://schemas.microsoft.com/office/drawing/2014/main" id="{EF24E21B-89D9-4C68-869C-F81A546DC349}"/>
              </a:ext>
            </a:extLst>
          </p:cNvPr>
          <p:cNvSpPr txBox="1"/>
          <p:nvPr/>
        </p:nvSpPr>
        <p:spPr>
          <a:xfrm>
            <a:off x="4257037" y="2329934"/>
            <a:ext cx="1733936" cy="646331"/>
          </a:xfrm>
          <a:prstGeom prst="rect">
            <a:avLst/>
          </a:prstGeom>
          <a:noFill/>
        </p:spPr>
        <p:txBody>
          <a:bodyPr wrap="none" rtlCol="0">
            <a:spAutoFit/>
          </a:bodyPr>
          <a:lstStyle/>
          <a:p>
            <a:r>
              <a:rPr lang="en-IN" dirty="0"/>
              <a:t>Padded Input</a:t>
            </a:r>
          </a:p>
          <a:p>
            <a:endParaRPr lang="en-IN" dirty="0"/>
          </a:p>
        </p:txBody>
      </p:sp>
      <p:pic>
        <p:nvPicPr>
          <p:cNvPr id="15" name="Picture 14">
            <a:extLst>
              <a:ext uri="{FF2B5EF4-FFF2-40B4-BE49-F238E27FC236}">
                <a16:creationId xmlns:a16="http://schemas.microsoft.com/office/drawing/2014/main" id="{78B0D3EA-DDC4-4D2D-83D6-C504272DBEAF}"/>
              </a:ext>
            </a:extLst>
          </p:cNvPr>
          <p:cNvPicPr>
            <a:picLocks noChangeAspect="1"/>
          </p:cNvPicPr>
          <p:nvPr/>
        </p:nvPicPr>
        <p:blipFill>
          <a:blip r:embed="rId5"/>
          <a:stretch>
            <a:fillRect/>
          </a:stretch>
        </p:blipFill>
        <p:spPr>
          <a:xfrm>
            <a:off x="7579349" y="2994769"/>
            <a:ext cx="1657581" cy="914528"/>
          </a:xfrm>
          <a:prstGeom prst="rect">
            <a:avLst/>
          </a:prstGeom>
        </p:spPr>
      </p:pic>
      <p:pic>
        <p:nvPicPr>
          <p:cNvPr id="17" name="Picture 16">
            <a:extLst>
              <a:ext uri="{FF2B5EF4-FFF2-40B4-BE49-F238E27FC236}">
                <a16:creationId xmlns:a16="http://schemas.microsoft.com/office/drawing/2014/main" id="{CC085FFE-FE39-4D43-B4FB-B5E5B27DC536}"/>
              </a:ext>
            </a:extLst>
          </p:cNvPr>
          <p:cNvPicPr>
            <a:picLocks noChangeAspect="1"/>
          </p:cNvPicPr>
          <p:nvPr/>
        </p:nvPicPr>
        <p:blipFill>
          <a:blip r:embed="rId6"/>
          <a:stretch>
            <a:fillRect/>
          </a:stretch>
        </p:blipFill>
        <p:spPr>
          <a:xfrm>
            <a:off x="2643550" y="4234951"/>
            <a:ext cx="1276528" cy="400106"/>
          </a:xfrm>
          <a:prstGeom prst="rect">
            <a:avLst/>
          </a:prstGeom>
        </p:spPr>
      </p:pic>
      <p:sp>
        <p:nvSpPr>
          <p:cNvPr id="18" name="TextBox 17">
            <a:extLst>
              <a:ext uri="{FF2B5EF4-FFF2-40B4-BE49-F238E27FC236}">
                <a16:creationId xmlns:a16="http://schemas.microsoft.com/office/drawing/2014/main" id="{A82BD943-F3F5-4939-91CA-6E72CB0F59B5}"/>
              </a:ext>
            </a:extLst>
          </p:cNvPr>
          <p:cNvSpPr txBox="1"/>
          <p:nvPr/>
        </p:nvSpPr>
        <p:spPr>
          <a:xfrm>
            <a:off x="2553538" y="3953395"/>
            <a:ext cx="1271438" cy="276999"/>
          </a:xfrm>
          <a:prstGeom prst="rect">
            <a:avLst/>
          </a:prstGeom>
          <a:noFill/>
        </p:spPr>
        <p:txBody>
          <a:bodyPr wrap="none" rtlCol="0">
            <a:spAutoFit/>
          </a:bodyPr>
          <a:lstStyle/>
          <a:p>
            <a:r>
              <a:rPr lang="en-US" sz="1200" dirty="0"/>
              <a:t>Padding Value</a:t>
            </a:r>
            <a:endParaRPr lang="en-IN" sz="1200" dirty="0"/>
          </a:p>
        </p:txBody>
      </p:sp>
    </p:spTree>
    <p:extLst>
      <p:ext uri="{BB962C8B-B14F-4D97-AF65-F5344CB8AC3E}">
        <p14:creationId xmlns:p14="http://schemas.microsoft.com/office/powerpoint/2010/main" val="8627832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E3E3-9082-4B8D-9C83-D0DFB43F12E1}"/>
              </a:ext>
            </a:extLst>
          </p:cNvPr>
          <p:cNvSpPr>
            <a:spLocks noGrp="1"/>
          </p:cNvSpPr>
          <p:nvPr>
            <p:ph type="title"/>
          </p:nvPr>
        </p:nvSpPr>
        <p:spPr/>
        <p:txBody>
          <a:bodyPr/>
          <a:lstStyle/>
          <a:p>
            <a:r>
              <a:rPr lang="en-US" sz="3200" dirty="0">
                <a:solidFill>
                  <a:srgbClr val="262626"/>
                </a:solidFill>
                <a:latin typeface="Inter"/>
              </a:rPr>
              <a:t>Variants of the Basic Convolution Function:</a:t>
            </a:r>
            <a:br>
              <a:rPr lang="en-US" sz="3200" dirty="0">
                <a:solidFill>
                  <a:srgbClr val="262626"/>
                </a:solidFill>
                <a:latin typeface="Inter"/>
              </a:rPr>
            </a:br>
            <a:r>
              <a:rPr lang="en-US" sz="3200" dirty="0">
                <a:solidFill>
                  <a:srgbClr val="262626"/>
                </a:solidFill>
                <a:latin typeface="Inter"/>
              </a:rPr>
              <a:t>Padding</a:t>
            </a:r>
            <a:endParaRPr lang="en-IN" dirty="0"/>
          </a:p>
        </p:txBody>
      </p:sp>
      <p:sp>
        <p:nvSpPr>
          <p:cNvPr id="3" name="Content Placeholder 2">
            <a:extLst>
              <a:ext uri="{FF2B5EF4-FFF2-40B4-BE49-F238E27FC236}">
                <a16:creationId xmlns:a16="http://schemas.microsoft.com/office/drawing/2014/main" id="{96E5B0D9-E947-4420-9001-DB3611925E2B}"/>
              </a:ext>
            </a:extLst>
          </p:cNvPr>
          <p:cNvSpPr>
            <a:spLocks noGrp="1"/>
          </p:cNvSpPr>
          <p:nvPr>
            <p:ph idx="1"/>
          </p:nvPr>
        </p:nvSpPr>
        <p:spPr/>
        <p:txBody>
          <a:bodyPr/>
          <a:lstStyle/>
          <a:p>
            <a:pPr marL="0" indent="0">
              <a:buNone/>
            </a:pPr>
            <a:r>
              <a:rPr lang="en-US" sz="1400" dirty="0">
                <a:solidFill>
                  <a:srgbClr val="C00000"/>
                </a:solidFill>
              </a:rPr>
              <a:t>Full Zero padding: </a:t>
            </a:r>
            <a:r>
              <a:rPr lang="en-US" sz="1400" dirty="0"/>
              <a:t>Full padding adds more zeros around the image, allowing the filter to slide even beyond the borders. This produces a larger output feature map.</a:t>
            </a:r>
          </a:p>
          <a:p>
            <a:pPr marL="0" indent="0">
              <a:buNone/>
            </a:pPr>
            <a:endParaRPr lang="en-US" sz="1400" dirty="0"/>
          </a:p>
          <a:p>
            <a:pPr marL="0" indent="0">
              <a:buNone/>
            </a:pPr>
            <a:endParaRPr lang="en-US" sz="1400" dirty="0"/>
          </a:p>
        </p:txBody>
      </p:sp>
      <p:sp>
        <p:nvSpPr>
          <p:cNvPr id="4" name="Slide Number Placeholder 3">
            <a:extLst>
              <a:ext uri="{FF2B5EF4-FFF2-40B4-BE49-F238E27FC236}">
                <a16:creationId xmlns:a16="http://schemas.microsoft.com/office/drawing/2014/main" id="{9F2315D1-93F9-40B3-9B3A-2226C95E4E93}"/>
              </a:ext>
            </a:extLst>
          </p:cNvPr>
          <p:cNvSpPr>
            <a:spLocks noGrp="1"/>
          </p:cNvSpPr>
          <p:nvPr>
            <p:ph type="sldNum" sz="quarter" idx="12"/>
          </p:nvPr>
        </p:nvSpPr>
        <p:spPr/>
        <p:txBody>
          <a:bodyPr/>
          <a:lstStyle/>
          <a:p>
            <a:fld id="{BB2CE0DE-867F-455F-B20B-96D381B4AB71}" type="slidenum">
              <a:rPr lang="en-US" smtClean="0"/>
              <a:t>86</a:t>
            </a:fld>
            <a:endParaRPr lang="en-US"/>
          </a:p>
        </p:txBody>
      </p:sp>
      <p:sp>
        <p:nvSpPr>
          <p:cNvPr id="7" name="TextBox 6">
            <a:extLst>
              <a:ext uri="{FF2B5EF4-FFF2-40B4-BE49-F238E27FC236}">
                <a16:creationId xmlns:a16="http://schemas.microsoft.com/office/drawing/2014/main" id="{A6213F78-4DFA-4332-A199-D106FECCAAA0}"/>
              </a:ext>
            </a:extLst>
          </p:cNvPr>
          <p:cNvSpPr txBox="1"/>
          <p:nvPr/>
        </p:nvSpPr>
        <p:spPr>
          <a:xfrm>
            <a:off x="919789" y="2329934"/>
            <a:ext cx="809837" cy="369332"/>
          </a:xfrm>
          <a:prstGeom prst="rect">
            <a:avLst/>
          </a:prstGeom>
          <a:noFill/>
        </p:spPr>
        <p:txBody>
          <a:bodyPr wrap="none" rtlCol="0">
            <a:spAutoFit/>
          </a:bodyPr>
          <a:lstStyle/>
          <a:p>
            <a:r>
              <a:rPr lang="en-US" dirty="0"/>
              <a:t>Input</a:t>
            </a:r>
            <a:endParaRPr lang="en-IN" dirty="0"/>
          </a:p>
        </p:txBody>
      </p:sp>
      <p:sp>
        <p:nvSpPr>
          <p:cNvPr id="11" name="TextBox 10">
            <a:extLst>
              <a:ext uri="{FF2B5EF4-FFF2-40B4-BE49-F238E27FC236}">
                <a16:creationId xmlns:a16="http://schemas.microsoft.com/office/drawing/2014/main" id="{13B80A12-9316-43A9-8754-4B806FDEBA04}"/>
              </a:ext>
            </a:extLst>
          </p:cNvPr>
          <p:cNvSpPr txBox="1"/>
          <p:nvPr/>
        </p:nvSpPr>
        <p:spPr>
          <a:xfrm>
            <a:off x="7732692" y="2514600"/>
            <a:ext cx="984565" cy="369332"/>
          </a:xfrm>
          <a:prstGeom prst="rect">
            <a:avLst/>
          </a:prstGeom>
          <a:noFill/>
        </p:spPr>
        <p:txBody>
          <a:bodyPr wrap="none" rtlCol="0">
            <a:spAutoFit/>
          </a:bodyPr>
          <a:lstStyle/>
          <a:p>
            <a:r>
              <a:rPr lang="en-US" dirty="0"/>
              <a:t>Output</a:t>
            </a:r>
            <a:endParaRPr lang="en-IN" dirty="0"/>
          </a:p>
        </p:txBody>
      </p:sp>
      <p:sp>
        <p:nvSpPr>
          <p:cNvPr id="12" name="TextBox 11">
            <a:extLst>
              <a:ext uri="{FF2B5EF4-FFF2-40B4-BE49-F238E27FC236}">
                <a16:creationId xmlns:a16="http://schemas.microsoft.com/office/drawing/2014/main" id="{22615801-F267-4BE1-9E0F-6309DE0C1A23}"/>
              </a:ext>
            </a:extLst>
          </p:cNvPr>
          <p:cNvSpPr txBox="1"/>
          <p:nvPr/>
        </p:nvSpPr>
        <p:spPr>
          <a:xfrm>
            <a:off x="2478814" y="2967335"/>
            <a:ext cx="1636987" cy="461665"/>
          </a:xfrm>
          <a:prstGeom prst="rect">
            <a:avLst/>
          </a:prstGeom>
          <a:noFill/>
        </p:spPr>
        <p:txBody>
          <a:bodyPr wrap="none" rtlCol="0">
            <a:spAutoFit/>
          </a:bodyPr>
          <a:lstStyle/>
          <a:p>
            <a:r>
              <a:rPr lang="en-US" sz="1200" dirty="0"/>
              <a:t>With padding P=2,</a:t>
            </a:r>
          </a:p>
          <a:p>
            <a:r>
              <a:rPr lang="en-US" sz="1200" dirty="0"/>
              <a:t>Stride S=1</a:t>
            </a:r>
            <a:endParaRPr lang="en-IN" sz="1200" dirty="0"/>
          </a:p>
        </p:txBody>
      </p:sp>
      <p:sp>
        <p:nvSpPr>
          <p:cNvPr id="13" name="TextBox 12">
            <a:extLst>
              <a:ext uri="{FF2B5EF4-FFF2-40B4-BE49-F238E27FC236}">
                <a16:creationId xmlns:a16="http://schemas.microsoft.com/office/drawing/2014/main" id="{EF24E21B-89D9-4C68-869C-F81A546DC349}"/>
              </a:ext>
            </a:extLst>
          </p:cNvPr>
          <p:cNvSpPr txBox="1"/>
          <p:nvPr/>
        </p:nvSpPr>
        <p:spPr>
          <a:xfrm>
            <a:off x="4459309" y="2006768"/>
            <a:ext cx="2856872" cy="577081"/>
          </a:xfrm>
          <a:prstGeom prst="rect">
            <a:avLst/>
          </a:prstGeom>
          <a:noFill/>
        </p:spPr>
        <p:txBody>
          <a:bodyPr wrap="none" rtlCol="0">
            <a:spAutoFit/>
          </a:bodyPr>
          <a:lstStyle/>
          <a:p>
            <a:r>
              <a:rPr lang="en-IN" sz="1050" b="1" dirty="0"/>
              <a:t>Padded Input</a:t>
            </a:r>
          </a:p>
          <a:p>
            <a:r>
              <a:rPr lang="en-US" sz="1050" dirty="0"/>
              <a:t>Since P=2, we add two rows </a:t>
            </a:r>
          </a:p>
          <a:p>
            <a:r>
              <a:rPr lang="en-US" sz="1050" dirty="0"/>
              <a:t>and columns of zeros around the input.</a:t>
            </a:r>
            <a:endParaRPr lang="en-IN" sz="1050" dirty="0"/>
          </a:p>
        </p:txBody>
      </p:sp>
      <p:pic>
        <p:nvPicPr>
          <p:cNvPr id="10" name="Picture 9">
            <a:extLst>
              <a:ext uri="{FF2B5EF4-FFF2-40B4-BE49-F238E27FC236}">
                <a16:creationId xmlns:a16="http://schemas.microsoft.com/office/drawing/2014/main" id="{F136EFBF-C97A-4FEE-BD0A-AE876A12304A}"/>
              </a:ext>
            </a:extLst>
          </p:cNvPr>
          <p:cNvPicPr>
            <a:picLocks noChangeAspect="1"/>
          </p:cNvPicPr>
          <p:nvPr/>
        </p:nvPicPr>
        <p:blipFill>
          <a:blip r:embed="rId3"/>
          <a:stretch>
            <a:fillRect/>
          </a:stretch>
        </p:blipFill>
        <p:spPr>
          <a:xfrm>
            <a:off x="533400" y="2777423"/>
            <a:ext cx="1804179" cy="2294204"/>
          </a:xfrm>
          <a:prstGeom prst="rect">
            <a:avLst/>
          </a:prstGeom>
        </p:spPr>
      </p:pic>
      <p:pic>
        <p:nvPicPr>
          <p:cNvPr id="16" name="Picture 15">
            <a:extLst>
              <a:ext uri="{FF2B5EF4-FFF2-40B4-BE49-F238E27FC236}">
                <a16:creationId xmlns:a16="http://schemas.microsoft.com/office/drawing/2014/main" id="{3323F267-E7C6-4863-ABC7-A3E7CF51D28C}"/>
              </a:ext>
            </a:extLst>
          </p:cNvPr>
          <p:cNvPicPr>
            <a:picLocks noChangeAspect="1"/>
          </p:cNvPicPr>
          <p:nvPr/>
        </p:nvPicPr>
        <p:blipFill>
          <a:blip r:embed="rId4"/>
          <a:stretch>
            <a:fillRect/>
          </a:stretch>
        </p:blipFill>
        <p:spPr>
          <a:xfrm>
            <a:off x="4285308" y="2618485"/>
            <a:ext cx="2734057" cy="1876687"/>
          </a:xfrm>
          <a:prstGeom prst="rect">
            <a:avLst/>
          </a:prstGeom>
        </p:spPr>
      </p:pic>
      <p:pic>
        <p:nvPicPr>
          <p:cNvPr id="18" name="Picture 17">
            <a:extLst>
              <a:ext uri="{FF2B5EF4-FFF2-40B4-BE49-F238E27FC236}">
                <a16:creationId xmlns:a16="http://schemas.microsoft.com/office/drawing/2014/main" id="{49381E3F-B45F-4D14-98DD-2DF62BE1357E}"/>
              </a:ext>
            </a:extLst>
          </p:cNvPr>
          <p:cNvPicPr>
            <a:picLocks noChangeAspect="1"/>
          </p:cNvPicPr>
          <p:nvPr/>
        </p:nvPicPr>
        <p:blipFill>
          <a:blip r:embed="rId5"/>
          <a:stretch>
            <a:fillRect/>
          </a:stretch>
        </p:blipFill>
        <p:spPr>
          <a:xfrm>
            <a:off x="5023598" y="5009784"/>
            <a:ext cx="1588385" cy="457263"/>
          </a:xfrm>
          <a:prstGeom prst="rect">
            <a:avLst/>
          </a:prstGeom>
        </p:spPr>
      </p:pic>
      <p:sp>
        <p:nvSpPr>
          <p:cNvPr id="19" name="TextBox 18">
            <a:extLst>
              <a:ext uri="{FF2B5EF4-FFF2-40B4-BE49-F238E27FC236}">
                <a16:creationId xmlns:a16="http://schemas.microsoft.com/office/drawing/2014/main" id="{15CC16C1-DE5D-41A3-9D43-7EFD1225D214}"/>
              </a:ext>
            </a:extLst>
          </p:cNvPr>
          <p:cNvSpPr txBox="1"/>
          <p:nvPr/>
        </p:nvSpPr>
        <p:spPr>
          <a:xfrm>
            <a:off x="4900879" y="4702007"/>
            <a:ext cx="1502912" cy="307777"/>
          </a:xfrm>
          <a:prstGeom prst="rect">
            <a:avLst/>
          </a:prstGeom>
          <a:noFill/>
        </p:spPr>
        <p:txBody>
          <a:bodyPr wrap="none" rtlCol="0">
            <a:spAutoFit/>
          </a:bodyPr>
          <a:lstStyle/>
          <a:p>
            <a:r>
              <a:rPr lang="en-IN" sz="1400" dirty="0"/>
              <a:t>New input size</a:t>
            </a:r>
          </a:p>
        </p:txBody>
      </p:sp>
      <p:pic>
        <p:nvPicPr>
          <p:cNvPr id="21" name="Picture 20">
            <a:extLst>
              <a:ext uri="{FF2B5EF4-FFF2-40B4-BE49-F238E27FC236}">
                <a16:creationId xmlns:a16="http://schemas.microsoft.com/office/drawing/2014/main" id="{12CDA1F7-A7C4-4B94-8210-5F7D6E18DA1B}"/>
              </a:ext>
            </a:extLst>
          </p:cNvPr>
          <p:cNvPicPr>
            <a:picLocks noChangeAspect="1"/>
          </p:cNvPicPr>
          <p:nvPr/>
        </p:nvPicPr>
        <p:blipFill>
          <a:blip r:embed="rId6"/>
          <a:stretch>
            <a:fillRect/>
          </a:stretch>
        </p:blipFill>
        <p:spPr>
          <a:xfrm>
            <a:off x="7542045" y="2918518"/>
            <a:ext cx="2391109" cy="1505160"/>
          </a:xfrm>
          <a:prstGeom prst="rect">
            <a:avLst/>
          </a:prstGeom>
        </p:spPr>
      </p:pic>
      <p:pic>
        <p:nvPicPr>
          <p:cNvPr id="23" name="Picture 22">
            <a:extLst>
              <a:ext uri="{FF2B5EF4-FFF2-40B4-BE49-F238E27FC236}">
                <a16:creationId xmlns:a16="http://schemas.microsoft.com/office/drawing/2014/main" id="{B3C7ACF0-6217-469E-ACA5-64231171993C}"/>
              </a:ext>
            </a:extLst>
          </p:cNvPr>
          <p:cNvPicPr>
            <a:picLocks noChangeAspect="1"/>
          </p:cNvPicPr>
          <p:nvPr/>
        </p:nvPicPr>
        <p:blipFill>
          <a:blip r:embed="rId7"/>
          <a:stretch>
            <a:fillRect/>
          </a:stretch>
        </p:blipFill>
        <p:spPr>
          <a:xfrm>
            <a:off x="7721755" y="4914520"/>
            <a:ext cx="1991003" cy="552527"/>
          </a:xfrm>
          <a:prstGeom prst="rect">
            <a:avLst/>
          </a:prstGeom>
        </p:spPr>
      </p:pic>
      <p:sp>
        <p:nvSpPr>
          <p:cNvPr id="24" name="TextBox 23">
            <a:extLst>
              <a:ext uri="{FF2B5EF4-FFF2-40B4-BE49-F238E27FC236}">
                <a16:creationId xmlns:a16="http://schemas.microsoft.com/office/drawing/2014/main" id="{56E842F3-A4D1-4E14-8EBC-8AECEC5478A8}"/>
              </a:ext>
            </a:extLst>
          </p:cNvPr>
          <p:cNvSpPr txBox="1"/>
          <p:nvPr/>
        </p:nvSpPr>
        <p:spPr>
          <a:xfrm>
            <a:off x="8001000" y="4574589"/>
            <a:ext cx="1212768" cy="307777"/>
          </a:xfrm>
          <a:prstGeom prst="rect">
            <a:avLst/>
          </a:prstGeom>
          <a:noFill/>
        </p:spPr>
        <p:txBody>
          <a:bodyPr wrap="none" rtlCol="0">
            <a:spAutoFit/>
          </a:bodyPr>
          <a:lstStyle/>
          <a:p>
            <a:r>
              <a:rPr lang="en-IN" sz="1400" dirty="0"/>
              <a:t>Output size</a:t>
            </a:r>
          </a:p>
        </p:txBody>
      </p:sp>
      <p:sp>
        <p:nvSpPr>
          <p:cNvPr id="26" name="TextBox 25">
            <a:extLst>
              <a:ext uri="{FF2B5EF4-FFF2-40B4-BE49-F238E27FC236}">
                <a16:creationId xmlns:a16="http://schemas.microsoft.com/office/drawing/2014/main" id="{A99275C3-6F0E-4498-A4C6-82138571737F}"/>
              </a:ext>
            </a:extLst>
          </p:cNvPr>
          <p:cNvSpPr txBox="1"/>
          <p:nvPr/>
        </p:nvSpPr>
        <p:spPr>
          <a:xfrm>
            <a:off x="2580612" y="4023809"/>
            <a:ext cx="1271438" cy="461665"/>
          </a:xfrm>
          <a:prstGeom prst="rect">
            <a:avLst/>
          </a:prstGeom>
          <a:noFill/>
        </p:spPr>
        <p:txBody>
          <a:bodyPr wrap="none" rtlCol="0">
            <a:spAutoFit/>
          </a:bodyPr>
          <a:lstStyle/>
          <a:p>
            <a:r>
              <a:rPr lang="en-US" sz="1200" dirty="0"/>
              <a:t>Padding Value</a:t>
            </a:r>
          </a:p>
          <a:p>
            <a:endParaRPr lang="en-IN" sz="1200" dirty="0"/>
          </a:p>
        </p:txBody>
      </p:sp>
    </p:spTree>
    <p:extLst>
      <p:ext uri="{BB962C8B-B14F-4D97-AF65-F5344CB8AC3E}">
        <p14:creationId xmlns:p14="http://schemas.microsoft.com/office/powerpoint/2010/main" val="31733678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DC0C-B87E-43B8-85E2-95F00F12D709}"/>
              </a:ext>
            </a:extLst>
          </p:cNvPr>
          <p:cNvSpPr>
            <a:spLocks noGrp="1"/>
          </p:cNvSpPr>
          <p:nvPr>
            <p:ph type="title"/>
          </p:nvPr>
        </p:nvSpPr>
        <p:spPr/>
        <p:txBody>
          <a:bodyPr/>
          <a:lstStyle/>
          <a:p>
            <a:r>
              <a:rPr lang="en-US" sz="2400" dirty="0">
                <a:solidFill>
                  <a:srgbClr val="262626"/>
                </a:solidFill>
                <a:latin typeface="Inter"/>
              </a:rPr>
              <a:t>Variants of the Basic Convolution Function:</a:t>
            </a:r>
            <a:br>
              <a:rPr lang="en-US" sz="2400" dirty="0">
                <a:solidFill>
                  <a:srgbClr val="262626"/>
                </a:solidFill>
                <a:latin typeface="Inter"/>
              </a:rPr>
            </a:br>
            <a:r>
              <a:rPr lang="en-US" sz="2400" dirty="0">
                <a:solidFill>
                  <a:srgbClr val="262626"/>
                </a:solidFill>
                <a:latin typeface="Inter"/>
              </a:rPr>
              <a:t>Fully connected, Locally connected, Standard convolution, Tiled convolution</a:t>
            </a:r>
            <a:endParaRPr lang="en-IN" sz="2400" dirty="0"/>
          </a:p>
        </p:txBody>
      </p:sp>
      <p:sp>
        <p:nvSpPr>
          <p:cNvPr id="10" name="Content Placeholder 9">
            <a:extLst>
              <a:ext uri="{FF2B5EF4-FFF2-40B4-BE49-F238E27FC236}">
                <a16:creationId xmlns:a16="http://schemas.microsoft.com/office/drawing/2014/main" id="{40C99128-8773-4573-8FDD-EE816CA3E1ED}"/>
              </a:ext>
            </a:extLst>
          </p:cNvPr>
          <p:cNvSpPr>
            <a:spLocks noGrp="1"/>
          </p:cNvSpPr>
          <p:nvPr>
            <p:ph sz="half" idx="2"/>
          </p:nvPr>
        </p:nvSpPr>
        <p:spPr>
          <a:xfrm>
            <a:off x="5410200" y="1637636"/>
            <a:ext cx="5232400" cy="4267200"/>
          </a:xfrm>
        </p:spPr>
        <p:txBody>
          <a:bodyPr/>
          <a:lstStyle/>
          <a:p>
            <a:pPr marL="0" indent="0">
              <a:buNone/>
            </a:pPr>
            <a:r>
              <a:rPr lang="en-US" sz="1200" dirty="0"/>
              <a:t>Figure shows Comparison of local connections, convolution, and full connections. </a:t>
            </a:r>
          </a:p>
          <a:p>
            <a:pPr marL="0" indent="0">
              <a:buNone/>
            </a:pPr>
            <a:r>
              <a:rPr lang="en-US" sz="1200" dirty="0"/>
              <a:t>(Top)A locally connected layer with a patch size of two pixels. Each edge is labeled with a unique letter to show that each edge is associated with its own weight parameter.</a:t>
            </a:r>
          </a:p>
          <a:p>
            <a:pPr marL="0" indent="0">
              <a:buNone/>
            </a:pPr>
            <a:r>
              <a:rPr lang="en-US" sz="1200" dirty="0"/>
              <a:t>(Center)A convolutional layer with a kernel width of two pixels. This model has exactly the same connectivity as the locally connected layer. The difference lies not in which units interact with each other, but in how the parameters are shared. The locally connected layer has no parameter sharing. The convolutional layer uses the same two weights repeatedly</a:t>
            </a:r>
          </a:p>
          <a:p>
            <a:pPr marL="0" indent="0">
              <a:buNone/>
            </a:pPr>
            <a:r>
              <a:rPr lang="en-US" sz="1200" dirty="0"/>
              <a:t>across the entire input, as indicated by the repetition of the letters labeling each edge.</a:t>
            </a:r>
          </a:p>
          <a:p>
            <a:pPr marL="0" indent="0">
              <a:buNone/>
            </a:pPr>
            <a:r>
              <a:rPr lang="en-US" sz="1200" dirty="0"/>
              <a:t>(Bottom)A fully connected layer resembles a locally connected layer in the sense that each edge has its own parameter (there are too many to label explicitly with letters in this diagram). However, it does not have the restricted connectivity of the locally connected layer.</a:t>
            </a:r>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5225CC8F-27BB-4FE4-B430-0CEBAD88BE8A}"/>
              </a:ext>
            </a:extLst>
          </p:cNvPr>
          <p:cNvSpPr>
            <a:spLocks noGrp="1"/>
          </p:cNvSpPr>
          <p:nvPr>
            <p:ph type="sldNum" sz="quarter" idx="12"/>
          </p:nvPr>
        </p:nvSpPr>
        <p:spPr/>
        <p:txBody>
          <a:bodyPr/>
          <a:lstStyle/>
          <a:p>
            <a:fld id="{BB2CE0DE-867F-455F-B20B-96D381B4AB71}" type="slidenum">
              <a:rPr lang="en-US" smtClean="0"/>
              <a:t>87</a:t>
            </a:fld>
            <a:endParaRPr lang="en-US"/>
          </a:p>
        </p:txBody>
      </p:sp>
      <p:pic>
        <p:nvPicPr>
          <p:cNvPr id="6" name="Picture 5">
            <a:extLst>
              <a:ext uri="{FF2B5EF4-FFF2-40B4-BE49-F238E27FC236}">
                <a16:creationId xmlns:a16="http://schemas.microsoft.com/office/drawing/2014/main" id="{F5EB662C-D2E4-4266-B459-F830E1B7BDAA}"/>
              </a:ext>
            </a:extLst>
          </p:cNvPr>
          <p:cNvPicPr>
            <a:picLocks noChangeAspect="1"/>
          </p:cNvPicPr>
          <p:nvPr/>
        </p:nvPicPr>
        <p:blipFill>
          <a:blip r:embed="rId3"/>
          <a:stretch>
            <a:fillRect/>
          </a:stretch>
        </p:blipFill>
        <p:spPr>
          <a:xfrm>
            <a:off x="766233" y="1389653"/>
            <a:ext cx="4163006" cy="4763165"/>
          </a:xfrm>
          <a:prstGeom prst="rect">
            <a:avLst/>
          </a:prstGeom>
        </p:spPr>
      </p:pic>
    </p:spTree>
    <p:extLst>
      <p:ext uri="{BB962C8B-B14F-4D97-AF65-F5344CB8AC3E}">
        <p14:creationId xmlns:p14="http://schemas.microsoft.com/office/powerpoint/2010/main" val="375948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Locally Connected Layer </a:t>
            </a:r>
            <a:r>
              <a:rPr lang="en-US" sz="1400" dirty="0"/>
              <a:t>(Top Diagram)</a:t>
            </a:r>
          </a:p>
          <a:p>
            <a:pPr marL="0" indent="0">
              <a:buNone/>
            </a:pPr>
            <a:r>
              <a:rPr lang="en-US" sz="1400" dirty="0"/>
              <a:t>In the </a:t>
            </a:r>
            <a:r>
              <a:rPr lang="en-US" sz="1400" b="1" dirty="0"/>
              <a:t>top figure</a:t>
            </a:r>
            <a:r>
              <a:rPr lang="en-US" sz="1400" dirty="0"/>
              <a:t>, each output neuron </a:t>
            </a:r>
            <a:r>
              <a:rPr lang="en-US" sz="1400" dirty="0" err="1"/>
              <a:t>si</a:t>
            </a:r>
            <a:r>
              <a:rPr lang="en-US" sz="1400" dirty="0"/>
              <a:t>​ connects only to a </a:t>
            </a:r>
            <a:r>
              <a:rPr lang="en-US" sz="1400" b="1" dirty="0"/>
              <a:t>small local region of inputs</a:t>
            </a:r>
            <a:r>
              <a:rPr lang="en-US" sz="1400" dirty="0"/>
              <a:t>.</a:t>
            </a:r>
          </a:p>
          <a:p>
            <a:pPr marL="0" indent="0">
              <a:buNone/>
            </a:pPr>
            <a:r>
              <a:rPr lang="en-US" sz="1400" dirty="0"/>
              <a:t>Example connections shown:</a:t>
            </a:r>
          </a:p>
          <a:p>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88</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2"/>
          <a:stretch>
            <a:fillRect/>
          </a:stretch>
        </p:blipFill>
        <p:spPr>
          <a:xfrm>
            <a:off x="7273352" y="1921816"/>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379200" y="2133600"/>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305308" y="3942458"/>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277255" y="5587828"/>
            <a:ext cx="841897" cy="307777"/>
          </a:xfrm>
          <a:prstGeom prst="rect">
            <a:avLst/>
          </a:prstGeom>
          <a:noFill/>
        </p:spPr>
        <p:txBody>
          <a:bodyPr wrap="none" rtlCol="0">
            <a:spAutoFit/>
          </a:bodyPr>
          <a:lstStyle/>
          <a:p>
            <a:r>
              <a:rPr lang="en-US" sz="1400" dirty="0"/>
              <a:t>Bottom</a:t>
            </a:r>
            <a:endParaRPr lang="en-IN" sz="1400" dirty="0"/>
          </a:p>
        </p:txBody>
      </p:sp>
      <p:pic>
        <p:nvPicPr>
          <p:cNvPr id="7" name="Picture 6">
            <a:extLst>
              <a:ext uri="{FF2B5EF4-FFF2-40B4-BE49-F238E27FC236}">
                <a16:creationId xmlns:a16="http://schemas.microsoft.com/office/drawing/2014/main" id="{6D8ECA1D-E538-4472-B9AF-B81532DA2E94}"/>
              </a:ext>
            </a:extLst>
          </p:cNvPr>
          <p:cNvPicPr>
            <a:picLocks noChangeAspect="1"/>
          </p:cNvPicPr>
          <p:nvPr/>
        </p:nvPicPr>
        <p:blipFill>
          <a:blip r:embed="rId3"/>
          <a:stretch>
            <a:fillRect/>
          </a:stretch>
        </p:blipFill>
        <p:spPr>
          <a:xfrm>
            <a:off x="4889818" y="1915901"/>
            <a:ext cx="1105054" cy="1086002"/>
          </a:xfrm>
          <a:prstGeom prst="rect">
            <a:avLst/>
          </a:prstGeom>
        </p:spPr>
      </p:pic>
      <p:pic>
        <p:nvPicPr>
          <p:cNvPr id="11" name="Picture 10">
            <a:extLst>
              <a:ext uri="{FF2B5EF4-FFF2-40B4-BE49-F238E27FC236}">
                <a16:creationId xmlns:a16="http://schemas.microsoft.com/office/drawing/2014/main" id="{522FE956-41C7-4254-82BE-1D2B72DC13BB}"/>
              </a:ext>
            </a:extLst>
          </p:cNvPr>
          <p:cNvPicPr>
            <a:picLocks noChangeAspect="1"/>
          </p:cNvPicPr>
          <p:nvPr/>
        </p:nvPicPr>
        <p:blipFill>
          <a:blip r:embed="rId4"/>
          <a:stretch>
            <a:fillRect/>
          </a:stretch>
        </p:blipFill>
        <p:spPr>
          <a:xfrm>
            <a:off x="970404" y="2771640"/>
            <a:ext cx="3745988" cy="2357289"/>
          </a:xfrm>
          <a:prstGeom prst="rect">
            <a:avLst/>
          </a:prstGeom>
        </p:spPr>
      </p:pic>
      <p:pic>
        <p:nvPicPr>
          <p:cNvPr id="13" name="Picture 12">
            <a:extLst>
              <a:ext uri="{FF2B5EF4-FFF2-40B4-BE49-F238E27FC236}">
                <a16:creationId xmlns:a16="http://schemas.microsoft.com/office/drawing/2014/main" id="{651C4D34-CBBB-4315-8511-BA73ADC4DB8C}"/>
              </a:ext>
            </a:extLst>
          </p:cNvPr>
          <p:cNvPicPr>
            <a:picLocks noChangeAspect="1"/>
          </p:cNvPicPr>
          <p:nvPr/>
        </p:nvPicPr>
        <p:blipFill>
          <a:blip r:embed="rId5"/>
          <a:stretch>
            <a:fillRect/>
          </a:stretch>
        </p:blipFill>
        <p:spPr>
          <a:xfrm>
            <a:off x="790474" y="5288469"/>
            <a:ext cx="4105848" cy="1437913"/>
          </a:xfrm>
          <a:prstGeom prst="rect">
            <a:avLst/>
          </a:prstGeom>
        </p:spPr>
      </p:pic>
    </p:spTree>
    <p:extLst>
      <p:ext uri="{BB962C8B-B14F-4D97-AF65-F5344CB8AC3E}">
        <p14:creationId xmlns:p14="http://schemas.microsoft.com/office/powerpoint/2010/main" val="9274663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Convolutional Layer</a:t>
            </a:r>
            <a:r>
              <a:rPr lang="en-US" sz="1400" dirty="0"/>
              <a:t> (Center Diagram)</a:t>
            </a:r>
          </a:p>
          <a:p>
            <a:pPr marL="0" indent="0">
              <a:buNone/>
            </a:pPr>
            <a:r>
              <a:rPr lang="en-US" sz="1400" dirty="0"/>
              <a:t>The middle figure has exactly the same connectivity as the </a:t>
            </a:r>
          </a:p>
          <a:p>
            <a:pPr marL="0" indent="0">
              <a:buNone/>
            </a:pPr>
            <a:r>
              <a:rPr lang="en-US" sz="1400" dirty="0"/>
              <a:t>locally connected layer.</a:t>
            </a:r>
          </a:p>
          <a:p>
            <a:pPr marL="0" indent="0">
              <a:buNone/>
            </a:pPr>
            <a:r>
              <a:rPr lang="en-US" sz="1400" dirty="0"/>
              <a:t>Each output still depends on two nearby inputs.</a:t>
            </a:r>
          </a:p>
          <a:p>
            <a:pPr marL="0" indent="0">
              <a:buNone/>
            </a:pPr>
            <a:r>
              <a:rPr lang="en-US" sz="1400" dirty="0"/>
              <a:t>Example</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600" dirty="0"/>
          </a:p>
          <a:p>
            <a:pPr marL="0" indent="0">
              <a:buNone/>
            </a:pPr>
            <a:r>
              <a:rPr lang="en-US" sz="1400" dirty="0"/>
              <a:t>The same weights a and b repeat everywhere. </a:t>
            </a:r>
          </a:p>
          <a:p>
            <a:pPr marL="0" indent="0">
              <a:buNone/>
            </a:pPr>
            <a:r>
              <a:rPr lang="en-US" sz="1400" dirty="0"/>
              <a:t>This means the same filter slides across the input.</a:t>
            </a:r>
          </a:p>
          <a:p>
            <a:endParaRPr lang="en-IN" sz="800" dirty="0"/>
          </a:p>
          <a:p>
            <a:pPr marL="0" indent="0">
              <a:buNone/>
            </a:pPr>
            <a:endParaRPr lang="en-US" sz="1400" dirty="0"/>
          </a:p>
          <a:p>
            <a:endParaRPr lang="en-IN" sz="800" dirty="0"/>
          </a:p>
          <a:p>
            <a:pPr marL="0" indent="0">
              <a:buNone/>
            </a:pPr>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89</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3"/>
          <a:stretch>
            <a:fillRect/>
          </a:stretch>
        </p:blipFill>
        <p:spPr>
          <a:xfrm>
            <a:off x="7301061" y="1577905"/>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379200" y="2133600"/>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277600" y="3549134"/>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277599" y="5095429"/>
            <a:ext cx="841897" cy="307777"/>
          </a:xfrm>
          <a:prstGeom prst="rect">
            <a:avLst/>
          </a:prstGeom>
          <a:noFill/>
        </p:spPr>
        <p:txBody>
          <a:bodyPr wrap="none" rtlCol="0">
            <a:spAutoFit/>
          </a:bodyPr>
          <a:lstStyle/>
          <a:p>
            <a:r>
              <a:rPr lang="en-US" sz="1400" dirty="0"/>
              <a:t>Bottom</a:t>
            </a:r>
            <a:endParaRPr lang="en-IN" sz="1400" dirty="0"/>
          </a:p>
        </p:txBody>
      </p:sp>
      <p:pic>
        <p:nvPicPr>
          <p:cNvPr id="6" name="Picture 5">
            <a:extLst>
              <a:ext uri="{FF2B5EF4-FFF2-40B4-BE49-F238E27FC236}">
                <a16:creationId xmlns:a16="http://schemas.microsoft.com/office/drawing/2014/main" id="{9F5AEA98-66FC-44A7-A6E3-EF8A0ABDDDD4}"/>
              </a:ext>
            </a:extLst>
          </p:cNvPr>
          <p:cNvPicPr>
            <a:picLocks noChangeAspect="1"/>
          </p:cNvPicPr>
          <p:nvPr/>
        </p:nvPicPr>
        <p:blipFill>
          <a:blip r:embed="rId4"/>
          <a:stretch>
            <a:fillRect/>
          </a:stretch>
        </p:blipFill>
        <p:spPr>
          <a:xfrm>
            <a:off x="1799196" y="2441376"/>
            <a:ext cx="2270034" cy="1673423"/>
          </a:xfrm>
          <a:prstGeom prst="rect">
            <a:avLst/>
          </a:prstGeom>
        </p:spPr>
      </p:pic>
      <p:pic>
        <p:nvPicPr>
          <p:cNvPr id="11" name="Picture 10">
            <a:extLst>
              <a:ext uri="{FF2B5EF4-FFF2-40B4-BE49-F238E27FC236}">
                <a16:creationId xmlns:a16="http://schemas.microsoft.com/office/drawing/2014/main" id="{95F50799-A890-488E-92FF-FE82B1721F5E}"/>
              </a:ext>
            </a:extLst>
          </p:cNvPr>
          <p:cNvPicPr>
            <a:picLocks noChangeAspect="1"/>
          </p:cNvPicPr>
          <p:nvPr/>
        </p:nvPicPr>
        <p:blipFill>
          <a:blip r:embed="rId5"/>
          <a:stretch>
            <a:fillRect/>
          </a:stretch>
        </p:blipFill>
        <p:spPr>
          <a:xfrm>
            <a:off x="735060" y="5095430"/>
            <a:ext cx="4392438" cy="1512748"/>
          </a:xfrm>
          <a:prstGeom prst="rect">
            <a:avLst/>
          </a:prstGeom>
        </p:spPr>
      </p:pic>
    </p:spTree>
    <p:extLst>
      <p:ext uri="{BB962C8B-B14F-4D97-AF65-F5344CB8AC3E}">
        <p14:creationId xmlns:p14="http://schemas.microsoft.com/office/powerpoint/2010/main" val="28256896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Fully Connected Layer </a:t>
            </a:r>
            <a:r>
              <a:rPr lang="en-US" sz="1400" dirty="0"/>
              <a:t>(Bottom Diagram)</a:t>
            </a:r>
          </a:p>
          <a:p>
            <a:pPr marL="0" indent="0">
              <a:buNone/>
            </a:pPr>
            <a:r>
              <a:rPr lang="en-US" sz="1400" dirty="0"/>
              <a:t>In the bottom figure, each output neuron connects to every input neuron.</a:t>
            </a:r>
          </a:p>
          <a:p>
            <a:pPr marL="0" indent="0">
              <a:buNone/>
            </a:pPr>
            <a:r>
              <a:rPr lang="en-US" sz="1400" dirty="0"/>
              <a:t>Example:</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400" dirty="0"/>
              <a:t>So every node interacts with every input.</a:t>
            </a:r>
            <a:endParaRPr lang="en-US" sz="2400" dirty="0"/>
          </a:p>
          <a:p>
            <a:endParaRPr lang="en-IN" sz="20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90</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2"/>
          <a:stretch>
            <a:fillRect/>
          </a:stretch>
        </p:blipFill>
        <p:spPr>
          <a:xfrm>
            <a:off x="7347243" y="1761479"/>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379200" y="2133600"/>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277600" y="3549134"/>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277599" y="5095429"/>
            <a:ext cx="841897" cy="307777"/>
          </a:xfrm>
          <a:prstGeom prst="rect">
            <a:avLst/>
          </a:prstGeom>
          <a:noFill/>
        </p:spPr>
        <p:txBody>
          <a:bodyPr wrap="none" rtlCol="0">
            <a:spAutoFit/>
          </a:bodyPr>
          <a:lstStyle/>
          <a:p>
            <a:r>
              <a:rPr lang="en-US" sz="1400" dirty="0"/>
              <a:t>Bottom</a:t>
            </a:r>
            <a:endParaRPr lang="en-IN" sz="1400" dirty="0"/>
          </a:p>
        </p:txBody>
      </p:sp>
      <p:pic>
        <p:nvPicPr>
          <p:cNvPr id="6" name="Picture 5">
            <a:extLst>
              <a:ext uri="{FF2B5EF4-FFF2-40B4-BE49-F238E27FC236}">
                <a16:creationId xmlns:a16="http://schemas.microsoft.com/office/drawing/2014/main" id="{23A0BEE2-4DC7-43E4-B0B6-4A9870C987DD}"/>
              </a:ext>
            </a:extLst>
          </p:cNvPr>
          <p:cNvPicPr>
            <a:picLocks noChangeAspect="1"/>
          </p:cNvPicPr>
          <p:nvPr/>
        </p:nvPicPr>
        <p:blipFill>
          <a:blip r:embed="rId3"/>
          <a:stretch>
            <a:fillRect/>
          </a:stretch>
        </p:blipFill>
        <p:spPr>
          <a:xfrm>
            <a:off x="785091" y="2133600"/>
            <a:ext cx="3677163" cy="771633"/>
          </a:xfrm>
          <a:prstGeom prst="rect">
            <a:avLst/>
          </a:prstGeom>
        </p:spPr>
      </p:pic>
      <p:pic>
        <p:nvPicPr>
          <p:cNvPr id="11" name="Picture 10">
            <a:extLst>
              <a:ext uri="{FF2B5EF4-FFF2-40B4-BE49-F238E27FC236}">
                <a16:creationId xmlns:a16="http://schemas.microsoft.com/office/drawing/2014/main" id="{BCFC7BC2-07A0-4DBF-9393-D7C17A8890CD}"/>
              </a:ext>
            </a:extLst>
          </p:cNvPr>
          <p:cNvPicPr>
            <a:picLocks noChangeAspect="1"/>
          </p:cNvPicPr>
          <p:nvPr/>
        </p:nvPicPr>
        <p:blipFill>
          <a:blip r:embed="rId4"/>
          <a:stretch>
            <a:fillRect/>
          </a:stretch>
        </p:blipFill>
        <p:spPr>
          <a:xfrm>
            <a:off x="914400" y="3826830"/>
            <a:ext cx="4763165" cy="1562318"/>
          </a:xfrm>
          <a:prstGeom prst="rect">
            <a:avLst/>
          </a:prstGeom>
        </p:spPr>
      </p:pic>
    </p:spTree>
    <p:extLst>
      <p:ext uri="{BB962C8B-B14F-4D97-AF65-F5344CB8AC3E}">
        <p14:creationId xmlns:p14="http://schemas.microsoft.com/office/powerpoint/2010/main" val="1549799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Standard Convolution</a:t>
            </a:r>
          </a:p>
          <a:p>
            <a:pPr marL="0" indent="0">
              <a:buNone/>
            </a:pPr>
            <a:r>
              <a:rPr lang="en-US" sz="1400" dirty="0"/>
              <a:t>Standard convolution = the convolutional layer shown in the middle figure.</a:t>
            </a:r>
          </a:p>
          <a:p>
            <a:pPr marL="0" indent="0">
              <a:buNone/>
            </a:pPr>
            <a:r>
              <a:rPr lang="en-US" sz="1400" i="1" dirty="0"/>
              <a:t>Characteristics:</a:t>
            </a:r>
          </a:p>
          <a:p>
            <a:pPr marL="0" indent="0">
              <a:buNone/>
            </a:pPr>
            <a:r>
              <a:rPr lang="en-US" sz="1400" dirty="0"/>
              <a:t>Local connections </a:t>
            </a:r>
          </a:p>
          <a:p>
            <a:pPr marL="0" indent="0">
              <a:buNone/>
            </a:pPr>
            <a:r>
              <a:rPr lang="en-US" sz="1400" dirty="0"/>
              <a:t>Weight sharing </a:t>
            </a:r>
          </a:p>
          <a:p>
            <a:pPr marL="0" indent="0">
              <a:buNone/>
            </a:pPr>
            <a:r>
              <a:rPr lang="en-US" sz="1400" dirty="0"/>
              <a:t>Same filter everywhere </a:t>
            </a:r>
          </a:p>
          <a:p>
            <a:pPr marL="0" indent="0">
              <a:buNone/>
            </a:pPr>
            <a:endParaRPr lang="en-US" sz="1400" dirty="0"/>
          </a:p>
          <a:p>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3" name="Picture 2">
            <a:extLst>
              <a:ext uri="{FF2B5EF4-FFF2-40B4-BE49-F238E27FC236}">
                <a16:creationId xmlns:a16="http://schemas.microsoft.com/office/drawing/2014/main" id="{1CB8AEE7-1682-4D34-B1DE-6C3F063E9423}"/>
              </a:ext>
            </a:extLst>
          </p:cNvPr>
          <p:cNvPicPr>
            <a:picLocks noChangeAspect="1"/>
          </p:cNvPicPr>
          <p:nvPr/>
        </p:nvPicPr>
        <p:blipFill>
          <a:blip r:embed="rId3"/>
          <a:stretch>
            <a:fillRect/>
          </a:stretch>
        </p:blipFill>
        <p:spPr>
          <a:xfrm>
            <a:off x="7010400" y="1866480"/>
            <a:ext cx="4105848" cy="4639322"/>
          </a:xfrm>
          <a:prstGeom prst="rect">
            <a:avLst/>
          </a:prstGeom>
        </p:spPr>
      </p:pic>
      <p:sp>
        <p:nvSpPr>
          <p:cNvPr id="4" name="TextBox 3">
            <a:extLst>
              <a:ext uri="{FF2B5EF4-FFF2-40B4-BE49-F238E27FC236}">
                <a16:creationId xmlns:a16="http://schemas.microsoft.com/office/drawing/2014/main" id="{2CE5F66D-8970-4AE1-BC3B-884DA2AB0A8E}"/>
              </a:ext>
            </a:extLst>
          </p:cNvPr>
          <p:cNvSpPr txBox="1"/>
          <p:nvPr/>
        </p:nvSpPr>
        <p:spPr>
          <a:xfrm>
            <a:off x="11244810" y="2279139"/>
            <a:ext cx="497187" cy="307777"/>
          </a:xfrm>
          <a:prstGeom prst="rect">
            <a:avLst/>
          </a:prstGeom>
          <a:noFill/>
        </p:spPr>
        <p:txBody>
          <a:bodyPr wrap="none" rtlCol="0">
            <a:spAutoFit/>
          </a:bodyPr>
          <a:lstStyle/>
          <a:p>
            <a:r>
              <a:rPr lang="en-US" sz="1400" dirty="0"/>
              <a:t>Top</a:t>
            </a:r>
            <a:endParaRPr lang="en-IN" sz="1400" dirty="0"/>
          </a:p>
        </p:txBody>
      </p:sp>
      <p:sp>
        <p:nvSpPr>
          <p:cNvPr id="8" name="TextBox 7">
            <a:extLst>
              <a:ext uri="{FF2B5EF4-FFF2-40B4-BE49-F238E27FC236}">
                <a16:creationId xmlns:a16="http://schemas.microsoft.com/office/drawing/2014/main" id="{F99B4CDA-891B-4383-ACF6-D06A55B6312A}"/>
              </a:ext>
            </a:extLst>
          </p:cNvPr>
          <p:cNvSpPr txBox="1"/>
          <p:nvPr/>
        </p:nvSpPr>
        <p:spPr>
          <a:xfrm>
            <a:off x="11059745" y="4032252"/>
            <a:ext cx="785793" cy="307777"/>
          </a:xfrm>
          <a:prstGeom prst="rect">
            <a:avLst/>
          </a:prstGeom>
          <a:noFill/>
        </p:spPr>
        <p:txBody>
          <a:bodyPr wrap="none" rtlCol="0">
            <a:spAutoFit/>
          </a:bodyPr>
          <a:lstStyle/>
          <a:p>
            <a:r>
              <a:rPr lang="en-US" sz="1400" dirty="0"/>
              <a:t>Center</a:t>
            </a:r>
            <a:endParaRPr lang="en-IN" sz="1400" dirty="0"/>
          </a:p>
        </p:txBody>
      </p:sp>
      <p:sp>
        <p:nvSpPr>
          <p:cNvPr id="9" name="TextBox 8">
            <a:extLst>
              <a:ext uri="{FF2B5EF4-FFF2-40B4-BE49-F238E27FC236}">
                <a16:creationId xmlns:a16="http://schemas.microsoft.com/office/drawing/2014/main" id="{67F65C3B-B314-4B73-A225-581C8D95E04A}"/>
              </a:ext>
            </a:extLst>
          </p:cNvPr>
          <p:cNvSpPr txBox="1"/>
          <p:nvPr/>
        </p:nvSpPr>
        <p:spPr>
          <a:xfrm>
            <a:off x="11059647" y="5389577"/>
            <a:ext cx="841897" cy="307777"/>
          </a:xfrm>
          <a:prstGeom prst="rect">
            <a:avLst/>
          </a:prstGeom>
          <a:noFill/>
        </p:spPr>
        <p:txBody>
          <a:bodyPr wrap="none" rtlCol="0">
            <a:spAutoFit/>
          </a:bodyPr>
          <a:lstStyle/>
          <a:p>
            <a:r>
              <a:rPr lang="en-US" sz="1400" dirty="0"/>
              <a:t>Bottom</a:t>
            </a:r>
            <a:endParaRPr lang="en-IN" sz="1400" dirty="0"/>
          </a:p>
        </p:txBody>
      </p:sp>
    </p:spTree>
    <p:extLst>
      <p:ext uri="{BB962C8B-B14F-4D97-AF65-F5344CB8AC3E}">
        <p14:creationId xmlns:p14="http://schemas.microsoft.com/office/powerpoint/2010/main" val="23074478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D73208C-796A-4684-A370-FB9B440ADA66}"/>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18" name="Content Placeholder 17">
            <a:extLst>
              <a:ext uri="{FF2B5EF4-FFF2-40B4-BE49-F238E27FC236}">
                <a16:creationId xmlns:a16="http://schemas.microsoft.com/office/drawing/2014/main" id="{D18256CF-34B3-4648-9287-144F207492B9}"/>
              </a:ext>
            </a:extLst>
          </p:cNvPr>
          <p:cNvSpPr>
            <a:spLocks noGrp="1"/>
          </p:cNvSpPr>
          <p:nvPr>
            <p:ph idx="1"/>
          </p:nvPr>
        </p:nvSpPr>
        <p:spPr/>
        <p:txBody>
          <a:bodyPr/>
          <a:lstStyle/>
          <a:p>
            <a:pPr marL="0" indent="0">
              <a:buNone/>
            </a:pPr>
            <a:r>
              <a:rPr lang="en-US" sz="1400" dirty="0">
                <a:solidFill>
                  <a:srgbClr val="C00000"/>
                </a:solidFill>
              </a:rPr>
              <a:t>Tiled Convolution:</a:t>
            </a:r>
          </a:p>
          <a:p>
            <a:pPr marL="0" indent="0">
              <a:buNone/>
            </a:pPr>
            <a:r>
              <a:rPr lang="en-US" sz="1400" dirty="0"/>
              <a:t>Tiled convolution is between locally connected and standard convolution.</a:t>
            </a:r>
          </a:p>
          <a:p>
            <a:pPr marL="0" indent="0">
              <a:buNone/>
            </a:pPr>
            <a:r>
              <a:rPr lang="en-US" sz="1400" dirty="0"/>
              <a:t>Instead of one filter everywhere, we use a small set of filters that repeat.</a:t>
            </a:r>
          </a:p>
          <a:p>
            <a:pPr marL="0" indent="0">
              <a:buNone/>
            </a:pPr>
            <a:r>
              <a:rPr lang="en-US" sz="1400" dirty="0"/>
              <a:t>Example with two kernels</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IN" sz="1400" dirty="0"/>
              <a:t>So weights repeat periodically.</a:t>
            </a:r>
            <a:endParaRPr lang="en-US" sz="2400" dirty="0"/>
          </a:p>
          <a:p>
            <a:pPr marL="0" indent="0">
              <a:buNone/>
            </a:pPr>
            <a:endParaRPr lang="en-US" sz="1400" dirty="0"/>
          </a:p>
          <a:p>
            <a:pPr marL="0" indent="0">
              <a:buNone/>
            </a:pPr>
            <a:endParaRPr lang="en-US" sz="1400" dirty="0"/>
          </a:p>
          <a:p>
            <a:endParaRPr lang="en-IN" sz="1400" dirty="0"/>
          </a:p>
        </p:txBody>
      </p:sp>
      <p:sp>
        <p:nvSpPr>
          <p:cNvPr id="5" name="Slide Number Placeholder 4">
            <a:extLst>
              <a:ext uri="{FF2B5EF4-FFF2-40B4-BE49-F238E27FC236}">
                <a16:creationId xmlns:a16="http://schemas.microsoft.com/office/drawing/2014/main" id="{718B6644-0E29-42D1-BCE9-FD1FC6CE545C}"/>
              </a:ext>
            </a:extLst>
          </p:cNvPr>
          <p:cNvSpPr>
            <a:spLocks noGrp="1"/>
          </p:cNvSpPr>
          <p:nvPr>
            <p:ph type="sldNum" sz="quarter" idx="12"/>
          </p:nvPr>
        </p:nvSpPr>
        <p:spPr/>
        <p:txBody>
          <a:bodyPr/>
          <a:lstStyle/>
          <a:p>
            <a:fld id="{BB2CE0DE-867F-455F-B20B-96D381B4AB71}" type="slidenum">
              <a:rPr lang="en-US" smtClean="0"/>
              <a:t>92</a:t>
            </a:fld>
            <a:endParaRPr lang="en-US"/>
          </a:p>
        </p:txBody>
      </p:sp>
      <p:pic>
        <p:nvPicPr>
          <p:cNvPr id="6" name="Picture 5">
            <a:extLst>
              <a:ext uri="{FF2B5EF4-FFF2-40B4-BE49-F238E27FC236}">
                <a16:creationId xmlns:a16="http://schemas.microsoft.com/office/drawing/2014/main" id="{31091759-6880-497A-A6D8-AA639CC917AA}"/>
              </a:ext>
            </a:extLst>
          </p:cNvPr>
          <p:cNvPicPr>
            <a:picLocks noChangeAspect="1"/>
          </p:cNvPicPr>
          <p:nvPr/>
        </p:nvPicPr>
        <p:blipFill>
          <a:blip r:embed="rId3"/>
          <a:stretch>
            <a:fillRect/>
          </a:stretch>
        </p:blipFill>
        <p:spPr>
          <a:xfrm>
            <a:off x="3429000" y="2057399"/>
            <a:ext cx="1066800" cy="1252331"/>
          </a:xfrm>
          <a:prstGeom prst="rect">
            <a:avLst/>
          </a:prstGeom>
        </p:spPr>
      </p:pic>
      <p:pic>
        <p:nvPicPr>
          <p:cNvPr id="10" name="Picture 9">
            <a:extLst>
              <a:ext uri="{FF2B5EF4-FFF2-40B4-BE49-F238E27FC236}">
                <a16:creationId xmlns:a16="http://schemas.microsoft.com/office/drawing/2014/main" id="{456973A8-562F-4F54-A8C2-8360BE91308F}"/>
              </a:ext>
            </a:extLst>
          </p:cNvPr>
          <p:cNvPicPr>
            <a:picLocks noChangeAspect="1"/>
          </p:cNvPicPr>
          <p:nvPr/>
        </p:nvPicPr>
        <p:blipFill>
          <a:blip r:embed="rId4"/>
          <a:stretch>
            <a:fillRect/>
          </a:stretch>
        </p:blipFill>
        <p:spPr>
          <a:xfrm>
            <a:off x="1082679" y="2981220"/>
            <a:ext cx="1533739" cy="1505160"/>
          </a:xfrm>
          <a:prstGeom prst="rect">
            <a:avLst/>
          </a:prstGeom>
        </p:spPr>
      </p:pic>
      <p:pic>
        <p:nvPicPr>
          <p:cNvPr id="13" name="Picture 12">
            <a:extLst>
              <a:ext uri="{FF2B5EF4-FFF2-40B4-BE49-F238E27FC236}">
                <a16:creationId xmlns:a16="http://schemas.microsoft.com/office/drawing/2014/main" id="{1F85C65A-1B94-49BD-9991-C04D80A84E26}"/>
              </a:ext>
            </a:extLst>
          </p:cNvPr>
          <p:cNvPicPr>
            <a:picLocks noChangeAspect="1"/>
          </p:cNvPicPr>
          <p:nvPr/>
        </p:nvPicPr>
        <p:blipFill>
          <a:blip r:embed="rId5"/>
          <a:stretch>
            <a:fillRect/>
          </a:stretch>
        </p:blipFill>
        <p:spPr>
          <a:xfrm>
            <a:off x="7010400" y="1866480"/>
            <a:ext cx="4105848" cy="4639322"/>
          </a:xfrm>
          <a:prstGeom prst="rect">
            <a:avLst/>
          </a:prstGeom>
        </p:spPr>
      </p:pic>
      <p:sp>
        <p:nvSpPr>
          <p:cNvPr id="14" name="TextBox 13">
            <a:extLst>
              <a:ext uri="{FF2B5EF4-FFF2-40B4-BE49-F238E27FC236}">
                <a16:creationId xmlns:a16="http://schemas.microsoft.com/office/drawing/2014/main" id="{A98796D5-75FB-403B-813B-CD3EF00E5C90}"/>
              </a:ext>
            </a:extLst>
          </p:cNvPr>
          <p:cNvSpPr txBox="1"/>
          <p:nvPr/>
        </p:nvSpPr>
        <p:spPr>
          <a:xfrm>
            <a:off x="11244810" y="2279139"/>
            <a:ext cx="497187" cy="307777"/>
          </a:xfrm>
          <a:prstGeom prst="rect">
            <a:avLst/>
          </a:prstGeom>
          <a:noFill/>
        </p:spPr>
        <p:txBody>
          <a:bodyPr wrap="none" rtlCol="0">
            <a:spAutoFit/>
          </a:bodyPr>
          <a:lstStyle/>
          <a:p>
            <a:r>
              <a:rPr lang="en-US" sz="1400" dirty="0"/>
              <a:t>Top</a:t>
            </a:r>
            <a:endParaRPr lang="en-IN" sz="1400" dirty="0"/>
          </a:p>
        </p:txBody>
      </p:sp>
      <p:sp>
        <p:nvSpPr>
          <p:cNvPr id="15" name="TextBox 14">
            <a:extLst>
              <a:ext uri="{FF2B5EF4-FFF2-40B4-BE49-F238E27FC236}">
                <a16:creationId xmlns:a16="http://schemas.microsoft.com/office/drawing/2014/main" id="{E891EA06-9131-4BDD-A2A0-E3688AAD5412}"/>
              </a:ext>
            </a:extLst>
          </p:cNvPr>
          <p:cNvSpPr txBox="1"/>
          <p:nvPr/>
        </p:nvSpPr>
        <p:spPr>
          <a:xfrm>
            <a:off x="11059745" y="4032252"/>
            <a:ext cx="785793" cy="307777"/>
          </a:xfrm>
          <a:prstGeom prst="rect">
            <a:avLst/>
          </a:prstGeom>
          <a:noFill/>
        </p:spPr>
        <p:txBody>
          <a:bodyPr wrap="none" rtlCol="0">
            <a:spAutoFit/>
          </a:bodyPr>
          <a:lstStyle/>
          <a:p>
            <a:r>
              <a:rPr lang="en-US" sz="1400" dirty="0"/>
              <a:t>Center</a:t>
            </a:r>
            <a:endParaRPr lang="en-IN" sz="1400" dirty="0"/>
          </a:p>
        </p:txBody>
      </p:sp>
      <p:sp>
        <p:nvSpPr>
          <p:cNvPr id="16" name="TextBox 15">
            <a:extLst>
              <a:ext uri="{FF2B5EF4-FFF2-40B4-BE49-F238E27FC236}">
                <a16:creationId xmlns:a16="http://schemas.microsoft.com/office/drawing/2014/main" id="{A16A571E-8A94-43C6-AB2D-3E8076E5CB3A}"/>
              </a:ext>
            </a:extLst>
          </p:cNvPr>
          <p:cNvSpPr txBox="1"/>
          <p:nvPr/>
        </p:nvSpPr>
        <p:spPr>
          <a:xfrm>
            <a:off x="11059647" y="5389577"/>
            <a:ext cx="841897" cy="307777"/>
          </a:xfrm>
          <a:prstGeom prst="rect">
            <a:avLst/>
          </a:prstGeom>
          <a:noFill/>
        </p:spPr>
        <p:txBody>
          <a:bodyPr wrap="none" rtlCol="0">
            <a:spAutoFit/>
          </a:bodyPr>
          <a:lstStyle/>
          <a:p>
            <a:r>
              <a:rPr lang="en-US" sz="1400" dirty="0"/>
              <a:t>Bottom</a:t>
            </a:r>
            <a:endParaRPr lang="en-IN" sz="1400" dirty="0"/>
          </a:p>
        </p:txBody>
      </p:sp>
      <p:pic>
        <p:nvPicPr>
          <p:cNvPr id="12" name="Picture 11">
            <a:extLst>
              <a:ext uri="{FF2B5EF4-FFF2-40B4-BE49-F238E27FC236}">
                <a16:creationId xmlns:a16="http://schemas.microsoft.com/office/drawing/2014/main" id="{98DA97E6-6E8E-4C55-8A82-F963D8B57D3B}"/>
              </a:ext>
            </a:extLst>
          </p:cNvPr>
          <p:cNvPicPr>
            <a:picLocks noChangeAspect="1"/>
          </p:cNvPicPr>
          <p:nvPr/>
        </p:nvPicPr>
        <p:blipFill>
          <a:blip r:embed="rId6"/>
          <a:stretch>
            <a:fillRect/>
          </a:stretch>
        </p:blipFill>
        <p:spPr>
          <a:xfrm>
            <a:off x="812800" y="4906668"/>
            <a:ext cx="4439270" cy="1581371"/>
          </a:xfrm>
          <a:prstGeom prst="rect">
            <a:avLst/>
          </a:prstGeom>
        </p:spPr>
      </p:pic>
    </p:spTree>
    <p:extLst>
      <p:ext uri="{BB962C8B-B14F-4D97-AF65-F5344CB8AC3E}">
        <p14:creationId xmlns:p14="http://schemas.microsoft.com/office/powerpoint/2010/main" val="38475991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0EBD-D77E-45F3-8D41-4F1A469C1B7D}"/>
              </a:ext>
            </a:extLst>
          </p:cNvPr>
          <p:cNvSpPr>
            <a:spLocks noGrp="1"/>
          </p:cNvSpPr>
          <p:nvPr>
            <p:ph type="title"/>
          </p:nvPr>
        </p:nvSpPr>
        <p:spPr/>
        <p:txBody>
          <a:bodyPr/>
          <a:lstStyle/>
          <a:p>
            <a:r>
              <a:rPr lang="en-US" sz="2000" dirty="0">
                <a:solidFill>
                  <a:srgbClr val="262626"/>
                </a:solidFill>
                <a:latin typeface="Inter"/>
              </a:rPr>
              <a:t>Variants of the Basic Convolution Function:</a:t>
            </a:r>
            <a:br>
              <a:rPr lang="en-US" sz="2000" dirty="0">
                <a:solidFill>
                  <a:srgbClr val="262626"/>
                </a:solidFill>
                <a:latin typeface="Inter"/>
              </a:rPr>
            </a:br>
            <a:r>
              <a:rPr lang="en-US" sz="2000" dirty="0">
                <a:solidFill>
                  <a:srgbClr val="262626"/>
                </a:solidFill>
                <a:latin typeface="Inter"/>
              </a:rPr>
              <a:t>Fully connected, Locally connected, Standard convolution, Tiled convolution</a:t>
            </a:r>
            <a:endParaRPr lang="en-IN" sz="2000" dirty="0"/>
          </a:p>
        </p:txBody>
      </p:sp>
      <p:sp>
        <p:nvSpPr>
          <p:cNvPr id="3" name="Content Placeholder 2">
            <a:extLst>
              <a:ext uri="{FF2B5EF4-FFF2-40B4-BE49-F238E27FC236}">
                <a16:creationId xmlns:a16="http://schemas.microsoft.com/office/drawing/2014/main" id="{295BC599-95F5-403B-AA7F-023394D6109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BA04766-B668-4040-93F9-4B9B37862BC4}"/>
              </a:ext>
            </a:extLst>
          </p:cNvPr>
          <p:cNvSpPr>
            <a:spLocks noGrp="1"/>
          </p:cNvSpPr>
          <p:nvPr>
            <p:ph type="sldNum" sz="quarter" idx="12"/>
          </p:nvPr>
        </p:nvSpPr>
        <p:spPr/>
        <p:txBody>
          <a:bodyPr/>
          <a:lstStyle/>
          <a:p>
            <a:fld id="{BB2CE0DE-867F-455F-B20B-96D381B4AB71}" type="slidenum">
              <a:rPr lang="en-US" smtClean="0"/>
              <a:t>93</a:t>
            </a:fld>
            <a:endParaRPr lang="en-US"/>
          </a:p>
        </p:txBody>
      </p:sp>
      <p:pic>
        <p:nvPicPr>
          <p:cNvPr id="6" name="Picture 5">
            <a:extLst>
              <a:ext uri="{FF2B5EF4-FFF2-40B4-BE49-F238E27FC236}">
                <a16:creationId xmlns:a16="http://schemas.microsoft.com/office/drawing/2014/main" id="{F9895B5B-534F-4299-8DF1-117D64C1E640}"/>
              </a:ext>
            </a:extLst>
          </p:cNvPr>
          <p:cNvPicPr>
            <a:picLocks noChangeAspect="1"/>
          </p:cNvPicPr>
          <p:nvPr/>
        </p:nvPicPr>
        <p:blipFill>
          <a:blip r:embed="rId2"/>
          <a:stretch>
            <a:fillRect/>
          </a:stretch>
        </p:blipFill>
        <p:spPr>
          <a:xfrm>
            <a:off x="755650" y="1080654"/>
            <a:ext cx="10272611" cy="3186546"/>
          </a:xfrm>
          <a:prstGeom prst="rect">
            <a:avLst/>
          </a:prstGeom>
        </p:spPr>
      </p:pic>
      <p:sp>
        <p:nvSpPr>
          <p:cNvPr id="7" name="TextBox 6">
            <a:extLst>
              <a:ext uri="{FF2B5EF4-FFF2-40B4-BE49-F238E27FC236}">
                <a16:creationId xmlns:a16="http://schemas.microsoft.com/office/drawing/2014/main" id="{DD3FBF4A-F0BC-422A-9686-BA26EB78F62D}"/>
              </a:ext>
            </a:extLst>
          </p:cNvPr>
          <p:cNvSpPr txBox="1"/>
          <p:nvPr/>
        </p:nvSpPr>
        <p:spPr>
          <a:xfrm>
            <a:off x="755650" y="4578064"/>
            <a:ext cx="8401274" cy="1754326"/>
          </a:xfrm>
          <a:prstGeom prst="rect">
            <a:avLst/>
          </a:prstGeom>
          <a:noFill/>
        </p:spPr>
        <p:txBody>
          <a:bodyPr wrap="none" rtlCol="0">
            <a:spAutoFit/>
          </a:bodyPr>
          <a:lstStyle/>
          <a:p>
            <a:r>
              <a:rPr lang="en-US" dirty="0"/>
              <a:t>Imagine detecting edges in an image.</a:t>
            </a:r>
          </a:p>
          <a:p>
            <a:r>
              <a:rPr lang="en-US" dirty="0"/>
              <a:t>Fully connected: Every pixel interacts with every neuron.</a:t>
            </a:r>
          </a:p>
          <a:p>
            <a:r>
              <a:rPr lang="en-US" dirty="0"/>
              <a:t>Locally connected: Each location learns its own edge detector.</a:t>
            </a:r>
          </a:p>
          <a:p>
            <a:r>
              <a:rPr lang="en-US" dirty="0"/>
              <a:t>Standard convolution: One universal edge detector works everywhere.</a:t>
            </a:r>
          </a:p>
          <a:p>
            <a:r>
              <a:rPr lang="en-US" dirty="0"/>
              <a:t>Tiled convolution: A few edge detectors repeat across the image.</a:t>
            </a:r>
          </a:p>
          <a:p>
            <a:endParaRPr lang="en-IN" dirty="0"/>
          </a:p>
        </p:txBody>
      </p:sp>
    </p:spTree>
    <p:extLst>
      <p:ext uri="{BB962C8B-B14F-4D97-AF65-F5344CB8AC3E}">
        <p14:creationId xmlns:p14="http://schemas.microsoft.com/office/powerpoint/2010/main" val="17485197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36FF-7F2E-4A2F-9D9C-3A8E8C3429AF}"/>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75908967-3228-4151-B2DB-D5FAB6D1CDC1}"/>
              </a:ext>
            </a:extLst>
          </p:cNvPr>
          <p:cNvSpPr>
            <a:spLocks noGrp="1"/>
          </p:cNvSpPr>
          <p:nvPr>
            <p:ph idx="1"/>
          </p:nvPr>
        </p:nvSpPr>
        <p:spPr/>
        <p:txBody>
          <a:bodyPr/>
          <a:lstStyle/>
          <a:p>
            <a:r>
              <a:rPr lang="en-US" sz="1800" dirty="0"/>
              <a:t>Show the different variants of the convolution in terms of convolution with a stride and the effect of zero padding with appropriate examples</a:t>
            </a:r>
          </a:p>
          <a:p>
            <a:r>
              <a:rPr lang="en-US" sz="1800" dirty="0"/>
              <a:t>With a neat diagram, demonstrate the convolution variations for the locally connected layers, tiled convolution and standard convolution. </a:t>
            </a:r>
          </a:p>
          <a:p>
            <a:r>
              <a:rPr lang="en-US" sz="1800" dirty="0"/>
              <a:t>Explain the three special cases of zero padding settings in terms of width of the image and the width of the kernel.</a:t>
            </a:r>
          </a:p>
          <a:p>
            <a:r>
              <a:rPr lang="en-US" sz="1800" dirty="0"/>
              <a:t>List different types of priors and analyze the idea of treating a convolutional network as a fully connected network with an infinitely strong prior. Discuss how this perspective enhances the understanding of convolutional networks functionality and benefits</a:t>
            </a:r>
          </a:p>
          <a:p>
            <a:endParaRPr lang="en-US" sz="1800" dirty="0"/>
          </a:p>
          <a:p>
            <a:endParaRPr lang="en-US" sz="1800" dirty="0"/>
          </a:p>
          <a:p>
            <a:endParaRPr lang="en-IN" sz="1800" dirty="0"/>
          </a:p>
        </p:txBody>
      </p:sp>
      <p:sp>
        <p:nvSpPr>
          <p:cNvPr id="4" name="Slide Number Placeholder 3">
            <a:extLst>
              <a:ext uri="{FF2B5EF4-FFF2-40B4-BE49-F238E27FC236}">
                <a16:creationId xmlns:a16="http://schemas.microsoft.com/office/drawing/2014/main" id="{A756974D-731D-47C8-88C0-C6F8180A31A7}"/>
              </a:ext>
            </a:extLst>
          </p:cNvPr>
          <p:cNvSpPr>
            <a:spLocks noGrp="1"/>
          </p:cNvSpPr>
          <p:nvPr>
            <p:ph type="sldNum" sz="quarter" idx="12"/>
          </p:nvPr>
        </p:nvSpPr>
        <p:spPr/>
        <p:txBody>
          <a:bodyPr/>
          <a:lstStyle/>
          <a:p>
            <a:fld id="{BB2CE0DE-867F-455F-B20B-96D381B4AB71}" type="slidenum">
              <a:rPr lang="en-US" smtClean="0"/>
              <a:t>94</a:t>
            </a:fld>
            <a:endParaRPr lang="en-US"/>
          </a:p>
        </p:txBody>
      </p:sp>
    </p:spTree>
    <p:extLst>
      <p:ext uri="{BB962C8B-B14F-4D97-AF65-F5344CB8AC3E}">
        <p14:creationId xmlns:p14="http://schemas.microsoft.com/office/powerpoint/2010/main" val="33486032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3A03-E9B9-45A3-B4E5-4FC51B0C3B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57779F-D0AB-4C8E-AAE2-F1369628F86E}"/>
              </a:ext>
            </a:extLst>
          </p:cNvPr>
          <p:cNvSpPr>
            <a:spLocks noGrp="1"/>
          </p:cNvSpPr>
          <p:nvPr>
            <p:ph idx="1"/>
          </p:nvPr>
        </p:nvSpPr>
        <p:spPr/>
        <p:txBody>
          <a:bodyPr/>
          <a:lstStyle/>
          <a:p>
            <a:r>
              <a:rPr lang="en-US" sz="3200" dirty="0">
                <a:solidFill>
                  <a:srgbClr val="262626"/>
                </a:solidFill>
                <a:latin typeface="Inter"/>
              </a:rPr>
              <a:t>Variants of the Basic Convolution Function, Structured Outputs, Data Types, Efficient Convolution Algorithms</a:t>
            </a:r>
            <a:endParaRPr lang="en-IN" dirty="0"/>
          </a:p>
        </p:txBody>
      </p:sp>
      <p:sp>
        <p:nvSpPr>
          <p:cNvPr id="4" name="Slide Number Placeholder 3">
            <a:extLst>
              <a:ext uri="{FF2B5EF4-FFF2-40B4-BE49-F238E27FC236}">
                <a16:creationId xmlns:a16="http://schemas.microsoft.com/office/drawing/2014/main" id="{9F872605-1FD0-4A94-9D0E-E2FF4A1E54A3}"/>
              </a:ext>
            </a:extLst>
          </p:cNvPr>
          <p:cNvSpPr>
            <a:spLocks noGrp="1"/>
          </p:cNvSpPr>
          <p:nvPr>
            <p:ph type="sldNum" sz="quarter" idx="12"/>
          </p:nvPr>
        </p:nvSpPr>
        <p:spPr/>
        <p:txBody>
          <a:bodyPr/>
          <a:lstStyle/>
          <a:p>
            <a:fld id="{BB2CE0DE-867F-455F-B20B-96D381B4AB71}" type="slidenum">
              <a:rPr lang="en-US" smtClean="0"/>
              <a:t>95</a:t>
            </a:fld>
            <a:endParaRPr lang="en-US"/>
          </a:p>
        </p:txBody>
      </p:sp>
    </p:spTree>
    <p:extLst>
      <p:ext uri="{BB962C8B-B14F-4D97-AF65-F5344CB8AC3E}">
        <p14:creationId xmlns:p14="http://schemas.microsoft.com/office/powerpoint/2010/main" val="30681634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96</a:t>
            </a:fld>
            <a:endParaRPr lang="en-US"/>
          </a:p>
        </p:txBody>
      </p:sp>
    </p:spTree>
    <p:extLst>
      <p:ext uri="{BB962C8B-B14F-4D97-AF65-F5344CB8AC3E}">
        <p14:creationId xmlns:p14="http://schemas.microsoft.com/office/powerpoint/2010/main" val="678513518"/>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F66F-5646-44B8-95E2-62ED1390AA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563C14-5E69-4A9F-AF7C-B39DA543E6D1}"/>
              </a:ext>
            </a:extLst>
          </p:cNvPr>
          <p:cNvSpPr>
            <a:spLocks noGrp="1"/>
          </p:cNvSpPr>
          <p:nvPr>
            <p:ph idx="1"/>
          </p:nvPr>
        </p:nvSpPr>
        <p:spPr/>
        <p:txBody>
          <a:bodyPr/>
          <a:lstStyle/>
          <a:p>
            <a:pPr algn="just"/>
            <a:r>
              <a:rPr lang="en-US" sz="1400" dirty="0"/>
              <a:t>What will happen if the Learning Rate is set too low or too high?</a:t>
            </a:r>
          </a:p>
          <a:p>
            <a:pPr algn="just"/>
            <a:r>
              <a:rPr lang="en-US" sz="1400" dirty="0"/>
              <a:t>Can we use CNN to perform dimensionality reduction? If yes then which layer is responsible for dimensionality reduction particularly in CNN.</a:t>
            </a:r>
          </a:p>
          <a:p>
            <a:pPr algn="just"/>
            <a:r>
              <a:rPr lang="en-US" sz="1400" dirty="0"/>
              <a:t>Describe the architecture of a typical Convolutional Neural Network (CNN)?</a:t>
            </a:r>
          </a:p>
          <a:p>
            <a:pPr algn="just"/>
            <a:endParaRPr lang="en-IN" sz="1400" dirty="0"/>
          </a:p>
        </p:txBody>
      </p:sp>
      <p:sp>
        <p:nvSpPr>
          <p:cNvPr id="4" name="Slide Number Placeholder 3">
            <a:extLst>
              <a:ext uri="{FF2B5EF4-FFF2-40B4-BE49-F238E27FC236}">
                <a16:creationId xmlns:a16="http://schemas.microsoft.com/office/drawing/2014/main" id="{DE72F5CD-78CD-49D5-8F9E-CA58AADBBBF9}"/>
              </a:ext>
            </a:extLst>
          </p:cNvPr>
          <p:cNvSpPr>
            <a:spLocks noGrp="1"/>
          </p:cNvSpPr>
          <p:nvPr>
            <p:ph type="sldNum" sz="quarter" idx="12"/>
          </p:nvPr>
        </p:nvSpPr>
        <p:spPr/>
        <p:txBody>
          <a:bodyPr/>
          <a:lstStyle/>
          <a:p>
            <a:fld id="{BB2CE0DE-867F-455F-B20B-96D381B4AB71}" type="slidenum">
              <a:rPr lang="en-US" smtClean="0"/>
              <a:t>97</a:t>
            </a:fld>
            <a:endParaRPr lang="en-US"/>
          </a:p>
        </p:txBody>
      </p:sp>
    </p:spTree>
    <p:extLst>
      <p:ext uri="{BB962C8B-B14F-4D97-AF65-F5344CB8AC3E}">
        <p14:creationId xmlns:p14="http://schemas.microsoft.com/office/powerpoint/2010/main" val="38444861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B00F-823E-42FE-80D3-26B06521FD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BC44FE-302C-4C9A-B3E0-2BEBA5010D7B}"/>
              </a:ext>
            </a:extLst>
          </p:cNvPr>
          <p:cNvSpPr>
            <a:spLocks noGrp="1"/>
          </p:cNvSpPr>
          <p:nvPr>
            <p:ph idx="1"/>
          </p:nvPr>
        </p:nvSpPr>
        <p:spPr/>
        <p:txBody>
          <a:bodyPr/>
          <a:lstStyle/>
          <a:p>
            <a:pPr algn="just"/>
            <a:r>
              <a:rPr lang="en-US" sz="1400" dirty="0"/>
              <a:t>Derive the equation for convolution operation with an illustration. Provide a detailed explanation and derivation of the formula for discrete convolution and state any properties of convolution.</a:t>
            </a:r>
          </a:p>
          <a:p>
            <a:pPr algn="just"/>
            <a:r>
              <a:rPr lang="en-IN" sz="1400" dirty="0"/>
              <a:t>Show how convolution neural network output a high dimensional structured object. Illustrate recurrent convolutional neural network for pixel </a:t>
            </a:r>
            <a:r>
              <a:rPr lang="en-IN" sz="1400" dirty="0" err="1"/>
              <a:t>labeling</a:t>
            </a:r>
            <a:r>
              <a:rPr lang="en-IN" sz="1400" dirty="0"/>
              <a:t>. Provide strategies to overcome the disadvantages when output plane is smaller than input plane.</a:t>
            </a:r>
          </a:p>
        </p:txBody>
      </p:sp>
      <p:sp>
        <p:nvSpPr>
          <p:cNvPr id="4" name="Slide Number Placeholder 3">
            <a:extLst>
              <a:ext uri="{FF2B5EF4-FFF2-40B4-BE49-F238E27FC236}">
                <a16:creationId xmlns:a16="http://schemas.microsoft.com/office/drawing/2014/main" id="{371F15E3-BFBE-47CF-A66A-CC50F8440D05}"/>
              </a:ext>
            </a:extLst>
          </p:cNvPr>
          <p:cNvSpPr>
            <a:spLocks noGrp="1"/>
          </p:cNvSpPr>
          <p:nvPr>
            <p:ph type="sldNum" sz="quarter" idx="12"/>
          </p:nvPr>
        </p:nvSpPr>
        <p:spPr/>
        <p:txBody>
          <a:bodyPr/>
          <a:lstStyle/>
          <a:p>
            <a:fld id="{BB2CE0DE-867F-455F-B20B-96D381B4AB71}" type="slidenum">
              <a:rPr lang="en-US" smtClean="0"/>
              <a:t>98</a:t>
            </a:fld>
            <a:endParaRPr lang="en-US"/>
          </a:p>
        </p:txBody>
      </p:sp>
    </p:spTree>
    <p:extLst>
      <p:ext uri="{BB962C8B-B14F-4D97-AF65-F5344CB8AC3E}">
        <p14:creationId xmlns:p14="http://schemas.microsoft.com/office/powerpoint/2010/main" val="205055629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315-ED2B-49C0-96D8-F5AF3264DD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5A0759-A196-4781-961F-55438A9B0F27}"/>
              </a:ext>
            </a:extLst>
          </p:cNvPr>
          <p:cNvSpPr>
            <a:spLocks noGrp="1"/>
          </p:cNvSpPr>
          <p:nvPr>
            <p:ph idx="1"/>
          </p:nvPr>
        </p:nvSpPr>
        <p:spPr/>
        <p:txBody>
          <a:bodyPr/>
          <a:lstStyle/>
          <a:p>
            <a:pPr marL="0" indent="0">
              <a:buNone/>
            </a:pPr>
            <a:r>
              <a:rPr lang="en-US" sz="2000" dirty="0" err="1"/>
              <a:t>i</a:t>
            </a:r>
            <a:r>
              <a:rPr lang="en-US" sz="2000" dirty="0"/>
              <a:t>. </a:t>
            </a:r>
            <a:r>
              <a:rPr lang="en-US" sz="2000" dirty="0" err="1"/>
              <a:t>i</a:t>
            </a:r>
            <a:r>
              <a:rPr lang="en-US" sz="2000" dirty="0"/>
              <a:t>) Illustrate the different formats of data that can be used with convolutional networks. </a:t>
            </a:r>
          </a:p>
          <a:p>
            <a:pPr marL="0" indent="0">
              <a:buNone/>
            </a:pPr>
            <a:r>
              <a:rPr lang="en-US" sz="2000" dirty="0"/>
              <a:t>ii) Justify that the kernel that is separable is inefficient.</a:t>
            </a:r>
            <a:endParaRPr lang="en-IN" sz="2000" dirty="0"/>
          </a:p>
        </p:txBody>
      </p:sp>
      <p:sp>
        <p:nvSpPr>
          <p:cNvPr id="4" name="Slide Number Placeholder 3">
            <a:extLst>
              <a:ext uri="{FF2B5EF4-FFF2-40B4-BE49-F238E27FC236}">
                <a16:creationId xmlns:a16="http://schemas.microsoft.com/office/drawing/2014/main" id="{252B2927-EB26-41B9-BB78-F132D5D8DDB8}"/>
              </a:ext>
            </a:extLst>
          </p:cNvPr>
          <p:cNvSpPr>
            <a:spLocks noGrp="1"/>
          </p:cNvSpPr>
          <p:nvPr>
            <p:ph type="sldNum" sz="quarter" idx="12"/>
          </p:nvPr>
        </p:nvSpPr>
        <p:spPr/>
        <p:txBody>
          <a:bodyPr/>
          <a:lstStyle/>
          <a:p>
            <a:fld id="{BB2CE0DE-867F-455F-B20B-96D381B4AB71}" type="slidenum">
              <a:rPr lang="en-US" smtClean="0"/>
              <a:t>99</a:t>
            </a:fld>
            <a:endParaRPr lang="en-US"/>
          </a:p>
        </p:txBody>
      </p:sp>
    </p:spTree>
    <p:extLst>
      <p:ext uri="{BB962C8B-B14F-4D97-AF65-F5344CB8AC3E}">
        <p14:creationId xmlns:p14="http://schemas.microsoft.com/office/powerpoint/2010/main" val="35326417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B6F7F-2939-4CFC-A34C-05BBC45E7C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986DB9-AD15-41A5-B30D-D9AC12DC8D6D}"/>
              </a:ext>
            </a:extLst>
          </p:cNvPr>
          <p:cNvSpPr>
            <a:spLocks noGrp="1"/>
          </p:cNvSpPr>
          <p:nvPr>
            <p:ph idx="1"/>
          </p:nvPr>
        </p:nvSpPr>
        <p:spPr/>
        <p:txBody>
          <a:bodyPr/>
          <a:lstStyle/>
          <a:p>
            <a:pPr algn="just"/>
            <a:r>
              <a:rPr lang="en-US" sz="1800" dirty="0"/>
              <a:t>Describe the various data formats that can be used with convolutional networks, and how do they influence the network’s performance and application?</a:t>
            </a:r>
          </a:p>
          <a:p>
            <a:pPr algn="just"/>
            <a:r>
              <a:rPr lang="en-US" sz="1100" dirty="0"/>
              <a:t>Illustrate how Convolutional Networks produce </a:t>
            </a:r>
            <a:r>
              <a:rPr lang="en-US" sz="1100" dirty="0" err="1"/>
              <a:t>highdimensional</a:t>
            </a:r>
            <a:r>
              <a:rPr lang="en-US" sz="1100" dirty="0"/>
              <a:t>, structured outputs, and how can a recurrent convolutional network be applied for pixel labeling? What strategies can be used to address the disadvantage when the output plane is smaller than the input plane?</a:t>
            </a:r>
            <a:endParaRPr lang="en-US" sz="1800" dirty="0"/>
          </a:p>
          <a:p>
            <a:pPr algn="just"/>
            <a:r>
              <a:rPr lang="en-US" sz="1100" dirty="0"/>
              <a:t>Derive the equation of down sampling. Provide the necessity to implicitly zero-pad the input V in order to make it wider. </a:t>
            </a:r>
            <a:r>
              <a:rPr lang="en-US" sz="1100" dirty="0" err="1"/>
              <a:t>Analyse</a:t>
            </a:r>
            <a:r>
              <a:rPr lang="en-US" sz="1100" dirty="0"/>
              <a:t> the three important cases which necessitates the use of zero padding and provide the explanation of each term.</a:t>
            </a:r>
            <a:endParaRPr lang="en-IN" sz="1800" dirty="0"/>
          </a:p>
        </p:txBody>
      </p:sp>
      <p:sp>
        <p:nvSpPr>
          <p:cNvPr id="4" name="Slide Number Placeholder 3">
            <a:extLst>
              <a:ext uri="{FF2B5EF4-FFF2-40B4-BE49-F238E27FC236}">
                <a16:creationId xmlns:a16="http://schemas.microsoft.com/office/drawing/2014/main" id="{7975A90D-9DCE-4C84-8F39-54DEC07F7EE3}"/>
              </a:ext>
            </a:extLst>
          </p:cNvPr>
          <p:cNvSpPr>
            <a:spLocks noGrp="1"/>
          </p:cNvSpPr>
          <p:nvPr>
            <p:ph type="sldNum" sz="quarter" idx="12"/>
          </p:nvPr>
        </p:nvSpPr>
        <p:spPr/>
        <p:txBody>
          <a:bodyPr/>
          <a:lstStyle/>
          <a:p>
            <a:fld id="{BB2CE0DE-867F-455F-B20B-96D381B4AB71}" type="slidenum">
              <a:rPr lang="en-US" smtClean="0"/>
              <a:t>100</a:t>
            </a:fld>
            <a:endParaRPr lang="en-US"/>
          </a:p>
        </p:txBody>
      </p:sp>
    </p:spTree>
    <p:extLst>
      <p:ext uri="{BB962C8B-B14F-4D97-AF65-F5344CB8AC3E}">
        <p14:creationId xmlns:p14="http://schemas.microsoft.com/office/powerpoint/2010/main" val="31442599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E3E0-2C63-4747-AE68-06F53CFF79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0BCD5C-8BF0-4BDD-882E-700C26C519DA}"/>
              </a:ext>
            </a:extLst>
          </p:cNvPr>
          <p:cNvSpPr>
            <a:spLocks noGrp="1"/>
          </p:cNvSpPr>
          <p:nvPr>
            <p:ph idx="1"/>
          </p:nvPr>
        </p:nvSpPr>
        <p:spPr/>
        <p:txBody>
          <a:bodyPr/>
          <a:lstStyle/>
          <a:p>
            <a:r>
              <a:rPr lang="en-IN" sz="1800" dirty="0">
                <a:effectLst/>
                <a:latin typeface="Times New Roman" panose="02020603050405020304" pitchFamily="18" charset="0"/>
                <a:ea typeface="Arial" panose="020B0604020202020204" pitchFamily="34" charset="0"/>
              </a:rPr>
              <a:t>Illustrate how parameter sharing occurs in Convolutional Neural Network when processing images.</a:t>
            </a:r>
          </a:p>
          <a:p>
            <a:r>
              <a:rPr lang="en-IN" sz="1800" dirty="0">
                <a:solidFill>
                  <a:srgbClr val="000000"/>
                </a:solidFill>
                <a:effectLst/>
                <a:latin typeface="Times New Roman" panose="02020603050405020304" pitchFamily="18" charset="0"/>
                <a:ea typeface="Arial" panose="020B0604020202020204" pitchFamily="34" charset="0"/>
              </a:rPr>
              <a:t>Illustrate the different formats of data varying with dimensionality and channels that can be used with convolution.</a:t>
            </a:r>
            <a:endParaRPr lang="en-IN" sz="1800" dirty="0">
              <a:solidFill>
                <a:srgbClr val="000000"/>
              </a:solidFill>
              <a:latin typeface="Times New Roman" panose="02020603050405020304" pitchFamily="18" charset="0"/>
              <a:ea typeface="Arial" panose="020B0604020202020204" pitchFamily="34" charset="0"/>
            </a:endParaRPr>
          </a:p>
          <a:p>
            <a:r>
              <a:rPr lang="en-IN" sz="1800" dirty="0">
                <a:effectLst/>
                <a:latin typeface="Times New Roman" panose="02020603050405020304" pitchFamily="18" charset="0"/>
                <a:ea typeface="Arial" panose="020B0604020202020204" pitchFamily="34" charset="0"/>
              </a:rPr>
              <a:t>Given below is an input matrix of shape 7 X 7. What will be the output on applying a max pooling and average pooling of size 3 X 3 with a stride of 2?</a:t>
            </a:r>
            <a:endParaRPr lang="en-IN" sz="1800" dirty="0">
              <a:effectLst/>
              <a:latin typeface="Arial" panose="020B0604020202020204" pitchFamily="34" charset="0"/>
              <a:ea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A6568A5E-D620-4803-A25A-DCE0F0BB9A4A}"/>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5" name="Picture 4">
            <a:extLst>
              <a:ext uri="{FF2B5EF4-FFF2-40B4-BE49-F238E27FC236}">
                <a16:creationId xmlns:a16="http://schemas.microsoft.com/office/drawing/2014/main" id="{CBF20564-225A-4798-BBD5-AB8C6B03D18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19400"/>
            <a:ext cx="3962400" cy="1524000"/>
          </a:xfrm>
          <a:prstGeom prst="rect">
            <a:avLst/>
          </a:prstGeom>
          <a:noFill/>
          <a:ln>
            <a:noFill/>
          </a:ln>
        </p:spPr>
      </p:pic>
    </p:spTree>
    <p:extLst>
      <p:ext uri="{BB962C8B-B14F-4D97-AF65-F5344CB8AC3E}">
        <p14:creationId xmlns:p14="http://schemas.microsoft.com/office/powerpoint/2010/main" val="34271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BFB69-9EDE-4D60-8957-475B33660E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2CC8FC-FF3F-4882-B5AD-E615729DA150}"/>
              </a:ext>
            </a:extLst>
          </p:cNvPr>
          <p:cNvSpPr>
            <a:spLocks noGrp="1"/>
          </p:cNvSpPr>
          <p:nvPr>
            <p:ph idx="1"/>
          </p:nvPr>
        </p:nvSpPr>
        <p:spPr/>
        <p:txBody>
          <a:bodyPr/>
          <a:lstStyle/>
          <a:p>
            <a:r>
              <a:rPr lang="en-IN" sz="1800" dirty="0" err="1">
                <a:effectLst/>
                <a:latin typeface="Times New Roman" panose="02020603050405020304" pitchFamily="18" charset="0"/>
                <a:ea typeface="Arial" panose="020B0604020202020204" pitchFamily="34" charset="0"/>
              </a:rPr>
              <a:t>Analyze</a:t>
            </a:r>
            <a:r>
              <a:rPr lang="en-IN" sz="1800" dirty="0">
                <a:effectLst/>
                <a:latin typeface="Times New Roman" panose="02020603050405020304" pitchFamily="18" charset="0"/>
                <a:ea typeface="Arial" panose="020B0604020202020204" pitchFamily="34" charset="0"/>
              </a:rPr>
              <a:t> the three special cases of zero padding, with a neat diagram show the effect of zero padding on network size. Compare unshared convolution and tiled convolution.</a:t>
            </a:r>
          </a:p>
          <a:p>
            <a:r>
              <a:rPr lang="en-US" sz="1800" dirty="0">
                <a:effectLst/>
                <a:latin typeface="Times New Roman" panose="02020603050405020304" pitchFamily="18" charset="0"/>
                <a:ea typeface="Cambria" panose="02040503050406030204" pitchFamily="18" charset="0"/>
              </a:rPr>
              <a:t>Illustrate and derive the formula for convolution operation provide a comprehensive explanation and derivation of the discrete convolution formula. Also enumerate the properties of convolution.</a:t>
            </a:r>
            <a:endParaRPr lang="en-IN" dirty="0"/>
          </a:p>
        </p:txBody>
      </p:sp>
      <p:sp>
        <p:nvSpPr>
          <p:cNvPr id="4" name="Slide Number Placeholder 3">
            <a:extLst>
              <a:ext uri="{FF2B5EF4-FFF2-40B4-BE49-F238E27FC236}">
                <a16:creationId xmlns:a16="http://schemas.microsoft.com/office/drawing/2014/main" id="{E4ACD0D6-A17F-4900-BF92-D569F6EAA2DC}"/>
              </a:ext>
            </a:extLst>
          </p:cNvPr>
          <p:cNvSpPr>
            <a:spLocks noGrp="1"/>
          </p:cNvSpPr>
          <p:nvPr>
            <p:ph type="sldNum" sz="quarter" idx="12"/>
          </p:nvPr>
        </p:nvSpPr>
        <p:spPr/>
        <p:txBody>
          <a:bodyPr/>
          <a:lstStyle/>
          <a:p>
            <a:fld id="{BB2CE0DE-867F-455F-B20B-96D381B4AB71}" type="slidenum">
              <a:rPr lang="en-US" smtClean="0"/>
              <a:t>102</a:t>
            </a:fld>
            <a:endParaRPr lang="en-US"/>
          </a:p>
        </p:txBody>
      </p:sp>
    </p:spTree>
    <p:extLst>
      <p:ext uri="{BB962C8B-B14F-4D97-AF65-F5344CB8AC3E}">
        <p14:creationId xmlns:p14="http://schemas.microsoft.com/office/powerpoint/2010/main" val="3477016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ECC7-EC60-45B6-B06C-9FF9D4B992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12C8D9-71F4-4708-9BC0-B0CBF29259F8}"/>
              </a:ext>
            </a:extLst>
          </p:cNvPr>
          <p:cNvSpPr>
            <a:spLocks noGrp="1"/>
          </p:cNvSpPr>
          <p:nvPr>
            <p:ph idx="1"/>
          </p:nvPr>
        </p:nvSpPr>
        <p:spPr/>
        <p:txBody>
          <a:bodyPr/>
          <a:lstStyle/>
          <a:p>
            <a:r>
              <a:rPr lang="en-IN" sz="1800" dirty="0" err="1">
                <a:effectLst/>
                <a:latin typeface="Times New Roman" panose="02020603050405020304" pitchFamily="18" charset="0"/>
                <a:ea typeface="Arial" panose="020B0604020202020204" pitchFamily="34" charset="0"/>
              </a:rPr>
              <a:t>Analyze</a:t>
            </a:r>
            <a:r>
              <a:rPr lang="en-IN" sz="1800" dirty="0">
                <a:effectLst/>
                <a:latin typeface="Times New Roman" panose="02020603050405020304" pitchFamily="18" charset="0"/>
                <a:ea typeface="Arial" panose="020B0604020202020204" pitchFamily="34" charset="0"/>
              </a:rPr>
              <a:t> the influence of non-linear filtering in the effectiveness of short-term memory structures in time-series prediction tasks. How does different choices of the generating kernel h(n) result in different values for the depth D and memory resolution R illustrated by two memory structures.</a:t>
            </a:r>
            <a:endParaRPr lang="en-IN" dirty="0"/>
          </a:p>
        </p:txBody>
      </p:sp>
      <p:sp>
        <p:nvSpPr>
          <p:cNvPr id="4" name="Slide Number Placeholder 3">
            <a:extLst>
              <a:ext uri="{FF2B5EF4-FFF2-40B4-BE49-F238E27FC236}">
                <a16:creationId xmlns:a16="http://schemas.microsoft.com/office/drawing/2014/main" id="{57BD9722-D27E-4A74-B7D6-4548936EE9EB}"/>
              </a:ext>
            </a:extLst>
          </p:cNvPr>
          <p:cNvSpPr>
            <a:spLocks noGrp="1"/>
          </p:cNvSpPr>
          <p:nvPr>
            <p:ph type="sldNum" sz="quarter" idx="12"/>
          </p:nvPr>
        </p:nvSpPr>
        <p:spPr/>
        <p:txBody>
          <a:bodyPr/>
          <a:lstStyle/>
          <a:p>
            <a:fld id="{BB2CE0DE-867F-455F-B20B-96D381B4AB71}" type="slidenum">
              <a:rPr lang="en-US" smtClean="0"/>
              <a:t>103</a:t>
            </a:fld>
            <a:endParaRPr lang="en-US"/>
          </a:p>
        </p:txBody>
      </p:sp>
    </p:spTree>
    <p:extLst>
      <p:ext uri="{BB962C8B-B14F-4D97-AF65-F5344CB8AC3E}">
        <p14:creationId xmlns:p14="http://schemas.microsoft.com/office/powerpoint/2010/main" val="39933126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104</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3730</TotalTime>
  <Words>6382</Words>
  <Application>Microsoft Office PowerPoint</Application>
  <PresentationFormat>Widescreen</PresentationFormat>
  <Paragraphs>794</Paragraphs>
  <Slides>104</Slides>
  <Notes>29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104</vt:i4>
      </vt:variant>
    </vt:vector>
  </HeadingPairs>
  <TitlesOfParts>
    <vt:vector size="120" baseType="lpstr">
      <vt:lpstr>Arial</vt:lpstr>
      <vt:lpstr>Aspira Webfont</vt:lpstr>
      <vt:lpstr>Calibri</vt:lpstr>
      <vt:lpstr>Google Sans</vt:lpstr>
      <vt:lpstr>Inter</vt:lpstr>
      <vt:lpstr>Lato</vt:lpstr>
      <vt:lpstr>MathJax_Main</vt:lpstr>
      <vt:lpstr>Nunito</vt:lpstr>
      <vt:lpstr>Open Sans</vt:lpstr>
      <vt:lpstr>Roboto</vt:lpstr>
      <vt:lpstr>sohne</vt:lpstr>
      <vt:lpstr>source-serif-pro</vt:lpstr>
      <vt:lpstr>Times New Roman</vt:lpstr>
      <vt:lpstr>Verdana</vt:lpstr>
      <vt:lpstr>Wingdings</vt:lpstr>
      <vt:lpstr>Theme1</vt:lpstr>
      <vt:lpstr>Neural Network and Deep Learning 23CS8PENDL/23CS7PENDL</vt:lpstr>
      <vt:lpstr>Unit-4</vt:lpstr>
      <vt:lpstr>Convolutional Neural Networks (CNNs)</vt:lpstr>
      <vt:lpstr>Applications of CNNs</vt:lpstr>
      <vt:lpstr>CNNs: Why they are needed ?</vt:lpstr>
      <vt:lpstr>Advantage of Image data</vt:lpstr>
      <vt:lpstr>CNNs: Why they are needed ?</vt:lpstr>
      <vt:lpstr>CNNs: Why they are needed ?</vt:lpstr>
      <vt:lpstr>What is Convolution?</vt:lpstr>
      <vt:lpstr>Convolution Operation</vt:lpstr>
      <vt:lpstr>Example of Convolution Operation</vt:lpstr>
      <vt:lpstr>Key Terms in Convolution Operation</vt:lpstr>
      <vt:lpstr>Filters or Kernels: Why do we care about them?</vt:lpstr>
      <vt:lpstr>Filters or Kernels: Why do we care about them?</vt:lpstr>
      <vt:lpstr>Filters or Kernels: Why do we care about them?</vt:lpstr>
      <vt:lpstr>Filters or Kernels: Why do we care about them?</vt:lpstr>
      <vt:lpstr>Image data: Example of Vertical Edge detection</vt:lpstr>
      <vt:lpstr>An example of vertical edge detection of dark to light transition</vt:lpstr>
      <vt:lpstr>CNN: Vertical Edge Detection</vt:lpstr>
      <vt:lpstr>What About Horizontal Edges ?</vt:lpstr>
      <vt:lpstr>What About Horizontal Edges ?</vt:lpstr>
      <vt:lpstr>PowerPoint Presentation</vt:lpstr>
      <vt:lpstr>Learning to Detect Edges</vt:lpstr>
      <vt:lpstr>How to choose weights in the filter?</vt:lpstr>
      <vt:lpstr>Question</vt:lpstr>
      <vt:lpstr>CNN: Padding</vt:lpstr>
      <vt:lpstr>CNN: Padding</vt:lpstr>
      <vt:lpstr>CNN: Padding</vt:lpstr>
      <vt:lpstr>CNN: Padding</vt:lpstr>
      <vt:lpstr>CNN: Padding</vt:lpstr>
      <vt:lpstr>Valid and Same Padding</vt:lpstr>
      <vt:lpstr>Striding</vt:lpstr>
      <vt:lpstr>Striding</vt:lpstr>
      <vt:lpstr>PowerPoint Presentation</vt:lpstr>
      <vt:lpstr>PowerPoint Presentation</vt:lpstr>
      <vt:lpstr>PowerPoint Presentation</vt:lpstr>
      <vt:lpstr>Strided Convolution</vt:lpstr>
      <vt:lpstr>Strided Convolution</vt:lpstr>
      <vt:lpstr>Question</vt:lpstr>
      <vt:lpstr>Convolutions Over Volume</vt:lpstr>
      <vt:lpstr>Convolutions Over Volume</vt:lpstr>
      <vt:lpstr>PowerPoint Presentation</vt:lpstr>
      <vt:lpstr>PowerPoint Presentation</vt:lpstr>
      <vt:lpstr>PowerPoint Presentation</vt:lpstr>
      <vt:lpstr>One Layer of CNN</vt:lpstr>
      <vt:lpstr>Forward Propagation in CNN</vt:lpstr>
      <vt:lpstr>PowerPoint Presentation</vt:lpstr>
      <vt:lpstr>PowerPoint Presentation</vt:lpstr>
      <vt:lpstr>Number of Parameter calculation</vt:lpstr>
      <vt:lpstr>Three stages in Convolutional layer</vt:lpstr>
      <vt:lpstr>Three stages in Convolutional layer</vt:lpstr>
      <vt:lpstr>Three stages in Convolutional layer</vt:lpstr>
      <vt:lpstr>Question</vt:lpstr>
      <vt:lpstr>Pooling</vt:lpstr>
      <vt:lpstr>Pooling</vt:lpstr>
      <vt:lpstr>Calculating the output when an image passes through a Pooling (Max) layer</vt:lpstr>
      <vt:lpstr>PowerPoint Presentation</vt:lpstr>
      <vt:lpstr>PowerPoint Presentation</vt:lpstr>
      <vt:lpstr>Question</vt:lpstr>
      <vt:lpstr>Unit-4</vt:lpstr>
      <vt:lpstr>Convolution and Pooling as an Infinitely Strong Prior</vt:lpstr>
      <vt:lpstr>PowerPoint Presentation</vt:lpstr>
      <vt:lpstr>PowerPoint Presentation</vt:lpstr>
      <vt:lpstr>PowerPoint Presentation</vt:lpstr>
      <vt:lpstr>Convolution and Pooling as an Infinitely Strong Prior</vt:lpstr>
      <vt:lpstr>Convolution as a Prior</vt:lpstr>
      <vt:lpstr>Convolution as a Prior</vt:lpstr>
      <vt:lpstr>Pooling as a Prior</vt:lpstr>
      <vt:lpstr>Convolution and Pooling as a Prior</vt:lpstr>
      <vt:lpstr>Convolution and Pooling as a Prior</vt:lpstr>
      <vt:lpstr>Convolution and Pooling as an Infinitely Strong Prior</vt:lpstr>
      <vt:lpstr>Question</vt:lpstr>
      <vt:lpstr>Variants of the Basic Convolution Function</vt:lpstr>
      <vt:lpstr>Variants of the Basic Convolution Function: Equation to compute output feature map</vt:lpstr>
      <vt:lpstr>PowerPoint Presentation</vt:lpstr>
      <vt:lpstr>PowerPoint Presentation</vt:lpstr>
      <vt:lpstr>PowerPoint Presentation</vt:lpstr>
      <vt:lpstr>PowerPoint Presentation</vt:lpstr>
      <vt:lpstr>Variants of the Basic Convolution Function: Stride</vt:lpstr>
      <vt:lpstr>Variants of the Basic Convolution Function: Stride</vt:lpstr>
      <vt:lpstr>Variants of the Basic Convolution Function: Stride</vt:lpstr>
      <vt:lpstr>Variants of the Basic Convolution Function: Padding</vt:lpstr>
      <vt:lpstr>Variants of the Basic Convolution Function: Padding</vt:lpstr>
      <vt:lpstr>Variants of the Basic Convolution Function: Padding</vt:lpstr>
      <vt:lpstr>Variants of the Basic Convolution Function: Padding</vt:lpstr>
      <vt:lpstr>Variants of the Basic Convolution Function: Padding</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Variants of the Basic Convolution Function: Fully connected, Locally connected, Standard convolution, Tiled convolution</vt:lpstr>
      <vt:lpstr>Question</vt:lpstr>
      <vt:lpstr>PowerPoint Presentation</vt:lpstr>
      <vt:lpstr>Thanks for Listening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311</cp:revision>
  <cp:lastPrinted>2014-08-07T03:39:40Z</cp:lastPrinted>
  <dcterms:created xsi:type="dcterms:W3CDTF">2014-08-06T04:28:49Z</dcterms:created>
  <dcterms:modified xsi:type="dcterms:W3CDTF">2026-04-10T11:26:20Z</dcterms:modified>
</cp:coreProperties>
</file>