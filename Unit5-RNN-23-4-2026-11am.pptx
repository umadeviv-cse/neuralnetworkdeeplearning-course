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2"/>
  </p:notesMasterIdLst>
  <p:handoutMasterIdLst>
    <p:handoutMasterId r:id="rId73"/>
  </p:handoutMasterIdLst>
  <p:sldIdLst>
    <p:sldId id="256" r:id="rId2"/>
    <p:sldId id="349" r:id="rId3"/>
    <p:sldId id="881" r:id="rId4"/>
    <p:sldId id="882" r:id="rId5"/>
    <p:sldId id="883" r:id="rId6"/>
    <p:sldId id="884" r:id="rId7"/>
    <p:sldId id="885" r:id="rId8"/>
    <p:sldId id="886" r:id="rId9"/>
    <p:sldId id="887" r:id="rId10"/>
    <p:sldId id="889" r:id="rId11"/>
    <p:sldId id="891" r:id="rId12"/>
    <p:sldId id="892" r:id="rId13"/>
    <p:sldId id="890" r:id="rId14"/>
    <p:sldId id="913" r:id="rId15"/>
    <p:sldId id="914" r:id="rId16"/>
    <p:sldId id="893" r:id="rId17"/>
    <p:sldId id="915" r:id="rId18"/>
    <p:sldId id="894" r:id="rId19"/>
    <p:sldId id="895" r:id="rId20"/>
    <p:sldId id="896" r:id="rId21"/>
    <p:sldId id="897" r:id="rId22"/>
    <p:sldId id="898" r:id="rId23"/>
    <p:sldId id="899" r:id="rId24"/>
    <p:sldId id="906" r:id="rId25"/>
    <p:sldId id="907" r:id="rId26"/>
    <p:sldId id="908" r:id="rId27"/>
    <p:sldId id="911" r:id="rId28"/>
    <p:sldId id="909" r:id="rId29"/>
    <p:sldId id="910" r:id="rId30"/>
    <p:sldId id="912" r:id="rId31"/>
    <p:sldId id="901" r:id="rId32"/>
    <p:sldId id="900" r:id="rId33"/>
    <p:sldId id="916" r:id="rId34"/>
    <p:sldId id="917" r:id="rId35"/>
    <p:sldId id="918" r:id="rId36"/>
    <p:sldId id="919" r:id="rId37"/>
    <p:sldId id="920" r:id="rId38"/>
    <p:sldId id="921" r:id="rId39"/>
    <p:sldId id="922" r:id="rId40"/>
    <p:sldId id="923" r:id="rId41"/>
    <p:sldId id="942" r:id="rId42"/>
    <p:sldId id="943" r:id="rId43"/>
    <p:sldId id="944" r:id="rId44"/>
    <p:sldId id="924" r:id="rId45"/>
    <p:sldId id="926" r:id="rId46"/>
    <p:sldId id="927" r:id="rId47"/>
    <p:sldId id="928" r:id="rId48"/>
    <p:sldId id="925" r:id="rId49"/>
    <p:sldId id="932" r:id="rId50"/>
    <p:sldId id="902" r:id="rId51"/>
    <p:sldId id="929" r:id="rId52"/>
    <p:sldId id="930" r:id="rId53"/>
    <p:sldId id="903" r:id="rId54"/>
    <p:sldId id="934" r:id="rId55"/>
    <p:sldId id="935" r:id="rId56"/>
    <p:sldId id="936" r:id="rId57"/>
    <p:sldId id="933" r:id="rId58"/>
    <p:sldId id="904" r:id="rId59"/>
    <p:sldId id="937" r:id="rId60"/>
    <p:sldId id="938" r:id="rId61"/>
    <p:sldId id="940" r:id="rId62"/>
    <p:sldId id="939" r:id="rId63"/>
    <p:sldId id="905" r:id="rId64"/>
    <p:sldId id="946" r:id="rId65"/>
    <p:sldId id="947" r:id="rId66"/>
    <p:sldId id="945" r:id="rId67"/>
    <p:sldId id="941" r:id="rId68"/>
    <p:sldId id="878" r:id="rId69"/>
    <p:sldId id="880" r:id="rId70"/>
    <p:sldId id="868"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0000FF"/>
    <a:srgbClr val="9900FF"/>
    <a:srgbClr val="FF00FF"/>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81416" autoAdjust="0"/>
  </p:normalViewPr>
  <p:slideViewPr>
    <p:cSldViewPr>
      <p:cViewPr varScale="1">
        <p:scale>
          <a:sx n="92" d="100"/>
          <a:sy n="92" d="100"/>
        </p:scale>
        <p:origin x="1476" y="78"/>
      </p:cViewPr>
      <p:guideLst>
        <p:guide orient="horz" pos="2160"/>
        <p:guide pos="3840"/>
      </p:guideLst>
    </p:cSldViewPr>
  </p:slideViewPr>
  <p:notesTextViewPr>
    <p:cViewPr>
      <p:scale>
        <a:sx n="1" d="1"/>
        <a:sy n="1" d="1"/>
      </p:scale>
      <p:origin x="0" y="0"/>
    </p:cViewPr>
  </p:notesTextViewPr>
  <p:sorterViewPr>
    <p:cViewPr varScale="1">
      <p:scale>
        <a:sx n="1" d="1"/>
        <a:sy n="1" d="1"/>
      </p:scale>
      <p:origin x="0" y="-1460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4/23/2026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4/23/2026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3875883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a:t>
            </a:fld>
            <a:endParaRPr lang="en-US"/>
          </a:p>
        </p:txBody>
      </p:sp>
    </p:spTree>
    <p:extLst>
      <p:ext uri="{BB962C8B-B14F-4D97-AF65-F5344CB8AC3E}">
        <p14:creationId xmlns:p14="http://schemas.microsoft.com/office/powerpoint/2010/main" val="947774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https://medium.com/@jianqiangma/all-about-recurrent-neural-networks-9e5ae2936f6e</a:t>
            </a:r>
          </a:p>
        </p:txBody>
      </p:sp>
      <p:sp>
        <p:nvSpPr>
          <p:cNvPr id="4" name="Slide Number Placeholder 3"/>
          <p:cNvSpPr>
            <a:spLocks noGrp="1"/>
          </p:cNvSpPr>
          <p:nvPr>
            <p:ph type="sldNum" sz="quarter" idx="5"/>
          </p:nvPr>
        </p:nvSpPr>
        <p:spPr/>
        <p:txBody>
          <a:bodyPr/>
          <a:lstStyle/>
          <a:p>
            <a:fld id="{C1EDAD17-33F0-4D65-82A5-1BBB03DED615}" type="slidenum">
              <a:rPr lang="en-US" smtClean="0"/>
              <a:t>8</a:t>
            </a:fld>
            <a:endParaRPr lang="en-US"/>
          </a:p>
        </p:txBody>
      </p:sp>
    </p:spTree>
    <p:extLst>
      <p:ext uri="{BB962C8B-B14F-4D97-AF65-F5344CB8AC3E}">
        <p14:creationId xmlns:p14="http://schemas.microsoft.com/office/powerpoint/2010/main" val="2044544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a:t>
            </a:fld>
            <a:endParaRPr lang="en-US"/>
          </a:p>
        </p:txBody>
      </p:sp>
    </p:spTree>
    <p:extLst>
      <p:ext uri="{BB962C8B-B14F-4D97-AF65-F5344CB8AC3E}">
        <p14:creationId xmlns:p14="http://schemas.microsoft.com/office/powerpoint/2010/main" val="3948180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a:t>
            </a:fld>
            <a:endParaRPr lang="en-US"/>
          </a:p>
        </p:txBody>
      </p:sp>
    </p:spTree>
    <p:extLst>
      <p:ext uri="{BB962C8B-B14F-4D97-AF65-F5344CB8AC3E}">
        <p14:creationId xmlns:p14="http://schemas.microsoft.com/office/powerpoint/2010/main" val="2511419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RNN Flow</a:t>
            </a:r>
            <a:endParaRPr lang="en-IN" dirty="0"/>
          </a:p>
          <a:p>
            <a:r>
              <a:rPr lang="en-IN" dirty="0"/>
              <a:t>x(1),x(2),x(3),x(4)→o(1),o(2),o(3),o(4)</a:t>
            </a:r>
          </a:p>
          <a:p>
            <a:r>
              <a:rPr lang="en-IN" dirty="0"/>
              <a:t> </a:t>
            </a:r>
            <a:r>
              <a:rPr lang="en-IN" b="1" dirty="0"/>
              <a:t>Explanation</a:t>
            </a:r>
            <a:endParaRPr lang="en-IN" dirty="0"/>
          </a:p>
          <a:p>
            <a:pPr>
              <a:buFont typeface="Arial" panose="020B0604020202020204" pitchFamily="34" charset="0"/>
              <a:buChar char="•"/>
            </a:pPr>
            <a:r>
              <a:rPr lang="en-IN" dirty="0"/>
              <a:t>Each word enters the network sequentially. </a:t>
            </a:r>
          </a:p>
          <a:p>
            <a:pPr>
              <a:buFont typeface="Arial" panose="020B0604020202020204" pitchFamily="34" charset="0"/>
              <a:buChar char="•"/>
            </a:pPr>
            <a:r>
              <a:rPr lang="en-IN" dirty="0"/>
              <a:t>The hidden state captures context from previous words. </a:t>
            </a:r>
          </a:p>
          <a:p>
            <a:pPr>
              <a:buFont typeface="Arial" panose="020B0604020202020204" pitchFamily="34" charset="0"/>
              <a:buChar char="•"/>
            </a:pPr>
            <a:r>
              <a:rPr lang="en-IN" dirty="0"/>
              <a:t>The model predicts a tag </a:t>
            </a:r>
            <a:r>
              <a:rPr lang="en-IN" b="1" dirty="0"/>
              <a:t>at every time step</a:t>
            </a:r>
            <a:r>
              <a:rPr lang="en-IN" dirty="0"/>
              <a:t>. </a:t>
            </a:r>
          </a:p>
          <a:p>
            <a:r>
              <a:rPr lang="en-IN" b="1" dirty="0"/>
              <a:t>Other applications</a:t>
            </a:r>
            <a:endParaRPr lang="en-IN" dirty="0"/>
          </a:p>
          <a:p>
            <a:pPr>
              <a:buFont typeface="Arial" panose="020B0604020202020204" pitchFamily="34" charset="0"/>
              <a:buChar char="•"/>
            </a:pPr>
            <a:r>
              <a:rPr lang="en-IN" dirty="0"/>
              <a:t>Named Entity Recognition (NER) </a:t>
            </a:r>
          </a:p>
          <a:p>
            <a:pPr>
              <a:buFont typeface="Arial" panose="020B0604020202020204" pitchFamily="34" charset="0"/>
              <a:buChar char="•"/>
            </a:pPr>
            <a:r>
              <a:rPr lang="en-IN" dirty="0"/>
              <a:t>Video frame </a:t>
            </a:r>
            <a:r>
              <a:rPr lang="en-IN" dirty="0" err="1"/>
              <a:t>labeling</a:t>
            </a:r>
            <a:r>
              <a:rPr lang="en-IN" dirty="0"/>
              <a:t> </a:t>
            </a:r>
          </a:p>
          <a:p>
            <a:pPr>
              <a:buFont typeface="Arial" panose="020B0604020202020204" pitchFamily="34" charset="0"/>
              <a:buChar char="•"/>
            </a:pPr>
            <a:r>
              <a:rPr lang="en-IN" dirty="0"/>
              <a:t>Speech phoneme recognition</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a:t>
            </a:fld>
            <a:endParaRPr lang="en-US"/>
          </a:p>
        </p:txBody>
      </p:sp>
    </p:spTree>
    <p:extLst>
      <p:ext uri="{BB962C8B-B14F-4D97-AF65-F5344CB8AC3E}">
        <p14:creationId xmlns:p14="http://schemas.microsoft.com/office/powerpoint/2010/main" val="339416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17</a:t>
            </a:fld>
            <a:endParaRPr lang="en-US"/>
          </a:p>
        </p:txBody>
      </p:sp>
    </p:spTree>
    <p:extLst>
      <p:ext uri="{BB962C8B-B14F-4D97-AF65-F5344CB8AC3E}">
        <p14:creationId xmlns:p14="http://schemas.microsoft.com/office/powerpoint/2010/main" val="2570550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19</a:t>
            </a:fld>
            <a:endParaRPr lang="en-US"/>
          </a:p>
        </p:txBody>
      </p:sp>
    </p:spTree>
    <p:extLst>
      <p:ext uri="{BB962C8B-B14F-4D97-AF65-F5344CB8AC3E}">
        <p14:creationId xmlns:p14="http://schemas.microsoft.com/office/powerpoint/2010/main" val="2123903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Have you ever had math exam questions that consist of multiple parts, where the answer for part (a) is needed for the calculation in part (b), answer for part (b) is needed for part (c), and so on? I always pay extra attention to these questions because if we get part (a) wrong, then all the subsequent parts will most likely be wrong as well, even though the formulas and the calculations are correct. </a:t>
            </a:r>
            <a:r>
              <a:rPr lang="en-US" sz="1200" b="0" i="1" kern="1200" dirty="0">
                <a:solidFill>
                  <a:schemeClr val="tx1"/>
                </a:solidFill>
                <a:effectLst/>
                <a:latin typeface="+mn-lt"/>
                <a:ea typeface="+mn-ea"/>
                <a:cs typeface="+mn-cs"/>
              </a:rPr>
              <a:t>Teacher Forcing</a:t>
            </a:r>
            <a:r>
              <a:rPr lang="en-US" sz="1200" b="0" i="0" kern="1200" dirty="0">
                <a:solidFill>
                  <a:schemeClr val="tx1"/>
                </a:solidFill>
                <a:effectLst/>
                <a:latin typeface="+mn-lt"/>
                <a:ea typeface="+mn-ea"/>
                <a:cs typeface="+mn-cs"/>
              </a:rPr>
              <a:t> remedies this as follows: After we obtain an answer for part (a), a teacher will compare our answer with the correct one, record the score for part (a), and tell us the correct answer so that we can use it for part (b).</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24</a:t>
            </a:fld>
            <a:endParaRPr lang="en-US"/>
          </a:p>
        </p:txBody>
      </p:sp>
    </p:spTree>
    <p:extLst>
      <p:ext uri="{BB962C8B-B14F-4D97-AF65-F5344CB8AC3E}">
        <p14:creationId xmlns:p14="http://schemas.microsoft.com/office/powerpoint/2010/main" val="4158830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Have you ever had math exam questions that consist of multiple parts, where the answer for part (a) is needed for the calculation in part (b), answer for part (b) is needed for part (c), and so on? I always pay extra attention to these questions because if we get part (a) wrong, then all the subsequent parts will most likely be wrong as well, even though the formulas and the calculations are correct. </a:t>
            </a:r>
            <a:r>
              <a:rPr lang="en-US" sz="1200" b="0" i="1" kern="1200" dirty="0">
                <a:solidFill>
                  <a:schemeClr val="tx1"/>
                </a:solidFill>
                <a:effectLst/>
                <a:latin typeface="+mn-lt"/>
                <a:ea typeface="+mn-ea"/>
                <a:cs typeface="+mn-cs"/>
              </a:rPr>
              <a:t>Teacher Forcing</a:t>
            </a:r>
            <a:r>
              <a:rPr lang="en-US" sz="1200" b="0" i="0" kern="1200" dirty="0">
                <a:solidFill>
                  <a:schemeClr val="tx1"/>
                </a:solidFill>
                <a:effectLst/>
                <a:latin typeface="+mn-lt"/>
                <a:ea typeface="+mn-ea"/>
                <a:cs typeface="+mn-cs"/>
              </a:rPr>
              <a:t> remedies this as follows: After we obtain an answer for part (a), a teacher will compare our answer with the correct one, record the score for part (a), and tell us the correct answer so that we can use it for part (b).</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27</a:t>
            </a:fld>
            <a:endParaRPr lang="en-US"/>
          </a:p>
        </p:txBody>
      </p:sp>
    </p:spTree>
    <p:extLst>
      <p:ext uri="{BB962C8B-B14F-4D97-AF65-F5344CB8AC3E}">
        <p14:creationId xmlns:p14="http://schemas.microsoft.com/office/powerpoint/2010/main" val="37204883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Time: We feed the correct output y(t) (from teacher) drawn from the training set as input to h(t+1)</a:t>
            </a:r>
          </a:p>
          <a:p>
            <a:r>
              <a:rPr lang="en-US" dirty="0"/>
              <a:t>Test time: True output is not known. We approximate the correct output y(t) with the model’s output o(t) and feed the output back to the model</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28</a:t>
            </a:fld>
            <a:endParaRPr lang="en-US"/>
          </a:p>
        </p:txBody>
      </p:sp>
    </p:spTree>
    <p:extLst>
      <p:ext uri="{BB962C8B-B14F-4D97-AF65-F5344CB8AC3E}">
        <p14:creationId xmlns:p14="http://schemas.microsoft.com/office/powerpoint/2010/main" val="3483364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41</a:t>
            </a:fld>
            <a:endParaRPr lang="en-US"/>
          </a:p>
        </p:txBody>
      </p:sp>
    </p:spTree>
    <p:extLst>
      <p:ext uri="{BB962C8B-B14F-4D97-AF65-F5344CB8AC3E}">
        <p14:creationId xmlns:p14="http://schemas.microsoft.com/office/powerpoint/2010/main" val="1794749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44</a:t>
            </a:fld>
            <a:endParaRPr lang="en-US"/>
          </a:p>
        </p:txBody>
      </p:sp>
    </p:spTree>
    <p:extLst>
      <p:ext uri="{BB962C8B-B14F-4D97-AF65-F5344CB8AC3E}">
        <p14:creationId xmlns:p14="http://schemas.microsoft.com/office/powerpoint/2010/main" val="2695322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47</a:t>
            </a:fld>
            <a:endParaRPr lang="en-US"/>
          </a:p>
        </p:txBody>
      </p:sp>
    </p:spTree>
    <p:extLst>
      <p:ext uri="{BB962C8B-B14F-4D97-AF65-F5344CB8AC3E}">
        <p14:creationId xmlns:p14="http://schemas.microsoft.com/office/powerpoint/2010/main" val="18917984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50</a:t>
            </a:fld>
            <a:endParaRPr lang="en-US"/>
          </a:p>
        </p:txBody>
      </p:sp>
    </p:spTree>
    <p:extLst>
      <p:ext uri="{BB962C8B-B14F-4D97-AF65-F5344CB8AC3E}">
        <p14:creationId xmlns:p14="http://schemas.microsoft.com/office/powerpoint/2010/main" val="10768642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24966277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52</a:t>
            </a:fld>
            <a:endParaRPr lang="en-US"/>
          </a:p>
        </p:txBody>
      </p:sp>
    </p:spTree>
    <p:extLst>
      <p:ext uri="{BB962C8B-B14F-4D97-AF65-F5344CB8AC3E}">
        <p14:creationId xmlns:p14="http://schemas.microsoft.com/office/powerpoint/2010/main" val="502673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innovation of this kind of architecture over those presented in earlier sections of this chapter is that the lengths </a:t>
            </a:r>
            <a:r>
              <a:rPr lang="en-US" dirty="0" err="1"/>
              <a:t>nx</a:t>
            </a:r>
            <a:r>
              <a:rPr lang="en-US" dirty="0"/>
              <a:t> and </a:t>
            </a:r>
            <a:r>
              <a:rPr lang="en-US" dirty="0" err="1"/>
              <a:t>ny</a:t>
            </a:r>
            <a:r>
              <a:rPr lang="en-US" dirty="0"/>
              <a:t> can vary from each other, while previous architectures constrained </a:t>
            </a:r>
            <a:r>
              <a:rPr lang="en-US" dirty="0" err="1"/>
              <a:t>nx</a:t>
            </a:r>
            <a:r>
              <a:rPr lang="en-US" dirty="0"/>
              <a:t> = </a:t>
            </a:r>
            <a:r>
              <a:rPr lang="en-US" dirty="0" err="1"/>
              <a:t>ny</a:t>
            </a:r>
            <a:r>
              <a:rPr lang="en-US" dirty="0"/>
              <a:t> = τ.</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53</a:t>
            </a:fld>
            <a:endParaRPr lang="en-US"/>
          </a:p>
        </p:txBody>
      </p:sp>
    </p:spTree>
    <p:extLst>
      <p:ext uri="{BB962C8B-B14F-4D97-AF65-F5344CB8AC3E}">
        <p14:creationId xmlns:p14="http://schemas.microsoft.com/office/powerpoint/2010/main" val="2741826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54</a:t>
            </a:fld>
            <a:endParaRPr lang="en-US"/>
          </a:p>
        </p:txBody>
      </p:sp>
    </p:spTree>
    <p:extLst>
      <p:ext uri="{BB962C8B-B14F-4D97-AF65-F5344CB8AC3E}">
        <p14:creationId xmlns:p14="http://schemas.microsoft.com/office/powerpoint/2010/main" val="17119755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56</a:t>
            </a:fld>
            <a:endParaRPr lang="en-US"/>
          </a:p>
        </p:txBody>
      </p:sp>
    </p:spTree>
    <p:extLst>
      <p:ext uri="{BB962C8B-B14F-4D97-AF65-F5344CB8AC3E}">
        <p14:creationId xmlns:p14="http://schemas.microsoft.com/office/powerpoint/2010/main" val="18182891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64</a:t>
            </a:fld>
            <a:endParaRPr lang="en-US"/>
          </a:p>
        </p:txBody>
      </p:sp>
    </p:spTree>
    <p:extLst>
      <p:ext uri="{BB962C8B-B14F-4D97-AF65-F5344CB8AC3E}">
        <p14:creationId xmlns:p14="http://schemas.microsoft.com/office/powerpoint/2010/main" val="25991096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65</a:t>
            </a:fld>
            <a:endParaRPr lang="en-US"/>
          </a:p>
        </p:txBody>
      </p:sp>
    </p:spTree>
    <p:extLst>
      <p:ext uri="{BB962C8B-B14F-4D97-AF65-F5344CB8AC3E}">
        <p14:creationId xmlns:p14="http://schemas.microsoft.com/office/powerpoint/2010/main" val="3202863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70</a:t>
            </a:fld>
            <a:endParaRPr lang="en-US"/>
          </a:p>
        </p:txBody>
      </p:sp>
    </p:spTree>
    <p:extLst>
      <p:ext uri="{BB962C8B-B14F-4D97-AF65-F5344CB8AC3E}">
        <p14:creationId xmlns:p14="http://schemas.microsoft.com/office/powerpoint/2010/main" val="2690860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5A919526-3121-4CCA-8159-2FE93FA7DC4A}" type="datetime3">
              <a:rPr lang="en-US" smtClean="0"/>
              <a:t>23 April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r>
              <a:rPr lang="en-US"/>
              <a:t>CSE, BMSCE</a:t>
            </a:r>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4DAF9A8-1A73-4815-835A-A2EA9D2D8C82}" type="datetime3">
              <a:rPr lang="en-US" smtClean="0"/>
              <a:t>23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37611257-9DC6-455B-B60A-002E5D4CF028}" type="datetime3">
              <a:rPr lang="en-US" smtClean="0"/>
              <a:t>23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0F9966F3-8B81-41D7-962C-9DAAE265BA55}" type="datetime3">
              <a:rPr lang="en-US" smtClean="0"/>
              <a:t>23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F3511430-E2B0-4CB4-9CA4-45DFA4C74E2D}" type="datetime3">
              <a:rPr lang="en-US" smtClean="0"/>
              <a:t>23 April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CSE, 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590495BB-6587-43EA-AF88-CFD4B7A97073}" type="datetime3">
              <a:rPr lang="en-US" smtClean="0"/>
              <a:t>23 April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CSE, 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F5BA4412-37EC-4E44-88F4-DCEB5F0BA461}" type="datetime3">
              <a:rPr lang="en-US" smtClean="0"/>
              <a:t>23 April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CSE, 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482AF1-A8F6-4C40-97D2-0FC7CC2D6CCD}" type="datetime3">
              <a:rPr lang="en-US" smtClean="0"/>
              <a:t>23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4EBB67C-80E9-46F1-955B-CB4AC9A0758E}" type="datetime3">
              <a:rPr lang="en-US" smtClean="0"/>
              <a:t>23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BF2FF97D-7F8F-47AE-B5DA-5F4D7A84253C}" type="datetime3">
              <a:rPr lang="en-US" smtClean="0"/>
              <a:t>23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085289E9-C9BC-47AC-A5E7-8E36B3D92F6D}" type="datetime3">
              <a:rPr lang="en-US" smtClean="0"/>
              <a:t>23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13400534-3CC2-4677-8D6B-B2B1C1C38038}" type="datetime3">
              <a:rPr lang="en-US" smtClean="0"/>
              <a:t>23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CF628D9-D47F-40AD-BF9C-2F8634861DFA}" type="datetime3">
              <a:rPr lang="en-US" smtClean="0"/>
              <a:t>23 April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CSE, BMSCE</a:t>
            </a:r>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gif"/></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FED16D4A-327D-81D8-B50A-D817D50F7E0A}"/>
              </a:ext>
            </a:extLst>
          </p:cNvPr>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Unit-5</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marL="0" indent="0" algn="just">
              <a:buNone/>
            </a:pPr>
            <a:r>
              <a:rPr lang="en-US" sz="2000" b="1" dirty="0">
                <a:solidFill>
                  <a:srgbClr val="262626"/>
                </a:solidFill>
                <a:latin typeface="Inter"/>
              </a:rPr>
              <a:t>Sequence Modelling: </a:t>
            </a:r>
            <a:r>
              <a:rPr lang="en-US" sz="2000" dirty="0">
                <a:solidFill>
                  <a:srgbClr val="262626"/>
                </a:solidFill>
                <a:latin typeface="Inter"/>
              </a:rPr>
              <a:t>Recurrent and Recursive Nets: Unfolding</a:t>
            </a:r>
          </a:p>
          <a:p>
            <a:pPr marL="0" indent="0" algn="just">
              <a:buNone/>
            </a:pPr>
            <a:r>
              <a:rPr lang="en-US" sz="2000" dirty="0">
                <a:solidFill>
                  <a:srgbClr val="262626"/>
                </a:solidFill>
                <a:latin typeface="Inter"/>
              </a:rPr>
              <a:t>Computational Graphs, Recurrent Neural Networks, Encoder-Decoder Sequence-to-Sequence Architectures, Deep Recurrent Networks, Recursive Neural Networks</a:t>
            </a:r>
            <a:endParaRPr lang="en-IN"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4046169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9E3C0-E205-4805-A20D-5932CB3FEF17}"/>
              </a:ext>
            </a:extLst>
          </p:cNvPr>
          <p:cNvSpPr>
            <a:spLocks noGrp="1"/>
          </p:cNvSpPr>
          <p:nvPr>
            <p:ph type="title"/>
          </p:nvPr>
        </p:nvSpPr>
        <p:spPr/>
        <p:txBody>
          <a:bodyPr/>
          <a:lstStyle/>
          <a:p>
            <a:r>
              <a:rPr lang="en-US" dirty="0"/>
              <a:t>Sequence Modeling</a:t>
            </a:r>
            <a:endParaRPr lang="en-IN" dirty="0"/>
          </a:p>
        </p:txBody>
      </p:sp>
      <p:sp>
        <p:nvSpPr>
          <p:cNvPr id="3" name="Content Placeholder 2">
            <a:extLst>
              <a:ext uri="{FF2B5EF4-FFF2-40B4-BE49-F238E27FC236}">
                <a16:creationId xmlns:a16="http://schemas.microsoft.com/office/drawing/2014/main" id="{B3C7FE96-1DE0-4722-82BD-1FB6CCAF72AC}"/>
              </a:ext>
            </a:extLst>
          </p:cNvPr>
          <p:cNvSpPr>
            <a:spLocks noGrp="1"/>
          </p:cNvSpPr>
          <p:nvPr>
            <p:ph idx="1"/>
          </p:nvPr>
        </p:nvSpPr>
        <p:spPr/>
        <p:txBody>
          <a:bodyPr/>
          <a:lstStyle/>
          <a:p>
            <a:pPr marL="0" indent="0" algn="just">
              <a:buNone/>
            </a:pPr>
            <a:r>
              <a:rPr lang="en-US" sz="1400" b="0" i="0" dirty="0">
                <a:solidFill>
                  <a:srgbClr val="2A2A2A"/>
                </a:solidFill>
                <a:effectLst/>
                <a:latin typeface="Work Sans" pitchFamily="2" charset="0"/>
              </a:rPr>
              <a:t>Sequence models are the machine learning models that input or output sequences of data. Sequential data includes text streams, audio clips, video clips, time-series data and etc. Recurrent Neural Networks (RNNs) is a popular algorithm used in sequence models.</a:t>
            </a:r>
          </a:p>
          <a:p>
            <a:pPr marL="0" indent="0" algn="just">
              <a:buNone/>
            </a:pPr>
            <a:r>
              <a:rPr lang="en-US" sz="1400" b="0" i="0" u="sng" dirty="0">
                <a:solidFill>
                  <a:srgbClr val="2A2A2A"/>
                </a:solidFill>
                <a:effectLst/>
                <a:latin typeface="Work Sans" pitchFamily="2" charset="0"/>
              </a:rPr>
              <a:t>Applications of Sequence Models</a:t>
            </a:r>
          </a:p>
          <a:p>
            <a:pPr marL="0" indent="0" algn="just">
              <a:buNone/>
            </a:pPr>
            <a:r>
              <a:rPr lang="en-US" sz="1400" b="0" i="0" dirty="0">
                <a:solidFill>
                  <a:srgbClr val="2A2A2A"/>
                </a:solidFill>
                <a:effectLst/>
                <a:latin typeface="Work Sans" pitchFamily="2" charset="0"/>
              </a:rPr>
              <a:t>1. Speech recognition</a:t>
            </a:r>
            <a:r>
              <a:rPr lang="en-US" sz="1400" b="1" i="0" dirty="0">
                <a:solidFill>
                  <a:srgbClr val="2A2A2A"/>
                </a:solidFill>
                <a:effectLst/>
                <a:latin typeface="Work Sans" pitchFamily="2" charset="0"/>
              </a:rPr>
              <a:t>:</a:t>
            </a:r>
            <a:r>
              <a:rPr lang="en-US" sz="1400" b="0" i="0" dirty="0">
                <a:solidFill>
                  <a:srgbClr val="2A2A2A"/>
                </a:solidFill>
                <a:effectLst/>
                <a:latin typeface="Work Sans" pitchFamily="2" charset="0"/>
              </a:rPr>
              <a:t> In speech recognition, an audio clip is given as an input and then the model has to generate its text transcript. Here both the input and output are sequences of data.</a:t>
            </a:r>
          </a:p>
          <a:p>
            <a:pPr marL="0" indent="0" algn="just">
              <a:buNone/>
            </a:pPr>
            <a:endParaRPr lang="en-US" sz="1400" dirty="0">
              <a:solidFill>
                <a:srgbClr val="2A2A2A"/>
              </a:solidFill>
              <a:latin typeface="Work Sans" pitchFamily="2" charset="0"/>
            </a:endParaRPr>
          </a:p>
          <a:p>
            <a:pPr marL="0" indent="0" algn="just">
              <a:buNone/>
            </a:pPr>
            <a:endParaRPr lang="en-US" sz="1400" b="0" i="0" dirty="0">
              <a:solidFill>
                <a:srgbClr val="2A2A2A"/>
              </a:solidFill>
              <a:effectLst/>
              <a:latin typeface="Work Sans" pitchFamily="2" charset="0"/>
            </a:endParaRPr>
          </a:p>
          <a:p>
            <a:pPr marL="0" indent="0" algn="just">
              <a:buNone/>
            </a:pPr>
            <a:endParaRPr lang="en-US" sz="1400" dirty="0">
              <a:solidFill>
                <a:srgbClr val="2A2A2A"/>
              </a:solidFill>
              <a:latin typeface="Work Sans" pitchFamily="2" charset="0"/>
            </a:endParaRPr>
          </a:p>
          <a:p>
            <a:pPr marL="0" indent="0" algn="just">
              <a:buNone/>
            </a:pPr>
            <a:endParaRPr lang="en-US" sz="1400" b="0" i="0" dirty="0">
              <a:solidFill>
                <a:srgbClr val="2A2A2A"/>
              </a:solidFill>
              <a:effectLst/>
              <a:latin typeface="Work Sans" pitchFamily="2" charset="0"/>
            </a:endParaRPr>
          </a:p>
          <a:p>
            <a:pPr marL="0" indent="0" algn="just">
              <a:buNone/>
            </a:pPr>
            <a:endParaRPr lang="en-US" sz="1400" dirty="0">
              <a:solidFill>
                <a:srgbClr val="2A2A2A"/>
              </a:solidFill>
              <a:latin typeface="Work Sans" pitchFamily="2" charset="0"/>
            </a:endParaRPr>
          </a:p>
          <a:p>
            <a:pPr marL="0" indent="0" algn="just">
              <a:buNone/>
            </a:pPr>
            <a:endParaRPr lang="en-US" sz="1400" b="0" i="0" dirty="0">
              <a:solidFill>
                <a:srgbClr val="2A2A2A"/>
              </a:solidFill>
              <a:effectLst/>
              <a:latin typeface="Work Sans" pitchFamily="2" charset="0"/>
            </a:endParaRPr>
          </a:p>
          <a:p>
            <a:pPr marL="0" indent="0" algn="just">
              <a:buNone/>
            </a:pPr>
            <a:r>
              <a:rPr lang="en-US" sz="1400" b="0" i="0" dirty="0">
                <a:solidFill>
                  <a:srgbClr val="2A2A2A"/>
                </a:solidFill>
                <a:effectLst/>
                <a:latin typeface="Work Sans" pitchFamily="2" charset="0"/>
              </a:rPr>
              <a:t>2. Video Activity Recognition</a:t>
            </a:r>
            <a:r>
              <a:rPr lang="en-US" sz="1400" b="1" i="0" dirty="0">
                <a:solidFill>
                  <a:srgbClr val="2A2A2A"/>
                </a:solidFill>
                <a:effectLst/>
                <a:latin typeface="Work Sans" pitchFamily="2" charset="0"/>
              </a:rPr>
              <a:t>:</a:t>
            </a:r>
            <a:r>
              <a:rPr lang="en-US" sz="1400" b="0" i="0" dirty="0">
                <a:solidFill>
                  <a:srgbClr val="2A2A2A"/>
                </a:solidFill>
                <a:effectLst/>
                <a:latin typeface="Work Sans" pitchFamily="2" charset="0"/>
              </a:rPr>
              <a:t> In video activity recognition, the model needs to identify the activity in a video clip. A video clip is a sequence of video frames, therefore in case of video activity recognition input is a sequence of data.</a:t>
            </a:r>
          </a:p>
          <a:p>
            <a:pPr marL="0" indent="0" algn="just">
              <a:buNone/>
            </a:pPr>
            <a:endParaRPr lang="en-US" sz="1400" b="0" i="0" dirty="0">
              <a:solidFill>
                <a:srgbClr val="2A2A2A"/>
              </a:solidFill>
              <a:effectLst/>
              <a:latin typeface="Work Sans" pitchFamily="2" charset="0"/>
            </a:endParaRPr>
          </a:p>
          <a:p>
            <a:pPr marL="0" indent="0" algn="just">
              <a:buNone/>
            </a:pPr>
            <a:endParaRPr lang="en-IN" sz="1400" dirty="0"/>
          </a:p>
        </p:txBody>
      </p:sp>
      <p:sp>
        <p:nvSpPr>
          <p:cNvPr id="4" name="Slide Number Placeholder 3">
            <a:extLst>
              <a:ext uri="{FF2B5EF4-FFF2-40B4-BE49-F238E27FC236}">
                <a16:creationId xmlns:a16="http://schemas.microsoft.com/office/drawing/2014/main" id="{F3415638-C56B-4985-9751-0B91BE9831BF}"/>
              </a:ext>
            </a:extLst>
          </p:cNvPr>
          <p:cNvSpPr>
            <a:spLocks noGrp="1"/>
          </p:cNvSpPr>
          <p:nvPr>
            <p:ph type="sldNum" sz="quarter" idx="12"/>
          </p:nvPr>
        </p:nvSpPr>
        <p:spPr/>
        <p:txBody>
          <a:bodyPr/>
          <a:lstStyle/>
          <a:p>
            <a:fld id="{BB2CE0DE-867F-455F-B20B-96D381B4AB71}" type="slidenum">
              <a:rPr lang="en-US" smtClean="0"/>
              <a:t>3</a:t>
            </a:fld>
            <a:endParaRPr lang="en-US"/>
          </a:p>
        </p:txBody>
      </p:sp>
      <p:pic>
        <p:nvPicPr>
          <p:cNvPr id="5" name="Picture 4">
            <a:extLst>
              <a:ext uri="{FF2B5EF4-FFF2-40B4-BE49-F238E27FC236}">
                <a16:creationId xmlns:a16="http://schemas.microsoft.com/office/drawing/2014/main" id="{29180F2E-8E19-462C-A68D-DCB7C1E22791}"/>
              </a:ext>
            </a:extLst>
          </p:cNvPr>
          <p:cNvPicPr>
            <a:picLocks noChangeAspect="1"/>
          </p:cNvPicPr>
          <p:nvPr/>
        </p:nvPicPr>
        <p:blipFill>
          <a:blip r:embed="rId2"/>
          <a:stretch>
            <a:fillRect/>
          </a:stretch>
        </p:blipFill>
        <p:spPr>
          <a:xfrm>
            <a:off x="1219200" y="2743200"/>
            <a:ext cx="4267200" cy="1098997"/>
          </a:xfrm>
          <a:prstGeom prst="rect">
            <a:avLst/>
          </a:prstGeom>
        </p:spPr>
      </p:pic>
      <p:sp>
        <p:nvSpPr>
          <p:cNvPr id="6" name="TextBox 5">
            <a:extLst>
              <a:ext uri="{FF2B5EF4-FFF2-40B4-BE49-F238E27FC236}">
                <a16:creationId xmlns:a16="http://schemas.microsoft.com/office/drawing/2014/main" id="{3A9E19D8-B979-46C0-8E87-4A2AF209019B}"/>
              </a:ext>
            </a:extLst>
          </p:cNvPr>
          <p:cNvSpPr txBox="1"/>
          <p:nvPr/>
        </p:nvSpPr>
        <p:spPr>
          <a:xfrm>
            <a:off x="685800" y="6132984"/>
            <a:ext cx="6513322" cy="230832"/>
          </a:xfrm>
          <a:prstGeom prst="rect">
            <a:avLst/>
          </a:prstGeom>
          <a:noFill/>
        </p:spPr>
        <p:txBody>
          <a:bodyPr wrap="none" rtlCol="0">
            <a:spAutoFit/>
          </a:bodyPr>
          <a:lstStyle/>
          <a:p>
            <a:r>
              <a:rPr lang="en-IN" sz="900" dirty="0"/>
              <a:t>Ref. https://towardsdatascience.com/sequence-models-and-recurrent-neural-networks-rnns-62cadeb4f1e1/</a:t>
            </a:r>
          </a:p>
        </p:txBody>
      </p:sp>
      <p:pic>
        <p:nvPicPr>
          <p:cNvPr id="7" name="Picture 6">
            <a:extLst>
              <a:ext uri="{FF2B5EF4-FFF2-40B4-BE49-F238E27FC236}">
                <a16:creationId xmlns:a16="http://schemas.microsoft.com/office/drawing/2014/main" id="{807965F3-CC46-4C4F-A6B2-F2A59BC99D30}"/>
              </a:ext>
            </a:extLst>
          </p:cNvPr>
          <p:cNvPicPr>
            <a:picLocks noChangeAspect="1"/>
          </p:cNvPicPr>
          <p:nvPr/>
        </p:nvPicPr>
        <p:blipFill rotWithShape="1">
          <a:blip r:embed="rId3"/>
          <a:srcRect l="66314"/>
          <a:stretch/>
        </p:blipFill>
        <p:spPr>
          <a:xfrm>
            <a:off x="5486400" y="4853268"/>
            <a:ext cx="1416627" cy="1082844"/>
          </a:xfrm>
          <a:prstGeom prst="rect">
            <a:avLst/>
          </a:prstGeom>
        </p:spPr>
      </p:pic>
      <p:pic>
        <p:nvPicPr>
          <p:cNvPr id="9" name="Picture 8">
            <a:extLst>
              <a:ext uri="{FF2B5EF4-FFF2-40B4-BE49-F238E27FC236}">
                <a16:creationId xmlns:a16="http://schemas.microsoft.com/office/drawing/2014/main" id="{D6EA418D-CB88-48B6-AE45-26EC53F7CB04}"/>
              </a:ext>
            </a:extLst>
          </p:cNvPr>
          <p:cNvPicPr>
            <a:picLocks noChangeAspect="1"/>
          </p:cNvPicPr>
          <p:nvPr/>
        </p:nvPicPr>
        <p:blipFill>
          <a:blip r:embed="rId4"/>
          <a:stretch>
            <a:fillRect/>
          </a:stretch>
        </p:blipFill>
        <p:spPr>
          <a:xfrm>
            <a:off x="2692899" y="4829021"/>
            <a:ext cx="2824674" cy="1131339"/>
          </a:xfrm>
          <a:prstGeom prst="rect">
            <a:avLst/>
          </a:prstGeom>
        </p:spPr>
      </p:pic>
    </p:spTree>
    <p:extLst>
      <p:ext uri="{BB962C8B-B14F-4D97-AF65-F5344CB8AC3E}">
        <p14:creationId xmlns:p14="http://schemas.microsoft.com/office/powerpoint/2010/main" val="358713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AE78-ADA3-4F35-BD41-2255B40A791D}"/>
              </a:ext>
            </a:extLst>
          </p:cNvPr>
          <p:cNvSpPr>
            <a:spLocks noGrp="1"/>
          </p:cNvSpPr>
          <p:nvPr>
            <p:ph type="title"/>
          </p:nvPr>
        </p:nvSpPr>
        <p:spPr/>
        <p:txBody>
          <a:bodyPr/>
          <a:lstStyle/>
          <a:p>
            <a:r>
              <a:rPr lang="en-IN" dirty="0"/>
              <a:t>Recurrent Neural Networks (RNNs)</a:t>
            </a:r>
          </a:p>
        </p:txBody>
      </p:sp>
      <p:sp>
        <p:nvSpPr>
          <p:cNvPr id="3" name="Content Placeholder 2">
            <a:extLst>
              <a:ext uri="{FF2B5EF4-FFF2-40B4-BE49-F238E27FC236}">
                <a16:creationId xmlns:a16="http://schemas.microsoft.com/office/drawing/2014/main" id="{B804CEBB-7495-4C61-8276-C4AF3C8F5B42}"/>
              </a:ext>
            </a:extLst>
          </p:cNvPr>
          <p:cNvSpPr>
            <a:spLocks noGrp="1"/>
          </p:cNvSpPr>
          <p:nvPr>
            <p:ph idx="1"/>
          </p:nvPr>
        </p:nvSpPr>
        <p:spPr/>
        <p:txBody>
          <a:bodyPr/>
          <a:lstStyle/>
          <a:p>
            <a:pPr marL="0" indent="0" algn="just">
              <a:buNone/>
            </a:pPr>
            <a:r>
              <a:rPr lang="en-US" sz="1800" b="0" i="0" dirty="0">
                <a:solidFill>
                  <a:srgbClr val="2A2A2A"/>
                </a:solidFill>
                <a:effectLst/>
                <a:latin typeface="Work Sans" pitchFamily="2" charset="0"/>
              </a:rPr>
              <a:t>Recurrent Neural Network (RNN) is a Deep learning algorithm and it is a type of Artificial Neural Network architecture that is specialized for processing sequential data. </a:t>
            </a:r>
          </a:p>
          <a:p>
            <a:pPr marL="0" indent="0" algn="just">
              <a:buNone/>
            </a:pPr>
            <a:r>
              <a:rPr lang="en-US" sz="1800" b="0" i="0" dirty="0">
                <a:solidFill>
                  <a:srgbClr val="2A2A2A"/>
                </a:solidFill>
                <a:effectLst/>
                <a:latin typeface="Work Sans" pitchFamily="2" charset="0"/>
              </a:rPr>
              <a:t>RNNs are mostly used in the field of Natural Language Processing (NLP). </a:t>
            </a:r>
          </a:p>
          <a:p>
            <a:pPr marL="0" indent="0" algn="just">
              <a:buNone/>
            </a:pPr>
            <a:r>
              <a:rPr lang="en-US" sz="1800" b="0" i="0" dirty="0">
                <a:solidFill>
                  <a:srgbClr val="2A2A2A"/>
                </a:solidFill>
                <a:effectLst/>
                <a:latin typeface="Work Sans" pitchFamily="2" charset="0"/>
              </a:rPr>
              <a:t>RNN maintains internal memory, due to this they are very efficient for machine learning problems that involve sequential data. </a:t>
            </a:r>
          </a:p>
          <a:p>
            <a:pPr marL="0" indent="0" algn="just">
              <a:buNone/>
            </a:pPr>
            <a:r>
              <a:rPr lang="en-US" sz="1800" b="0" i="0" dirty="0">
                <a:solidFill>
                  <a:srgbClr val="2A2A2A"/>
                </a:solidFill>
                <a:effectLst/>
                <a:latin typeface="Work Sans" pitchFamily="2" charset="0"/>
              </a:rPr>
              <a:t>RNNs are also used in time series predictions as well.</a:t>
            </a:r>
            <a:endParaRPr lang="en-IN" sz="1800" dirty="0"/>
          </a:p>
          <a:p>
            <a:pPr marL="0" indent="0" algn="just">
              <a:buNone/>
            </a:pPr>
            <a:endParaRPr lang="en-IN" sz="1800" dirty="0"/>
          </a:p>
        </p:txBody>
      </p:sp>
      <p:sp>
        <p:nvSpPr>
          <p:cNvPr id="4" name="Slide Number Placeholder 3">
            <a:extLst>
              <a:ext uri="{FF2B5EF4-FFF2-40B4-BE49-F238E27FC236}">
                <a16:creationId xmlns:a16="http://schemas.microsoft.com/office/drawing/2014/main" id="{2F43E814-58A8-40D9-A54B-95BEB00A25A6}"/>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4165421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CE29-BC3F-49C5-A5D1-75D7AC985796}"/>
              </a:ext>
            </a:extLst>
          </p:cNvPr>
          <p:cNvSpPr>
            <a:spLocks noGrp="1"/>
          </p:cNvSpPr>
          <p:nvPr>
            <p:ph type="title"/>
          </p:nvPr>
        </p:nvSpPr>
        <p:spPr/>
        <p:txBody>
          <a:bodyPr/>
          <a:lstStyle/>
          <a:p>
            <a:r>
              <a:rPr lang="en-US" sz="2400" dirty="0"/>
              <a:t>Recurrent Neural Networks process sequential data</a:t>
            </a:r>
            <a:endParaRPr lang="en-IN" sz="2400" dirty="0"/>
          </a:p>
        </p:txBody>
      </p:sp>
      <p:sp>
        <p:nvSpPr>
          <p:cNvPr id="3" name="Content Placeholder 2">
            <a:extLst>
              <a:ext uri="{FF2B5EF4-FFF2-40B4-BE49-F238E27FC236}">
                <a16:creationId xmlns:a16="http://schemas.microsoft.com/office/drawing/2014/main" id="{B515A1F8-11F1-42B4-829A-8C231643FC8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2138AE1-8376-48E8-B37E-23AF2799F0D8}"/>
              </a:ext>
            </a:extLst>
          </p:cNvPr>
          <p:cNvSpPr>
            <a:spLocks noGrp="1"/>
          </p:cNvSpPr>
          <p:nvPr>
            <p:ph type="sldNum" sz="quarter" idx="12"/>
          </p:nvPr>
        </p:nvSpPr>
        <p:spPr/>
        <p:txBody>
          <a:bodyPr/>
          <a:lstStyle/>
          <a:p>
            <a:fld id="{BB2CE0DE-867F-455F-B20B-96D381B4AB71}" type="slidenum">
              <a:rPr lang="en-US" smtClean="0"/>
              <a:t>5</a:t>
            </a:fld>
            <a:endParaRPr lang="en-US"/>
          </a:p>
        </p:txBody>
      </p:sp>
      <p:pic>
        <p:nvPicPr>
          <p:cNvPr id="6" name="Picture 5">
            <a:extLst>
              <a:ext uri="{FF2B5EF4-FFF2-40B4-BE49-F238E27FC236}">
                <a16:creationId xmlns:a16="http://schemas.microsoft.com/office/drawing/2014/main" id="{3D2B574C-AD92-464D-BB54-BD4454474616}"/>
              </a:ext>
            </a:extLst>
          </p:cNvPr>
          <p:cNvPicPr>
            <a:picLocks noChangeAspect="1"/>
          </p:cNvPicPr>
          <p:nvPr/>
        </p:nvPicPr>
        <p:blipFill>
          <a:blip r:embed="rId2"/>
          <a:stretch>
            <a:fillRect/>
          </a:stretch>
        </p:blipFill>
        <p:spPr>
          <a:xfrm>
            <a:off x="713678" y="1219200"/>
            <a:ext cx="9116697" cy="5020376"/>
          </a:xfrm>
          <a:prstGeom prst="rect">
            <a:avLst/>
          </a:prstGeom>
        </p:spPr>
      </p:pic>
      <p:sp>
        <p:nvSpPr>
          <p:cNvPr id="7" name="TextBox 6">
            <a:extLst>
              <a:ext uri="{FF2B5EF4-FFF2-40B4-BE49-F238E27FC236}">
                <a16:creationId xmlns:a16="http://schemas.microsoft.com/office/drawing/2014/main" id="{E744C8DE-B326-471E-98EF-AB47BF02F9FA}"/>
              </a:ext>
            </a:extLst>
          </p:cNvPr>
          <p:cNvSpPr txBox="1"/>
          <p:nvPr/>
        </p:nvSpPr>
        <p:spPr>
          <a:xfrm>
            <a:off x="685800" y="6437784"/>
            <a:ext cx="4899098" cy="230832"/>
          </a:xfrm>
          <a:prstGeom prst="rect">
            <a:avLst/>
          </a:prstGeom>
          <a:noFill/>
        </p:spPr>
        <p:txBody>
          <a:bodyPr wrap="none" rtlCol="0">
            <a:spAutoFit/>
          </a:bodyPr>
          <a:lstStyle/>
          <a:p>
            <a:r>
              <a:rPr lang="en-IN" sz="900" dirty="0"/>
              <a:t>Ref.: https://cedar.buffalo.edu/~srihari/CSE676/10.0%20SequenceModeling.pdf</a:t>
            </a:r>
          </a:p>
        </p:txBody>
      </p:sp>
    </p:spTree>
    <p:extLst>
      <p:ext uri="{BB962C8B-B14F-4D97-AF65-F5344CB8AC3E}">
        <p14:creationId xmlns:p14="http://schemas.microsoft.com/office/powerpoint/2010/main" val="3702718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245AF-8EE4-41C6-8576-4A06905C0059}"/>
              </a:ext>
            </a:extLst>
          </p:cNvPr>
          <p:cNvSpPr>
            <a:spLocks noGrp="1"/>
          </p:cNvSpPr>
          <p:nvPr>
            <p:ph type="title"/>
          </p:nvPr>
        </p:nvSpPr>
        <p:spPr/>
        <p:txBody>
          <a:bodyPr/>
          <a:lstStyle/>
          <a:p>
            <a:r>
              <a:rPr lang="en-US" dirty="0"/>
              <a:t>RNNs share same weights across Time Steps</a:t>
            </a:r>
            <a:endParaRPr lang="en-IN" dirty="0"/>
          </a:p>
        </p:txBody>
      </p:sp>
      <p:sp>
        <p:nvSpPr>
          <p:cNvPr id="3" name="Content Placeholder 2">
            <a:extLst>
              <a:ext uri="{FF2B5EF4-FFF2-40B4-BE49-F238E27FC236}">
                <a16:creationId xmlns:a16="http://schemas.microsoft.com/office/drawing/2014/main" id="{90DAE330-3D4C-4BB5-AEAE-61E3BD8CA5E9}"/>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C2E82818-303E-41C9-A111-EF5B453D4778}"/>
              </a:ext>
            </a:extLst>
          </p:cNvPr>
          <p:cNvSpPr>
            <a:spLocks noGrp="1"/>
          </p:cNvSpPr>
          <p:nvPr>
            <p:ph type="sldNum" sz="quarter" idx="12"/>
          </p:nvPr>
        </p:nvSpPr>
        <p:spPr/>
        <p:txBody>
          <a:bodyPr/>
          <a:lstStyle/>
          <a:p>
            <a:fld id="{BB2CE0DE-867F-455F-B20B-96D381B4AB71}" type="slidenum">
              <a:rPr lang="en-US" smtClean="0"/>
              <a:t>6</a:t>
            </a:fld>
            <a:endParaRPr lang="en-US"/>
          </a:p>
        </p:txBody>
      </p:sp>
      <p:pic>
        <p:nvPicPr>
          <p:cNvPr id="6" name="Picture 5">
            <a:extLst>
              <a:ext uri="{FF2B5EF4-FFF2-40B4-BE49-F238E27FC236}">
                <a16:creationId xmlns:a16="http://schemas.microsoft.com/office/drawing/2014/main" id="{507624D5-66E2-4F92-B849-24D45B061737}"/>
              </a:ext>
            </a:extLst>
          </p:cNvPr>
          <p:cNvPicPr>
            <a:picLocks noChangeAspect="1"/>
          </p:cNvPicPr>
          <p:nvPr/>
        </p:nvPicPr>
        <p:blipFill>
          <a:blip r:embed="rId2"/>
          <a:stretch>
            <a:fillRect/>
          </a:stretch>
        </p:blipFill>
        <p:spPr>
          <a:xfrm>
            <a:off x="755651" y="1219200"/>
            <a:ext cx="9449268" cy="4953000"/>
          </a:xfrm>
          <a:prstGeom prst="rect">
            <a:avLst/>
          </a:prstGeom>
        </p:spPr>
      </p:pic>
    </p:spTree>
    <p:extLst>
      <p:ext uri="{BB962C8B-B14F-4D97-AF65-F5344CB8AC3E}">
        <p14:creationId xmlns:p14="http://schemas.microsoft.com/office/powerpoint/2010/main" val="4289816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4E78A-2335-564D-FE6D-8596DE6BF342}"/>
              </a:ext>
            </a:extLst>
          </p:cNvPr>
          <p:cNvSpPr>
            <a:spLocks noGrp="1"/>
          </p:cNvSpPr>
          <p:nvPr>
            <p:ph type="title"/>
          </p:nvPr>
        </p:nvSpPr>
        <p:spPr/>
        <p:txBody>
          <a:bodyPr/>
          <a:lstStyle/>
          <a:p>
            <a:r>
              <a:rPr lang="en-IN" dirty="0"/>
              <a:t>Computational Graphs</a:t>
            </a:r>
          </a:p>
        </p:txBody>
      </p:sp>
      <p:sp>
        <p:nvSpPr>
          <p:cNvPr id="3" name="Content Placeholder 2">
            <a:extLst>
              <a:ext uri="{FF2B5EF4-FFF2-40B4-BE49-F238E27FC236}">
                <a16:creationId xmlns:a16="http://schemas.microsoft.com/office/drawing/2014/main" id="{5D52DF2F-969F-B371-2AB7-A74411B376B3}"/>
              </a:ext>
            </a:extLst>
          </p:cNvPr>
          <p:cNvSpPr>
            <a:spLocks noGrp="1"/>
          </p:cNvSpPr>
          <p:nvPr>
            <p:ph idx="1"/>
          </p:nvPr>
        </p:nvSpPr>
        <p:spPr/>
        <p:txBody>
          <a:bodyPr/>
          <a:lstStyle/>
          <a:p>
            <a:pPr marL="0" indent="0" algn="just">
              <a:buNone/>
            </a:pPr>
            <a:r>
              <a:rPr lang="en-IN" sz="1600" dirty="0"/>
              <a:t>Computational Graphs: Formalizing computation as graphs.</a:t>
            </a:r>
          </a:p>
          <a:p>
            <a:pPr marL="0" indent="0" algn="just">
              <a:buNone/>
            </a:pPr>
            <a:r>
              <a:rPr lang="en-US" sz="1600" dirty="0"/>
              <a:t>Each node in the graph to indicate a variable. The variable may be a scalar, vector, matrix, tensor, or even a variable of another type.</a:t>
            </a:r>
          </a:p>
          <a:p>
            <a:pPr marL="0" indent="0" algn="just">
              <a:buNone/>
            </a:pPr>
            <a:r>
              <a:rPr lang="en-US" sz="1600" dirty="0"/>
              <a:t>An operation is a simple function of one or more variables. Graph language is accompanied by a set of allowable operations.</a:t>
            </a:r>
          </a:p>
          <a:p>
            <a:pPr marL="0" indent="0" algn="just">
              <a:buNone/>
            </a:pPr>
            <a:r>
              <a:rPr lang="en-US" sz="1600" dirty="0"/>
              <a:t>If a variable y is computed by applying an operation to a variable x, then we draw a directed edge from x to y.</a:t>
            </a:r>
          </a:p>
          <a:p>
            <a:pPr marL="0" indent="0" algn="just">
              <a:buNone/>
            </a:pPr>
            <a:r>
              <a:rPr lang="en-IN" sz="1600" dirty="0"/>
              <a:t>Examples of computational graphs</a:t>
            </a:r>
          </a:p>
        </p:txBody>
      </p:sp>
      <p:sp>
        <p:nvSpPr>
          <p:cNvPr id="4" name="Slide Number Placeholder 3">
            <a:extLst>
              <a:ext uri="{FF2B5EF4-FFF2-40B4-BE49-F238E27FC236}">
                <a16:creationId xmlns:a16="http://schemas.microsoft.com/office/drawing/2014/main" id="{B9309DA8-93D2-1C80-5EAA-0956747FC3EA}"/>
              </a:ext>
            </a:extLst>
          </p:cNvPr>
          <p:cNvSpPr>
            <a:spLocks noGrp="1"/>
          </p:cNvSpPr>
          <p:nvPr>
            <p:ph type="sldNum" sz="quarter" idx="12"/>
          </p:nvPr>
        </p:nvSpPr>
        <p:spPr/>
        <p:txBody>
          <a:bodyPr/>
          <a:lstStyle/>
          <a:p>
            <a:fld id="{BB2CE0DE-867F-455F-B20B-96D381B4AB71}" type="slidenum">
              <a:rPr lang="en-US" smtClean="0"/>
              <a:t>7</a:t>
            </a:fld>
            <a:endParaRPr lang="en-US"/>
          </a:p>
        </p:txBody>
      </p:sp>
      <p:pic>
        <p:nvPicPr>
          <p:cNvPr id="6" name="Picture 5">
            <a:extLst>
              <a:ext uri="{FF2B5EF4-FFF2-40B4-BE49-F238E27FC236}">
                <a16:creationId xmlns:a16="http://schemas.microsoft.com/office/drawing/2014/main" id="{E2B1F4FC-FC83-72BE-357E-3511531EF6B7}"/>
              </a:ext>
            </a:extLst>
          </p:cNvPr>
          <p:cNvPicPr>
            <a:picLocks noChangeAspect="1"/>
          </p:cNvPicPr>
          <p:nvPr/>
        </p:nvPicPr>
        <p:blipFill>
          <a:blip r:embed="rId2"/>
          <a:stretch>
            <a:fillRect/>
          </a:stretch>
        </p:blipFill>
        <p:spPr>
          <a:xfrm>
            <a:off x="769950" y="3581400"/>
            <a:ext cx="1676400" cy="1581807"/>
          </a:xfrm>
          <a:prstGeom prst="rect">
            <a:avLst/>
          </a:prstGeom>
        </p:spPr>
      </p:pic>
      <p:pic>
        <p:nvPicPr>
          <p:cNvPr id="8" name="Picture 7">
            <a:extLst>
              <a:ext uri="{FF2B5EF4-FFF2-40B4-BE49-F238E27FC236}">
                <a16:creationId xmlns:a16="http://schemas.microsoft.com/office/drawing/2014/main" id="{70A89C20-E4A6-272B-8AAB-0CF577FF028D}"/>
              </a:ext>
            </a:extLst>
          </p:cNvPr>
          <p:cNvPicPr>
            <a:picLocks noChangeAspect="1"/>
          </p:cNvPicPr>
          <p:nvPr/>
        </p:nvPicPr>
        <p:blipFill>
          <a:blip r:embed="rId3"/>
          <a:stretch>
            <a:fillRect/>
          </a:stretch>
        </p:blipFill>
        <p:spPr>
          <a:xfrm>
            <a:off x="2819400" y="3581400"/>
            <a:ext cx="2762583" cy="2491850"/>
          </a:xfrm>
          <a:prstGeom prst="rect">
            <a:avLst/>
          </a:prstGeom>
        </p:spPr>
      </p:pic>
      <p:pic>
        <p:nvPicPr>
          <p:cNvPr id="10" name="Picture 9">
            <a:extLst>
              <a:ext uri="{FF2B5EF4-FFF2-40B4-BE49-F238E27FC236}">
                <a16:creationId xmlns:a16="http://schemas.microsoft.com/office/drawing/2014/main" id="{66A9BAF6-30F2-2C85-103D-FE75AA7F4B67}"/>
              </a:ext>
            </a:extLst>
          </p:cNvPr>
          <p:cNvPicPr>
            <a:picLocks noChangeAspect="1"/>
          </p:cNvPicPr>
          <p:nvPr/>
        </p:nvPicPr>
        <p:blipFill>
          <a:blip r:embed="rId4"/>
          <a:stretch>
            <a:fillRect/>
          </a:stretch>
        </p:blipFill>
        <p:spPr>
          <a:xfrm>
            <a:off x="5900788" y="3396957"/>
            <a:ext cx="2855397" cy="2667000"/>
          </a:xfrm>
          <a:prstGeom prst="rect">
            <a:avLst/>
          </a:prstGeom>
        </p:spPr>
      </p:pic>
      <p:pic>
        <p:nvPicPr>
          <p:cNvPr id="12" name="Picture 11">
            <a:extLst>
              <a:ext uri="{FF2B5EF4-FFF2-40B4-BE49-F238E27FC236}">
                <a16:creationId xmlns:a16="http://schemas.microsoft.com/office/drawing/2014/main" id="{D176EE20-DCDC-94E8-BB25-A0739F423BC0}"/>
              </a:ext>
            </a:extLst>
          </p:cNvPr>
          <p:cNvPicPr>
            <a:picLocks noChangeAspect="1"/>
          </p:cNvPicPr>
          <p:nvPr/>
        </p:nvPicPr>
        <p:blipFill>
          <a:blip r:embed="rId5"/>
          <a:stretch>
            <a:fillRect/>
          </a:stretch>
        </p:blipFill>
        <p:spPr>
          <a:xfrm>
            <a:off x="9074990" y="2882054"/>
            <a:ext cx="3040810" cy="2793422"/>
          </a:xfrm>
          <a:prstGeom prst="rect">
            <a:avLst/>
          </a:prstGeom>
        </p:spPr>
      </p:pic>
      <p:sp>
        <p:nvSpPr>
          <p:cNvPr id="13" name="TextBox 12">
            <a:extLst>
              <a:ext uri="{FF2B5EF4-FFF2-40B4-BE49-F238E27FC236}">
                <a16:creationId xmlns:a16="http://schemas.microsoft.com/office/drawing/2014/main" id="{C844873E-8BAE-0C38-C759-155ECC700DB8}"/>
              </a:ext>
            </a:extLst>
          </p:cNvPr>
          <p:cNvSpPr txBox="1"/>
          <p:nvPr/>
        </p:nvSpPr>
        <p:spPr>
          <a:xfrm>
            <a:off x="279218" y="5207913"/>
            <a:ext cx="2380780" cy="430887"/>
          </a:xfrm>
          <a:prstGeom prst="rect">
            <a:avLst/>
          </a:prstGeom>
          <a:noFill/>
        </p:spPr>
        <p:txBody>
          <a:bodyPr wrap="none" rtlCol="0">
            <a:spAutoFit/>
          </a:bodyPr>
          <a:lstStyle/>
          <a:p>
            <a:r>
              <a:rPr lang="en-US" sz="1100" dirty="0"/>
              <a:t>The graph using the</a:t>
            </a:r>
          </a:p>
          <a:p>
            <a:r>
              <a:rPr lang="en-US" sz="1100" dirty="0"/>
              <a:t>× operation to compute z = </a:t>
            </a:r>
            <a:r>
              <a:rPr lang="en-US" sz="1100" dirty="0" err="1"/>
              <a:t>xy</a:t>
            </a:r>
            <a:endParaRPr lang="en-IN" sz="1100" dirty="0"/>
          </a:p>
        </p:txBody>
      </p:sp>
      <p:pic>
        <p:nvPicPr>
          <p:cNvPr id="15" name="Picture 14">
            <a:extLst>
              <a:ext uri="{FF2B5EF4-FFF2-40B4-BE49-F238E27FC236}">
                <a16:creationId xmlns:a16="http://schemas.microsoft.com/office/drawing/2014/main" id="{976CF2FD-7A46-69BE-048A-45BC417BF846}"/>
              </a:ext>
            </a:extLst>
          </p:cNvPr>
          <p:cNvPicPr>
            <a:picLocks noChangeAspect="1"/>
          </p:cNvPicPr>
          <p:nvPr/>
        </p:nvPicPr>
        <p:blipFill>
          <a:blip r:embed="rId6"/>
          <a:stretch>
            <a:fillRect/>
          </a:stretch>
        </p:blipFill>
        <p:spPr>
          <a:xfrm>
            <a:off x="3124200" y="6098986"/>
            <a:ext cx="2245269" cy="409610"/>
          </a:xfrm>
          <a:prstGeom prst="rect">
            <a:avLst/>
          </a:prstGeom>
        </p:spPr>
      </p:pic>
      <p:pic>
        <p:nvPicPr>
          <p:cNvPr id="17" name="Picture 16">
            <a:extLst>
              <a:ext uri="{FF2B5EF4-FFF2-40B4-BE49-F238E27FC236}">
                <a16:creationId xmlns:a16="http://schemas.microsoft.com/office/drawing/2014/main" id="{B5F0C8D2-1DC3-8622-807D-AF280D595198}"/>
              </a:ext>
            </a:extLst>
          </p:cNvPr>
          <p:cNvPicPr>
            <a:picLocks noChangeAspect="1"/>
          </p:cNvPicPr>
          <p:nvPr/>
        </p:nvPicPr>
        <p:blipFill>
          <a:blip r:embed="rId7"/>
          <a:stretch>
            <a:fillRect/>
          </a:stretch>
        </p:blipFill>
        <p:spPr>
          <a:xfrm>
            <a:off x="6133172" y="6111761"/>
            <a:ext cx="1905266" cy="266737"/>
          </a:xfrm>
          <a:prstGeom prst="rect">
            <a:avLst/>
          </a:prstGeom>
        </p:spPr>
      </p:pic>
      <p:sp>
        <p:nvSpPr>
          <p:cNvPr id="18" name="TextBox 17">
            <a:extLst>
              <a:ext uri="{FF2B5EF4-FFF2-40B4-BE49-F238E27FC236}">
                <a16:creationId xmlns:a16="http://schemas.microsoft.com/office/drawing/2014/main" id="{F5BB4AEE-8372-7FD3-B857-176B280A664A}"/>
              </a:ext>
            </a:extLst>
          </p:cNvPr>
          <p:cNvSpPr txBox="1"/>
          <p:nvPr/>
        </p:nvSpPr>
        <p:spPr>
          <a:xfrm>
            <a:off x="8843191" y="5982812"/>
            <a:ext cx="3211200" cy="738664"/>
          </a:xfrm>
          <a:prstGeom prst="rect">
            <a:avLst/>
          </a:prstGeom>
          <a:noFill/>
        </p:spPr>
        <p:txBody>
          <a:bodyPr wrap="none" rtlCol="0">
            <a:spAutoFit/>
          </a:bodyPr>
          <a:lstStyle/>
          <a:p>
            <a:r>
              <a:rPr lang="en-US" sz="1400" dirty="0"/>
              <a:t>Example computation graph that </a:t>
            </a:r>
          </a:p>
          <a:p>
            <a:r>
              <a:rPr lang="en-US" sz="1400" dirty="0"/>
              <a:t>applies more than one operation</a:t>
            </a:r>
          </a:p>
          <a:p>
            <a:r>
              <a:rPr lang="en-US" sz="1400" dirty="0"/>
              <a:t> to the weights w </a:t>
            </a:r>
            <a:endParaRPr lang="en-IN" sz="1400" dirty="0"/>
          </a:p>
        </p:txBody>
      </p:sp>
      <p:pic>
        <p:nvPicPr>
          <p:cNvPr id="20" name="Picture 19">
            <a:extLst>
              <a:ext uri="{FF2B5EF4-FFF2-40B4-BE49-F238E27FC236}">
                <a16:creationId xmlns:a16="http://schemas.microsoft.com/office/drawing/2014/main" id="{EE708F6D-1CF6-9865-22D3-FA79A4CA00F4}"/>
              </a:ext>
            </a:extLst>
          </p:cNvPr>
          <p:cNvPicPr>
            <a:picLocks noChangeAspect="1"/>
          </p:cNvPicPr>
          <p:nvPr/>
        </p:nvPicPr>
        <p:blipFill>
          <a:blip r:embed="rId8"/>
          <a:stretch>
            <a:fillRect/>
          </a:stretch>
        </p:blipFill>
        <p:spPr>
          <a:xfrm>
            <a:off x="10727120" y="5520856"/>
            <a:ext cx="992941" cy="459420"/>
          </a:xfrm>
          <a:prstGeom prst="rect">
            <a:avLst/>
          </a:prstGeom>
        </p:spPr>
      </p:pic>
    </p:spTree>
    <p:extLst>
      <p:ext uri="{BB962C8B-B14F-4D97-AF65-F5344CB8AC3E}">
        <p14:creationId xmlns:p14="http://schemas.microsoft.com/office/powerpoint/2010/main" val="3756655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E6A00-B2A5-117A-EDA0-F46B272F70B2}"/>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681D5395-D669-A226-E519-506B8082FA52}"/>
              </a:ext>
            </a:extLst>
          </p:cNvPr>
          <p:cNvSpPr>
            <a:spLocks noGrp="1"/>
          </p:cNvSpPr>
          <p:nvPr>
            <p:ph idx="1"/>
          </p:nvPr>
        </p:nvSpPr>
        <p:spPr/>
        <p:txBody>
          <a:bodyPr/>
          <a:lstStyle/>
          <a:p>
            <a:pPr marL="0" indent="0">
              <a:buNone/>
            </a:pPr>
            <a:r>
              <a:rPr lang="en-US" sz="1600" dirty="0">
                <a:solidFill>
                  <a:srgbClr val="C00000"/>
                </a:solidFill>
              </a:rPr>
              <a:t>To define recurrent neural networks</a:t>
            </a:r>
            <a:r>
              <a:rPr lang="en-US" sz="1600" dirty="0"/>
              <a:t>, </a:t>
            </a:r>
            <a:r>
              <a:rPr lang="en-US" sz="1600" dirty="0">
                <a:solidFill>
                  <a:srgbClr val="0000FF"/>
                </a:solidFill>
              </a:rPr>
              <a:t>computational graphs are used</a:t>
            </a:r>
            <a:r>
              <a:rPr lang="en-US" sz="1600" dirty="0"/>
              <a:t>.</a:t>
            </a:r>
          </a:p>
          <a:p>
            <a:pPr marL="0" indent="0">
              <a:buNone/>
            </a:pPr>
            <a:r>
              <a:rPr lang="en-US" sz="1600" dirty="0"/>
              <a:t>We will discuss the idea of unfolding a recursive or recurrent computation into a computational graph that has a repetitive structure, typically corresponding to a chain of events.</a:t>
            </a:r>
          </a:p>
          <a:p>
            <a:pPr marL="0" indent="0">
              <a:buNone/>
            </a:pPr>
            <a:r>
              <a:rPr lang="en-US" sz="1600" dirty="0"/>
              <a:t>This graph results in the sharing of parameters across a deep network structure.</a:t>
            </a:r>
          </a:p>
          <a:p>
            <a:pPr marL="0" indent="0">
              <a:buNone/>
            </a:pPr>
            <a:r>
              <a:rPr lang="en-US" sz="1600" dirty="0"/>
              <a:t>For example, consider the classical form of a dynamical system:</a:t>
            </a:r>
          </a:p>
          <a:p>
            <a:pPr marL="0" indent="0">
              <a:buNone/>
            </a:pPr>
            <a:endParaRPr lang="en-US" sz="1600" dirty="0"/>
          </a:p>
          <a:p>
            <a:pPr marL="0" indent="0">
              <a:buNone/>
            </a:pPr>
            <a:endParaRPr lang="en-US" sz="1600" dirty="0"/>
          </a:p>
          <a:p>
            <a:pPr marL="0" indent="0">
              <a:buNone/>
            </a:pPr>
            <a:endParaRPr lang="en-US" sz="1600" dirty="0"/>
          </a:p>
          <a:p>
            <a:pPr marL="0" indent="0">
              <a:buNone/>
            </a:pPr>
            <a:r>
              <a:rPr lang="en-US" sz="1600" dirty="0"/>
              <a:t>where s</a:t>
            </a:r>
            <a:r>
              <a:rPr lang="en-US" sz="1600" baseline="30000" dirty="0"/>
              <a:t>(t) </a:t>
            </a:r>
            <a:r>
              <a:rPr lang="en-US" sz="1600" dirty="0"/>
              <a:t>is called the state of the system. This equation is recurrent because the definition of s at time t refers back to the same definition at time (t − 1)</a:t>
            </a:r>
          </a:p>
          <a:p>
            <a:pPr marL="0" indent="0">
              <a:buNone/>
            </a:pPr>
            <a:endParaRPr lang="en-US" sz="1600" dirty="0"/>
          </a:p>
          <a:p>
            <a:pPr marL="0" indent="0">
              <a:buNone/>
            </a:pPr>
            <a:r>
              <a:rPr lang="en-US" sz="1600" dirty="0"/>
              <a:t>For a finite number of time steps τ , the graph can be unfolded by applying the definition (τ − 1) times. For example, if we unfold equation for τ = 3 time steps, we obtain</a:t>
            </a:r>
            <a:endParaRPr lang="en-IN" sz="1600" dirty="0"/>
          </a:p>
        </p:txBody>
      </p:sp>
      <p:sp>
        <p:nvSpPr>
          <p:cNvPr id="4" name="Slide Number Placeholder 3">
            <a:extLst>
              <a:ext uri="{FF2B5EF4-FFF2-40B4-BE49-F238E27FC236}">
                <a16:creationId xmlns:a16="http://schemas.microsoft.com/office/drawing/2014/main" id="{44AB4FB3-97C8-04C8-69BF-78C67D72E829}"/>
              </a:ext>
            </a:extLst>
          </p:cNvPr>
          <p:cNvSpPr>
            <a:spLocks noGrp="1"/>
          </p:cNvSpPr>
          <p:nvPr>
            <p:ph type="sldNum" sz="quarter" idx="12"/>
          </p:nvPr>
        </p:nvSpPr>
        <p:spPr/>
        <p:txBody>
          <a:bodyPr/>
          <a:lstStyle/>
          <a:p>
            <a:fld id="{BB2CE0DE-867F-455F-B20B-96D381B4AB71}" type="slidenum">
              <a:rPr lang="en-US" smtClean="0"/>
              <a:t>8</a:t>
            </a:fld>
            <a:endParaRPr lang="en-US"/>
          </a:p>
        </p:txBody>
      </p:sp>
      <p:pic>
        <p:nvPicPr>
          <p:cNvPr id="6" name="Picture 5">
            <a:extLst>
              <a:ext uri="{FF2B5EF4-FFF2-40B4-BE49-F238E27FC236}">
                <a16:creationId xmlns:a16="http://schemas.microsoft.com/office/drawing/2014/main" id="{FDADAEC5-52B6-0751-743B-58E3B8C9525B}"/>
              </a:ext>
            </a:extLst>
          </p:cNvPr>
          <p:cNvPicPr>
            <a:picLocks noChangeAspect="1"/>
          </p:cNvPicPr>
          <p:nvPr/>
        </p:nvPicPr>
        <p:blipFill>
          <a:blip r:embed="rId3"/>
          <a:stretch>
            <a:fillRect/>
          </a:stretch>
        </p:blipFill>
        <p:spPr>
          <a:xfrm>
            <a:off x="3810000" y="2743200"/>
            <a:ext cx="2871786" cy="685800"/>
          </a:xfrm>
          <a:prstGeom prst="rect">
            <a:avLst/>
          </a:prstGeom>
        </p:spPr>
      </p:pic>
      <p:pic>
        <p:nvPicPr>
          <p:cNvPr id="8" name="Picture 7">
            <a:extLst>
              <a:ext uri="{FF2B5EF4-FFF2-40B4-BE49-F238E27FC236}">
                <a16:creationId xmlns:a16="http://schemas.microsoft.com/office/drawing/2014/main" id="{FA64D352-0632-9B47-E5A3-169C9E85EA77}"/>
              </a:ext>
            </a:extLst>
          </p:cNvPr>
          <p:cNvPicPr>
            <a:picLocks noChangeAspect="1"/>
          </p:cNvPicPr>
          <p:nvPr/>
        </p:nvPicPr>
        <p:blipFill>
          <a:blip r:embed="rId4"/>
          <a:stretch>
            <a:fillRect/>
          </a:stretch>
        </p:blipFill>
        <p:spPr>
          <a:xfrm>
            <a:off x="4044870" y="5142278"/>
            <a:ext cx="2577443" cy="1093112"/>
          </a:xfrm>
          <a:prstGeom prst="rect">
            <a:avLst/>
          </a:prstGeom>
        </p:spPr>
      </p:pic>
    </p:spTree>
    <p:extLst>
      <p:ext uri="{BB962C8B-B14F-4D97-AF65-F5344CB8AC3E}">
        <p14:creationId xmlns:p14="http://schemas.microsoft.com/office/powerpoint/2010/main" val="2836813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9672D-A4D3-FB86-9E4B-BBEB8743239F}"/>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BE5081F2-3F83-05F8-57A1-E655F9E92228}"/>
              </a:ext>
            </a:extLst>
          </p:cNvPr>
          <p:cNvSpPr>
            <a:spLocks noGrp="1"/>
          </p:cNvSpPr>
          <p:nvPr>
            <p:ph idx="1"/>
          </p:nvPr>
        </p:nvSpPr>
        <p:spPr/>
        <p:txBody>
          <a:bodyPr/>
          <a:lstStyle/>
          <a:p>
            <a:pPr marL="0" indent="0">
              <a:buNone/>
            </a:pPr>
            <a:r>
              <a:rPr lang="en-IN" sz="2400" dirty="0"/>
              <a:t>Unfolded computational graph</a:t>
            </a:r>
          </a:p>
          <a:p>
            <a:pPr marL="0" indent="0">
              <a:buNone/>
            </a:pPr>
            <a:endParaRPr lang="en-IN" sz="2400" dirty="0"/>
          </a:p>
          <a:p>
            <a:pPr marL="0" indent="0">
              <a:buNone/>
            </a:pPr>
            <a:endParaRPr lang="en-IN" sz="2400" dirty="0"/>
          </a:p>
          <a:p>
            <a:pPr marL="0" indent="0">
              <a:buNone/>
            </a:pPr>
            <a:endParaRPr lang="en-IN" sz="2400" dirty="0"/>
          </a:p>
          <a:p>
            <a:pPr marL="0" indent="0">
              <a:buNone/>
            </a:pPr>
            <a:r>
              <a:rPr lang="en-US" sz="1800" dirty="0"/>
              <a:t>The classical dynamical system described by equation </a:t>
            </a:r>
          </a:p>
          <a:p>
            <a:pPr marL="0" indent="0">
              <a:buNone/>
            </a:pPr>
            <a:r>
              <a:rPr lang="en-US" sz="1800" dirty="0"/>
              <a:t>, illustrated as an unfolded computational graph. Each node represents the state at some time t and the function f maps the state at t to the state at (t + 1). The same parameters (the same value of </a:t>
            </a:r>
            <a:r>
              <a:rPr lang="en-US" sz="1800" b="1" dirty="0"/>
              <a:t>θ</a:t>
            </a:r>
            <a:r>
              <a:rPr lang="en-US" sz="1800" dirty="0"/>
              <a:t> used to parametrize f) are used for all time steps.</a:t>
            </a:r>
          </a:p>
          <a:p>
            <a:pPr marL="0" indent="0">
              <a:buNone/>
            </a:pPr>
            <a:endParaRPr lang="en-US" sz="1800" dirty="0"/>
          </a:p>
          <a:p>
            <a:pPr marL="0" indent="0">
              <a:buNone/>
            </a:pPr>
            <a:r>
              <a:rPr lang="en-US" sz="1800" dirty="0"/>
              <a:t>As another example, let us consider a dynamical system driven by an external signal x(t),</a:t>
            </a:r>
          </a:p>
          <a:p>
            <a:pPr marL="0" indent="0">
              <a:buNone/>
            </a:pPr>
            <a:endParaRPr lang="en-US" sz="1800" dirty="0"/>
          </a:p>
          <a:p>
            <a:pPr marL="0" indent="0">
              <a:buNone/>
            </a:pPr>
            <a:endParaRPr lang="en-US" sz="1800" dirty="0"/>
          </a:p>
          <a:p>
            <a:pPr marL="0" indent="0">
              <a:buNone/>
            </a:pPr>
            <a:endParaRPr lang="en-US" sz="1800" dirty="0"/>
          </a:p>
          <a:p>
            <a:pPr marL="0" indent="0">
              <a:buNone/>
            </a:pPr>
            <a:r>
              <a:rPr lang="en-US" sz="1800" dirty="0"/>
              <a:t>where we see that the state now contains information about the whole past sequence.</a:t>
            </a:r>
            <a:endParaRPr lang="en-IN" sz="1800" dirty="0"/>
          </a:p>
        </p:txBody>
      </p:sp>
      <p:sp>
        <p:nvSpPr>
          <p:cNvPr id="4" name="Slide Number Placeholder 3">
            <a:extLst>
              <a:ext uri="{FF2B5EF4-FFF2-40B4-BE49-F238E27FC236}">
                <a16:creationId xmlns:a16="http://schemas.microsoft.com/office/drawing/2014/main" id="{CFB3B0C8-B3AB-7B27-07C9-F3FE1FC008A0}"/>
              </a:ext>
            </a:extLst>
          </p:cNvPr>
          <p:cNvSpPr>
            <a:spLocks noGrp="1"/>
          </p:cNvSpPr>
          <p:nvPr>
            <p:ph type="sldNum" sz="quarter" idx="12"/>
          </p:nvPr>
        </p:nvSpPr>
        <p:spPr/>
        <p:txBody>
          <a:bodyPr/>
          <a:lstStyle/>
          <a:p>
            <a:fld id="{BB2CE0DE-867F-455F-B20B-96D381B4AB71}" type="slidenum">
              <a:rPr lang="en-US" smtClean="0"/>
              <a:t>9</a:t>
            </a:fld>
            <a:endParaRPr lang="en-US"/>
          </a:p>
        </p:txBody>
      </p:sp>
      <p:pic>
        <p:nvPicPr>
          <p:cNvPr id="6" name="Picture 5">
            <a:extLst>
              <a:ext uri="{FF2B5EF4-FFF2-40B4-BE49-F238E27FC236}">
                <a16:creationId xmlns:a16="http://schemas.microsoft.com/office/drawing/2014/main" id="{6CAA777E-950E-00E8-D9EC-12519AB2DFEB}"/>
              </a:ext>
            </a:extLst>
          </p:cNvPr>
          <p:cNvPicPr>
            <a:picLocks noChangeAspect="1"/>
          </p:cNvPicPr>
          <p:nvPr/>
        </p:nvPicPr>
        <p:blipFill>
          <a:blip r:embed="rId2"/>
          <a:stretch>
            <a:fillRect/>
          </a:stretch>
        </p:blipFill>
        <p:spPr>
          <a:xfrm>
            <a:off x="2133600" y="1981200"/>
            <a:ext cx="4944165" cy="885949"/>
          </a:xfrm>
          <a:prstGeom prst="rect">
            <a:avLst/>
          </a:prstGeom>
        </p:spPr>
      </p:pic>
      <p:pic>
        <p:nvPicPr>
          <p:cNvPr id="7" name="Picture 6">
            <a:extLst>
              <a:ext uri="{FF2B5EF4-FFF2-40B4-BE49-F238E27FC236}">
                <a16:creationId xmlns:a16="http://schemas.microsoft.com/office/drawing/2014/main" id="{853D2BFA-55CB-C5F3-4002-FB1FC5F57BE5}"/>
              </a:ext>
            </a:extLst>
          </p:cNvPr>
          <p:cNvPicPr>
            <a:picLocks noChangeAspect="1"/>
          </p:cNvPicPr>
          <p:nvPr/>
        </p:nvPicPr>
        <p:blipFill>
          <a:blip r:embed="rId3"/>
          <a:stretch>
            <a:fillRect/>
          </a:stretch>
        </p:blipFill>
        <p:spPr>
          <a:xfrm>
            <a:off x="7162800" y="2867149"/>
            <a:ext cx="1981200" cy="473123"/>
          </a:xfrm>
          <a:prstGeom prst="rect">
            <a:avLst/>
          </a:prstGeom>
        </p:spPr>
      </p:pic>
      <p:pic>
        <p:nvPicPr>
          <p:cNvPr id="8" name="Picture 7">
            <a:extLst>
              <a:ext uri="{FF2B5EF4-FFF2-40B4-BE49-F238E27FC236}">
                <a16:creationId xmlns:a16="http://schemas.microsoft.com/office/drawing/2014/main" id="{828F8CCB-948C-C5E9-DF7C-F8A66FB6947C}"/>
              </a:ext>
            </a:extLst>
          </p:cNvPr>
          <p:cNvPicPr>
            <a:picLocks noChangeAspect="1"/>
          </p:cNvPicPr>
          <p:nvPr/>
        </p:nvPicPr>
        <p:blipFill>
          <a:blip r:embed="rId4"/>
          <a:stretch>
            <a:fillRect/>
          </a:stretch>
        </p:blipFill>
        <p:spPr>
          <a:xfrm>
            <a:off x="2971800" y="4966158"/>
            <a:ext cx="2953162" cy="600159"/>
          </a:xfrm>
          <a:prstGeom prst="rect">
            <a:avLst/>
          </a:prstGeom>
        </p:spPr>
      </p:pic>
    </p:spTree>
    <p:extLst>
      <p:ext uri="{BB962C8B-B14F-4D97-AF65-F5344CB8AC3E}">
        <p14:creationId xmlns:p14="http://schemas.microsoft.com/office/powerpoint/2010/main" val="2848460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893F9-0884-BB33-7A52-E21649BC6E63}"/>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547813B3-E79D-CD58-BA4F-AB56C5A40404}"/>
              </a:ext>
            </a:extLst>
          </p:cNvPr>
          <p:cNvSpPr>
            <a:spLocks noGrp="1"/>
          </p:cNvSpPr>
          <p:nvPr>
            <p:ph idx="1"/>
          </p:nvPr>
        </p:nvSpPr>
        <p:spPr/>
        <p:txBody>
          <a:bodyPr/>
          <a:lstStyle/>
          <a:p>
            <a:pPr marL="0" indent="0">
              <a:buNone/>
            </a:pPr>
            <a:r>
              <a:rPr lang="en-US" sz="1800" b="1" dirty="0"/>
              <a:t>Recurrent Neural Networks:</a:t>
            </a:r>
          </a:p>
          <a:p>
            <a:pPr marL="0" indent="0">
              <a:buNone/>
            </a:pPr>
            <a:r>
              <a:rPr lang="en-US" sz="1800" dirty="0"/>
              <a:t>Many recurrent neural networks use equation  </a:t>
            </a:r>
          </a:p>
          <a:p>
            <a:pPr marL="0" indent="0">
              <a:buNone/>
            </a:pPr>
            <a:r>
              <a:rPr lang="en-US" sz="1800" dirty="0"/>
              <a:t>or a similar equation to define the values of their </a:t>
            </a:r>
            <a:r>
              <a:rPr lang="en-US" sz="1800" dirty="0">
                <a:solidFill>
                  <a:srgbClr val="C00000"/>
                </a:solidFill>
              </a:rPr>
              <a:t>hidden units</a:t>
            </a:r>
            <a:r>
              <a:rPr lang="en-US" sz="1800" dirty="0"/>
              <a:t>.</a:t>
            </a:r>
          </a:p>
          <a:p>
            <a:pPr marL="0" indent="0">
              <a:buNone/>
            </a:pPr>
            <a:endParaRPr lang="en-US" sz="1800" dirty="0"/>
          </a:p>
          <a:p>
            <a:pPr marL="0" indent="0">
              <a:buNone/>
            </a:pPr>
            <a:r>
              <a:rPr lang="en-US" sz="1800" dirty="0"/>
              <a:t>When the recurrent network is trained to perform a task that requires predicting the future from the past, the network typically learns to use h(t) as a kind of lossy summary of the task-relevant aspects of the past sequence of inputs up to t. This summary is in general necessarily lossy, since it maps an arbitrary length sequence (x(t) , x(t−1), x(t−2), . . . , x(2), x(1)) to a fixed length vector h(t) .</a:t>
            </a:r>
            <a:endParaRPr lang="en-IN" sz="1800" dirty="0"/>
          </a:p>
          <a:p>
            <a:pPr marL="0" indent="0">
              <a:buNone/>
            </a:pPr>
            <a:r>
              <a:rPr lang="en-US" sz="1800" dirty="0"/>
              <a:t> </a:t>
            </a:r>
            <a:endParaRPr lang="en-IN" sz="1800" dirty="0"/>
          </a:p>
        </p:txBody>
      </p:sp>
      <p:sp>
        <p:nvSpPr>
          <p:cNvPr id="4" name="Slide Number Placeholder 3">
            <a:extLst>
              <a:ext uri="{FF2B5EF4-FFF2-40B4-BE49-F238E27FC236}">
                <a16:creationId xmlns:a16="http://schemas.microsoft.com/office/drawing/2014/main" id="{B707C912-1F7E-8B5E-4917-38E874F16C28}"/>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6" name="Picture 5">
            <a:extLst>
              <a:ext uri="{FF2B5EF4-FFF2-40B4-BE49-F238E27FC236}">
                <a16:creationId xmlns:a16="http://schemas.microsoft.com/office/drawing/2014/main" id="{351A9B06-C0E7-B07C-7569-CA9196525483}"/>
              </a:ext>
            </a:extLst>
          </p:cNvPr>
          <p:cNvPicPr>
            <a:picLocks noChangeAspect="1"/>
          </p:cNvPicPr>
          <p:nvPr/>
        </p:nvPicPr>
        <p:blipFill>
          <a:blip r:embed="rId3"/>
          <a:stretch>
            <a:fillRect/>
          </a:stretch>
        </p:blipFill>
        <p:spPr>
          <a:xfrm>
            <a:off x="6172200" y="1371600"/>
            <a:ext cx="2867425" cy="495369"/>
          </a:xfrm>
          <a:prstGeom prst="rect">
            <a:avLst/>
          </a:prstGeom>
        </p:spPr>
      </p:pic>
    </p:spTree>
    <p:extLst>
      <p:ext uri="{BB962C8B-B14F-4D97-AF65-F5344CB8AC3E}">
        <p14:creationId xmlns:p14="http://schemas.microsoft.com/office/powerpoint/2010/main" val="1558376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E4BA8-186F-5359-64A9-ED3E23A17012}"/>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5C01FC5D-FE37-AA25-CE90-43898F95B1EF}"/>
              </a:ext>
            </a:extLst>
          </p:cNvPr>
          <p:cNvSpPr>
            <a:spLocks noGrp="1"/>
          </p:cNvSpPr>
          <p:nvPr>
            <p:ph idx="1"/>
          </p:nvPr>
        </p:nvSpPr>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US" sz="1800" dirty="0"/>
          </a:p>
          <a:p>
            <a:pPr marL="0" indent="0">
              <a:buNone/>
            </a:pPr>
            <a:r>
              <a:rPr lang="en-US" sz="1800" dirty="0"/>
              <a:t>		Figure: A recurrent network with no outputs.</a:t>
            </a:r>
          </a:p>
          <a:p>
            <a:pPr marL="0" indent="0">
              <a:buNone/>
            </a:pPr>
            <a:r>
              <a:rPr lang="en-US" sz="1800" dirty="0"/>
              <a:t>This recurrent network just processes information from the input x by incorporating it into the state h that is passed forward through time. </a:t>
            </a:r>
          </a:p>
          <a:p>
            <a:pPr marL="0" indent="0">
              <a:buNone/>
            </a:pPr>
            <a:r>
              <a:rPr lang="en-US" sz="1800" dirty="0"/>
              <a:t>(Left) Circuit diagram. The black square indicates a delay of a single time step. </a:t>
            </a:r>
          </a:p>
          <a:p>
            <a:pPr marL="0" indent="0">
              <a:buNone/>
            </a:pPr>
            <a:r>
              <a:rPr lang="en-US" sz="1800" dirty="0"/>
              <a:t>(Right) The same network seen as an unfolded computational graph, where each node is now associated with one particular time instance.</a:t>
            </a:r>
          </a:p>
          <a:p>
            <a:pPr marL="0" indent="0">
              <a:buNone/>
            </a:pPr>
            <a:r>
              <a:rPr lang="en-US" sz="1800" dirty="0"/>
              <a:t>We use a black square in a circuit diagram to indicate that an interaction takes place with a delay of a single time step, from the state at time t to the state at time t + 1.</a:t>
            </a:r>
          </a:p>
          <a:p>
            <a:pPr marL="0" indent="0">
              <a:buNone/>
            </a:pPr>
            <a:r>
              <a:rPr lang="en-US" sz="1800" dirty="0"/>
              <a:t>What we call unfolding is the operation that maps a circuit as in the left side of the figure to a computational graph with repeated pieces as in the right side. The unfolded graph now has a size that depends on the sequence length.</a:t>
            </a:r>
            <a:endParaRPr lang="en-IN" sz="1800" dirty="0"/>
          </a:p>
        </p:txBody>
      </p:sp>
      <p:sp>
        <p:nvSpPr>
          <p:cNvPr id="4" name="Slide Number Placeholder 3">
            <a:extLst>
              <a:ext uri="{FF2B5EF4-FFF2-40B4-BE49-F238E27FC236}">
                <a16:creationId xmlns:a16="http://schemas.microsoft.com/office/drawing/2014/main" id="{13D51DE3-60E3-E135-EFBD-B102BB08BD58}"/>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6" name="Picture 5">
            <a:extLst>
              <a:ext uri="{FF2B5EF4-FFF2-40B4-BE49-F238E27FC236}">
                <a16:creationId xmlns:a16="http://schemas.microsoft.com/office/drawing/2014/main" id="{EAB5F3F4-25D5-EF50-B69A-DFCD63C3D705}"/>
              </a:ext>
            </a:extLst>
          </p:cNvPr>
          <p:cNvPicPr>
            <a:picLocks noChangeAspect="1"/>
          </p:cNvPicPr>
          <p:nvPr/>
        </p:nvPicPr>
        <p:blipFill>
          <a:blip r:embed="rId2"/>
          <a:stretch>
            <a:fillRect/>
          </a:stretch>
        </p:blipFill>
        <p:spPr>
          <a:xfrm>
            <a:off x="2279119" y="1096536"/>
            <a:ext cx="6941081" cy="1900121"/>
          </a:xfrm>
          <a:prstGeom prst="rect">
            <a:avLst/>
          </a:prstGeom>
        </p:spPr>
      </p:pic>
    </p:spTree>
    <p:extLst>
      <p:ext uri="{BB962C8B-B14F-4D97-AF65-F5344CB8AC3E}">
        <p14:creationId xmlns:p14="http://schemas.microsoft.com/office/powerpoint/2010/main" val="135060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6D5B2-4CE2-EB1C-900F-ADCAF2F21D1D}"/>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DE1B6F8E-5164-FE2C-A0BA-216D7A6B51E1}"/>
              </a:ext>
            </a:extLst>
          </p:cNvPr>
          <p:cNvSpPr>
            <a:spLocks noGrp="1"/>
          </p:cNvSpPr>
          <p:nvPr>
            <p:ph idx="1"/>
          </p:nvPr>
        </p:nvSpPr>
        <p:spPr/>
        <p:txBody>
          <a:bodyPr/>
          <a:lstStyle/>
          <a:p>
            <a:pPr marL="0" indent="0">
              <a:buNone/>
            </a:pPr>
            <a:r>
              <a:rPr lang="en-US" sz="1800" dirty="0"/>
              <a:t>We can represent the unfolded recurrence after t steps with a function g(t):</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r>
              <a:rPr lang="en-US" sz="1600" dirty="0"/>
              <a:t>The function g(t) takes the whole past sequence (x(t) , x(t−1), x(t−2), . . . , x(2), x(1)) as input and produces the current state, but the unfolded recurrent structure allows us to factorize g(t) into repeated application of a function f . </a:t>
            </a:r>
          </a:p>
          <a:p>
            <a:pPr marL="0" indent="0">
              <a:buNone/>
            </a:pPr>
            <a:r>
              <a:rPr lang="en-US" sz="1600" dirty="0"/>
              <a:t>The unfolding process thus introduces two major advantages: </a:t>
            </a:r>
          </a:p>
          <a:p>
            <a:pPr marL="0" indent="0">
              <a:buNone/>
            </a:pPr>
            <a:r>
              <a:rPr lang="en-US" sz="1600" dirty="0"/>
              <a:t>1. Regardless of the sequence length, the learned model always has the same input size, because it is specified in terms of transition from one state to another state, rather than specified in terms of a variable-length history of states. </a:t>
            </a:r>
          </a:p>
          <a:p>
            <a:pPr marL="0" indent="0">
              <a:buNone/>
            </a:pPr>
            <a:r>
              <a:rPr lang="en-US" sz="1600" dirty="0"/>
              <a:t>2. It is possible to use the same transition function f with the same parameters at every time step. </a:t>
            </a:r>
          </a:p>
          <a:p>
            <a:pPr marL="0" indent="0">
              <a:buNone/>
            </a:pPr>
            <a:endParaRPr lang="en-US" sz="1600" dirty="0"/>
          </a:p>
          <a:p>
            <a:pPr marL="0" indent="0">
              <a:buNone/>
            </a:pPr>
            <a:r>
              <a:rPr lang="en-US" sz="1600" dirty="0"/>
              <a:t>These two factors make it possible to learn a single model f that operates on all time steps and all sequence lengths, rather than needing to learn a separate model g(t) for all possible time steps.</a:t>
            </a:r>
            <a:endParaRPr lang="en-IN" sz="1600" dirty="0"/>
          </a:p>
          <a:p>
            <a:pPr marL="0" indent="0">
              <a:buNone/>
            </a:pPr>
            <a:endParaRPr lang="en-IN" sz="1800" dirty="0"/>
          </a:p>
        </p:txBody>
      </p:sp>
      <p:sp>
        <p:nvSpPr>
          <p:cNvPr id="4" name="Slide Number Placeholder 3">
            <a:extLst>
              <a:ext uri="{FF2B5EF4-FFF2-40B4-BE49-F238E27FC236}">
                <a16:creationId xmlns:a16="http://schemas.microsoft.com/office/drawing/2014/main" id="{98130B4B-4A2F-865F-76B9-AFF23E709FFD}"/>
              </a:ext>
            </a:extLst>
          </p:cNvPr>
          <p:cNvSpPr>
            <a:spLocks noGrp="1"/>
          </p:cNvSpPr>
          <p:nvPr>
            <p:ph type="sldNum" sz="quarter" idx="12"/>
          </p:nvPr>
        </p:nvSpPr>
        <p:spPr/>
        <p:txBody>
          <a:bodyPr/>
          <a:lstStyle/>
          <a:p>
            <a:fld id="{BB2CE0DE-867F-455F-B20B-96D381B4AB71}" type="slidenum">
              <a:rPr lang="en-US" smtClean="0"/>
              <a:t>12</a:t>
            </a:fld>
            <a:endParaRPr lang="en-US"/>
          </a:p>
        </p:txBody>
      </p:sp>
      <p:pic>
        <p:nvPicPr>
          <p:cNvPr id="6" name="Picture 5">
            <a:extLst>
              <a:ext uri="{FF2B5EF4-FFF2-40B4-BE49-F238E27FC236}">
                <a16:creationId xmlns:a16="http://schemas.microsoft.com/office/drawing/2014/main" id="{B00E9852-2671-A11E-32B2-74E41772ED73}"/>
              </a:ext>
            </a:extLst>
          </p:cNvPr>
          <p:cNvPicPr>
            <a:picLocks noChangeAspect="1"/>
          </p:cNvPicPr>
          <p:nvPr/>
        </p:nvPicPr>
        <p:blipFill>
          <a:blip r:embed="rId3"/>
          <a:stretch>
            <a:fillRect/>
          </a:stretch>
        </p:blipFill>
        <p:spPr>
          <a:xfrm>
            <a:off x="1981200" y="1752600"/>
            <a:ext cx="5758544" cy="1295400"/>
          </a:xfrm>
          <a:prstGeom prst="rect">
            <a:avLst/>
          </a:prstGeom>
        </p:spPr>
      </p:pic>
    </p:spTree>
    <p:extLst>
      <p:ext uri="{BB962C8B-B14F-4D97-AF65-F5344CB8AC3E}">
        <p14:creationId xmlns:p14="http://schemas.microsoft.com/office/powerpoint/2010/main" val="4235243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23E7-B98F-EEB4-7B62-064F58F45F14}"/>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B73284EB-C31B-44C2-55F9-6739CED51938}"/>
              </a:ext>
            </a:extLst>
          </p:cNvPr>
          <p:cNvSpPr>
            <a:spLocks noGrp="1"/>
          </p:cNvSpPr>
          <p:nvPr>
            <p:ph idx="1"/>
          </p:nvPr>
        </p:nvSpPr>
        <p:spPr/>
        <p:txBody>
          <a:bodyPr/>
          <a:lstStyle/>
          <a:p>
            <a:r>
              <a:rPr lang="en-US" sz="2000" dirty="0"/>
              <a:t>Examine the techniques for unfolding a computational graph with a repetitive structure within a dynamical system. Formulate this unfolding process using the external input signal x t and the hidden unit h. Mention the advantages of the unfolding process. </a:t>
            </a:r>
          </a:p>
          <a:p>
            <a:r>
              <a:rPr lang="en-US" sz="2000" dirty="0"/>
              <a:t>Illustrate unfolding computational graph with example. 	</a:t>
            </a:r>
          </a:p>
          <a:p>
            <a:endParaRPr lang="en-US" sz="2000" dirty="0"/>
          </a:p>
          <a:p>
            <a:endParaRPr lang="en-IN" sz="2000" dirty="0"/>
          </a:p>
        </p:txBody>
      </p:sp>
      <p:sp>
        <p:nvSpPr>
          <p:cNvPr id="4" name="Slide Number Placeholder 3">
            <a:extLst>
              <a:ext uri="{FF2B5EF4-FFF2-40B4-BE49-F238E27FC236}">
                <a16:creationId xmlns:a16="http://schemas.microsoft.com/office/drawing/2014/main" id="{B8585253-0DAC-9775-84D2-2F0A47517A7F}"/>
              </a:ext>
            </a:extLst>
          </p:cNvPr>
          <p:cNvSpPr>
            <a:spLocks noGrp="1"/>
          </p:cNvSpPr>
          <p:nvPr>
            <p:ph type="sldNum" sz="quarter" idx="12"/>
          </p:nvPr>
        </p:nvSpPr>
        <p:spPr/>
        <p:txBody>
          <a:bodyPr/>
          <a:lstStyle/>
          <a:p>
            <a:fld id="{BB2CE0DE-867F-455F-B20B-96D381B4AB71}" type="slidenum">
              <a:rPr lang="en-US" smtClean="0"/>
              <a:t>13</a:t>
            </a:fld>
            <a:endParaRPr lang="en-US"/>
          </a:p>
        </p:txBody>
      </p:sp>
    </p:spTree>
    <p:extLst>
      <p:ext uri="{BB962C8B-B14F-4D97-AF65-F5344CB8AC3E}">
        <p14:creationId xmlns:p14="http://schemas.microsoft.com/office/powerpoint/2010/main" val="179099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50D4A-49FC-9A41-FA1D-DCACE4D9E5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43406C-BCE6-6487-FCB8-0C5C1596505F}"/>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1062BD21-74FF-B501-ABA4-1073DA4F2931}"/>
              </a:ext>
            </a:extLst>
          </p:cNvPr>
          <p:cNvSpPr>
            <a:spLocks noGrp="1"/>
          </p:cNvSpPr>
          <p:nvPr>
            <p:ph idx="1"/>
          </p:nvPr>
        </p:nvSpPr>
        <p:spPr/>
        <p:txBody>
          <a:bodyPr/>
          <a:lstStyle/>
          <a:p>
            <a:pPr marL="0" indent="0">
              <a:buNone/>
            </a:pPr>
            <a:r>
              <a:rPr lang="en-US" sz="1400" dirty="0"/>
              <a:t>Variety of recurrent neural networks</a:t>
            </a:r>
          </a:p>
          <a:p>
            <a:r>
              <a:rPr lang="en-US" sz="1400" dirty="0"/>
              <a:t>Variation 1 of RNN (basic form): hidden2hidden connections, sequence output.</a:t>
            </a:r>
          </a:p>
          <a:p>
            <a:r>
              <a:rPr lang="en-US" sz="1400" dirty="0"/>
              <a:t>Variation 2 of RNN output2hidden, sequence output. </a:t>
            </a:r>
          </a:p>
          <a:p>
            <a:r>
              <a:rPr lang="en-US" sz="1400" dirty="0"/>
              <a:t>Variation 3 of RNN hidden2hidden, single output. </a:t>
            </a:r>
            <a:endParaRPr lang="en-IN" sz="1400" dirty="0"/>
          </a:p>
        </p:txBody>
      </p:sp>
      <p:sp>
        <p:nvSpPr>
          <p:cNvPr id="4" name="Slide Number Placeholder 3">
            <a:extLst>
              <a:ext uri="{FF2B5EF4-FFF2-40B4-BE49-F238E27FC236}">
                <a16:creationId xmlns:a16="http://schemas.microsoft.com/office/drawing/2014/main" id="{62B516B9-C2EC-01EC-B28B-0BB68A64139A}"/>
              </a:ext>
            </a:extLst>
          </p:cNvPr>
          <p:cNvSpPr>
            <a:spLocks noGrp="1"/>
          </p:cNvSpPr>
          <p:nvPr>
            <p:ph type="sldNum" sz="quarter" idx="12"/>
          </p:nvPr>
        </p:nvSpPr>
        <p:spPr/>
        <p:txBody>
          <a:bodyPr/>
          <a:lstStyle/>
          <a:p>
            <a:fld id="{BB2CE0DE-867F-455F-B20B-96D381B4AB71}" type="slidenum">
              <a:rPr lang="en-US" smtClean="0"/>
              <a:t>14</a:t>
            </a:fld>
            <a:endParaRPr lang="en-US"/>
          </a:p>
        </p:txBody>
      </p:sp>
      <p:pic>
        <p:nvPicPr>
          <p:cNvPr id="5" name="Picture 4">
            <a:extLst>
              <a:ext uri="{FF2B5EF4-FFF2-40B4-BE49-F238E27FC236}">
                <a16:creationId xmlns:a16="http://schemas.microsoft.com/office/drawing/2014/main" id="{51854383-F5F8-E932-85E9-C21898BDAE86}"/>
              </a:ext>
            </a:extLst>
          </p:cNvPr>
          <p:cNvPicPr>
            <a:picLocks noChangeAspect="1"/>
          </p:cNvPicPr>
          <p:nvPr/>
        </p:nvPicPr>
        <p:blipFill>
          <a:blip r:embed="rId2"/>
          <a:stretch>
            <a:fillRect/>
          </a:stretch>
        </p:blipFill>
        <p:spPr>
          <a:xfrm>
            <a:off x="8737600" y="3262123"/>
            <a:ext cx="3352800" cy="2453007"/>
          </a:xfrm>
          <a:prstGeom prst="rect">
            <a:avLst/>
          </a:prstGeom>
        </p:spPr>
      </p:pic>
      <p:pic>
        <p:nvPicPr>
          <p:cNvPr id="6" name="Picture 5">
            <a:extLst>
              <a:ext uri="{FF2B5EF4-FFF2-40B4-BE49-F238E27FC236}">
                <a16:creationId xmlns:a16="http://schemas.microsoft.com/office/drawing/2014/main" id="{C298C995-6548-1DFC-6A43-16FD6E74261D}"/>
              </a:ext>
            </a:extLst>
          </p:cNvPr>
          <p:cNvPicPr>
            <a:picLocks noChangeAspect="1"/>
          </p:cNvPicPr>
          <p:nvPr/>
        </p:nvPicPr>
        <p:blipFill>
          <a:blip r:embed="rId3"/>
          <a:stretch>
            <a:fillRect/>
          </a:stretch>
        </p:blipFill>
        <p:spPr>
          <a:xfrm>
            <a:off x="75047" y="2857500"/>
            <a:ext cx="4109725" cy="3505200"/>
          </a:xfrm>
          <a:prstGeom prst="rect">
            <a:avLst/>
          </a:prstGeom>
        </p:spPr>
      </p:pic>
      <p:sp>
        <p:nvSpPr>
          <p:cNvPr id="7" name="TextBox 6">
            <a:extLst>
              <a:ext uri="{FF2B5EF4-FFF2-40B4-BE49-F238E27FC236}">
                <a16:creationId xmlns:a16="http://schemas.microsoft.com/office/drawing/2014/main" id="{14C4DAC3-D909-4998-DBB0-95447E521780}"/>
              </a:ext>
            </a:extLst>
          </p:cNvPr>
          <p:cNvSpPr txBox="1"/>
          <p:nvPr/>
        </p:nvSpPr>
        <p:spPr>
          <a:xfrm>
            <a:off x="1203404" y="6400801"/>
            <a:ext cx="1438151" cy="369332"/>
          </a:xfrm>
          <a:prstGeom prst="rect">
            <a:avLst/>
          </a:prstGeom>
          <a:noFill/>
        </p:spPr>
        <p:txBody>
          <a:bodyPr wrap="none" rtlCol="0">
            <a:spAutoFit/>
          </a:bodyPr>
          <a:lstStyle/>
          <a:p>
            <a:r>
              <a:rPr lang="en-IN" dirty="0"/>
              <a:t>Variation 1</a:t>
            </a:r>
          </a:p>
        </p:txBody>
      </p:sp>
      <p:sp>
        <p:nvSpPr>
          <p:cNvPr id="8" name="TextBox 7">
            <a:extLst>
              <a:ext uri="{FF2B5EF4-FFF2-40B4-BE49-F238E27FC236}">
                <a16:creationId xmlns:a16="http://schemas.microsoft.com/office/drawing/2014/main" id="{EECE03DA-D7F6-0F98-BBBE-D0092EC8DBC1}"/>
              </a:ext>
            </a:extLst>
          </p:cNvPr>
          <p:cNvSpPr txBox="1"/>
          <p:nvPr/>
        </p:nvSpPr>
        <p:spPr>
          <a:xfrm>
            <a:off x="5376925" y="6336268"/>
            <a:ext cx="1438151" cy="369332"/>
          </a:xfrm>
          <a:prstGeom prst="rect">
            <a:avLst/>
          </a:prstGeom>
          <a:noFill/>
        </p:spPr>
        <p:txBody>
          <a:bodyPr wrap="none" rtlCol="0">
            <a:spAutoFit/>
          </a:bodyPr>
          <a:lstStyle/>
          <a:p>
            <a:r>
              <a:rPr lang="en-IN" dirty="0"/>
              <a:t>Variation 2</a:t>
            </a:r>
          </a:p>
        </p:txBody>
      </p:sp>
      <p:sp>
        <p:nvSpPr>
          <p:cNvPr id="9" name="TextBox 8">
            <a:extLst>
              <a:ext uri="{FF2B5EF4-FFF2-40B4-BE49-F238E27FC236}">
                <a16:creationId xmlns:a16="http://schemas.microsoft.com/office/drawing/2014/main" id="{3F011642-16F5-363C-D333-12E55B4DFD23}"/>
              </a:ext>
            </a:extLst>
          </p:cNvPr>
          <p:cNvSpPr txBox="1"/>
          <p:nvPr/>
        </p:nvSpPr>
        <p:spPr>
          <a:xfrm>
            <a:off x="9829800" y="5770603"/>
            <a:ext cx="1438151" cy="369332"/>
          </a:xfrm>
          <a:prstGeom prst="rect">
            <a:avLst/>
          </a:prstGeom>
          <a:noFill/>
        </p:spPr>
        <p:txBody>
          <a:bodyPr wrap="none" rtlCol="0">
            <a:spAutoFit/>
          </a:bodyPr>
          <a:lstStyle/>
          <a:p>
            <a:r>
              <a:rPr lang="en-IN" dirty="0"/>
              <a:t>Variation 3</a:t>
            </a:r>
          </a:p>
        </p:txBody>
      </p:sp>
      <p:pic>
        <p:nvPicPr>
          <p:cNvPr id="10" name="Picture 9">
            <a:extLst>
              <a:ext uri="{FF2B5EF4-FFF2-40B4-BE49-F238E27FC236}">
                <a16:creationId xmlns:a16="http://schemas.microsoft.com/office/drawing/2014/main" id="{F92BE3D3-BC8F-2FA4-41E0-B8C5AEE82ADA}"/>
              </a:ext>
            </a:extLst>
          </p:cNvPr>
          <p:cNvPicPr>
            <a:picLocks noChangeAspect="1"/>
          </p:cNvPicPr>
          <p:nvPr/>
        </p:nvPicPr>
        <p:blipFill>
          <a:blip r:embed="rId3"/>
          <a:stretch>
            <a:fillRect/>
          </a:stretch>
        </p:blipFill>
        <p:spPr>
          <a:xfrm>
            <a:off x="4214811" y="2857500"/>
            <a:ext cx="4109725" cy="3505200"/>
          </a:xfrm>
          <a:prstGeom prst="rect">
            <a:avLst/>
          </a:prstGeom>
        </p:spPr>
      </p:pic>
    </p:spTree>
    <p:extLst>
      <p:ext uri="{BB962C8B-B14F-4D97-AF65-F5344CB8AC3E}">
        <p14:creationId xmlns:p14="http://schemas.microsoft.com/office/powerpoint/2010/main" val="1034314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6A8C-2A3E-D129-BC21-D19DEE3C2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57248-4528-86FC-3A2F-962AECD1E526}"/>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E6DC837B-9252-6EBA-8F6D-2625B8C74D48}"/>
              </a:ext>
            </a:extLst>
          </p:cNvPr>
          <p:cNvSpPr>
            <a:spLocks noGrp="1"/>
          </p:cNvSpPr>
          <p:nvPr>
            <p:ph idx="1"/>
          </p:nvPr>
        </p:nvSpPr>
        <p:spPr/>
        <p:txBody>
          <a:bodyPr/>
          <a:lstStyle/>
          <a:p>
            <a:pPr marL="0" indent="0">
              <a:buNone/>
            </a:pPr>
            <a:r>
              <a:rPr lang="en-US" sz="1400" b="1" dirty="0"/>
              <a:t>Variation 1 </a:t>
            </a:r>
            <a:r>
              <a:rPr lang="en-US" sz="1400" dirty="0"/>
              <a:t>of RNN (basic form): hidden2hidden connections, sequence output.</a:t>
            </a:r>
          </a:p>
          <a:p>
            <a:pPr marL="0" indent="0">
              <a:buNone/>
            </a:pPr>
            <a:r>
              <a:rPr lang="en-US" sz="1400" b="1" dirty="0"/>
              <a:t>Task: </a:t>
            </a:r>
            <a:r>
              <a:rPr lang="en-US" sz="1400" dirty="0"/>
              <a:t>Given a sentence, predict the grammatical tag of each word.</a:t>
            </a:r>
          </a:p>
          <a:p>
            <a:pPr marL="0" indent="0">
              <a:buNone/>
            </a:pPr>
            <a:r>
              <a:rPr lang="en-US" sz="1400" b="1" dirty="0"/>
              <a:t>Example</a:t>
            </a:r>
          </a:p>
          <a:p>
            <a:pPr marL="0" indent="0">
              <a:buNone/>
            </a:pPr>
            <a:r>
              <a:rPr lang="en-US" sz="1400" dirty="0"/>
              <a:t>Input Sequence			Output Sequence</a:t>
            </a:r>
          </a:p>
          <a:p>
            <a:pPr marL="0" indent="0">
              <a:buNone/>
            </a:pPr>
            <a:r>
              <a:rPr lang="en-US" sz="1400" dirty="0"/>
              <a:t>"Students like deep learning"		Noun Verb Adjective Noun</a:t>
            </a:r>
          </a:p>
        </p:txBody>
      </p:sp>
      <p:sp>
        <p:nvSpPr>
          <p:cNvPr id="4" name="Slide Number Placeholder 3">
            <a:extLst>
              <a:ext uri="{FF2B5EF4-FFF2-40B4-BE49-F238E27FC236}">
                <a16:creationId xmlns:a16="http://schemas.microsoft.com/office/drawing/2014/main" id="{1E3444CB-84BA-EB68-65BE-5C1C3D1BDCBA}"/>
              </a:ext>
            </a:extLst>
          </p:cNvPr>
          <p:cNvSpPr>
            <a:spLocks noGrp="1"/>
          </p:cNvSpPr>
          <p:nvPr>
            <p:ph type="sldNum" sz="quarter" idx="12"/>
          </p:nvPr>
        </p:nvSpPr>
        <p:spPr/>
        <p:txBody>
          <a:bodyPr/>
          <a:lstStyle/>
          <a:p>
            <a:fld id="{BB2CE0DE-867F-455F-B20B-96D381B4AB71}" type="slidenum">
              <a:rPr lang="en-US" smtClean="0"/>
              <a:t>15</a:t>
            </a:fld>
            <a:endParaRPr lang="en-US"/>
          </a:p>
        </p:txBody>
      </p:sp>
      <p:pic>
        <p:nvPicPr>
          <p:cNvPr id="6" name="Picture 5">
            <a:extLst>
              <a:ext uri="{FF2B5EF4-FFF2-40B4-BE49-F238E27FC236}">
                <a16:creationId xmlns:a16="http://schemas.microsoft.com/office/drawing/2014/main" id="{3DDAE7C5-48E6-7D1A-3B84-E7796D90EB89}"/>
              </a:ext>
            </a:extLst>
          </p:cNvPr>
          <p:cNvPicPr>
            <a:picLocks noChangeAspect="1"/>
          </p:cNvPicPr>
          <p:nvPr/>
        </p:nvPicPr>
        <p:blipFill>
          <a:blip r:embed="rId3"/>
          <a:stretch>
            <a:fillRect/>
          </a:stretch>
        </p:blipFill>
        <p:spPr>
          <a:xfrm>
            <a:off x="228600" y="2759927"/>
            <a:ext cx="4109725" cy="3505200"/>
          </a:xfrm>
          <a:prstGeom prst="rect">
            <a:avLst/>
          </a:prstGeom>
        </p:spPr>
      </p:pic>
      <p:sp>
        <p:nvSpPr>
          <p:cNvPr id="7" name="TextBox 6">
            <a:extLst>
              <a:ext uri="{FF2B5EF4-FFF2-40B4-BE49-F238E27FC236}">
                <a16:creationId xmlns:a16="http://schemas.microsoft.com/office/drawing/2014/main" id="{0DCAA7EE-822D-8FCE-29D1-7FBAD3AD52AA}"/>
              </a:ext>
            </a:extLst>
          </p:cNvPr>
          <p:cNvSpPr txBox="1"/>
          <p:nvPr/>
        </p:nvSpPr>
        <p:spPr>
          <a:xfrm>
            <a:off x="1143000" y="6328421"/>
            <a:ext cx="1438151" cy="369332"/>
          </a:xfrm>
          <a:prstGeom prst="rect">
            <a:avLst/>
          </a:prstGeom>
          <a:noFill/>
        </p:spPr>
        <p:txBody>
          <a:bodyPr wrap="none" rtlCol="0">
            <a:spAutoFit/>
          </a:bodyPr>
          <a:lstStyle/>
          <a:p>
            <a:r>
              <a:rPr lang="en-IN" dirty="0"/>
              <a:t>Variation 1</a:t>
            </a:r>
          </a:p>
        </p:txBody>
      </p:sp>
    </p:spTree>
    <p:extLst>
      <p:ext uri="{BB962C8B-B14F-4D97-AF65-F5344CB8AC3E}">
        <p14:creationId xmlns:p14="http://schemas.microsoft.com/office/powerpoint/2010/main" val="1370532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B7BA-D4E1-86A4-C9A8-00735D7B9AEC}"/>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0499A094-E28D-AF0B-53DB-04464F058741}"/>
              </a:ext>
            </a:extLst>
          </p:cNvPr>
          <p:cNvSpPr>
            <a:spLocks noGrp="1"/>
          </p:cNvSpPr>
          <p:nvPr>
            <p:ph idx="1"/>
          </p:nvPr>
        </p:nvSpPr>
        <p:spPr/>
        <p:txBody>
          <a:bodyPr/>
          <a:lstStyle/>
          <a:p>
            <a:pPr marL="0" indent="0">
              <a:buNone/>
            </a:pPr>
            <a:r>
              <a:rPr lang="en-US" sz="1400" b="1" dirty="0"/>
              <a:t>Variation 2 </a:t>
            </a:r>
            <a:r>
              <a:rPr lang="en-US" sz="1400" dirty="0"/>
              <a:t>of RNN output2hidden, sequence output. </a:t>
            </a:r>
          </a:p>
          <a:p>
            <a:pPr marL="0" indent="0">
              <a:buNone/>
            </a:pPr>
            <a:endParaRPr lang="en-US" sz="1400" dirty="0"/>
          </a:p>
          <a:p>
            <a:pPr marL="0" indent="0">
              <a:buNone/>
            </a:pPr>
            <a:r>
              <a:rPr lang="en-US" sz="1400" b="1" dirty="0"/>
              <a:t>Task:</a:t>
            </a:r>
          </a:p>
          <a:p>
            <a:pPr marL="0" indent="0">
              <a:buNone/>
            </a:pPr>
            <a:r>
              <a:rPr lang="en-US" sz="1400" dirty="0"/>
              <a:t>Predict the next word in a sentence.</a:t>
            </a:r>
          </a:p>
          <a:p>
            <a:pPr marL="0" indent="0">
              <a:buNone/>
            </a:pPr>
            <a:endParaRPr lang="en-US" sz="1400" dirty="0"/>
          </a:p>
          <a:p>
            <a:pPr marL="0" indent="0">
              <a:buNone/>
            </a:pPr>
            <a:r>
              <a:rPr lang="en-US" sz="1400" b="1" dirty="0"/>
              <a:t>Example</a:t>
            </a:r>
          </a:p>
          <a:p>
            <a:pPr marL="0" indent="0">
              <a:buNone/>
            </a:pPr>
            <a:r>
              <a:rPr lang="en-US" sz="1400" dirty="0"/>
              <a:t>Input seed:</a:t>
            </a:r>
          </a:p>
          <a:p>
            <a:pPr marL="0" indent="0">
              <a:buNone/>
            </a:pPr>
            <a:r>
              <a:rPr lang="en-US" sz="1400" dirty="0"/>
              <a:t>"Deep learning is"</a:t>
            </a:r>
          </a:p>
          <a:p>
            <a:pPr marL="0" indent="0">
              <a:buNone/>
            </a:pPr>
            <a:endParaRPr lang="en-US" sz="1400" dirty="0"/>
          </a:p>
          <a:p>
            <a:pPr marL="0" indent="0">
              <a:buNone/>
            </a:pPr>
            <a:r>
              <a:rPr lang="en-US" sz="1400" dirty="0"/>
              <a:t>RNN generates sequence:</a:t>
            </a:r>
          </a:p>
          <a:p>
            <a:pPr marL="0" indent="0">
              <a:buNone/>
            </a:pPr>
            <a:endParaRPr lang="en-US" sz="1400" dirty="0"/>
          </a:p>
          <a:p>
            <a:pPr marL="0" indent="0">
              <a:buNone/>
            </a:pPr>
            <a:r>
              <a:rPr lang="en-US" sz="1400" dirty="0"/>
              <a:t>Step	Predicted Word</a:t>
            </a:r>
          </a:p>
          <a:p>
            <a:pPr marL="0" indent="0">
              <a:buNone/>
            </a:pPr>
            <a:r>
              <a:rPr lang="en-US" sz="1400" dirty="0"/>
              <a:t>t1	powerful</a:t>
            </a:r>
          </a:p>
          <a:p>
            <a:pPr marL="0" indent="0">
              <a:buNone/>
            </a:pPr>
            <a:r>
              <a:rPr lang="en-US" sz="1400" dirty="0"/>
              <a:t>t2	for</a:t>
            </a:r>
          </a:p>
          <a:p>
            <a:pPr marL="0" indent="0">
              <a:buNone/>
            </a:pPr>
            <a:r>
              <a:rPr lang="en-US" sz="1400" dirty="0"/>
              <a:t>t3	many</a:t>
            </a:r>
          </a:p>
          <a:p>
            <a:pPr marL="0" indent="0">
              <a:buNone/>
            </a:pPr>
            <a:r>
              <a:rPr lang="en-US" sz="1400" dirty="0"/>
              <a:t>t4	applications</a:t>
            </a:r>
          </a:p>
        </p:txBody>
      </p:sp>
      <p:sp>
        <p:nvSpPr>
          <p:cNvPr id="4" name="Slide Number Placeholder 3">
            <a:extLst>
              <a:ext uri="{FF2B5EF4-FFF2-40B4-BE49-F238E27FC236}">
                <a16:creationId xmlns:a16="http://schemas.microsoft.com/office/drawing/2014/main" id="{90217D93-01EE-9EB6-578F-166AFA85E269}"/>
              </a:ext>
            </a:extLst>
          </p:cNvPr>
          <p:cNvSpPr>
            <a:spLocks noGrp="1"/>
          </p:cNvSpPr>
          <p:nvPr>
            <p:ph type="sldNum" sz="quarter" idx="12"/>
          </p:nvPr>
        </p:nvSpPr>
        <p:spPr/>
        <p:txBody>
          <a:bodyPr/>
          <a:lstStyle/>
          <a:p>
            <a:fld id="{BB2CE0DE-867F-455F-B20B-96D381B4AB71}" type="slidenum">
              <a:rPr lang="en-US" smtClean="0"/>
              <a:t>16</a:t>
            </a:fld>
            <a:endParaRPr lang="en-US"/>
          </a:p>
        </p:txBody>
      </p:sp>
      <p:sp>
        <p:nvSpPr>
          <p:cNvPr id="11" name="TextBox 10">
            <a:extLst>
              <a:ext uri="{FF2B5EF4-FFF2-40B4-BE49-F238E27FC236}">
                <a16:creationId xmlns:a16="http://schemas.microsoft.com/office/drawing/2014/main" id="{4DAEC4DE-67A1-99A2-EA5B-086632B42749}"/>
              </a:ext>
            </a:extLst>
          </p:cNvPr>
          <p:cNvSpPr txBox="1"/>
          <p:nvPr/>
        </p:nvSpPr>
        <p:spPr>
          <a:xfrm>
            <a:off x="5370575" y="6443133"/>
            <a:ext cx="1438151" cy="369332"/>
          </a:xfrm>
          <a:prstGeom prst="rect">
            <a:avLst/>
          </a:prstGeom>
          <a:noFill/>
        </p:spPr>
        <p:txBody>
          <a:bodyPr wrap="none" rtlCol="0">
            <a:spAutoFit/>
          </a:bodyPr>
          <a:lstStyle/>
          <a:p>
            <a:r>
              <a:rPr lang="en-IN" dirty="0"/>
              <a:t>Variation 2</a:t>
            </a:r>
          </a:p>
        </p:txBody>
      </p:sp>
      <p:pic>
        <p:nvPicPr>
          <p:cNvPr id="12" name="Picture 11">
            <a:extLst>
              <a:ext uri="{FF2B5EF4-FFF2-40B4-BE49-F238E27FC236}">
                <a16:creationId xmlns:a16="http://schemas.microsoft.com/office/drawing/2014/main" id="{BBD424E0-875E-F150-6FC3-5AC60CB0FF6C}"/>
              </a:ext>
            </a:extLst>
          </p:cNvPr>
          <p:cNvPicPr>
            <a:picLocks noChangeAspect="1"/>
          </p:cNvPicPr>
          <p:nvPr/>
        </p:nvPicPr>
        <p:blipFill>
          <a:blip r:embed="rId2"/>
          <a:stretch>
            <a:fillRect/>
          </a:stretch>
        </p:blipFill>
        <p:spPr>
          <a:xfrm>
            <a:off x="4269056" y="2908196"/>
            <a:ext cx="4109725" cy="3505200"/>
          </a:xfrm>
          <a:prstGeom prst="rect">
            <a:avLst/>
          </a:prstGeom>
        </p:spPr>
      </p:pic>
    </p:spTree>
    <p:extLst>
      <p:ext uri="{BB962C8B-B14F-4D97-AF65-F5344CB8AC3E}">
        <p14:creationId xmlns:p14="http://schemas.microsoft.com/office/powerpoint/2010/main" val="2479005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C2331-C9B9-3DC1-31B6-7881E47DC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49BC6-E35E-91D0-22DD-FBA6322DB871}"/>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C409A5C2-0D21-D67D-EC81-0F6BA0CFF136}"/>
              </a:ext>
            </a:extLst>
          </p:cNvPr>
          <p:cNvSpPr>
            <a:spLocks noGrp="1"/>
          </p:cNvSpPr>
          <p:nvPr>
            <p:ph idx="1"/>
          </p:nvPr>
        </p:nvSpPr>
        <p:spPr/>
        <p:txBody>
          <a:bodyPr/>
          <a:lstStyle/>
          <a:p>
            <a:pPr marL="0" indent="0">
              <a:buNone/>
            </a:pPr>
            <a:r>
              <a:rPr lang="en-US" sz="2000" b="1" dirty="0"/>
              <a:t>Variation 3 </a:t>
            </a:r>
            <a:r>
              <a:rPr lang="en-US" sz="2000" dirty="0"/>
              <a:t>of RNN hidden2hidden, single output.</a:t>
            </a:r>
          </a:p>
          <a:p>
            <a:pPr marL="0" indent="0">
              <a:buNone/>
            </a:pPr>
            <a:r>
              <a:rPr lang="en-US" sz="2000" b="1" dirty="0"/>
              <a:t>Task:</a:t>
            </a:r>
            <a:br>
              <a:rPr lang="en-US" sz="2000" dirty="0"/>
            </a:br>
            <a:r>
              <a:rPr lang="en-US" sz="2000" dirty="0"/>
              <a:t>Classify sentiment of a sentence.</a:t>
            </a:r>
          </a:p>
          <a:p>
            <a:pPr marL="0" indent="0">
              <a:buNone/>
            </a:pPr>
            <a:r>
              <a:rPr lang="en-US" sz="2000" b="1" dirty="0"/>
              <a:t>Example</a:t>
            </a:r>
            <a:endParaRPr lang="en-US" sz="2000" dirty="0"/>
          </a:p>
          <a:p>
            <a:pPr marL="0" indent="0">
              <a:buNone/>
            </a:pPr>
            <a:r>
              <a:rPr lang="en-US" sz="2000" dirty="0"/>
              <a:t>Input sequence:</a:t>
            </a:r>
          </a:p>
          <a:p>
            <a:pPr marL="0" indent="0">
              <a:buNone/>
            </a:pPr>
            <a:r>
              <a:rPr lang="en-US" sz="2000" kern="1200" dirty="0">
                <a:solidFill>
                  <a:schemeClr val="tx1"/>
                </a:solidFill>
              </a:rPr>
              <a:t>"This movie is very interesting"</a:t>
            </a:r>
          </a:p>
          <a:p>
            <a:pPr marL="0" indent="0">
              <a:buNone/>
            </a:pPr>
            <a:r>
              <a:rPr lang="en-US" sz="2000" dirty="0"/>
              <a:t>Output:</a:t>
            </a:r>
          </a:p>
          <a:p>
            <a:pPr marL="0" indent="0">
              <a:buNone/>
            </a:pPr>
            <a:r>
              <a:rPr lang="en-US" sz="2000" kern="1200" dirty="0">
                <a:solidFill>
                  <a:schemeClr val="tx1"/>
                </a:solidFill>
              </a:rPr>
              <a:t>Positive</a:t>
            </a:r>
          </a:p>
          <a:p>
            <a:endParaRPr lang="en-IN" sz="1400" dirty="0"/>
          </a:p>
          <a:p>
            <a:pPr marL="0" indent="0">
              <a:buNone/>
            </a:pPr>
            <a:endParaRPr lang="en-US" sz="1400" dirty="0"/>
          </a:p>
        </p:txBody>
      </p:sp>
      <p:sp>
        <p:nvSpPr>
          <p:cNvPr id="4" name="Slide Number Placeholder 3">
            <a:extLst>
              <a:ext uri="{FF2B5EF4-FFF2-40B4-BE49-F238E27FC236}">
                <a16:creationId xmlns:a16="http://schemas.microsoft.com/office/drawing/2014/main" id="{0FBCFFEB-24E3-0133-B09A-147E73205796}"/>
              </a:ext>
            </a:extLst>
          </p:cNvPr>
          <p:cNvSpPr>
            <a:spLocks noGrp="1"/>
          </p:cNvSpPr>
          <p:nvPr>
            <p:ph type="sldNum" sz="quarter" idx="12"/>
          </p:nvPr>
        </p:nvSpPr>
        <p:spPr/>
        <p:txBody>
          <a:bodyPr/>
          <a:lstStyle/>
          <a:p>
            <a:fld id="{BB2CE0DE-867F-455F-B20B-96D381B4AB71}" type="slidenum">
              <a:rPr lang="en-US" smtClean="0"/>
              <a:t>17</a:t>
            </a:fld>
            <a:endParaRPr lang="en-US"/>
          </a:p>
        </p:txBody>
      </p:sp>
      <p:pic>
        <p:nvPicPr>
          <p:cNvPr id="5" name="Picture 4">
            <a:extLst>
              <a:ext uri="{FF2B5EF4-FFF2-40B4-BE49-F238E27FC236}">
                <a16:creationId xmlns:a16="http://schemas.microsoft.com/office/drawing/2014/main" id="{1F031A9B-64EB-8989-8AAC-F4FD012FDDF7}"/>
              </a:ext>
            </a:extLst>
          </p:cNvPr>
          <p:cNvPicPr>
            <a:picLocks noChangeAspect="1"/>
          </p:cNvPicPr>
          <p:nvPr/>
        </p:nvPicPr>
        <p:blipFill>
          <a:blip r:embed="rId3"/>
          <a:stretch>
            <a:fillRect/>
          </a:stretch>
        </p:blipFill>
        <p:spPr>
          <a:xfrm>
            <a:off x="7391400" y="2480943"/>
            <a:ext cx="4343400" cy="3177759"/>
          </a:xfrm>
          <a:prstGeom prst="rect">
            <a:avLst/>
          </a:prstGeom>
        </p:spPr>
      </p:pic>
      <p:sp>
        <p:nvSpPr>
          <p:cNvPr id="9" name="TextBox 8">
            <a:extLst>
              <a:ext uri="{FF2B5EF4-FFF2-40B4-BE49-F238E27FC236}">
                <a16:creationId xmlns:a16="http://schemas.microsoft.com/office/drawing/2014/main" id="{CCCF2F6F-8B06-C652-44A2-7EA7058DDB14}"/>
              </a:ext>
            </a:extLst>
          </p:cNvPr>
          <p:cNvSpPr txBox="1"/>
          <p:nvPr/>
        </p:nvSpPr>
        <p:spPr>
          <a:xfrm>
            <a:off x="9448800" y="5835264"/>
            <a:ext cx="1438151" cy="369332"/>
          </a:xfrm>
          <a:prstGeom prst="rect">
            <a:avLst/>
          </a:prstGeom>
          <a:noFill/>
        </p:spPr>
        <p:txBody>
          <a:bodyPr wrap="none" rtlCol="0">
            <a:spAutoFit/>
          </a:bodyPr>
          <a:lstStyle/>
          <a:p>
            <a:r>
              <a:rPr lang="en-IN" dirty="0"/>
              <a:t>Variation 3</a:t>
            </a:r>
          </a:p>
        </p:txBody>
      </p:sp>
    </p:spTree>
    <p:extLst>
      <p:ext uri="{BB962C8B-B14F-4D97-AF65-F5344CB8AC3E}">
        <p14:creationId xmlns:p14="http://schemas.microsoft.com/office/powerpoint/2010/main" val="659047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F0B2167-12CC-15CB-42F6-7F0BA5D04526}"/>
              </a:ext>
            </a:extLst>
          </p:cNvPr>
          <p:cNvSpPr>
            <a:spLocks noGrp="1"/>
          </p:cNvSpPr>
          <p:nvPr>
            <p:ph type="title"/>
          </p:nvPr>
        </p:nvSpPr>
        <p:spPr/>
        <p:txBody>
          <a:bodyPr/>
          <a:lstStyle/>
          <a:p>
            <a:r>
              <a:rPr lang="en-US" sz="2000" dirty="0">
                <a:solidFill>
                  <a:srgbClr val="C00000"/>
                </a:solidFill>
              </a:rPr>
              <a:t>Variation 1 </a:t>
            </a:r>
            <a:r>
              <a:rPr lang="en-US" sz="2000" dirty="0"/>
              <a:t>of RNN (basic form): hidden2hidden connections, sequence output.</a:t>
            </a:r>
            <a:br>
              <a:rPr lang="en-US" sz="2000" dirty="0"/>
            </a:br>
            <a:r>
              <a:rPr lang="en-IN" sz="2000" dirty="0">
                <a:solidFill>
                  <a:srgbClr val="C00000"/>
                </a:solidFill>
              </a:rPr>
              <a:t>Recurrent Hidden Units</a:t>
            </a:r>
          </a:p>
        </p:txBody>
      </p:sp>
      <p:sp>
        <p:nvSpPr>
          <p:cNvPr id="12" name="Content Placeholder 11">
            <a:extLst>
              <a:ext uri="{FF2B5EF4-FFF2-40B4-BE49-F238E27FC236}">
                <a16:creationId xmlns:a16="http://schemas.microsoft.com/office/drawing/2014/main" id="{D6C8E64F-4AED-79D7-79F8-877C9C4F938D}"/>
              </a:ext>
            </a:extLst>
          </p:cNvPr>
          <p:cNvSpPr>
            <a:spLocks noGrp="1"/>
          </p:cNvSpPr>
          <p:nvPr>
            <p:ph sz="half" idx="2"/>
          </p:nvPr>
        </p:nvSpPr>
        <p:spPr>
          <a:xfrm>
            <a:off x="6191251" y="1219200"/>
            <a:ext cx="5232400" cy="4800600"/>
          </a:xfrm>
        </p:spPr>
        <p:txBody>
          <a:bodyPr/>
          <a:lstStyle/>
          <a:p>
            <a:pPr marL="0" indent="0" algn="just">
              <a:buNone/>
            </a:pPr>
            <a:r>
              <a:rPr lang="en-US" sz="1400" dirty="0"/>
              <a:t>The computational graph to compute the training loss of a recurrent network that maps an input sequence of x values to a corresponding sequence of output o values. </a:t>
            </a:r>
          </a:p>
          <a:p>
            <a:pPr marL="0" indent="0" algn="just">
              <a:buNone/>
            </a:pPr>
            <a:r>
              <a:rPr lang="en-US" sz="1400" dirty="0"/>
              <a:t>A loss L measures how far each o is from the corresponding training target y. </a:t>
            </a:r>
          </a:p>
          <a:p>
            <a:pPr marL="0" indent="0" algn="just">
              <a:buNone/>
            </a:pPr>
            <a:r>
              <a:rPr lang="en-US" sz="1400" dirty="0"/>
              <a:t>When using </a:t>
            </a:r>
            <a:r>
              <a:rPr lang="en-US" sz="1400" dirty="0" err="1"/>
              <a:t>softmax</a:t>
            </a:r>
            <a:r>
              <a:rPr lang="en-US" sz="1400" dirty="0"/>
              <a:t> outputs, we assume o is the unnormalized log probabilities. The loss L internally computes yˆ = </a:t>
            </a:r>
            <a:r>
              <a:rPr lang="en-US" sz="1400" dirty="0" err="1"/>
              <a:t>softmax</a:t>
            </a:r>
            <a:r>
              <a:rPr lang="en-US" sz="1400" dirty="0"/>
              <a:t>(o) and compares this to the target y. </a:t>
            </a:r>
          </a:p>
          <a:p>
            <a:pPr marL="0" indent="0" algn="just">
              <a:buNone/>
            </a:pPr>
            <a:r>
              <a:rPr lang="en-US" sz="1400" dirty="0"/>
              <a:t>The RNN has input to hidden connections parametrized by a weight matrix U, hidden-to-hidden recurrent connections parametrized by a weight matrix W , and hidden-to-output connections parametrized by a weight matrix V.</a:t>
            </a:r>
          </a:p>
          <a:p>
            <a:pPr marL="0" indent="0" algn="just">
              <a:buNone/>
            </a:pPr>
            <a:r>
              <a:rPr lang="en-US" sz="1400" dirty="0"/>
              <a:t>(Left) The RNN and its loss drawn with recurrent connections. </a:t>
            </a:r>
          </a:p>
          <a:p>
            <a:pPr marL="0" indent="0" algn="just">
              <a:buNone/>
            </a:pPr>
            <a:r>
              <a:rPr lang="en-US" sz="1400" dirty="0"/>
              <a:t>(Right) The same seen as an time unfolded computational graph, where each node is now associated with one particular time instance.</a:t>
            </a:r>
            <a:endParaRPr lang="en-IN" sz="1400" dirty="0"/>
          </a:p>
        </p:txBody>
      </p:sp>
      <p:sp>
        <p:nvSpPr>
          <p:cNvPr id="4" name="Slide Number Placeholder 3">
            <a:extLst>
              <a:ext uri="{FF2B5EF4-FFF2-40B4-BE49-F238E27FC236}">
                <a16:creationId xmlns:a16="http://schemas.microsoft.com/office/drawing/2014/main" id="{D6551364-376B-F278-16A4-7E1639A780EC}"/>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6" name="Picture 5">
            <a:extLst>
              <a:ext uri="{FF2B5EF4-FFF2-40B4-BE49-F238E27FC236}">
                <a16:creationId xmlns:a16="http://schemas.microsoft.com/office/drawing/2014/main" id="{403468A3-9B63-DAAA-B721-CEA4040F86DC}"/>
              </a:ext>
            </a:extLst>
          </p:cNvPr>
          <p:cNvPicPr>
            <a:picLocks noChangeAspect="1"/>
          </p:cNvPicPr>
          <p:nvPr/>
        </p:nvPicPr>
        <p:blipFill>
          <a:blip r:embed="rId2"/>
          <a:stretch>
            <a:fillRect/>
          </a:stretch>
        </p:blipFill>
        <p:spPr>
          <a:xfrm>
            <a:off x="461556" y="1295400"/>
            <a:ext cx="5539194" cy="4724400"/>
          </a:xfrm>
          <a:prstGeom prst="rect">
            <a:avLst/>
          </a:prstGeom>
        </p:spPr>
      </p:pic>
    </p:spTree>
    <p:extLst>
      <p:ext uri="{BB962C8B-B14F-4D97-AF65-F5344CB8AC3E}">
        <p14:creationId xmlns:p14="http://schemas.microsoft.com/office/powerpoint/2010/main" val="862287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BFBDC-2380-0BCB-9A61-3739F85908CE}"/>
              </a:ext>
            </a:extLst>
          </p:cNvPr>
          <p:cNvSpPr>
            <a:spLocks noGrp="1"/>
          </p:cNvSpPr>
          <p:nvPr>
            <p:ph type="title"/>
          </p:nvPr>
        </p:nvSpPr>
        <p:spPr/>
        <p:txBody>
          <a:bodyPr/>
          <a:lstStyle/>
          <a:p>
            <a:r>
              <a:rPr lang="en-US" sz="2000" dirty="0"/>
              <a:t>Variation 1 of RNN (basic form): hidden2hidden connections, sequence output.</a:t>
            </a:r>
            <a:endParaRPr lang="en-IN" sz="2000" dirty="0"/>
          </a:p>
        </p:txBody>
      </p:sp>
      <p:sp>
        <p:nvSpPr>
          <p:cNvPr id="6" name="Content Placeholder 5">
            <a:extLst>
              <a:ext uri="{FF2B5EF4-FFF2-40B4-BE49-F238E27FC236}">
                <a16:creationId xmlns:a16="http://schemas.microsoft.com/office/drawing/2014/main" id="{EA319750-DD9B-1A12-A0F9-FDD66CEDA296}"/>
              </a:ext>
            </a:extLst>
          </p:cNvPr>
          <p:cNvSpPr>
            <a:spLocks noGrp="1"/>
          </p:cNvSpPr>
          <p:nvPr>
            <p:ph idx="1"/>
          </p:nvPr>
        </p:nvSpPr>
        <p:spPr/>
        <p:txBody>
          <a:bodyPr/>
          <a:lstStyle/>
          <a:p>
            <a:pPr marL="0" indent="0">
              <a:buNone/>
            </a:pPr>
            <a:r>
              <a:rPr lang="en-US" sz="2000" dirty="0"/>
              <a:t>The basic equations that defines the RNN (Variation 1) is shown in (10.6) below </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1600" dirty="0"/>
              <a:t>where the parameters are the bias vectors b and c along with the weight matrices U, V and W , respectively for input-to-hidden, hidden-to-output and hidden-to-hidden connections. This is an example of a recurrent network that maps an input sequence to an output sequence of the same length.</a:t>
            </a:r>
          </a:p>
          <a:p>
            <a:pPr marL="0" indent="0">
              <a:buNone/>
            </a:pPr>
            <a:r>
              <a:rPr lang="en-US" sz="1600" b="1" dirty="0"/>
              <a:t>Forward Pass</a:t>
            </a:r>
            <a:r>
              <a:rPr lang="en-US" sz="1600" dirty="0"/>
              <a:t>: The runtime is O(τ) (</a:t>
            </a:r>
            <a:r>
              <a:rPr lang="en-IN" sz="1600" dirty="0"/>
              <a:t>t = 1 to t = </a:t>
            </a:r>
            <a:r>
              <a:rPr lang="el-GR" sz="1600" dirty="0"/>
              <a:t>τ</a:t>
            </a:r>
            <a:r>
              <a:rPr lang="en-IN" sz="1600" dirty="0"/>
              <a:t>) </a:t>
            </a:r>
            <a:r>
              <a:rPr lang="en-US" sz="1600" dirty="0"/>
              <a:t>and cannot be reduced by parallelization because the forward propagation graph is inherently sequential; each time step may only be computed after the previous one.</a:t>
            </a:r>
          </a:p>
          <a:p>
            <a:pPr marL="0" indent="0">
              <a:buNone/>
            </a:pPr>
            <a:endParaRPr lang="en-IN" sz="2000" dirty="0"/>
          </a:p>
        </p:txBody>
      </p:sp>
      <p:sp>
        <p:nvSpPr>
          <p:cNvPr id="5" name="Slide Number Placeholder 4">
            <a:extLst>
              <a:ext uri="{FF2B5EF4-FFF2-40B4-BE49-F238E27FC236}">
                <a16:creationId xmlns:a16="http://schemas.microsoft.com/office/drawing/2014/main" id="{752B55AD-9A63-A8FC-8C6C-CD21D14B3071}"/>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7" name="Picture 6">
            <a:extLst>
              <a:ext uri="{FF2B5EF4-FFF2-40B4-BE49-F238E27FC236}">
                <a16:creationId xmlns:a16="http://schemas.microsoft.com/office/drawing/2014/main" id="{39C8CE58-D983-61A8-99CE-016CE7BEBF64}"/>
              </a:ext>
            </a:extLst>
          </p:cNvPr>
          <p:cNvPicPr>
            <a:picLocks noChangeAspect="1"/>
          </p:cNvPicPr>
          <p:nvPr/>
        </p:nvPicPr>
        <p:blipFill>
          <a:blip r:embed="rId3"/>
          <a:stretch>
            <a:fillRect/>
          </a:stretch>
        </p:blipFill>
        <p:spPr>
          <a:xfrm>
            <a:off x="685800" y="1828800"/>
            <a:ext cx="7343775" cy="1743075"/>
          </a:xfrm>
          <a:prstGeom prst="rect">
            <a:avLst/>
          </a:prstGeom>
        </p:spPr>
      </p:pic>
      <p:pic>
        <p:nvPicPr>
          <p:cNvPr id="9" name="Picture 8">
            <a:extLst>
              <a:ext uri="{FF2B5EF4-FFF2-40B4-BE49-F238E27FC236}">
                <a16:creationId xmlns:a16="http://schemas.microsoft.com/office/drawing/2014/main" id="{67E1175B-589F-CD07-71D9-EE80EA97FF0D}"/>
              </a:ext>
            </a:extLst>
          </p:cNvPr>
          <p:cNvPicPr>
            <a:picLocks noChangeAspect="1"/>
          </p:cNvPicPr>
          <p:nvPr/>
        </p:nvPicPr>
        <p:blipFill>
          <a:blip r:embed="rId4"/>
          <a:stretch>
            <a:fillRect/>
          </a:stretch>
        </p:blipFill>
        <p:spPr>
          <a:xfrm>
            <a:off x="10820400" y="1600200"/>
            <a:ext cx="1219200" cy="2905488"/>
          </a:xfrm>
          <a:prstGeom prst="rect">
            <a:avLst/>
          </a:prstGeom>
        </p:spPr>
      </p:pic>
    </p:spTree>
    <p:extLst>
      <p:ext uri="{BB962C8B-B14F-4D97-AF65-F5344CB8AC3E}">
        <p14:creationId xmlns:p14="http://schemas.microsoft.com/office/powerpoint/2010/main" val="434874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DEBEE-76E6-03AE-828C-7C2D0E839F3B}"/>
              </a:ext>
            </a:extLst>
          </p:cNvPr>
          <p:cNvSpPr>
            <a:spLocks noGrp="1"/>
          </p:cNvSpPr>
          <p:nvPr>
            <p:ph type="title"/>
          </p:nvPr>
        </p:nvSpPr>
        <p:spPr/>
        <p:txBody>
          <a:bodyPr/>
          <a:lstStyle/>
          <a:p>
            <a:r>
              <a:rPr lang="en-US" sz="2000" dirty="0"/>
              <a:t>Variation 1 of RNN (basic form): hidden2hidden connections, sequence output.</a:t>
            </a:r>
            <a:endParaRPr lang="en-IN" sz="2000" dirty="0"/>
          </a:p>
        </p:txBody>
      </p:sp>
      <p:sp>
        <p:nvSpPr>
          <p:cNvPr id="3" name="Content Placeholder 2">
            <a:extLst>
              <a:ext uri="{FF2B5EF4-FFF2-40B4-BE49-F238E27FC236}">
                <a16:creationId xmlns:a16="http://schemas.microsoft.com/office/drawing/2014/main" id="{C0841AD6-55EA-1984-BD4C-CF74C272B4D5}"/>
              </a:ext>
            </a:extLst>
          </p:cNvPr>
          <p:cNvSpPr>
            <a:spLocks noGrp="1"/>
          </p:cNvSpPr>
          <p:nvPr>
            <p:ph idx="1"/>
          </p:nvPr>
        </p:nvSpPr>
        <p:spPr/>
        <p:txBody>
          <a:bodyPr/>
          <a:lstStyle/>
          <a:p>
            <a:pPr marL="0" indent="0" algn="just">
              <a:buNone/>
            </a:pPr>
            <a:r>
              <a:rPr lang="en-US" sz="1800" dirty="0"/>
              <a:t>The total loss for a given sequence of x values paired with a sequence of y values would then be just the sum of the losses over all the time steps. For example, if L(t) is the negative log-likelihood of y(t) given x(1), . . . , x(t) , then sum them up you get the loss for the sequence</a:t>
            </a:r>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r>
              <a:rPr lang="en-US" sz="1600" dirty="0"/>
              <a:t>where </a:t>
            </a:r>
            <a:r>
              <a:rPr lang="en-US" sz="1600" dirty="0" err="1"/>
              <a:t>p</a:t>
            </a:r>
            <a:r>
              <a:rPr lang="en-US" sz="1600" baseline="-25000" dirty="0" err="1"/>
              <a:t>model</a:t>
            </a:r>
            <a:r>
              <a:rPr lang="en-US" sz="1600" dirty="0"/>
              <a:t>(y(t) | {x(1) , . . . , x(t)}) is given by reading the entry for y(t) from the model’s output vector yˆ(t) . Computing the gradient of this loss function with respect to the parameters is an expensive operation. The gradient computation involves performing a forward propagation pass moving left to right through our illustration of the unrolled graph in figure, followed by a backward propagation pass moving right to left through the graph. The runtime is O(τ ) and </a:t>
            </a:r>
            <a:r>
              <a:rPr lang="en-US" sz="1600" b="1" dirty="0">
                <a:solidFill>
                  <a:srgbClr val="C00000"/>
                </a:solidFill>
              </a:rPr>
              <a:t>cannot be reduced by parallelization </a:t>
            </a:r>
            <a:r>
              <a:rPr lang="en-US" sz="1600" dirty="0"/>
              <a:t>because the forward propagation graph is inherently sequential; each time step may only be computed after the previous one. States computed in the forward pass must be stored until they are reused during the backward pass, so the memory cost is also O(τ). The back-propagation algorithm applied to the unrolled graph with O(τ) cost is called back-propagation through time or BPTT</a:t>
            </a:r>
            <a:endParaRPr lang="en-IN" sz="1600" dirty="0"/>
          </a:p>
        </p:txBody>
      </p:sp>
      <p:sp>
        <p:nvSpPr>
          <p:cNvPr id="4" name="Slide Number Placeholder 3">
            <a:extLst>
              <a:ext uri="{FF2B5EF4-FFF2-40B4-BE49-F238E27FC236}">
                <a16:creationId xmlns:a16="http://schemas.microsoft.com/office/drawing/2014/main" id="{4B3EE30B-56FA-065E-A47B-5CA2ECDA9E0E}"/>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8" name="Picture 7">
            <a:extLst>
              <a:ext uri="{FF2B5EF4-FFF2-40B4-BE49-F238E27FC236}">
                <a16:creationId xmlns:a16="http://schemas.microsoft.com/office/drawing/2014/main" id="{32200F2F-9C7B-F5D9-5B6C-62884709F6D2}"/>
              </a:ext>
            </a:extLst>
          </p:cNvPr>
          <p:cNvPicPr>
            <a:picLocks noChangeAspect="1"/>
          </p:cNvPicPr>
          <p:nvPr/>
        </p:nvPicPr>
        <p:blipFill>
          <a:blip r:embed="rId2"/>
          <a:stretch>
            <a:fillRect/>
          </a:stretch>
        </p:blipFill>
        <p:spPr>
          <a:xfrm>
            <a:off x="3429000" y="2282936"/>
            <a:ext cx="3772246" cy="1450864"/>
          </a:xfrm>
          <a:prstGeom prst="rect">
            <a:avLst/>
          </a:prstGeom>
        </p:spPr>
      </p:pic>
    </p:spTree>
    <p:extLst>
      <p:ext uri="{BB962C8B-B14F-4D97-AF65-F5344CB8AC3E}">
        <p14:creationId xmlns:p14="http://schemas.microsoft.com/office/powerpoint/2010/main" val="1223521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3E27-89B0-2085-B422-8E73605BB8E3}"/>
              </a:ext>
            </a:extLst>
          </p:cNvPr>
          <p:cNvSpPr>
            <a:spLocks noGrp="1"/>
          </p:cNvSpPr>
          <p:nvPr>
            <p:ph type="title"/>
          </p:nvPr>
        </p:nvSpPr>
        <p:spPr/>
        <p:txBody>
          <a:bodyPr/>
          <a:lstStyle/>
          <a:p>
            <a:r>
              <a:rPr lang="en-US" sz="2400" dirty="0"/>
              <a:t>Variation 2 of RNN output2hidden, sequence output. </a:t>
            </a:r>
            <a:br>
              <a:rPr lang="en-US" sz="2400" dirty="0"/>
            </a:br>
            <a:r>
              <a:rPr lang="en-US" sz="2400" dirty="0"/>
              <a:t>Recurrence through only the Output </a:t>
            </a:r>
            <a:endParaRPr lang="en-IN" sz="2400" dirty="0"/>
          </a:p>
        </p:txBody>
      </p:sp>
      <p:sp>
        <p:nvSpPr>
          <p:cNvPr id="7" name="Content Placeholder 6">
            <a:extLst>
              <a:ext uri="{FF2B5EF4-FFF2-40B4-BE49-F238E27FC236}">
                <a16:creationId xmlns:a16="http://schemas.microsoft.com/office/drawing/2014/main" id="{6B5AF199-E173-FDE9-0E68-A200520EF604}"/>
              </a:ext>
            </a:extLst>
          </p:cNvPr>
          <p:cNvSpPr>
            <a:spLocks noGrp="1"/>
          </p:cNvSpPr>
          <p:nvPr>
            <p:ph sz="half" idx="1"/>
          </p:nvPr>
        </p:nvSpPr>
        <p:spPr/>
        <p:txBody>
          <a:bodyPr/>
          <a:lstStyle/>
          <a:p>
            <a:endParaRPr lang="en-IN"/>
          </a:p>
        </p:txBody>
      </p:sp>
      <p:sp>
        <p:nvSpPr>
          <p:cNvPr id="8" name="Content Placeholder 7">
            <a:extLst>
              <a:ext uri="{FF2B5EF4-FFF2-40B4-BE49-F238E27FC236}">
                <a16:creationId xmlns:a16="http://schemas.microsoft.com/office/drawing/2014/main" id="{3D5DB5F4-1FD4-E2D5-6DF2-4AEDE1836D4A}"/>
              </a:ext>
            </a:extLst>
          </p:cNvPr>
          <p:cNvSpPr>
            <a:spLocks noGrp="1"/>
          </p:cNvSpPr>
          <p:nvPr>
            <p:ph sz="half" idx="2"/>
          </p:nvPr>
        </p:nvSpPr>
        <p:spPr>
          <a:xfrm>
            <a:off x="6191251" y="1066800"/>
            <a:ext cx="5232400" cy="5334001"/>
          </a:xfrm>
        </p:spPr>
        <p:txBody>
          <a:bodyPr/>
          <a:lstStyle/>
          <a:p>
            <a:pPr marL="0" indent="0" algn="just">
              <a:buNone/>
            </a:pPr>
            <a:r>
              <a:rPr lang="en-US" sz="1400" dirty="0"/>
              <a:t>An RNN whose only recurrence is the feedback connection from the output to the hidden layer. At each time step t, the input is </a:t>
            </a:r>
            <a:r>
              <a:rPr lang="en-US" sz="1400" dirty="0" err="1"/>
              <a:t>xt</a:t>
            </a:r>
            <a:r>
              <a:rPr lang="en-US" sz="1400" dirty="0"/>
              <a:t>, the hidden layer activations are h(t) , the outputs are o(t) , the targets are y(t) and the loss is L(t) . </a:t>
            </a:r>
          </a:p>
          <a:p>
            <a:pPr marL="0" indent="0" algn="just">
              <a:buNone/>
            </a:pPr>
            <a:r>
              <a:rPr lang="en-US" sz="1400" dirty="0"/>
              <a:t>(Left) Circuit diagram. </a:t>
            </a:r>
          </a:p>
          <a:p>
            <a:pPr marL="0" indent="0" algn="just">
              <a:buNone/>
            </a:pPr>
            <a:r>
              <a:rPr lang="en-US" sz="1400" dirty="0"/>
              <a:t>(Right) Unfolded computational graph. Such an RNN is less powerful (can express a smaller set of functions) than those in the family represented by figure (Variation1). The RNN in figure (Variation1) can choose to put any information it wants about the past into its hidden representation h and transmit h to the future. The RNN in this figure (Variation 2) is trained to put a specific output value into o, and o is the only information it is allowed to send to the future. There are no direct connections from h going forward. The previous h is connected to the present only indirectly, via the predictions it was used to produce. Unless o is very high-dimensional and rich, it will usually lack important information from the past. This makes the RNN in this figure less powerful, but it may be easier to train because each time step can be trained in isolation from the others, allowing </a:t>
            </a:r>
            <a:r>
              <a:rPr lang="en-US" sz="1400" b="1" dirty="0">
                <a:solidFill>
                  <a:srgbClr val="C00000"/>
                </a:solidFill>
              </a:rPr>
              <a:t>greater parallelization </a:t>
            </a:r>
            <a:r>
              <a:rPr lang="en-US" sz="1400" dirty="0"/>
              <a:t>during training, x</a:t>
            </a:r>
            <a:endParaRPr lang="en-IN" sz="1400" dirty="0"/>
          </a:p>
        </p:txBody>
      </p:sp>
      <p:sp>
        <p:nvSpPr>
          <p:cNvPr id="4" name="Slide Number Placeholder 3">
            <a:extLst>
              <a:ext uri="{FF2B5EF4-FFF2-40B4-BE49-F238E27FC236}">
                <a16:creationId xmlns:a16="http://schemas.microsoft.com/office/drawing/2014/main" id="{5C85A717-9D6F-BDA9-F6E1-883CDEF1054B}"/>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6" name="Picture 5">
            <a:extLst>
              <a:ext uri="{FF2B5EF4-FFF2-40B4-BE49-F238E27FC236}">
                <a16:creationId xmlns:a16="http://schemas.microsoft.com/office/drawing/2014/main" id="{DCD957CB-879B-290D-8184-2A3110F7697F}"/>
              </a:ext>
            </a:extLst>
          </p:cNvPr>
          <p:cNvPicPr>
            <a:picLocks noChangeAspect="1"/>
          </p:cNvPicPr>
          <p:nvPr/>
        </p:nvPicPr>
        <p:blipFill>
          <a:blip r:embed="rId2"/>
          <a:stretch>
            <a:fillRect/>
          </a:stretch>
        </p:blipFill>
        <p:spPr>
          <a:xfrm>
            <a:off x="304800" y="1219200"/>
            <a:ext cx="5559226" cy="4953000"/>
          </a:xfrm>
          <a:prstGeom prst="rect">
            <a:avLst/>
          </a:prstGeom>
        </p:spPr>
      </p:pic>
    </p:spTree>
    <p:extLst>
      <p:ext uri="{BB962C8B-B14F-4D97-AF65-F5344CB8AC3E}">
        <p14:creationId xmlns:p14="http://schemas.microsoft.com/office/powerpoint/2010/main" val="2412991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A4F20-ABF9-5670-41E3-53A7C639D822}"/>
              </a:ext>
            </a:extLst>
          </p:cNvPr>
          <p:cNvSpPr>
            <a:spLocks noGrp="1"/>
          </p:cNvSpPr>
          <p:nvPr>
            <p:ph type="title"/>
          </p:nvPr>
        </p:nvSpPr>
        <p:spPr/>
        <p:txBody>
          <a:bodyPr/>
          <a:lstStyle/>
          <a:p>
            <a:r>
              <a:rPr lang="en-US" sz="2400" dirty="0"/>
              <a:t>Variation 3 of RNN hidden2hidden, single output.</a:t>
            </a:r>
            <a:br>
              <a:rPr lang="en-US" sz="2400" dirty="0"/>
            </a:br>
            <a:r>
              <a:rPr lang="en-IN" sz="2400" dirty="0"/>
              <a:t>Sequence Input, Single Output</a:t>
            </a:r>
            <a:r>
              <a:rPr lang="en-US" sz="2400" dirty="0"/>
              <a:t> </a:t>
            </a:r>
            <a:endParaRPr lang="en-IN" sz="2400" dirty="0"/>
          </a:p>
        </p:txBody>
      </p:sp>
      <p:sp>
        <p:nvSpPr>
          <p:cNvPr id="7" name="Content Placeholder 6">
            <a:extLst>
              <a:ext uri="{FF2B5EF4-FFF2-40B4-BE49-F238E27FC236}">
                <a16:creationId xmlns:a16="http://schemas.microsoft.com/office/drawing/2014/main" id="{A6656436-FFD9-1976-40D4-371828AAE8A4}"/>
              </a:ext>
            </a:extLst>
          </p:cNvPr>
          <p:cNvSpPr>
            <a:spLocks noGrp="1"/>
          </p:cNvSpPr>
          <p:nvPr>
            <p:ph sz="half" idx="1"/>
          </p:nvPr>
        </p:nvSpPr>
        <p:spPr/>
        <p:txBody>
          <a:bodyPr/>
          <a:lstStyle/>
          <a:p>
            <a:endParaRPr lang="en-IN"/>
          </a:p>
        </p:txBody>
      </p:sp>
      <p:sp>
        <p:nvSpPr>
          <p:cNvPr id="8" name="Content Placeholder 7">
            <a:extLst>
              <a:ext uri="{FF2B5EF4-FFF2-40B4-BE49-F238E27FC236}">
                <a16:creationId xmlns:a16="http://schemas.microsoft.com/office/drawing/2014/main" id="{E0FBBE25-7977-38C8-3F81-D35147AF63CA}"/>
              </a:ext>
            </a:extLst>
          </p:cNvPr>
          <p:cNvSpPr>
            <a:spLocks noGrp="1"/>
          </p:cNvSpPr>
          <p:nvPr>
            <p:ph sz="half" idx="2"/>
          </p:nvPr>
        </p:nvSpPr>
        <p:spPr>
          <a:xfrm>
            <a:off x="6191251" y="1088030"/>
            <a:ext cx="5232400" cy="4931770"/>
          </a:xfrm>
        </p:spPr>
        <p:txBody>
          <a:bodyPr/>
          <a:lstStyle/>
          <a:p>
            <a:pPr marL="0" indent="0" algn="just">
              <a:buNone/>
            </a:pPr>
            <a:r>
              <a:rPr lang="en-US" sz="2000" dirty="0"/>
              <a:t>Time-unfolded recurrent neural network with a single output at the end of the sequence. </a:t>
            </a:r>
          </a:p>
          <a:p>
            <a:pPr marL="0" indent="0" algn="just">
              <a:buNone/>
            </a:pPr>
            <a:r>
              <a:rPr lang="en-US" sz="2000" dirty="0"/>
              <a:t>Such a network can be used to summarize a sequence and produce a fixed-size representation used as input for further processing. </a:t>
            </a:r>
          </a:p>
          <a:p>
            <a:pPr marL="0" indent="0" algn="just">
              <a:buNone/>
            </a:pPr>
            <a:r>
              <a:rPr lang="en-US" sz="2000" dirty="0"/>
              <a:t>There might be a target right at the end (as depicted here) or the gradient on the output o(t) can be obtained by back-propagating from further downstream modules.</a:t>
            </a:r>
            <a:endParaRPr lang="en-IN" sz="2000" dirty="0"/>
          </a:p>
        </p:txBody>
      </p:sp>
      <p:sp>
        <p:nvSpPr>
          <p:cNvPr id="4" name="Slide Number Placeholder 3">
            <a:extLst>
              <a:ext uri="{FF2B5EF4-FFF2-40B4-BE49-F238E27FC236}">
                <a16:creationId xmlns:a16="http://schemas.microsoft.com/office/drawing/2014/main" id="{93A64F3F-C36F-4381-136E-3C0446063F78}"/>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6" name="Picture 5">
            <a:extLst>
              <a:ext uri="{FF2B5EF4-FFF2-40B4-BE49-F238E27FC236}">
                <a16:creationId xmlns:a16="http://schemas.microsoft.com/office/drawing/2014/main" id="{77079B82-D961-2E56-AB2B-DFA89C679370}"/>
              </a:ext>
            </a:extLst>
          </p:cNvPr>
          <p:cNvPicPr>
            <a:picLocks noChangeAspect="1"/>
          </p:cNvPicPr>
          <p:nvPr/>
        </p:nvPicPr>
        <p:blipFill>
          <a:blip r:embed="rId2"/>
          <a:stretch>
            <a:fillRect/>
          </a:stretch>
        </p:blipFill>
        <p:spPr>
          <a:xfrm>
            <a:off x="0" y="1247470"/>
            <a:ext cx="5963482" cy="4363059"/>
          </a:xfrm>
          <a:prstGeom prst="rect">
            <a:avLst/>
          </a:prstGeom>
        </p:spPr>
      </p:pic>
    </p:spTree>
    <p:extLst>
      <p:ext uri="{BB962C8B-B14F-4D97-AF65-F5344CB8AC3E}">
        <p14:creationId xmlns:p14="http://schemas.microsoft.com/office/powerpoint/2010/main" val="935150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3AD70B-33AD-372A-A00E-E099EDD1943B}"/>
              </a:ext>
            </a:extLst>
          </p:cNvPr>
          <p:cNvSpPr>
            <a:spLocks noGrp="1"/>
          </p:cNvSpPr>
          <p:nvPr>
            <p:ph type="title"/>
          </p:nvPr>
        </p:nvSpPr>
        <p:spPr/>
        <p:txBody>
          <a:bodyPr/>
          <a:lstStyle/>
          <a:p>
            <a:r>
              <a:rPr lang="en-IN" sz="2400" dirty="0"/>
              <a:t>RNN: </a:t>
            </a:r>
            <a:r>
              <a:rPr lang="en-US" sz="2400" dirty="0"/>
              <a:t>Teacher Forcing and </a:t>
            </a:r>
            <a:br>
              <a:rPr lang="en-US" sz="2400" dirty="0"/>
            </a:br>
            <a:r>
              <a:rPr lang="en-US" sz="2400" dirty="0"/>
              <a:t>Networks with Output Recurrence</a:t>
            </a:r>
            <a:endParaRPr lang="en-IN" sz="2400" dirty="0"/>
          </a:p>
        </p:txBody>
      </p:sp>
      <p:sp>
        <p:nvSpPr>
          <p:cNvPr id="7" name="Content Placeholder 6">
            <a:extLst>
              <a:ext uri="{FF2B5EF4-FFF2-40B4-BE49-F238E27FC236}">
                <a16:creationId xmlns:a16="http://schemas.microsoft.com/office/drawing/2014/main" id="{DA8BCB79-385E-1C6A-1E39-33E8508F6D53}"/>
              </a:ext>
            </a:extLst>
          </p:cNvPr>
          <p:cNvSpPr>
            <a:spLocks noGrp="1"/>
          </p:cNvSpPr>
          <p:nvPr>
            <p:ph idx="1"/>
          </p:nvPr>
        </p:nvSpPr>
        <p:spPr/>
        <p:txBody>
          <a:bodyPr/>
          <a:lstStyle/>
          <a:p>
            <a:pPr marL="0" indent="0">
              <a:buNone/>
            </a:pPr>
            <a:r>
              <a:rPr lang="en-US" sz="1600" dirty="0">
                <a:solidFill>
                  <a:srgbClr val="C00000"/>
                </a:solidFill>
              </a:rPr>
              <a:t>Teacher forcing </a:t>
            </a:r>
            <a:r>
              <a:rPr lang="en-US" sz="1600" dirty="0"/>
              <a:t>as a method for </a:t>
            </a:r>
            <a:r>
              <a:rPr lang="en-US" sz="1600" dirty="0">
                <a:solidFill>
                  <a:srgbClr val="0000FF"/>
                </a:solidFill>
              </a:rPr>
              <a:t>training </a:t>
            </a:r>
            <a:r>
              <a:rPr lang="en-US" sz="1600" dirty="0">
                <a:solidFill>
                  <a:srgbClr val="00B050"/>
                </a:solidFill>
              </a:rPr>
              <a:t>recurrent neural networks</a:t>
            </a:r>
            <a:r>
              <a:rPr lang="en-US" sz="1600" dirty="0"/>
              <a:t>.</a:t>
            </a:r>
          </a:p>
          <a:p>
            <a:pPr marL="0" indent="0">
              <a:buNone/>
            </a:pPr>
            <a:endParaRPr lang="en-US" sz="1600" dirty="0"/>
          </a:p>
          <a:p>
            <a:pPr marL="0" indent="0">
              <a:buNone/>
            </a:pPr>
            <a:endParaRPr lang="en-US" sz="1600" b="1" dirty="0"/>
          </a:p>
          <a:p>
            <a:pPr marL="0" indent="0">
              <a:buNone/>
            </a:pPr>
            <a:endParaRPr lang="en-US" sz="1600" b="1" dirty="0"/>
          </a:p>
          <a:p>
            <a:pPr marL="0" indent="0">
              <a:buNone/>
            </a:pPr>
            <a:endParaRPr lang="en-US" sz="1600" b="1" dirty="0"/>
          </a:p>
          <a:p>
            <a:pPr marL="0" indent="0">
              <a:buNone/>
            </a:pPr>
            <a:r>
              <a:rPr lang="en-US" sz="1600" b="1" dirty="0"/>
              <a:t>Using Output as Input in Sequence Prediction</a:t>
            </a:r>
          </a:p>
          <a:p>
            <a:r>
              <a:rPr lang="en-US" sz="1600" dirty="0"/>
              <a:t>There are sequence prediction models that use the output from the last time step y(t-1) as input for the model at the current time step X(t).</a:t>
            </a:r>
          </a:p>
          <a:p>
            <a:r>
              <a:rPr lang="en-US" sz="1600" dirty="0"/>
              <a:t>This type of model is common in language models that output one word at a time and use the output word as input for generating the next word in the sequence.</a:t>
            </a:r>
          </a:p>
          <a:p>
            <a:r>
              <a:rPr lang="en-US" sz="1600" dirty="0"/>
              <a:t>For example, sequence-to-sequence generation problems such as: Machine Translation, Caption Generation, Text Summarization</a:t>
            </a:r>
          </a:p>
          <a:p>
            <a:r>
              <a:rPr lang="en-US" sz="1600" dirty="0"/>
              <a:t>After the model is trained, a “start-of-sequence” token can be used to start the process and the generated word in the output sequence is used as input on the subsequent time step.</a:t>
            </a:r>
          </a:p>
          <a:p>
            <a:r>
              <a:rPr lang="en-US" sz="1600" dirty="0"/>
              <a:t>This same recursive output-as-input process can be used when training the model, but it can result in problems such as: Slow convergence, Model instability, Poor skill.</a:t>
            </a:r>
          </a:p>
          <a:p>
            <a:pPr marL="0" indent="0">
              <a:buNone/>
            </a:pPr>
            <a:r>
              <a:rPr lang="en-US" sz="1600" dirty="0"/>
              <a:t>Teacher forcing is an approach to improve model skill and stability when training these types of models.</a:t>
            </a:r>
          </a:p>
          <a:p>
            <a:endParaRPr lang="en-US" sz="1600" dirty="0"/>
          </a:p>
          <a:p>
            <a:pPr marL="0" indent="0">
              <a:buNone/>
            </a:pPr>
            <a:endParaRPr lang="en-IN" sz="1600" dirty="0"/>
          </a:p>
        </p:txBody>
      </p:sp>
      <p:sp>
        <p:nvSpPr>
          <p:cNvPr id="5" name="Slide Number Placeholder 4">
            <a:extLst>
              <a:ext uri="{FF2B5EF4-FFF2-40B4-BE49-F238E27FC236}">
                <a16:creationId xmlns:a16="http://schemas.microsoft.com/office/drawing/2014/main" id="{CA410218-C34D-E616-1F02-1BDA5C19EE59}"/>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9" name="Picture 8">
            <a:extLst>
              <a:ext uri="{FF2B5EF4-FFF2-40B4-BE49-F238E27FC236}">
                <a16:creationId xmlns:a16="http://schemas.microsoft.com/office/drawing/2014/main" id="{80F73D75-CC27-3AC9-BC12-324A6E2C7C75}"/>
              </a:ext>
            </a:extLst>
          </p:cNvPr>
          <p:cNvPicPr>
            <a:picLocks noChangeAspect="1"/>
          </p:cNvPicPr>
          <p:nvPr/>
        </p:nvPicPr>
        <p:blipFill>
          <a:blip r:embed="rId2"/>
          <a:stretch>
            <a:fillRect/>
          </a:stretch>
        </p:blipFill>
        <p:spPr>
          <a:xfrm>
            <a:off x="8839200" y="136524"/>
            <a:ext cx="3157125" cy="2759076"/>
          </a:xfrm>
          <a:prstGeom prst="rect">
            <a:avLst/>
          </a:prstGeom>
        </p:spPr>
      </p:pic>
    </p:spTree>
    <p:extLst>
      <p:ext uri="{BB962C8B-B14F-4D97-AF65-F5344CB8AC3E}">
        <p14:creationId xmlns:p14="http://schemas.microsoft.com/office/powerpoint/2010/main" val="1305810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6B6E2-27F5-63E7-F92D-DEBD556FEB26}"/>
              </a:ext>
            </a:extLst>
          </p:cNvPr>
          <p:cNvSpPr>
            <a:spLocks noGrp="1"/>
          </p:cNvSpPr>
          <p:nvPr>
            <p:ph type="title"/>
          </p:nvPr>
        </p:nvSpPr>
        <p:spPr/>
        <p:txBody>
          <a:bodyPr/>
          <a:lstStyle/>
          <a:p>
            <a:r>
              <a:rPr lang="en-IN" sz="2000" dirty="0"/>
              <a:t>RNN: </a:t>
            </a:r>
            <a:r>
              <a:rPr lang="en-US" sz="2000" dirty="0"/>
              <a:t>Teacher Forcing</a:t>
            </a:r>
            <a:endParaRPr lang="en-IN" sz="2000" dirty="0"/>
          </a:p>
        </p:txBody>
      </p:sp>
      <p:sp>
        <p:nvSpPr>
          <p:cNvPr id="3" name="Content Placeholder 2">
            <a:extLst>
              <a:ext uri="{FF2B5EF4-FFF2-40B4-BE49-F238E27FC236}">
                <a16:creationId xmlns:a16="http://schemas.microsoft.com/office/drawing/2014/main" id="{0FC16F9E-7C8F-ED14-3AAB-54F69CA4B96A}"/>
              </a:ext>
            </a:extLst>
          </p:cNvPr>
          <p:cNvSpPr>
            <a:spLocks noGrp="1"/>
          </p:cNvSpPr>
          <p:nvPr>
            <p:ph idx="1"/>
          </p:nvPr>
        </p:nvSpPr>
        <p:spPr/>
        <p:txBody>
          <a:bodyPr/>
          <a:lstStyle/>
          <a:p>
            <a:pPr marL="0" indent="0" algn="just">
              <a:buNone/>
            </a:pPr>
            <a:r>
              <a:rPr lang="en-US" sz="1800" dirty="0"/>
              <a:t>What is Teacher Forcing?</a:t>
            </a:r>
          </a:p>
          <a:p>
            <a:pPr marL="0" indent="0" algn="just">
              <a:buNone/>
            </a:pPr>
            <a:r>
              <a:rPr lang="en-US" sz="1800" dirty="0"/>
              <a:t>Teacher forcing is a strategy for training recurrent neural networks that uses ground truth as input, instead of model output from a prior time step as an input.</a:t>
            </a:r>
          </a:p>
          <a:p>
            <a:pPr marL="0" indent="0" algn="just">
              <a:buNone/>
            </a:pPr>
            <a:r>
              <a:rPr lang="en-US" sz="1800" dirty="0"/>
              <a:t>The approach was originally described and developed as an alternative technique to backpropagation through time for training a recurrent neural network.</a:t>
            </a:r>
          </a:p>
          <a:p>
            <a:pPr marL="0" indent="0" algn="just">
              <a:buNone/>
            </a:pPr>
            <a:r>
              <a:rPr lang="en-US" sz="1800" dirty="0"/>
              <a:t>Teacher forcing works by using the actual or expected output from the training dataset at the current time step y(t) as input in the next time step X(t+1), rather than the output generated by the network.</a:t>
            </a:r>
            <a:endParaRPr lang="en-IN" sz="1800" dirty="0"/>
          </a:p>
        </p:txBody>
      </p:sp>
      <p:sp>
        <p:nvSpPr>
          <p:cNvPr id="4" name="Slide Number Placeholder 3">
            <a:extLst>
              <a:ext uri="{FF2B5EF4-FFF2-40B4-BE49-F238E27FC236}">
                <a16:creationId xmlns:a16="http://schemas.microsoft.com/office/drawing/2014/main" id="{C88C5A01-172F-D02F-4594-8753095759C9}"/>
              </a:ext>
            </a:extLst>
          </p:cNvPr>
          <p:cNvSpPr>
            <a:spLocks noGrp="1"/>
          </p:cNvSpPr>
          <p:nvPr>
            <p:ph type="sldNum" sz="quarter" idx="12"/>
          </p:nvPr>
        </p:nvSpPr>
        <p:spPr/>
        <p:txBody>
          <a:bodyPr/>
          <a:lstStyle/>
          <a:p>
            <a:fld id="{BB2CE0DE-867F-455F-B20B-96D381B4AB71}" type="slidenum">
              <a:rPr lang="en-US" smtClean="0"/>
              <a:t>24</a:t>
            </a:fld>
            <a:endParaRPr lang="en-US"/>
          </a:p>
        </p:txBody>
      </p:sp>
    </p:spTree>
    <p:extLst>
      <p:ext uri="{BB962C8B-B14F-4D97-AF65-F5344CB8AC3E}">
        <p14:creationId xmlns:p14="http://schemas.microsoft.com/office/powerpoint/2010/main" val="4134913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796B-6FEA-D358-1966-0229B0373CEA}"/>
              </a:ext>
            </a:extLst>
          </p:cNvPr>
          <p:cNvSpPr>
            <a:spLocks noGrp="1"/>
          </p:cNvSpPr>
          <p:nvPr>
            <p:ph type="title"/>
          </p:nvPr>
        </p:nvSpPr>
        <p:spPr/>
        <p:txBody>
          <a:bodyPr/>
          <a:lstStyle/>
          <a:p>
            <a:r>
              <a:rPr lang="en-IN" sz="2400" dirty="0"/>
              <a:t>RNN: </a:t>
            </a:r>
            <a:r>
              <a:rPr lang="en-US" sz="2400" dirty="0"/>
              <a:t>Teacher Forcing</a:t>
            </a:r>
            <a:endParaRPr lang="en-IN" sz="2400" dirty="0"/>
          </a:p>
        </p:txBody>
      </p:sp>
      <p:sp>
        <p:nvSpPr>
          <p:cNvPr id="3" name="Content Placeholder 2">
            <a:extLst>
              <a:ext uri="{FF2B5EF4-FFF2-40B4-BE49-F238E27FC236}">
                <a16:creationId xmlns:a16="http://schemas.microsoft.com/office/drawing/2014/main" id="{D40597EA-09CF-0D4B-D917-7E2E28949C9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D0CD186-D12C-9B49-EA72-F15F96F67D6D}"/>
              </a:ext>
            </a:extLst>
          </p:cNvPr>
          <p:cNvSpPr>
            <a:spLocks noGrp="1"/>
          </p:cNvSpPr>
          <p:nvPr>
            <p:ph type="sldNum" sz="quarter" idx="12"/>
          </p:nvPr>
        </p:nvSpPr>
        <p:spPr/>
        <p:txBody>
          <a:bodyPr/>
          <a:lstStyle/>
          <a:p>
            <a:fld id="{BB2CE0DE-867F-455F-B20B-96D381B4AB71}" type="slidenum">
              <a:rPr lang="en-US" smtClean="0"/>
              <a:t>25</a:t>
            </a:fld>
            <a:endParaRPr lang="en-US"/>
          </a:p>
        </p:txBody>
      </p:sp>
      <p:sp>
        <p:nvSpPr>
          <p:cNvPr id="5" name="TextBox 4">
            <a:extLst>
              <a:ext uri="{FF2B5EF4-FFF2-40B4-BE49-F238E27FC236}">
                <a16:creationId xmlns:a16="http://schemas.microsoft.com/office/drawing/2014/main" id="{4026E36A-5D3F-2D79-0B6C-5C899C5F5567}"/>
              </a:ext>
            </a:extLst>
          </p:cNvPr>
          <p:cNvSpPr txBox="1"/>
          <p:nvPr/>
        </p:nvSpPr>
        <p:spPr>
          <a:xfrm>
            <a:off x="457200" y="6553200"/>
            <a:ext cx="5490606" cy="230832"/>
          </a:xfrm>
          <a:prstGeom prst="rect">
            <a:avLst/>
          </a:prstGeom>
          <a:noFill/>
        </p:spPr>
        <p:txBody>
          <a:bodyPr wrap="none" rtlCol="0">
            <a:spAutoFit/>
          </a:bodyPr>
          <a:lstStyle/>
          <a:p>
            <a:r>
              <a:rPr lang="en-IN" sz="900" dirty="0"/>
              <a:t>Ref.: https://machinelearningmastery.com/teacher-forcing-for-recurrent-neural-networks/</a:t>
            </a:r>
          </a:p>
        </p:txBody>
      </p:sp>
      <p:pic>
        <p:nvPicPr>
          <p:cNvPr id="7" name="Picture 6">
            <a:extLst>
              <a:ext uri="{FF2B5EF4-FFF2-40B4-BE49-F238E27FC236}">
                <a16:creationId xmlns:a16="http://schemas.microsoft.com/office/drawing/2014/main" id="{0CAD4530-D4A5-D6DC-E693-C17032052AF3}"/>
              </a:ext>
            </a:extLst>
          </p:cNvPr>
          <p:cNvPicPr>
            <a:picLocks noChangeAspect="1"/>
          </p:cNvPicPr>
          <p:nvPr/>
        </p:nvPicPr>
        <p:blipFill>
          <a:blip r:embed="rId2"/>
          <a:stretch>
            <a:fillRect/>
          </a:stretch>
        </p:blipFill>
        <p:spPr>
          <a:xfrm>
            <a:off x="533400" y="1066801"/>
            <a:ext cx="8914643" cy="5515414"/>
          </a:xfrm>
          <a:prstGeom prst="rect">
            <a:avLst/>
          </a:prstGeom>
        </p:spPr>
      </p:pic>
    </p:spTree>
    <p:extLst>
      <p:ext uri="{BB962C8B-B14F-4D97-AF65-F5344CB8AC3E}">
        <p14:creationId xmlns:p14="http://schemas.microsoft.com/office/powerpoint/2010/main" val="1528757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224C3-5A45-C9B7-D80A-CC1BFD227DFF}"/>
              </a:ext>
            </a:extLst>
          </p:cNvPr>
          <p:cNvSpPr>
            <a:spLocks noGrp="1"/>
          </p:cNvSpPr>
          <p:nvPr>
            <p:ph type="title"/>
          </p:nvPr>
        </p:nvSpPr>
        <p:spPr/>
        <p:txBody>
          <a:bodyPr/>
          <a:lstStyle/>
          <a:p>
            <a:r>
              <a:rPr lang="en-IN" sz="2400" dirty="0"/>
              <a:t>RNN: </a:t>
            </a:r>
            <a:r>
              <a:rPr lang="en-US" sz="2400" dirty="0"/>
              <a:t>Teacher Forcing</a:t>
            </a:r>
            <a:endParaRPr lang="en-IN" sz="2400" dirty="0"/>
          </a:p>
        </p:txBody>
      </p:sp>
      <p:sp>
        <p:nvSpPr>
          <p:cNvPr id="3" name="Content Placeholder 2">
            <a:extLst>
              <a:ext uri="{FF2B5EF4-FFF2-40B4-BE49-F238E27FC236}">
                <a16:creationId xmlns:a16="http://schemas.microsoft.com/office/drawing/2014/main" id="{761EFC1C-6B85-C4FD-DDE4-5E33E3115CD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E134EAE1-ADBA-1A45-1679-3D2BEB7AF7EA}"/>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6" name="Picture 5">
            <a:extLst>
              <a:ext uri="{FF2B5EF4-FFF2-40B4-BE49-F238E27FC236}">
                <a16:creationId xmlns:a16="http://schemas.microsoft.com/office/drawing/2014/main" id="{61D7EBF6-27CE-22F7-CC6A-C7B7E976CCEC}"/>
              </a:ext>
            </a:extLst>
          </p:cNvPr>
          <p:cNvPicPr>
            <a:picLocks noChangeAspect="1"/>
          </p:cNvPicPr>
          <p:nvPr/>
        </p:nvPicPr>
        <p:blipFill>
          <a:blip r:embed="rId2"/>
          <a:stretch>
            <a:fillRect/>
          </a:stretch>
        </p:blipFill>
        <p:spPr>
          <a:xfrm>
            <a:off x="609600" y="1012284"/>
            <a:ext cx="8687502" cy="5528410"/>
          </a:xfrm>
          <a:prstGeom prst="rect">
            <a:avLst/>
          </a:prstGeom>
        </p:spPr>
      </p:pic>
    </p:spTree>
    <p:extLst>
      <p:ext uri="{BB962C8B-B14F-4D97-AF65-F5344CB8AC3E}">
        <p14:creationId xmlns:p14="http://schemas.microsoft.com/office/powerpoint/2010/main" val="3246386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BC600-64D8-7626-CA15-7361C7DBBCD7}"/>
              </a:ext>
            </a:extLst>
          </p:cNvPr>
          <p:cNvSpPr>
            <a:spLocks noGrp="1"/>
          </p:cNvSpPr>
          <p:nvPr>
            <p:ph type="title"/>
          </p:nvPr>
        </p:nvSpPr>
        <p:spPr/>
        <p:txBody>
          <a:bodyPr/>
          <a:lstStyle/>
          <a:p>
            <a:r>
              <a:rPr lang="en-IN" dirty="0"/>
              <a:t>RNN: Teacher forcing</a:t>
            </a:r>
          </a:p>
        </p:txBody>
      </p:sp>
      <p:sp>
        <p:nvSpPr>
          <p:cNvPr id="3" name="Content Placeholder 2">
            <a:extLst>
              <a:ext uri="{FF2B5EF4-FFF2-40B4-BE49-F238E27FC236}">
                <a16:creationId xmlns:a16="http://schemas.microsoft.com/office/drawing/2014/main" id="{5B0B27A7-02BE-55B1-842D-70887E8DBFD2}"/>
              </a:ext>
            </a:extLst>
          </p:cNvPr>
          <p:cNvSpPr>
            <a:spLocks noGrp="1"/>
          </p:cNvSpPr>
          <p:nvPr>
            <p:ph sz="half" idx="1"/>
          </p:nvPr>
        </p:nvSpPr>
        <p:spPr>
          <a:xfrm>
            <a:off x="755651" y="1066800"/>
            <a:ext cx="5232400" cy="4953000"/>
          </a:xfrm>
        </p:spPr>
        <p:txBody>
          <a:bodyPr/>
          <a:lstStyle/>
          <a:p>
            <a:pPr marL="0" indent="0">
              <a:buNone/>
            </a:pPr>
            <a:r>
              <a:rPr lang="en-IN" sz="1600" dirty="0"/>
              <a:t>Another example</a:t>
            </a:r>
            <a:endParaRPr lang="en-US" sz="1600" dirty="0"/>
          </a:p>
          <a:p>
            <a:r>
              <a:rPr lang="en-US" sz="1600" dirty="0"/>
              <a:t>Let us assume we want to train an image captioning model, and the ground truth caption for the above image is “Two people reading a book”. Our model makes a mistake in predicting the 2nd word and we have “Two” and “birds” for the 1st and 2nd prediction respectively.</a:t>
            </a:r>
          </a:p>
          <a:p>
            <a:r>
              <a:rPr lang="en-US" sz="1600" dirty="0"/>
              <a:t>Without </a:t>
            </a:r>
            <a:r>
              <a:rPr lang="en-US" sz="1600" i="1" dirty="0"/>
              <a:t>Teacher Forcing</a:t>
            </a:r>
            <a:r>
              <a:rPr lang="en-US" sz="1600" dirty="0"/>
              <a:t>, we would feed “birds” back to our RNN to predict the 3rd word. Let’s say the 3rd prediction is “flying”. Even though it makes sense for our model to predict “flying” given the input is “birds”, it is different from the ground truth.</a:t>
            </a:r>
          </a:p>
          <a:p>
            <a:r>
              <a:rPr lang="en-US" sz="1600" dirty="0"/>
              <a:t>On the other hand, if we use </a:t>
            </a:r>
            <a:r>
              <a:rPr lang="en-US" sz="1600" i="1" dirty="0"/>
              <a:t>Teacher Forcing</a:t>
            </a:r>
            <a:r>
              <a:rPr lang="en-US" sz="1600" dirty="0"/>
              <a:t>, we would feed “people” to our RNN for the 3rd prediction, after computing and recording the loss for the 2nd prediction.</a:t>
            </a:r>
          </a:p>
          <a:p>
            <a:pPr marL="0" indent="0">
              <a:buNone/>
            </a:pPr>
            <a:endParaRPr lang="en-IN" sz="1600" dirty="0"/>
          </a:p>
        </p:txBody>
      </p:sp>
      <p:sp>
        <p:nvSpPr>
          <p:cNvPr id="4" name="Slide Number Placeholder 3">
            <a:extLst>
              <a:ext uri="{FF2B5EF4-FFF2-40B4-BE49-F238E27FC236}">
                <a16:creationId xmlns:a16="http://schemas.microsoft.com/office/drawing/2014/main" id="{E2AC1B59-AADD-E16E-48EB-BCE2B74E5A4D}"/>
              </a:ext>
            </a:extLst>
          </p:cNvPr>
          <p:cNvSpPr>
            <a:spLocks noGrp="1"/>
          </p:cNvSpPr>
          <p:nvPr>
            <p:ph type="sldNum" sz="quarter" idx="12"/>
          </p:nvPr>
        </p:nvSpPr>
        <p:spPr/>
        <p:txBody>
          <a:bodyPr/>
          <a:lstStyle/>
          <a:p>
            <a:fld id="{BB2CE0DE-867F-455F-B20B-96D381B4AB71}" type="slidenum">
              <a:rPr lang="en-US" smtClean="0"/>
              <a:t>27</a:t>
            </a:fld>
            <a:endParaRPr lang="en-US"/>
          </a:p>
        </p:txBody>
      </p:sp>
      <p:pic>
        <p:nvPicPr>
          <p:cNvPr id="5" name="Picture 4">
            <a:extLst>
              <a:ext uri="{FF2B5EF4-FFF2-40B4-BE49-F238E27FC236}">
                <a16:creationId xmlns:a16="http://schemas.microsoft.com/office/drawing/2014/main" id="{B9095DAC-767C-47C3-AA26-1555BA31E51E}"/>
              </a:ext>
            </a:extLst>
          </p:cNvPr>
          <p:cNvPicPr>
            <a:picLocks noChangeAspect="1"/>
          </p:cNvPicPr>
          <p:nvPr/>
        </p:nvPicPr>
        <p:blipFill>
          <a:blip r:embed="rId3"/>
          <a:stretch>
            <a:fillRect/>
          </a:stretch>
        </p:blipFill>
        <p:spPr>
          <a:xfrm>
            <a:off x="5562600" y="-20781"/>
            <a:ext cx="2003894" cy="1333500"/>
          </a:xfrm>
          <a:prstGeom prst="rect">
            <a:avLst/>
          </a:prstGeom>
        </p:spPr>
      </p:pic>
      <p:pic>
        <p:nvPicPr>
          <p:cNvPr id="7" name="Picture 6">
            <a:extLst>
              <a:ext uri="{FF2B5EF4-FFF2-40B4-BE49-F238E27FC236}">
                <a16:creationId xmlns:a16="http://schemas.microsoft.com/office/drawing/2014/main" id="{0BF8E693-6F9E-FE04-A03F-BCECA0357230}"/>
              </a:ext>
            </a:extLst>
          </p:cNvPr>
          <p:cNvPicPr>
            <a:picLocks noChangeAspect="1"/>
          </p:cNvPicPr>
          <p:nvPr/>
        </p:nvPicPr>
        <p:blipFill>
          <a:blip r:embed="rId4"/>
          <a:stretch>
            <a:fillRect/>
          </a:stretch>
        </p:blipFill>
        <p:spPr>
          <a:xfrm>
            <a:off x="7899372" y="152400"/>
            <a:ext cx="4140228" cy="5943600"/>
          </a:xfrm>
          <a:prstGeom prst="rect">
            <a:avLst/>
          </a:prstGeom>
        </p:spPr>
      </p:pic>
    </p:spTree>
    <p:extLst>
      <p:ext uri="{BB962C8B-B14F-4D97-AF65-F5344CB8AC3E}">
        <p14:creationId xmlns:p14="http://schemas.microsoft.com/office/powerpoint/2010/main" val="864464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9D6EC54-6097-6D5D-397F-318A92A65B38}"/>
              </a:ext>
            </a:extLst>
          </p:cNvPr>
          <p:cNvSpPr>
            <a:spLocks noGrp="1"/>
          </p:cNvSpPr>
          <p:nvPr>
            <p:ph type="title"/>
          </p:nvPr>
        </p:nvSpPr>
        <p:spPr/>
        <p:txBody>
          <a:bodyPr/>
          <a:lstStyle/>
          <a:p>
            <a:r>
              <a:rPr lang="en-IN" sz="1800" dirty="0"/>
              <a:t>RNN: </a:t>
            </a:r>
            <a:r>
              <a:rPr lang="en-US" sz="1800" dirty="0"/>
              <a:t>Teacher Forcing</a:t>
            </a:r>
            <a:endParaRPr lang="en-IN" sz="1800" dirty="0"/>
          </a:p>
        </p:txBody>
      </p:sp>
      <p:sp>
        <p:nvSpPr>
          <p:cNvPr id="8" name="Content Placeholder 7">
            <a:extLst>
              <a:ext uri="{FF2B5EF4-FFF2-40B4-BE49-F238E27FC236}">
                <a16:creationId xmlns:a16="http://schemas.microsoft.com/office/drawing/2014/main" id="{2A1CC594-1CAF-DB92-BE2A-778E68214DB2}"/>
              </a:ext>
            </a:extLst>
          </p:cNvPr>
          <p:cNvSpPr>
            <a:spLocks noGrp="1"/>
          </p:cNvSpPr>
          <p:nvPr>
            <p:ph sz="half" idx="1"/>
          </p:nvPr>
        </p:nvSpPr>
        <p:spPr>
          <a:xfrm>
            <a:off x="755651" y="1066800"/>
            <a:ext cx="5232400" cy="4953000"/>
          </a:xfrm>
        </p:spPr>
        <p:txBody>
          <a:bodyPr/>
          <a:lstStyle/>
          <a:p>
            <a:pPr marL="0" indent="0">
              <a:buNone/>
            </a:pPr>
            <a:r>
              <a:rPr lang="en-US" sz="1800" dirty="0"/>
              <a:t>Teacher forcing is a training technique that is applicable to RNNs that have connections from their output to their hidden states at the next time step. </a:t>
            </a:r>
          </a:p>
          <a:p>
            <a:pPr marL="0" indent="0">
              <a:buNone/>
            </a:pPr>
            <a:r>
              <a:rPr lang="en-US" sz="1800" dirty="0"/>
              <a:t>(Left) At train time, we feed the correct output y(t) drawn from the train set as input to h(t+1) . </a:t>
            </a:r>
          </a:p>
          <a:p>
            <a:pPr marL="0" indent="0">
              <a:buNone/>
            </a:pPr>
            <a:r>
              <a:rPr lang="en-US" sz="1800" dirty="0"/>
              <a:t>(Right) When the model is deployed, the true output is generally not known. In this case, we approximate the correct output y(t) with the model’s output o(t) , and feed the output back into the model.</a:t>
            </a:r>
            <a:endParaRPr lang="en-IN" sz="1800" dirty="0"/>
          </a:p>
        </p:txBody>
      </p:sp>
      <p:sp>
        <p:nvSpPr>
          <p:cNvPr id="4" name="Slide Number Placeholder 3">
            <a:extLst>
              <a:ext uri="{FF2B5EF4-FFF2-40B4-BE49-F238E27FC236}">
                <a16:creationId xmlns:a16="http://schemas.microsoft.com/office/drawing/2014/main" id="{DC6CB7E3-D49F-7C66-EAEC-4961EAFBE34A}"/>
              </a:ext>
            </a:extLst>
          </p:cNvPr>
          <p:cNvSpPr>
            <a:spLocks noGrp="1"/>
          </p:cNvSpPr>
          <p:nvPr>
            <p:ph type="sldNum" sz="quarter" idx="12"/>
          </p:nvPr>
        </p:nvSpPr>
        <p:spPr/>
        <p:txBody>
          <a:bodyPr/>
          <a:lstStyle/>
          <a:p>
            <a:fld id="{BB2CE0DE-867F-455F-B20B-96D381B4AB71}" type="slidenum">
              <a:rPr lang="en-US" smtClean="0"/>
              <a:t>28</a:t>
            </a:fld>
            <a:endParaRPr lang="en-US"/>
          </a:p>
        </p:txBody>
      </p:sp>
      <p:pic>
        <p:nvPicPr>
          <p:cNvPr id="6" name="Picture 5">
            <a:extLst>
              <a:ext uri="{FF2B5EF4-FFF2-40B4-BE49-F238E27FC236}">
                <a16:creationId xmlns:a16="http://schemas.microsoft.com/office/drawing/2014/main" id="{1261CAAD-9143-7009-748B-7D560B6B49F9}"/>
              </a:ext>
            </a:extLst>
          </p:cNvPr>
          <p:cNvPicPr>
            <a:picLocks noChangeAspect="1"/>
          </p:cNvPicPr>
          <p:nvPr/>
        </p:nvPicPr>
        <p:blipFill>
          <a:blip r:embed="rId3"/>
          <a:stretch>
            <a:fillRect/>
          </a:stretch>
        </p:blipFill>
        <p:spPr>
          <a:xfrm>
            <a:off x="6324600" y="1066800"/>
            <a:ext cx="4164420" cy="4096485"/>
          </a:xfrm>
          <a:prstGeom prst="rect">
            <a:avLst/>
          </a:prstGeom>
        </p:spPr>
      </p:pic>
      <p:sp>
        <p:nvSpPr>
          <p:cNvPr id="10" name="TextBox 9">
            <a:extLst>
              <a:ext uri="{FF2B5EF4-FFF2-40B4-BE49-F238E27FC236}">
                <a16:creationId xmlns:a16="http://schemas.microsoft.com/office/drawing/2014/main" id="{439455CA-3489-B536-F3A0-8263BEA55BB5}"/>
              </a:ext>
            </a:extLst>
          </p:cNvPr>
          <p:cNvSpPr txBox="1"/>
          <p:nvPr/>
        </p:nvSpPr>
        <p:spPr>
          <a:xfrm>
            <a:off x="6390794" y="5315685"/>
            <a:ext cx="4075924" cy="369332"/>
          </a:xfrm>
          <a:prstGeom prst="rect">
            <a:avLst/>
          </a:prstGeom>
          <a:noFill/>
        </p:spPr>
        <p:txBody>
          <a:bodyPr wrap="none" rtlCol="0">
            <a:spAutoFit/>
          </a:bodyPr>
          <a:lstStyle/>
          <a:p>
            <a:r>
              <a:rPr lang="en-IN" dirty="0"/>
              <a:t>Fig. Illustration of teacher forcing</a:t>
            </a:r>
          </a:p>
        </p:txBody>
      </p:sp>
    </p:spTree>
    <p:extLst>
      <p:ext uri="{BB962C8B-B14F-4D97-AF65-F5344CB8AC3E}">
        <p14:creationId xmlns:p14="http://schemas.microsoft.com/office/powerpoint/2010/main" val="31996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BBF57E4-EC1B-640C-D18D-C9E7F3A7BAFE}"/>
              </a:ext>
            </a:extLst>
          </p:cNvPr>
          <p:cNvSpPr>
            <a:spLocks noGrp="1"/>
          </p:cNvSpPr>
          <p:nvPr>
            <p:ph type="title"/>
          </p:nvPr>
        </p:nvSpPr>
        <p:spPr/>
        <p:txBody>
          <a:bodyPr/>
          <a:lstStyle/>
          <a:p>
            <a:r>
              <a:rPr lang="en-IN" sz="2400" dirty="0"/>
              <a:t>RNN: </a:t>
            </a:r>
            <a:r>
              <a:rPr lang="en-US" sz="2400" dirty="0"/>
              <a:t>Teacher Forcing</a:t>
            </a:r>
            <a:endParaRPr lang="en-IN" sz="2400" dirty="0"/>
          </a:p>
        </p:txBody>
      </p:sp>
      <p:sp>
        <p:nvSpPr>
          <p:cNvPr id="7" name="Content Placeholder 6">
            <a:extLst>
              <a:ext uri="{FF2B5EF4-FFF2-40B4-BE49-F238E27FC236}">
                <a16:creationId xmlns:a16="http://schemas.microsoft.com/office/drawing/2014/main" id="{999D87D8-B562-A724-30A5-F6BD6F70898D}"/>
              </a:ext>
            </a:extLst>
          </p:cNvPr>
          <p:cNvSpPr>
            <a:spLocks noGrp="1"/>
          </p:cNvSpPr>
          <p:nvPr>
            <p:ph idx="1"/>
          </p:nvPr>
        </p:nvSpPr>
        <p:spPr/>
        <p:txBody>
          <a:bodyPr/>
          <a:lstStyle/>
          <a:p>
            <a:pPr marL="0" indent="0" algn="just">
              <a:buNone/>
            </a:pPr>
            <a:r>
              <a:rPr lang="en-US" sz="1600" dirty="0"/>
              <a:t>Teacher forcing is a procedure that emerges from the maximum likelihood criterion, in which during training the model receives the ground truth output y(t) as input at time (t + 1). We can see this by examining a sequence with two time steps. The conditional maximum </a:t>
            </a:r>
            <a:r>
              <a:rPr lang="en-IN" sz="1600" dirty="0"/>
              <a:t>likelihood criterion is</a:t>
            </a:r>
          </a:p>
          <a:p>
            <a:pPr marL="0" indent="0" algn="just">
              <a:buNone/>
            </a:pPr>
            <a:endParaRPr lang="en-IN" sz="1600" dirty="0"/>
          </a:p>
          <a:p>
            <a:pPr marL="0" indent="0" algn="just">
              <a:buNone/>
            </a:pPr>
            <a:endParaRPr lang="en-IN" sz="1600" dirty="0"/>
          </a:p>
          <a:p>
            <a:pPr marL="0" indent="0" algn="just">
              <a:buNone/>
            </a:pPr>
            <a:endParaRPr lang="en-IN" sz="1600" dirty="0"/>
          </a:p>
          <a:p>
            <a:pPr marL="0" indent="0" algn="just">
              <a:buNone/>
            </a:pPr>
            <a:endParaRPr lang="en-IN" sz="1600" dirty="0"/>
          </a:p>
          <a:p>
            <a:pPr marL="0" indent="0" algn="just">
              <a:buNone/>
            </a:pPr>
            <a:endParaRPr lang="en-IN" sz="1600" dirty="0"/>
          </a:p>
          <a:p>
            <a:pPr marL="0" indent="0" algn="just">
              <a:buNone/>
            </a:pPr>
            <a:r>
              <a:rPr lang="en-US" sz="1600" dirty="0"/>
              <a:t>In this example, we see that at time t = 2, the model is trained to maximize the conditional probability of y(2) given both the x sequence so far and the previous y value from the training set. Maximum likelihood thus specifies that during training, rather than feeding the model’s own output back into itself, these connections should be fed with the target values specifying what the correct output should be. This is illustrated in figure </a:t>
            </a:r>
            <a:endParaRPr lang="en-IN" sz="1600" dirty="0"/>
          </a:p>
        </p:txBody>
      </p:sp>
      <p:sp>
        <p:nvSpPr>
          <p:cNvPr id="5" name="Slide Number Placeholder 4">
            <a:extLst>
              <a:ext uri="{FF2B5EF4-FFF2-40B4-BE49-F238E27FC236}">
                <a16:creationId xmlns:a16="http://schemas.microsoft.com/office/drawing/2014/main" id="{192DF384-2FBC-BD34-A466-CD4B12848A27}"/>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9" name="Picture 8">
            <a:extLst>
              <a:ext uri="{FF2B5EF4-FFF2-40B4-BE49-F238E27FC236}">
                <a16:creationId xmlns:a16="http://schemas.microsoft.com/office/drawing/2014/main" id="{BB53CBE9-26B9-56DF-9420-0F6F4FF90D84}"/>
              </a:ext>
            </a:extLst>
          </p:cNvPr>
          <p:cNvPicPr>
            <a:picLocks noChangeAspect="1"/>
          </p:cNvPicPr>
          <p:nvPr/>
        </p:nvPicPr>
        <p:blipFill>
          <a:blip r:embed="rId2"/>
          <a:stretch>
            <a:fillRect/>
          </a:stretch>
        </p:blipFill>
        <p:spPr>
          <a:xfrm>
            <a:off x="2382147" y="2240068"/>
            <a:ext cx="6335009" cy="1190791"/>
          </a:xfrm>
          <a:prstGeom prst="rect">
            <a:avLst/>
          </a:prstGeom>
        </p:spPr>
      </p:pic>
      <p:pic>
        <p:nvPicPr>
          <p:cNvPr id="11" name="Picture 10">
            <a:extLst>
              <a:ext uri="{FF2B5EF4-FFF2-40B4-BE49-F238E27FC236}">
                <a16:creationId xmlns:a16="http://schemas.microsoft.com/office/drawing/2014/main" id="{10A8CB7D-3FCB-D499-2777-1EADF17DB94D}"/>
              </a:ext>
            </a:extLst>
          </p:cNvPr>
          <p:cNvPicPr>
            <a:picLocks noChangeAspect="1"/>
          </p:cNvPicPr>
          <p:nvPr/>
        </p:nvPicPr>
        <p:blipFill>
          <a:blip r:embed="rId3"/>
          <a:stretch>
            <a:fillRect/>
          </a:stretch>
        </p:blipFill>
        <p:spPr>
          <a:xfrm>
            <a:off x="6089651" y="4602733"/>
            <a:ext cx="2444749" cy="2255267"/>
          </a:xfrm>
          <a:prstGeom prst="rect">
            <a:avLst/>
          </a:prstGeom>
        </p:spPr>
      </p:pic>
    </p:spTree>
    <p:extLst>
      <p:ext uri="{BB962C8B-B14F-4D97-AF65-F5344CB8AC3E}">
        <p14:creationId xmlns:p14="http://schemas.microsoft.com/office/powerpoint/2010/main" val="3464021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AE913-266A-E843-AC30-5774CB893D0A}"/>
              </a:ext>
            </a:extLst>
          </p:cNvPr>
          <p:cNvSpPr>
            <a:spLocks noGrp="1"/>
          </p:cNvSpPr>
          <p:nvPr>
            <p:ph type="title"/>
          </p:nvPr>
        </p:nvSpPr>
        <p:spPr/>
        <p:txBody>
          <a:bodyPr/>
          <a:lstStyle/>
          <a:p>
            <a:r>
              <a:rPr lang="en-IN" dirty="0"/>
              <a:t>RNN: Teacher Forcing</a:t>
            </a:r>
          </a:p>
        </p:txBody>
      </p:sp>
      <p:sp>
        <p:nvSpPr>
          <p:cNvPr id="3" name="Content Placeholder 2">
            <a:extLst>
              <a:ext uri="{FF2B5EF4-FFF2-40B4-BE49-F238E27FC236}">
                <a16:creationId xmlns:a16="http://schemas.microsoft.com/office/drawing/2014/main" id="{377C4C31-F72C-E8CC-F366-844EAC39A2FB}"/>
              </a:ext>
            </a:extLst>
          </p:cNvPr>
          <p:cNvSpPr>
            <a:spLocks noGrp="1"/>
          </p:cNvSpPr>
          <p:nvPr>
            <p:ph idx="1"/>
          </p:nvPr>
        </p:nvSpPr>
        <p:spPr/>
        <p:txBody>
          <a:bodyPr/>
          <a:lstStyle/>
          <a:p>
            <a:pPr marL="0" indent="0">
              <a:buNone/>
            </a:pPr>
            <a:r>
              <a:rPr lang="en-US" sz="2000" b="1" i="1" dirty="0"/>
              <a:t>Advantages of Teacher-forcing method:</a:t>
            </a:r>
            <a:endParaRPr lang="en-US" sz="2000" dirty="0"/>
          </a:p>
          <a:p>
            <a:pPr marL="0" indent="0">
              <a:buNone/>
            </a:pPr>
            <a:r>
              <a:rPr lang="en-US" sz="2000" dirty="0"/>
              <a:t>	Faster convergence of model towards global optima</a:t>
            </a:r>
          </a:p>
          <a:p>
            <a:pPr marL="0" indent="0">
              <a:buNone/>
            </a:pPr>
            <a:r>
              <a:rPr lang="en-US" sz="2000" dirty="0"/>
              <a:t>	Stable model training</a:t>
            </a:r>
          </a:p>
          <a:p>
            <a:pPr marL="0" indent="0">
              <a:buNone/>
            </a:pPr>
            <a:r>
              <a:rPr lang="en-US" sz="2000" dirty="0"/>
              <a:t>	Lesser training time is required for model training</a:t>
            </a:r>
          </a:p>
          <a:p>
            <a:pPr marL="0" indent="0">
              <a:buNone/>
            </a:pPr>
            <a:endParaRPr lang="en-US" sz="2000" b="1" i="1" dirty="0"/>
          </a:p>
          <a:p>
            <a:pPr marL="0" indent="0">
              <a:buNone/>
            </a:pPr>
            <a:endParaRPr lang="en-US" sz="2000" b="1" i="1" dirty="0"/>
          </a:p>
          <a:p>
            <a:pPr marL="0" indent="0">
              <a:buNone/>
            </a:pPr>
            <a:r>
              <a:rPr lang="en-US" sz="2000" b="1" i="1" dirty="0"/>
              <a:t>Disadvantage of the teacher forcing method:</a:t>
            </a:r>
            <a:endParaRPr lang="en-US" sz="2000" dirty="0"/>
          </a:p>
          <a:p>
            <a:pPr marL="0" indent="0">
              <a:buNone/>
            </a:pPr>
            <a:r>
              <a:rPr lang="en-US" sz="1600" dirty="0"/>
              <a:t>During the training of the model with the teacher forcing method, we use ground-truth outputs from the dataset as input sequence but during the inference time, we won’t be having ground-truth outputs. Instead, the output generated at the previous time-step is passed as input at the current time-step. As separate approaches are used during the model training and inference part which may lead to model poor performance and instability.</a:t>
            </a:r>
          </a:p>
        </p:txBody>
      </p:sp>
      <p:sp>
        <p:nvSpPr>
          <p:cNvPr id="4" name="Slide Number Placeholder 3">
            <a:extLst>
              <a:ext uri="{FF2B5EF4-FFF2-40B4-BE49-F238E27FC236}">
                <a16:creationId xmlns:a16="http://schemas.microsoft.com/office/drawing/2014/main" id="{9172C71F-4B00-77A7-4EFA-02746595E264}"/>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7" name="Picture 6">
            <a:extLst>
              <a:ext uri="{FF2B5EF4-FFF2-40B4-BE49-F238E27FC236}">
                <a16:creationId xmlns:a16="http://schemas.microsoft.com/office/drawing/2014/main" id="{5B6F360C-660E-CCFD-A567-AFB77D1ED29D}"/>
              </a:ext>
            </a:extLst>
          </p:cNvPr>
          <p:cNvPicPr>
            <a:picLocks noChangeAspect="1"/>
          </p:cNvPicPr>
          <p:nvPr/>
        </p:nvPicPr>
        <p:blipFill>
          <a:blip r:embed="rId2"/>
          <a:stretch>
            <a:fillRect/>
          </a:stretch>
        </p:blipFill>
        <p:spPr>
          <a:xfrm>
            <a:off x="8610600" y="101212"/>
            <a:ext cx="3408402" cy="3352800"/>
          </a:xfrm>
          <a:prstGeom prst="rect">
            <a:avLst/>
          </a:prstGeom>
        </p:spPr>
      </p:pic>
    </p:spTree>
    <p:extLst>
      <p:ext uri="{BB962C8B-B14F-4D97-AF65-F5344CB8AC3E}">
        <p14:creationId xmlns:p14="http://schemas.microsoft.com/office/powerpoint/2010/main" val="3475243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7A1C0-0596-8E72-FAE4-B73B3BCED2E7}"/>
              </a:ext>
            </a:extLst>
          </p:cNvPr>
          <p:cNvSpPr>
            <a:spLocks noGrp="1"/>
          </p:cNvSpPr>
          <p:nvPr>
            <p:ph type="title"/>
          </p:nvPr>
        </p:nvSpPr>
        <p:spPr/>
        <p:txBody>
          <a:bodyPr/>
          <a:lstStyle/>
          <a:p>
            <a:r>
              <a:rPr lang="en-IN" sz="2400" dirty="0"/>
              <a:t>RNN: </a:t>
            </a:r>
            <a:r>
              <a:rPr lang="en-US" sz="2400" dirty="0"/>
              <a:t>Recurrent Networks as Directed Graphical Models</a:t>
            </a:r>
            <a:endParaRPr lang="en-IN" sz="2400" dirty="0"/>
          </a:p>
        </p:txBody>
      </p:sp>
      <p:sp>
        <p:nvSpPr>
          <p:cNvPr id="3" name="Content Placeholder 2">
            <a:extLst>
              <a:ext uri="{FF2B5EF4-FFF2-40B4-BE49-F238E27FC236}">
                <a16:creationId xmlns:a16="http://schemas.microsoft.com/office/drawing/2014/main" id="{0D2D5F1B-9949-5860-3E9B-96602F868B3C}"/>
              </a:ext>
            </a:extLst>
          </p:cNvPr>
          <p:cNvSpPr>
            <a:spLocks noGrp="1"/>
          </p:cNvSpPr>
          <p:nvPr>
            <p:ph idx="1"/>
          </p:nvPr>
        </p:nvSpPr>
        <p:spPr/>
        <p:txBody>
          <a:bodyPr/>
          <a:lstStyle/>
          <a:p>
            <a:pPr algn="just"/>
            <a:r>
              <a:rPr lang="en-US" sz="1400" b="0" i="0" dirty="0">
                <a:solidFill>
                  <a:srgbClr val="08102B"/>
                </a:solidFill>
                <a:effectLst/>
                <a:latin typeface="Times New Roman" panose="02020603050405020304" pitchFamily="18" charset="0"/>
                <a:cs typeface="Times New Roman" panose="02020603050405020304" pitchFamily="18" charset="0"/>
              </a:rPr>
              <a:t>For RNNs to learn sequential data, a variant of the backpropagation algorithm known as "</a:t>
            </a:r>
            <a:r>
              <a:rPr lang="en-US" sz="1400" b="1" i="0" dirty="0">
                <a:solidFill>
                  <a:srgbClr val="08102B"/>
                </a:solidFill>
                <a:effectLst/>
                <a:latin typeface="Times New Roman" panose="02020603050405020304" pitchFamily="18" charset="0"/>
                <a:cs typeface="Times New Roman" panose="02020603050405020304" pitchFamily="18" charset="0"/>
              </a:rPr>
              <a:t>Backpropagation Through Time" (BPTT) </a:t>
            </a:r>
            <a:r>
              <a:rPr lang="en-US" sz="1400" b="0" i="0" dirty="0">
                <a:solidFill>
                  <a:srgbClr val="08102B"/>
                </a:solidFill>
                <a:effectLst/>
                <a:latin typeface="Times New Roman" panose="02020603050405020304" pitchFamily="18" charset="0"/>
                <a:cs typeface="Times New Roman" panose="02020603050405020304" pitchFamily="18" charset="0"/>
              </a:rPr>
              <a:t>is used. </a:t>
            </a:r>
          </a:p>
          <a:p>
            <a:pPr algn="just"/>
            <a:r>
              <a:rPr lang="en-US" sz="1400" b="0" i="0" dirty="0">
                <a:solidFill>
                  <a:srgbClr val="08102B"/>
                </a:solidFill>
                <a:effectLst/>
                <a:latin typeface="Times New Roman" panose="02020603050405020304" pitchFamily="18" charset="0"/>
                <a:cs typeface="Times New Roman" panose="02020603050405020304" pitchFamily="18" charset="0"/>
              </a:rPr>
              <a:t> In RNNs, the data is processed step-by-step (one at a time). The term "time" is used in BPTT to highlight the fact that the network's computations are performed step by step, simulating the passage of time as the network processes each element of the sequence.</a:t>
            </a:r>
          </a:p>
          <a:p>
            <a:pPr algn="just"/>
            <a:r>
              <a:rPr lang="en-US" sz="1400" b="0" i="0" dirty="0">
                <a:solidFill>
                  <a:srgbClr val="08102B"/>
                </a:solidFill>
                <a:effectLst/>
                <a:latin typeface="Times New Roman" panose="02020603050405020304" pitchFamily="18" charset="0"/>
                <a:cs typeface="Times New Roman" panose="02020603050405020304" pitchFamily="18" charset="0"/>
              </a:rPr>
              <a:t>A time step in a Recurrent Neural Network (RNN) refers to a specific moment or instance in a sequence of data being processed by the network. In the context of sequential data, such as text, speech, or time series, the RNN processes one element of the sequence at each time step. This element could be a word in a sentence, a single data point in a time series, or a phoneme in speech.</a:t>
            </a:r>
          </a:p>
          <a:p>
            <a:pPr algn="just"/>
            <a:r>
              <a:rPr lang="en-US" sz="1400" b="0" i="0" dirty="0">
                <a:solidFill>
                  <a:srgbClr val="08102B"/>
                </a:solidFill>
                <a:effectLst/>
                <a:latin typeface="Noto Sans" panose="020B0502040504020204" pitchFamily="34" charset="0"/>
              </a:rPr>
              <a:t>Backpropagation is applied to each time step, starting from the last one and moving backward to the first. This process is known as Backpropagation Through Time. </a:t>
            </a:r>
            <a:endParaRPr lang="en-IN" sz="1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0EC9FBE-3102-88EC-52F4-0335A16525BE}"/>
              </a:ext>
            </a:extLst>
          </p:cNvPr>
          <p:cNvSpPr>
            <a:spLocks noGrp="1"/>
          </p:cNvSpPr>
          <p:nvPr>
            <p:ph type="sldNum" sz="quarter" idx="12"/>
          </p:nvPr>
        </p:nvSpPr>
        <p:spPr/>
        <p:txBody>
          <a:bodyPr/>
          <a:lstStyle/>
          <a:p>
            <a:fld id="{BB2CE0DE-867F-455F-B20B-96D381B4AB71}" type="slidenum">
              <a:rPr lang="en-US" smtClean="0"/>
              <a:t>31</a:t>
            </a:fld>
            <a:endParaRPr lang="en-US"/>
          </a:p>
        </p:txBody>
      </p:sp>
      <p:pic>
        <p:nvPicPr>
          <p:cNvPr id="9" name="Picture 8">
            <a:extLst>
              <a:ext uri="{FF2B5EF4-FFF2-40B4-BE49-F238E27FC236}">
                <a16:creationId xmlns:a16="http://schemas.microsoft.com/office/drawing/2014/main" id="{135B0C84-1CF5-49C3-A677-76CE1A1DB773}"/>
              </a:ext>
            </a:extLst>
          </p:cNvPr>
          <p:cNvPicPr>
            <a:picLocks noChangeAspect="1"/>
          </p:cNvPicPr>
          <p:nvPr/>
        </p:nvPicPr>
        <p:blipFill>
          <a:blip r:embed="rId2"/>
          <a:stretch>
            <a:fillRect/>
          </a:stretch>
        </p:blipFill>
        <p:spPr>
          <a:xfrm>
            <a:off x="3048000" y="3395031"/>
            <a:ext cx="3733800" cy="3186889"/>
          </a:xfrm>
          <a:prstGeom prst="rect">
            <a:avLst/>
          </a:prstGeom>
        </p:spPr>
      </p:pic>
      <p:sp>
        <p:nvSpPr>
          <p:cNvPr id="10" name="TextBox 9">
            <a:extLst>
              <a:ext uri="{FF2B5EF4-FFF2-40B4-BE49-F238E27FC236}">
                <a16:creationId xmlns:a16="http://schemas.microsoft.com/office/drawing/2014/main" id="{95D04F58-AF6F-4A4A-930D-CE987AD6E85A}"/>
              </a:ext>
            </a:extLst>
          </p:cNvPr>
          <p:cNvSpPr txBox="1"/>
          <p:nvPr/>
        </p:nvSpPr>
        <p:spPr>
          <a:xfrm>
            <a:off x="4074233" y="6438027"/>
            <a:ext cx="1103187" cy="246221"/>
          </a:xfrm>
          <a:prstGeom prst="rect">
            <a:avLst/>
          </a:prstGeom>
          <a:noFill/>
        </p:spPr>
        <p:txBody>
          <a:bodyPr wrap="none" rtlCol="0">
            <a:spAutoFit/>
          </a:bodyPr>
          <a:lstStyle/>
          <a:p>
            <a:r>
              <a:rPr lang="en-US" sz="1000" dirty="0" err="1"/>
              <a:t>TimeStep</a:t>
            </a:r>
            <a:r>
              <a:rPr lang="en-US" sz="1000" dirty="0"/>
              <a:t>(t-1)</a:t>
            </a:r>
            <a:endParaRPr lang="en-IN" sz="1000" dirty="0"/>
          </a:p>
        </p:txBody>
      </p:sp>
      <p:sp>
        <p:nvSpPr>
          <p:cNvPr id="11" name="TextBox 10">
            <a:extLst>
              <a:ext uri="{FF2B5EF4-FFF2-40B4-BE49-F238E27FC236}">
                <a16:creationId xmlns:a16="http://schemas.microsoft.com/office/drawing/2014/main" id="{ECD0C935-F5A5-4148-BC24-00B0DB5D8F51}"/>
              </a:ext>
            </a:extLst>
          </p:cNvPr>
          <p:cNvSpPr txBox="1"/>
          <p:nvPr/>
        </p:nvSpPr>
        <p:spPr>
          <a:xfrm>
            <a:off x="5100842" y="6459379"/>
            <a:ext cx="963725" cy="246221"/>
          </a:xfrm>
          <a:prstGeom prst="rect">
            <a:avLst/>
          </a:prstGeom>
          <a:noFill/>
        </p:spPr>
        <p:txBody>
          <a:bodyPr wrap="none" rtlCol="0">
            <a:spAutoFit/>
          </a:bodyPr>
          <a:lstStyle/>
          <a:p>
            <a:r>
              <a:rPr lang="en-US" sz="1000" dirty="0" err="1"/>
              <a:t>TimeStep</a:t>
            </a:r>
            <a:r>
              <a:rPr lang="en-US" sz="1000" dirty="0"/>
              <a:t>(t)</a:t>
            </a:r>
            <a:endParaRPr lang="en-IN" sz="1000" dirty="0"/>
          </a:p>
        </p:txBody>
      </p:sp>
    </p:spTree>
    <p:extLst>
      <p:ext uri="{BB962C8B-B14F-4D97-AF65-F5344CB8AC3E}">
        <p14:creationId xmlns:p14="http://schemas.microsoft.com/office/powerpoint/2010/main" val="821091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48D6B-C7F7-E6E0-155B-335CE4F228EB}"/>
              </a:ext>
            </a:extLst>
          </p:cNvPr>
          <p:cNvSpPr>
            <a:spLocks noGrp="1"/>
          </p:cNvSpPr>
          <p:nvPr>
            <p:ph type="title"/>
          </p:nvPr>
        </p:nvSpPr>
        <p:spPr/>
        <p:txBody>
          <a:bodyPr/>
          <a:lstStyle/>
          <a:p>
            <a:r>
              <a:rPr lang="en-IN" sz="2400" dirty="0"/>
              <a:t>RNN: </a:t>
            </a:r>
            <a:r>
              <a:rPr lang="en-US" sz="2400" dirty="0"/>
              <a:t>Computing the Gradient in a Recurrent Neural Network</a:t>
            </a:r>
            <a:br>
              <a:rPr lang="en-US" sz="2400" dirty="0"/>
            </a:br>
            <a:r>
              <a:rPr lang="en-US" sz="2400" dirty="0"/>
              <a:t>Backpropagation through time algorithm</a:t>
            </a:r>
            <a:endParaRPr lang="en-IN" sz="2400" dirty="0"/>
          </a:p>
        </p:txBody>
      </p:sp>
      <p:sp>
        <p:nvSpPr>
          <p:cNvPr id="4" name="Slide Number Placeholder 3">
            <a:extLst>
              <a:ext uri="{FF2B5EF4-FFF2-40B4-BE49-F238E27FC236}">
                <a16:creationId xmlns:a16="http://schemas.microsoft.com/office/drawing/2014/main" id="{A74DC765-DEF3-2A20-0D5B-122B33E40DA4}"/>
              </a:ext>
            </a:extLst>
          </p:cNvPr>
          <p:cNvSpPr>
            <a:spLocks noGrp="1"/>
          </p:cNvSpPr>
          <p:nvPr>
            <p:ph type="sldNum" sz="quarter" idx="12"/>
          </p:nvPr>
        </p:nvSpPr>
        <p:spPr/>
        <p:txBody>
          <a:bodyPr/>
          <a:lstStyle/>
          <a:p>
            <a:fld id="{BB2CE0DE-867F-455F-B20B-96D381B4AB71}" type="slidenum">
              <a:rPr lang="en-US" smtClean="0"/>
              <a:t>32</a:t>
            </a:fld>
            <a:endParaRPr lang="en-US"/>
          </a:p>
        </p:txBody>
      </p:sp>
      <p:pic>
        <p:nvPicPr>
          <p:cNvPr id="8" name="Picture 7">
            <a:extLst>
              <a:ext uri="{FF2B5EF4-FFF2-40B4-BE49-F238E27FC236}">
                <a16:creationId xmlns:a16="http://schemas.microsoft.com/office/drawing/2014/main" id="{84ADAAAC-B652-6A19-153D-2AE29259D0D8}"/>
              </a:ext>
            </a:extLst>
          </p:cNvPr>
          <p:cNvPicPr>
            <a:picLocks noChangeAspect="1"/>
          </p:cNvPicPr>
          <p:nvPr/>
        </p:nvPicPr>
        <p:blipFill>
          <a:blip r:embed="rId2"/>
          <a:stretch>
            <a:fillRect/>
          </a:stretch>
        </p:blipFill>
        <p:spPr>
          <a:xfrm>
            <a:off x="694849" y="1623168"/>
            <a:ext cx="6839905" cy="1638529"/>
          </a:xfrm>
          <a:prstGeom prst="rect">
            <a:avLst/>
          </a:prstGeom>
        </p:spPr>
      </p:pic>
      <p:sp>
        <p:nvSpPr>
          <p:cNvPr id="3" name="TextBox 2">
            <a:extLst>
              <a:ext uri="{FF2B5EF4-FFF2-40B4-BE49-F238E27FC236}">
                <a16:creationId xmlns:a16="http://schemas.microsoft.com/office/drawing/2014/main" id="{EBB57D92-17EA-444D-B91C-D5B182026806}"/>
              </a:ext>
            </a:extLst>
          </p:cNvPr>
          <p:cNvSpPr txBox="1"/>
          <p:nvPr/>
        </p:nvSpPr>
        <p:spPr>
          <a:xfrm>
            <a:off x="766233" y="1215736"/>
            <a:ext cx="1720471" cy="369332"/>
          </a:xfrm>
          <a:prstGeom prst="rect">
            <a:avLst/>
          </a:prstGeom>
          <a:noFill/>
        </p:spPr>
        <p:txBody>
          <a:bodyPr wrap="none" rtlCol="0">
            <a:spAutoFit/>
          </a:bodyPr>
          <a:lstStyle/>
          <a:p>
            <a:r>
              <a:rPr lang="en-US" dirty="0">
                <a:solidFill>
                  <a:srgbClr val="0000FF"/>
                </a:solidFill>
              </a:rPr>
              <a:t>Forward pass</a:t>
            </a:r>
            <a:endParaRPr lang="en-IN" dirty="0">
              <a:solidFill>
                <a:srgbClr val="0000FF"/>
              </a:solidFill>
            </a:endParaRPr>
          </a:p>
        </p:txBody>
      </p:sp>
      <p:pic>
        <p:nvPicPr>
          <p:cNvPr id="9" name="Picture 8">
            <a:extLst>
              <a:ext uri="{FF2B5EF4-FFF2-40B4-BE49-F238E27FC236}">
                <a16:creationId xmlns:a16="http://schemas.microsoft.com/office/drawing/2014/main" id="{363308D5-0CA4-418B-AEAB-D5C85D5B5548}"/>
              </a:ext>
            </a:extLst>
          </p:cNvPr>
          <p:cNvPicPr>
            <a:picLocks noChangeAspect="1"/>
          </p:cNvPicPr>
          <p:nvPr/>
        </p:nvPicPr>
        <p:blipFill>
          <a:blip r:embed="rId3"/>
          <a:stretch>
            <a:fillRect/>
          </a:stretch>
        </p:blipFill>
        <p:spPr>
          <a:xfrm>
            <a:off x="7957100" y="990600"/>
            <a:ext cx="4202599" cy="3587020"/>
          </a:xfrm>
          <a:prstGeom prst="rect">
            <a:avLst/>
          </a:prstGeom>
        </p:spPr>
      </p:pic>
    </p:spTree>
    <p:extLst>
      <p:ext uri="{BB962C8B-B14F-4D97-AF65-F5344CB8AC3E}">
        <p14:creationId xmlns:p14="http://schemas.microsoft.com/office/powerpoint/2010/main" val="425192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B9568-1B4B-4C96-B98E-E18E5178206B}"/>
              </a:ext>
            </a:extLst>
          </p:cNvPr>
          <p:cNvSpPr>
            <a:spLocks noGrp="1"/>
          </p:cNvSpPr>
          <p:nvPr>
            <p:ph type="title"/>
          </p:nvPr>
        </p:nvSpPr>
        <p:spPr/>
        <p:txBody>
          <a:bodyPr/>
          <a:lstStyle/>
          <a:p>
            <a:r>
              <a:rPr lang="en-IN" sz="2000" dirty="0"/>
              <a:t>RNN: </a:t>
            </a:r>
            <a:r>
              <a:rPr lang="en-US" sz="2000" dirty="0"/>
              <a:t>Computing the Gradient in a Recurrent Neural Network</a:t>
            </a:r>
            <a:br>
              <a:rPr lang="en-US" sz="2000" dirty="0"/>
            </a:br>
            <a:r>
              <a:rPr lang="en-US" sz="2000" dirty="0"/>
              <a:t>Backpropagation through time algorithm</a:t>
            </a:r>
            <a:endParaRPr lang="en-IN" sz="2000" dirty="0"/>
          </a:p>
        </p:txBody>
      </p:sp>
      <p:sp>
        <p:nvSpPr>
          <p:cNvPr id="3" name="Content Placeholder 2">
            <a:extLst>
              <a:ext uri="{FF2B5EF4-FFF2-40B4-BE49-F238E27FC236}">
                <a16:creationId xmlns:a16="http://schemas.microsoft.com/office/drawing/2014/main" id="{FDE21F15-56E7-49DE-B8EE-665D757D17D8}"/>
              </a:ext>
            </a:extLst>
          </p:cNvPr>
          <p:cNvSpPr>
            <a:spLocks noGrp="1"/>
          </p:cNvSpPr>
          <p:nvPr>
            <p:ph idx="1"/>
          </p:nvPr>
        </p:nvSpPr>
        <p:spPr/>
        <p:txBody>
          <a:bodyPr/>
          <a:lstStyle/>
          <a:p>
            <a:pPr marL="0" indent="0">
              <a:buNone/>
            </a:pPr>
            <a:r>
              <a:rPr lang="en-US" sz="1800" dirty="0"/>
              <a:t>Using Gradient descent to update the weights V, W, U</a:t>
            </a:r>
            <a:endParaRPr lang="en-IN" sz="1800" dirty="0"/>
          </a:p>
        </p:txBody>
      </p:sp>
      <p:sp>
        <p:nvSpPr>
          <p:cNvPr id="4" name="Slide Number Placeholder 3">
            <a:extLst>
              <a:ext uri="{FF2B5EF4-FFF2-40B4-BE49-F238E27FC236}">
                <a16:creationId xmlns:a16="http://schemas.microsoft.com/office/drawing/2014/main" id="{A00D2AF9-46DC-46C7-A5E1-36B11E9D2D26}"/>
              </a:ext>
            </a:extLst>
          </p:cNvPr>
          <p:cNvSpPr>
            <a:spLocks noGrp="1"/>
          </p:cNvSpPr>
          <p:nvPr>
            <p:ph type="sldNum" sz="quarter" idx="12"/>
          </p:nvPr>
        </p:nvSpPr>
        <p:spPr/>
        <p:txBody>
          <a:bodyPr/>
          <a:lstStyle/>
          <a:p>
            <a:fld id="{BB2CE0DE-867F-455F-B20B-96D381B4AB71}" type="slidenum">
              <a:rPr lang="en-US" smtClean="0"/>
              <a:t>33</a:t>
            </a:fld>
            <a:endParaRPr lang="en-US"/>
          </a:p>
        </p:txBody>
      </p:sp>
      <p:pic>
        <p:nvPicPr>
          <p:cNvPr id="5" name="Picture 4">
            <a:extLst>
              <a:ext uri="{FF2B5EF4-FFF2-40B4-BE49-F238E27FC236}">
                <a16:creationId xmlns:a16="http://schemas.microsoft.com/office/drawing/2014/main" id="{9898C6DD-1DCB-4B2C-85FD-423EBFBC6246}"/>
              </a:ext>
            </a:extLst>
          </p:cNvPr>
          <p:cNvPicPr>
            <a:picLocks noChangeAspect="1"/>
          </p:cNvPicPr>
          <p:nvPr/>
        </p:nvPicPr>
        <p:blipFill>
          <a:blip r:embed="rId2"/>
          <a:stretch>
            <a:fillRect/>
          </a:stretch>
        </p:blipFill>
        <p:spPr>
          <a:xfrm>
            <a:off x="1475655" y="1752600"/>
            <a:ext cx="2759246" cy="4318820"/>
          </a:xfrm>
          <a:prstGeom prst="rect">
            <a:avLst/>
          </a:prstGeom>
        </p:spPr>
      </p:pic>
      <p:pic>
        <p:nvPicPr>
          <p:cNvPr id="6" name="Picture 5">
            <a:extLst>
              <a:ext uri="{FF2B5EF4-FFF2-40B4-BE49-F238E27FC236}">
                <a16:creationId xmlns:a16="http://schemas.microsoft.com/office/drawing/2014/main" id="{AE48399F-3E5E-477A-A85D-A4386363D60C}"/>
              </a:ext>
            </a:extLst>
          </p:cNvPr>
          <p:cNvPicPr>
            <a:picLocks noChangeAspect="1"/>
          </p:cNvPicPr>
          <p:nvPr/>
        </p:nvPicPr>
        <p:blipFill>
          <a:blip r:embed="rId3"/>
          <a:stretch>
            <a:fillRect/>
          </a:stretch>
        </p:blipFill>
        <p:spPr>
          <a:xfrm>
            <a:off x="7391400" y="911147"/>
            <a:ext cx="4603578" cy="3929265"/>
          </a:xfrm>
          <a:prstGeom prst="rect">
            <a:avLst/>
          </a:prstGeom>
        </p:spPr>
      </p:pic>
      <p:sp>
        <p:nvSpPr>
          <p:cNvPr id="7" name="TextBox 6">
            <a:extLst>
              <a:ext uri="{FF2B5EF4-FFF2-40B4-BE49-F238E27FC236}">
                <a16:creationId xmlns:a16="http://schemas.microsoft.com/office/drawing/2014/main" id="{9349D6C6-43F9-4EE6-B94A-19F7B814B1B2}"/>
              </a:ext>
            </a:extLst>
          </p:cNvPr>
          <p:cNvSpPr txBox="1"/>
          <p:nvPr/>
        </p:nvSpPr>
        <p:spPr>
          <a:xfrm>
            <a:off x="76200" y="6445722"/>
            <a:ext cx="3477234" cy="230832"/>
          </a:xfrm>
          <a:prstGeom prst="rect">
            <a:avLst/>
          </a:prstGeom>
          <a:noFill/>
        </p:spPr>
        <p:txBody>
          <a:bodyPr wrap="none" rtlCol="0">
            <a:spAutoFit/>
          </a:bodyPr>
          <a:lstStyle/>
          <a:p>
            <a:r>
              <a:rPr lang="en-IN" sz="900" dirty="0"/>
              <a:t>Ref.: https://www.youtube.com/watch?v=V5zzNYSTFD4</a:t>
            </a:r>
          </a:p>
        </p:txBody>
      </p:sp>
    </p:spTree>
    <p:extLst>
      <p:ext uri="{BB962C8B-B14F-4D97-AF65-F5344CB8AC3E}">
        <p14:creationId xmlns:p14="http://schemas.microsoft.com/office/powerpoint/2010/main" val="293112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76D4A-8E17-4D0C-9C02-CF4B30234710}"/>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sp>
        <p:nvSpPr>
          <p:cNvPr id="4" name="Slide Number Placeholder 3">
            <a:extLst>
              <a:ext uri="{FF2B5EF4-FFF2-40B4-BE49-F238E27FC236}">
                <a16:creationId xmlns:a16="http://schemas.microsoft.com/office/drawing/2014/main" id="{E77C92AD-AF44-4D28-AB62-F5B1549E11C5}"/>
              </a:ext>
            </a:extLst>
          </p:cNvPr>
          <p:cNvSpPr>
            <a:spLocks noGrp="1"/>
          </p:cNvSpPr>
          <p:nvPr>
            <p:ph type="sldNum" sz="quarter" idx="12"/>
          </p:nvPr>
        </p:nvSpPr>
        <p:spPr/>
        <p:txBody>
          <a:bodyPr/>
          <a:lstStyle/>
          <a:p>
            <a:fld id="{BB2CE0DE-867F-455F-B20B-96D381B4AB71}" type="slidenum">
              <a:rPr lang="en-US" smtClean="0"/>
              <a:t>34</a:t>
            </a:fld>
            <a:endParaRPr lang="en-US"/>
          </a:p>
        </p:txBody>
      </p:sp>
      <p:pic>
        <p:nvPicPr>
          <p:cNvPr id="7" name="Picture 6">
            <a:extLst>
              <a:ext uri="{FF2B5EF4-FFF2-40B4-BE49-F238E27FC236}">
                <a16:creationId xmlns:a16="http://schemas.microsoft.com/office/drawing/2014/main" id="{98AA3F19-D876-4F3B-B901-23C14D55F878}"/>
              </a:ext>
            </a:extLst>
          </p:cNvPr>
          <p:cNvPicPr>
            <a:picLocks noChangeAspect="1"/>
          </p:cNvPicPr>
          <p:nvPr/>
        </p:nvPicPr>
        <p:blipFill>
          <a:blip r:embed="rId2"/>
          <a:stretch>
            <a:fillRect/>
          </a:stretch>
        </p:blipFill>
        <p:spPr>
          <a:xfrm>
            <a:off x="304800" y="1498190"/>
            <a:ext cx="2759246" cy="4318820"/>
          </a:xfrm>
          <a:prstGeom prst="rect">
            <a:avLst/>
          </a:prstGeom>
        </p:spPr>
      </p:pic>
      <p:sp>
        <p:nvSpPr>
          <p:cNvPr id="8" name="TextBox 7">
            <a:extLst>
              <a:ext uri="{FF2B5EF4-FFF2-40B4-BE49-F238E27FC236}">
                <a16:creationId xmlns:a16="http://schemas.microsoft.com/office/drawing/2014/main" id="{00703401-0AC5-4D5E-8E95-13F429338C16}"/>
              </a:ext>
            </a:extLst>
          </p:cNvPr>
          <p:cNvSpPr txBox="1"/>
          <p:nvPr/>
        </p:nvSpPr>
        <p:spPr>
          <a:xfrm>
            <a:off x="3474027" y="1115520"/>
            <a:ext cx="3633495" cy="461665"/>
          </a:xfrm>
          <a:prstGeom prst="rect">
            <a:avLst/>
          </a:prstGeom>
          <a:noFill/>
        </p:spPr>
        <p:txBody>
          <a:bodyPr wrap="none" rtlCol="0">
            <a:spAutoFit/>
          </a:bodyPr>
          <a:lstStyle/>
          <a:p>
            <a:r>
              <a:rPr lang="en-US" sz="1200" dirty="0"/>
              <a:t>Total derivative Loss L w.r.t V, is summation </a:t>
            </a:r>
          </a:p>
          <a:p>
            <a:r>
              <a:rPr lang="en-US" sz="1200" dirty="0"/>
              <a:t>of loss at TimeStep1, TimeStep2….</a:t>
            </a:r>
            <a:endParaRPr lang="en-IN" sz="1200" dirty="0"/>
          </a:p>
        </p:txBody>
      </p:sp>
      <p:pic>
        <p:nvPicPr>
          <p:cNvPr id="10" name="Picture 9">
            <a:extLst>
              <a:ext uri="{FF2B5EF4-FFF2-40B4-BE49-F238E27FC236}">
                <a16:creationId xmlns:a16="http://schemas.microsoft.com/office/drawing/2014/main" id="{0C82D006-0737-46F0-89F6-A9D0C8956D70}"/>
              </a:ext>
            </a:extLst>
          </p:cNvPr>
          <p:cNvPicPr>
            <a:picLocks noChangeAspect="1"/>
          </p:cNvPicPr>
          <p:nvPr/>
        </p:nvPicPr>
        <p:blipFill>
          <a:blip r:embed="rId3"/>
          <a:stretch>
            <a:fillRect/>
          </a:stretch>
        </p:blipFill>
        <p:spPr>
          <a:xfrm>
            <a:off x="8333369" y="2485861"/>
            <a:ext cx="3077004" cy="1171739"/>
          </a:xfrm>
          <a:prstGeom prst="rect">
            <a:avLst/>
          </a:prstGeom>
        </p:spPr>
      </p:pic>
      <p:sp>
        <p:nvSpPr>
          <p:cNvPr id="11" name="TextBox 10">
            <a:extLst>
              <a:ext uri="{FF2B5EF4-FFF2-40B4-BE49-F238E27FC236}">
                <a16:creationId xmlns:a16="http://schemas.microsoft.com/office/drawing/2014/main" id="{E6D26898-BB11-486B-87F1-B55E7004B55D}"/>
              </a:ext>
            </a:extLst>
          </p:cNvPr>
          <p:cNvSpPr txBox="1"/>
          <p:nvPr/>
        </p:nvSpPr>
        <p:spPr>
          <a:xfrm>
            <a:off x="8111157" y="1549099"/>
            <a:ext cx="3374578" cy="738664"/>
          </a:xfrm>
          <a:prstGeom prst="rect">
            <a:avLst/>
          </a:prstGeom>
          <a:noFill/>
        </p:spPr>
        <p:txBody>
          <a:bodyPr wrap="none" rtlCol="0">
            <a:spAutoFit/>
          </a:bodyPr>
          <a:lstStyle/>
          <a:p>
            <a:r>
              <a:rPr lang="en-US" sz="1400" dirty="0"/>
              <a:t>Total loss is simply the sum of loss </a:t>
            </a:r>
          </a:p>
          <a:p>
            <a:r>
              <a:rPr lang="en-US" sz="1400" dirty="0"/>
              <a:t>over all time steps, </a:t>
            </a:r>
            <a:r>
              <a:rPr lang="el-GR" sz="1400" b="0" i="0" dirty="0">
                <a:solidFill>
                  <a:srgbClr val="474747"/>
                </a:solidFill>
                <a:effectLst/>
                <a:latin typeface="Arial" panose="020B0604020202020204" pitchFamily="34" charset="0"/>
              </a:rPr>
              <a:t>θ</a:t>
            </a:r>
            <a:endParaRPr lang="en-US" sz="1400" dirty="0"/>
          </a:p>
          <a:p>
            <a:r>
              <a:rPr lang="en-US" sz="1400" dirty="0"/>
              <a:t>is parameter vector of [V, W, U]</a:t>
            </a:r>
            <a:endParaRPr lang="en-IN" sz="1400" dirty="0"/>
          </a:p>
        </p:txBody>
      </p:sp>
      <p:pic>
        <p:nvPicPr>
          <p:cNvPr id="1026" name="Picture 2">
            <a:extLst>
              <a:ext uri="{FF2B5EF4-FFF2-40B4-BE49-F238E27FC236}">
                <a16:creationId xmlns:a16="http://schemas.microsoft.com/office/drawing/2014/main" id="{2D58D129-4A9A-42AB-B2DC-1C30F1FBC4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1238" y="3424238"/>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409F4BEA-A6EC-445D-8658-073A0CB1BB87}"/>
              </a:ext>
            </a:extLst>
          </p:cNvPr>
          <p:cNvPicPr>
            <a:picLocks noChangeAspect="1"/>
          </p:cNvPicPr>
          <p:nvPr/>
        </p:nvPicPr>
        <p:blipFill>
          <a:blip r:embed="rId5"/>
          <a:stretch>
            <a:fillRect/>
          </a:stretch>
        </p:blipFill>
        <p:spPr>
          <a:xfrm>
            <a:off x="3474027" y="1577185"/>
            <a:ext cx="3924848" cy="4296375"/>
          </a:xfrm>
          <a:prstGeom prst="rect">
            <a:avLst/>
          </a:prstGeom>
        </p:spPr>
      </p:pic>
    </p:spTree>
    <p:extLst>
      <p:ext uri="{BB962C8B-B14F-4D97-AF65-F5344CB8AC3E}">
        <p14:creationId xmlns:p14="http://schemas.microsoft.com/office/powerpoint/2010/main" val="29037542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8ED6D-6D8E-4A08-BCCC-9366FD83A07F}"/>
              </a:ext>
            </a:extLst>
          </p:cNvPr>
          <p:cNvSpPr>
            <a:spLocks noGrp="1"/>
          </p:cNvSpPr>
          <p:nvPr>
            <p:ph type="title"/>
          </p:nvPr>
        </p:nvSpPr>
        <p:spPr/>
        <p:txBody>
          <a:bodyPr/>
          <a:lstStyle/>
          <a:p>
            <a:r>
              <a:rPr lang="en-IN" sz="2000" dirty="0"/>
              <a:t>RNN: </a:t>
            </a:r>
            <a:r>
              <a:rPr lang="en-US" sz="2000" dirty="0"/>
              <a:t>Computing the Gradient in a Recurrent Neural Network</a:t>
            </a:r>
            <a:br>
              <a:rPr lang="en-US" sz="2000" dirty="0"/>
            </a:br>
            <a:r>
              <a:rPr lang="en-US" sz="2000" dirty="0"/>
              <a:t>Backpropagation through time algorithm</a:t>
            </a:r>
            <a:endParaRPr lang="en-IN" sz="2000" dirty="0"/>
          </a:p>
        </p:txBody>
      </p:sp>
      <p:sp>
        <p:nvSpPr>
          <p:cNvPr id="4" name="Slide Number Placeholder 3">
            <a:extLst>
              <a:ext uri="{FF2B5EF4-FFF2-40B4-BE49-F238E27FC236}">
                <a16:creationId xmlns:a16="http://schemas.microsoft.com/office/drawing/2014/main" id="{B7B8419C-2243-4627-97A6-9995B7A0788B}"/>
              </a:ext>
            </a:extLst>
          </p:cNvPr>
          <p:cNvSpPr>
            <a:spLocks noGrp="1"/>
          </p:cNvSpPr>
          <p:nvPr>
            <p:ph type="sldNum" sz="quarter" idx="12"/>
          </p:nvPr>
        </p:nvSpPr>
        <p:spPr/>
        <p:txBody>
          <a:bodyPr/>
          <a:lstStyle/>
          <a:p>
            <a:fld id="{BB2CE0DE-867F-455F-B20B-96D381B4AB71}" type="slidenum">
              <a:rPr lang="en-US" smtClean="0"/>
              <a:t>35</a:t>
            </a:fld>
            <a:endParaRPr lang="en-US"/>
          </a:p>
        </p:txBody>
      </p:sp>
      <p:pic>
        <p:nvPicPr>
          <p:cNvPr id="8" name="Picture 7">
            <a:extLst>
              <a:ext uri="{FF2B5EF4-FFF2-40B4-BE49-F238E27FC236}">
                <a16:creationId xmlns:a16="http://schemas.microsoft.com/office/drawing/2014/main" id="{B26D3CBB-261E-4D4B-96F0-FBE987ACDE88}"/>
              </a:ext>
            </a:extLst>
          </p:cNvPr>
          <p:cNvPicPr>
            <a:picLocks noChangeAspect="1"/>
          </p:cNvPicPr>
          <p:nvPr/>
        </p:nvPicPr>
        <p:blipFill>
          <a:blip r:embed="rId2"/>
          <a:stretch>
            <a:fillRect/>
          </a:stretch>
        </p:blipFill>
        <p:spPr>
          <a:xfrm>
            <a:off x="457200" y="1077190"/>
            <a:ext cx="3429000" cy="3114413"/>
          </a:xfrm>
          <a:prstGeom prst="rect">
            <a:avLst/>
          </a:prstGeom>
        </p:spPr>
      </p:pic>
      <p:pic>
        <p:nvPicPr>
          <p:cNvPr id="10" name="Picture 9">
            <a:extLst>
              <a:ext uri="{FF2B5EF4-FFF2-40B4-BE49-F238E27FC236}">
                <a16:creationId xmlns:a16="http://schemas.microsoft.com/office/drawing/2014/main" id="{6DF6D659-8AA6-4219-B016-19ED8AE35129}"/>
              </a:ext>
            </a:extLst>
          </p:cNvPr>
          <p:cNvPicPr>
            <a:picLocks noChangeAspect="1"/>
          </p:cNvPicPr>
          <p:nvPr/>
        </p:nvPicPr>
        <p:blipFill>
          <a:blip r:embed="rId3"/>
          <a:stretch>
            <a:fillRect/>
          </a:stretch>
        </p:blipFill>
        <p:spPr>
          <a:xfrm>
            <a:off x="8010792" y="600077"/>
            <a:ext cx="3810000" cy="3686098"/>
          </a:xfrm>
          <a:prstGeom prst="rect">
            <a:avLst/>
          </a:prstGeom>
        </p:spPr>
      </p:pic>
      <p:pic>
        <p:nvPicPr>
          <p:cNvPr id="17" name="Picture 16">
            <a:extLst>
              <a:ext uri="{FF2B5EF4-FFF2-40B4-BE49-F238E27FC236}">
                <a16:creationId xmlns:a16="http://schemas.microsoft.com/office/drawing/2014/main" id="{F47C0A61-CF93-44A5-BDA8-DE570E115F1D}"/>
              </a:ext>
            </a:extLst>
          </p:cNvPr>
          <p:cNvPicPr>
            <a:picLocks noChangeAspect="1"/>
          </p:cNvPicPr>
          <p:nvPr/>
        </p:nvPicPr>
        <p:blipFill>
          <a:blip r:embed="rId4"/>
          <a:stretch>
            <a:fillRect/>
          </a:stretch>
        </p:blipFill>
        <p:spPr>
          <a:xfrm>
            <a:off x="8625038" y="4534740"/>
            <a:ext cx="2581508" cy="1866061"/>
          </a:xfrm>
          <a:prstGeom prst="rect">
            <a:avLst/>
          </a:prstGeom>
        </p:spPr>
      </p:pic>
    </p:spTree>
    <p:extLst>
      <p:ext uri="{BB962C8B-B14F-4D97-AF65-F5344CB8AC3E}">
        <p14:creationId xmlns:p14="http://schemas.microsoft.com/office/powerpoint/2010/main" val="1996545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sp>
        <p:nvSpPr>
          <p:cNvPr id="3" name="Content Placeholder 2">
            <a:extLst>
              <a:ext uri="{FF2B5EF4-FFF2-40B4-BE49-F238E27FC236}">
                <a16:creationId xmlns:a16="http://schemas.microsoft.com/office/drawing/2014/main" id="{54B7593A-AF91-422E-AC15-C74D65FDCE3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36</a:t>
            </a:fld>
            <a:endParaRPr lang="en-US"/>
          </a:p>
        </p:txBody>
      </p:sp>
      <p:pic>
        <p:nvPicPr>
          <p:cNvPr id="6" name="Picture 5">
            <a:extLst>
              <a:ext uri="{FF2B5EF4-FFF2-40B4-BE49-F238E27FC236}">
                <a16:creationId xmlns:a16="http://schemas.microsoft.com/office/drawing/2014/main" id="{913ECB9D-C546-4523-876B-420BDCE6A98A}"/>
              </a:ext>
            </a:extLst>
          </p:cNvPr>
          <p:cNvPicPr>
            <a:picLocks noChangeAspect="1"/>
          </p:cNvPicPr>
          <p:nvPr/>
        </p:nvPicPr>
        <p:blipFill>
          <a:blip r:embed="rId2"/>
          <a:stretch>
            <a:fillRect/>
          </a:stretch>
        </p:blipFill>
        <p:spPr>
          <a:xfrm>
            <a:off x="755651" y="2724051"/>
            <a:ext cx="4667901" cy="1409897"/>
          </a:xfrm>
          <a:prstGeom prst="rect">
            <a:avLst/>
          </a:prstGeom>
        </p:spPr>
      </p:pic>
      <p:pic>
        <p:nvPicPr>
          <p:cNvPr id="7" name="Picture 6">
            <a:extLst>
              <a:ext uri="{FF2B5EF4-FFF2-40B4-BE49-F238E27FC236}">
                <a16:creationId xmlns:a16="http://schemas.microsoft.com/office/drawing/2014/main" id="{7D63A218-9B26-4D2B-A0A3-7A66B55681CE}"/>
              </a:ext>
            </a:extLst>
          </p:cNvPr>
          <p:cNvPicPr>
            <a:picLocks noChangeAspect="1"/>
          </p:cNvPicPr>
          <p:nvPr/>
        </p:nvPicPr>
        <p:blipFill>
          <a:blip r:embed="rId3"/>
          <a:stretch>
            <a:fillRect/>
          </a:stretch>
        </p:blipFill>
        <p:spPr>
          <a:xfrm>
            <a:off x="8010792" y="600077"/>
            <a:ext cx="3810000" cy="3686098"/>
          </a:xfrm>
          <a:prstGeom prst="rect">
            <a:avLst/>
          </a:prstGeom>
        </p:spPr>
      </p:pic>
      <p:pic>
        <p:nvPicPr>
          <p:cNvPr id="8" name="Picture 7">
            <a:extLst>
              <a:ext uri="{FF2B5EF4-FFF2-40B4-BE49-F238E27FC236}">
                <a16:creationId xmlns:a16="http://schemas.microsoft.com/office/drawing/2014/main" id="{E6C8EAEB-6C58-4319-AEAA-CA1077FC5762}"/>
              </a:ext>
            </a:extLst>
          </p:cNvPr>
          <p:cNvPicPr>
            <a:picLocks noChangeAspect="1"/>
          </p:cNvPicPr>
          <p:nvPr/>
        </p:nvPicPr>
        <p:blipFill>
          <a:blip r:embed="rId4"/>
          <a:stretch>
            <a:fillRect/>
          </a:stretch>
        </p:blipFill>
        <p:spPr>
          <a:xfrm>
            <a:off x="8625038" y="4534740"/>
            <a:ext cx="2581508" cy="1866061"/>
          </a:xfrm>
          <a:prstGeom prst="rect">
            <a:avLst/>
          </a:prstGeom>
        </p:spPr>
      </p:pic>
    </p:spTree>
    <p:extLst>
      <p:ext uri="{BB962C8B-B14F-4D97-AF65-F5344CB8AC3E}">
        <p14:creationId xmlns:p14="http://schemas.microsoft.com/office/powerpoint/2010/main" val="4214248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pic>
        <p:nvPicPr>
          <p:cNvPr id="10" name="Content Placeholder 9">
            <a:extLst>
              <a:ext uri="{FF2B5EF4-FFF2-40B4-BE49-F238E27FC236}">
                <a16:creationId xmlns:a16="http://schemas.microsoft.com/office/drawing/2014/main" id="{F414C3AD-CDEB-4B26-AE58-AB1F6C4EA64A}"/>
              </a:ext>
            </a:extLst>
          </p:cNvPr>
          <p:cNvPicPr>
            <a:picLocks noGrp="1" noChangeAspect="1"/>
          </p:cNvPicPr>
          <p:nvPr>
            <p:ph idx="1"/>
          </p:nvPr>
        </p:nvPicPr>
        <p:blipFill>
          <a:blip r:embed="rId2"/>
          <a:stretch>
            <a:fillRect/>
          </a:stretch>
        </p:blipFill>
        <p:spPr>
          <a:xfrm>
            <a:off x="457200" y="2766060"/>
            <a:ext cx="7621064" cy="1514686"/>
          </a:xfrm>
        </p:spPr>
      </p:pic>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37</a:t>
            </a:fld>
            <a:endParaRPr lang="en-US"/>
          </a:p>
        </p:txBody>
      </p:sp>
      <p:pic>
        <p:nvPicPr>
          <p:cNvPr id="6" name="Picture 5">
            <a:extLst>
              <a:ext uri="{FF2B5EF4-FFF2-40B4-BE49-F238E27FC236}">
                <a16:creationId xmlns:a16="http://schemas.microsoft.com/office/drawing/2014/main" id="{7CC07801-1756-4E8F-9E63-C2782F5C5844}"/>
              </a:ext>
            </a:extLst>
          </p:cNvPr>
          <p:cNvPicPr>
            <a:picLocks noChangeAspect="1"/>
          </p:cNvPicPr>
          <p:nvPr/>
        </p:nvPicPr>
        <p:blipFill>
          <a:blip r:embed="rId3"/>
          <a:stretch>
            <a:fillRect/>
          </a:stretch>
        </p:blipFill>
        <p:spPr>
          <a:xfrm>
            <a:off x="381000" y="1310253"/>
            <a:ext cx="8592749" cy="1267002"/>
          </a:xfrm>
          <a:prstGeom prst="rect">
            <a:avLst/>
          </a:prstGeom>
        </p:spPr>
      </p:pic>
      <p:pic>
        <p:nvPicPr>
          <p:cNvPr id="8" name="Picture 7">
            <a:extLst>
              <a:ext uri="{FF2B5EF4-FFF2-40B4-BE49-F238E27FC236}">
                <a16:creationId xmlns:a16="http://schemas.microsoft.com/office/drawing/2014/main" id="{02CD4601-07A7-4331-9380-76EF6D157394}"/>
              </a:ext>
            </a:extLst>
          </p:cNvPr>
          <p:cNvPicPr>
            <a:picLocks noChangeAspect="1"/>
          </p:cNvPicPr>
          <p:nvPr/>
        </p:nvPicPr>
        <p:blipFill>
          <a:blip r:embed="rId4"/>
          <a:stretch>
            <a:fillRect/>
          </a:stretch>
        </p:blipFill>
        <p:spPr>
          <a:xfrm>
            <a:off x="8382000" y="2973109"/>
            <a:ext cx="3352800" cy="3588029"/>
          </a:xfrm>
          <a:prstGeom prst="rect">
            <a:avLst/>
          </a:prstGeom>
        </p:spPr>
      </p:pic>
      <p:pic>
        <p:nvPicPr>
          <p:cNvPr id="11" name="Picture 10">
            <a:extLst>
              <a:ext uri="{FF2B5EF4-FFF2-40B4-BE49-F238E27FC236}">
                <a16:creationId xmlns:a16="http://schemas.microsoft.com/office/drawing/2014/main" id="{1FA4D32E-7842-4856-A61C-A25EE11F8FA8}"/>
              </a:ext>
            </a:extLst>
          </p:cNvPr>
          <p:cNvPicPr>
            <a:picLocks noChangeAspect="1"/>
          </p:cNvPicPr>
          <p:nvPr/>
        </p:nvPicPr>
        <p:blipFill>
          <a:blip r:embed="rId5"/>
          <a:stretch>
            <a:fillRect/>
          </a:stretch>
        </p:blipFill>
        <p:spPr>
          <a:xfrm>
            <a:off x="9144000" y="1"/>
            <a:ext cx="2520362" cy="2438400"/>
          </a:xfrm>
          <a:prstGeom prst="rect">
            <a:avLst/>
          </a:prstGeom>
        </p:spPr>
      </p:pic>
    </p:spTree>
    <p:extLst>
      <p:ext uri="{BB962C8B-B14F-4D97-AF65-F5344CB8AC3E}">
        <p14:creationId xmlns:p14="http://schemas.microsoft.com/office/powerpoint/2010/main" val="9627072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sp>
        <p:nvSpPr>
          <p:cNvPr id="3" name="Content Placeholder 2">
            <a:extLst>
              <a:ext uri="{FF2B5EF4-FFF2-40B4-BE49-F238E27FC236}">
                <a16:creationId xmlns:a16="http://schemas.microsoft.com/office/drawing/2014/main" id="{54B7593A-AF91-422E-AC15-C74D65FDCE3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38</a:t>
            </a:fld>
            <a:endParaRPr lang="en-US"/>
          </a:p>
        </p:txBody>
      </p:sp>
      <p:pic>
        <p:nvPicPr>
          <p:cNvPr id="6" name="Picture 5">
            <a:extLst>
              <a:ext uri="{FF2B5EF4-FFF2-40B4-BE49-F238E27FC236}">
                <a16:creationId xmlns:a16="http://schemas.microsoft.com/office/drawing/2014/main" id="{D535E4A2-F981-4608-958A-C68104D5E3C2}"/>
              </a:ext>
            </a:extLst>
          </p:cNvPr>
          <p:cNvPicPr>
            <a:picLocks noChangeAspect="1"/>
          </p:cNvPicPr>
          <p:nvPr/>
        </p:nvPicPr>
        <p:blipFill>
          <a:blip r:embed="rId2"/>
          <a:stretch>
            <a:fillRect/>
          </a:stretch>
        </p:blipFill>
        <p:spPr>
          <a:xfrm>
            <a:off x="766233" y="1254769"/>
            <a:ext cx="8305800" cy="4384031"/>
          </a:xfrm>
          <a:prstGeom prst="rect">
            <a:avLst/>
          </a:prstGeom>
        </p:spPr>
      </p:pic>
      <p:pic>
        <p:nvPicPr>
          <p:cNvPr id="7" name="Picture 6">
            <a:extLst>
              <a:ext uri="{FF2B5EF4-FFF2-40B4-BE49-F238E27FC236}">
                <a16:creationId xmlns:a16="http://schemas.microsoft.com/office/drawing/2014/main" id="{CB308E5B-D89E-415E-8430-BAEDB23D1A26}"/>
              </a:ext>
            </a:extLst>
          </p:cNvPr>
          <p:cNvPicPr>
            <a:picLocks noChangeAspect="1"/>
          </p:cNvPicPr>
          <p:nvPr/>
        </p:nvPicPr>
        <p:blipFill>
          <a:blip r:embed="rId3"/>
          <a:stretch>
            <a:fillRect/>
          </a:stretch>
        </p:blipFill>
        <p:spPr>
          <a:xfrm>
            <a:off x="843973" y="5706262"/>
            <a:ext cx="3352800" cy="1012683"/>
          </a:xfrm>
          <a:prstGeom prst="rect">
            <a:avLst/>
          </a:prstGeom>
        </p:spPr>
      </p:pic>
    </p:spTree>
    <p:extLst>
      <p:ext uri="{BB962C8B-B14F-4D97-AF65-F5344CB8AC3E}">
        <p14:creationId xmlns:p14="http://schemas.microsoft.com/office/powerpoint/2010/main" val="41038111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sp>
        <p:nvSpPr>
          <p:cNvPr id="3" name="Content Placeholder 2">
            <a:extLst>
              <a:ext uri="{FF2B5EF4-FFF2-40B4-BE49-F238E27FC236}">
                <a16:creationId xmlns:a16="http://schemas.microsoft.com/office/drawing/2014/main" id="{54B7593A-AF91-422E-AC15-C74D65FDCE3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39</a:t>
            </a:fld>
            <a:endParaRPr lang="en-US"/>
          </a:p>
        </p:txBody>
      </p:sp>
      <p:pic>
        <p:nvPicPr>
          <p:cNvPr id="6" name="Picture 5">
            <a:extLst>
              <a:ext uri="{FF2B5EF4-FFF2-40B4-BE49-F238E27FC236}">
                <a16:creationId xmlns:a16="http://schemas.microsoft.com/office/drawing/2014/main" id="{FA0D1FF0-9B4E-4E80-A805-AA624273F108}"/>
              </a:ext>
            </a:extLst>
          </p:cNvPr>
          <p:cNvPicPr>
            <a:picLocks noChangeAspect="1"/>
          </p:cNvPicPr>
          <p:nvPr/>
        </p:nvPicPr>
        <p:blipFill>
          <a:blip r:embed="rId2"/>
          <a:stretch>
            <a:fillRect/>
          </a:stretch>
        </p:blipFill>
        <p:spPr>
          <a:xfrm>
            <a:off x="755651" y="1219200"/>
            <a:ext cx="5925377" cy="2991267"/>
          </a:xfrm>
          <a:prstGeom prst="rect">
            <a:avLst/>
          </a:prstGeom>
        </p:spPr>
      </p:pic>
      <p:pic>
        <p:nvPicPr>
          <p:cNvPr id="7" name="Picture 6">
            <a:extLst>
              <a:ext uri="{FF2B5EF4-FFF2-40B4-BE49-F238E27FC236}">
                <a16:creationId xmlns:a16="http://schemas.microsoft.com/office/drawing/2014/main" id="{A3F9B3AB-C02D-4A87-9A24-EC41875BDB30}"/>
              </a:ext>
            </a:extLst>
          </p:cNvPr>
          <p:cNvPicPr>
            <a:picLocks noChangeAspect="1"/>
          </p:cNvPicPr>
          <p:nvPr/>
        </p:nvPicPr>
        <p:blipFill>
          <a:blip r:embed="rId3"/>
          <a:stretch>
            <a:fillRect/>
          </a:stretch>
        </p:blipFill>
        <p:spPr>
          <a:xfrm>
            <a:off x="7848600" y="871784"/>
            <a:ext cx="3810000" cy="3686098"/>
          </a:xfrm>
          <a:prstGeom prst="rect">
            <a:avLst/>
          </a:prstGeom>
        </p:spPr>
      </p:pic>
    </p:spTree>
    <p:extLst>
      <p:ext uri="{BB962C8B-B14F-4D97-AF65-F5344CB8AC3E}">
        <p14:creationId xmlns:p14="http://schemas.microsoft.com/office/powerpoint/2010/main" val="30786851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US" sz="1800" dirty="0"/>
              <a:t>Question</a:t>
            </a:r>
            <a:endParaRPr lang="en-IN" sz="1800" dirty="0"/>
          </a:p>
        </p:txBody>
      </p:sp>
      <p:sp>
        <p:nvSpPr>
          <p:cNvPr id="3" name="Content Placeholder 2">
            <a:extLst>
              <a:ext uri="{FF2B5EF4-FFF2-40B4-BE49-F238E27FC236}">
                <a16:creationId xmlns:a16="http://schemas.microsoft.com/office/drawing/2014/main" id="{54B7593A-AF91-422E-AC15-C74D65FDCE31}"/>
              </a:ext>
            </a:extLst>
          </p:cNvPr>
          <p:cNvSpPr>
            <a:spLocks noGrp="1"/>
          </p:cNvSpPr>
          <p:nvPr>
            <p:ph idx="1"/>
          </p:nvPr>
        </p:nvSpPr>
        <p:spPr/>
        <p:txBody>
          <a:bodyPr/>
          <a:lstStyle/>
          <a:p>
            <a:pPr marL="0" indent="0">
              <a:buNone/>
            </a:pPr>
            <a:r>
              <a:rPr lang="en-US" sz="2000" dirty="0"/>
              <a:t>Design the gradient term for the weight parameters in the Recurrent Neural Network using the Back Propagation through time (BPTT) algorithm</a:t>
            </a:r>
          </a:p>
          <a:p>
            <a:pPr marL="0" indent="0">
              <a:buNone/>
            </a:pPr>
            <a:endParaRPr lang="en-US" sz="2000" dirty="0"/>
          </a:p>
          <a:p>
            <a:pPr marL="0" indent="0">
              <a:buNone/>
            </a:pPr>
            <a:r>
              <a:rPr lang="en-US" sz="2000" dirty="0"/>
              <a:t>With respect backpropagation through time, derive the gradients of the weight matrix U (input -to -hidden),V (hidden- to- output), W (hidden-to-hidden) of the computational graph.</a:t>
            </a:r>
          </a:p>
          <a:p>
            <a:endParaRPr lang="en-IN" sz="2000" dirty="0"/>
          </a:p>
        </p:txBody>
      </p:sp>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40</a:t>
            </a:fld>
            <a:endParaRPr lang="en-US"/>
          </a:p>
        </p:txBody>
      </p:sp>
    </p:spTree>
    <p:extLst>
      <p:ext uri="{BB962C8B-B14F-4D97-AF65-F5344CB8AC3E}">
        <p14:creationId xmlns:p14="http://schemas.microsoft.com/office/powerpoint/2010/main" val="16481214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9367F-9A08-4C58-A810-195302CAE84A}"/>
              </a:ext>
            </a:extLst>
          </p:cNvPr>
          <p:cNvSpPr>
            <a:spLocks noGrp="1"/>
          </p:cNvSpPr>
          <p:nvPr>
            <p:ph type="title"/>
          </p:nvPr>
        </p:nvSpPr>
        <p:spPr/>
        <p:txBody>
          <a:bodyPr/>
          <a:lstStyle/>
          <a:p>
            <a:r>
              <a:rPr lang="en-US" i="0" dirty="0">
                <a:solidFill>
                  <a:srgbClr val="001D35"/>
                </a:solidFill>
                <a:effectLst/>
                <a:latin typeface="Google Sans"/>
              </a:rPr>
              <a:t>The Vanishing Gradient Problem in RNNs</a:t>
            </a:r>
            <a:endParaRPr lang="en-IN" dirty="0"/>
          </a:p>
        </p:txBody>
      </p:sp>
      <p:sp>
        <p:nvSpPr>
          <p:cNvPr id="3" name="Content Placeholder 2">
            <a:extLst>
              <a:ext uri="{FF2B5EF4-FFF2-40B4-BE49-F238E27FC236}">
                <a16:creationId xmlns:a16="http://schemas.microsoft.com/office/drawing/2014/main" id="{D2D88BDA-3477-475D-85A1-0898522EF8BE}"/>
              </a:ext>
            </a:extLst>
          </p:cNvPr>
          <p:cNvSpPr>
            <a:spLocks noGrp="1"/>
          </p:cNvSpPr>
          <p:nvPr>
            <p:ph idx="1"/>
          </p:nvPr>
        </p:nvSpPr>
        <p:spPr/>
        <p:txBody>
          <a:bodyPr/>
          <a:lstStyle/>
          <a:p>
            <a:pPr algn="l"/>
            <a:r>
              <a:rPr lang="en-US" sz="1800" b="0" i="0" dirty="0">
                <a:solidFill>
                  <a:srgbClr val="0A0A0A"/>
                </a:solidFill>
                <a:effectLst/>
                <a:latin typeface="Google Sans"/>
              </a:rPr>
              <a:t>RNNs struggle with long-term dependencies because they process data sequentially. When training over long sequences, backpropagation through time (BPTT) calculates gradients by chaining derivatives over many time steps. </a:t>
            </a:r>
          </a:p>
          <a:p>
            <a:pPr algn="l">
              <a:buFont typeface="Arial" panose="020B0604020202020204" pitchFamily="34" charset="0"/>
              <a:buChar char="•"/>
            </a:pPr>
            <a:r>
              <a:rPr lang="en-US" sz="1800" b="1" i="0" dirty="0">
                <a:solidFill>
                  <a:srgbClr val="0A0A0A"/>
                </a:solidFill>
                <a:effectLst/>
                <a:latin typeface="Google Sans"/>
              </a:rPr>
              <a:t>The Cause:</a:t>
            </a:r>
            <a:r>
              <a:rPr lang="en-US" sz="1800" b="0" i="0" dirty="0">
                <a:solidFill>
                  <a:srgbClr val="0A0A0A"/>
                </a:solidFill>
                <a:effectLst/>
                <a:latin typeface="Google Sans"/>
              </a:rPr>
              <a:t> As gradients are backpropagated through time, they are multiplied by the activation function derivative and the weights at each step. If these values are small (typically less than 1, such as with sigmoid or tanh functions), the gradient shrinks exponentially, leading to vanishing.</a:t>
            </a:r>
          </a:p>
          <a:p>
            <a:pPr algn="l">
              <a:buFont typeface="Arial" panose="020B0604020202020204" pitchFamily="34" charset="0"/>
              <a:buChar char="•"/>
            </a:pPr>
            <a:r>
              <a:rPr lang="en-US" sz="1800" b="1" i="0" dirty="0">
                <a:solidFill>
                  <a:srgbClr val="0A0A0A"/>
                </a:solidFill>
                <a:effectLst/>
                <a:latin typeface="Google Sans"/>
              </a:rPr>
              <a:t>The Effect:</a:t>
            </a:r>
            <a:r>
              <a:rPr lang="en-US" sz="1800" b="0" i="0" dirty="0">
                <a:solidFill>
                  <a:srgbClr val="0A0A0A"/>
                </a:solidFill>
                <a:effectLst/>
                <a:latin typeface="Google Sans"/>
              </a:rPr>
              <a:t> Early layers of the network learn very slowly or not at all, resulting in poor performance on long-term dependencies (i.e., the RNN has a "short memory")</a:t>
            </a:r>
          </a:p>
          <a:p>
            <a:endParaRPr lang="en-US" sz="1800" dirty="0"/>
          </a:p>
          <a:p>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3B767701-8344-44DC-A52C-C464172D8C5B}"/>
              </a:ext>
            </a:extLst>
          </p:cNvPr>
          <p:cNvSpPr>
            <a:spLocks noGrp="1"/>
          </p:cNvSpPr>
          <p:nvPr>
            <p:ph type="sldNum" sz="quarter" idx="12"/>
          </p:nvPr>
        </p:nvSpPr>
        <p:spPr/>
        <p:txBody>
          <a:bodyPr/>
          <a:lstStyle/>
          <a:p>
            <a:fld id="{BB2CE0DE-867F-455F-B20B-96D381B4AB71}" type="slidenum">
              <a:rPr lang="en-US" smtClean="0"/>
              <a:t>41</a:t>
            </a:fld>
            <a:endParaRPr lang="en-US"/>
          </a:p>
        </p:txBody>
      </p:sp>
    </p:spTree>
    <p:extLst>
      <p:ext uri="{BB962C8B-B14F-4D97-AF65-F5344CB8AC3E}">
        <p14:creationId xmlns:p14="http://schemas.microsoft.com/office/powerpoint/2010/main" val="25399433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08BF1-4100-4250-A99B-5BAE9382E48E}"/>
              </a:ext>
            </a:extLst>
          </p:cNvPr>
          <p:cNvSpPr>
            <a:spLocks noGrp="1"/>
          </p:cNvSpPr>
          <p:nvPr>
            <p:ph type="title"/>
          </p:nvPr>
        </p:nvSpPr>
        <p:spPr/>
        <p:txBody>
          <a:bodyPr/>
          <a:lstStyle/>
          <a:p>
            <a:r>
              <a:rPr lang="en-US" i="0" dirty="0">
                <a:solidFill>
                  <a:srgbClr val="001D35"/>
                </a:solidFill>
                <a:effectLst/>
                <a:latin typeface="Google Sans"/>
              </a:rPr>
              <a:t>The Vanishing Gradient Problem in RNNs</a:t>
            </a:r>
            <a:endParaRPr lang="en-IN" dirty="0"/>
          </a:p>
        </p:txBody>
      </p:sp>
      <p:sp>
        <p:nvSpPr>
          <p:cNvPr id="3" name="Content Placeholder 2">
            <a:extLst>
              <a:ext uri="{FF2B5EF4-FFF2-40B4-BE49-F238E27FC236}">
                <a16:creationId xmlns:a16="http://schemas.microsoft.com/office/drawing/2014/main" id="{15A86437-A72A-4061-B69C-62D12C5BC83E}"/>
              </a:ext>
            </a:extLst>
          </p:cNvPr>
          <p:cNvSpPr>
            <a:spLocks noGrp="1"/>
          </p:cNvSpPr>
          <p:nvPr>
            <p:ph idx="1"/>
          </p:nvPr>
        </p:nvSpPr>
        <p:spPr/>
        <p:txBody>
          <a:bodyPr/>
          <a:lstStyle/>
          <a:p>
            <a:pPr marL="0" indent="0">
              <a:buNone/>
            </a:pPr>
            <a:r>
              <a:rPr lang="en-US" sz="1600" dirty="0"/>
              <a:t>Solutions to Vanishing Gradient</a:t>
            </a:r>
          </a:p>
          <a:p>
            <a:pPr algn="just"/>
            <a:r>
              <a:rPr lang="en-US" sz="1800" dirty="0"/>
              <a:t>Long Short-Term Memory (LSTMs) &amp; GRUs: These architectures are designed specifically to handle vanishing gradients by using gate mechanisms (input, forget, output gates) that allow gradients to flow without shrinking over long sequences.</a:t>
            </a:r>
          </a:p>
          <a:p>
            <a:pPr algn="just"/>
            <a:r>
              <a:rPr lang="en-US" sz="1800" dirty="0"/>
              <a:t>Activation Functions: Switching from tanh or sigmoid to </a:t>
            </a:r>
            <a:r>
              <a:rPr lang="en-US" sz="1800" dirty="0" err="1"/>
              <a:t>ReLU</a:t>
            </a:r>
            <a:r>
              <a:rPr lang="en-US" sz="1800" dirty="0"/>
              <a:t> (Rectified Linear Unit) helps, as its derivative is 1 for all positive inputs, preventing the gradient from decaying as much.</a:t>
            </a:r>
          </a:p>
          <a:p>
            <a:pPr algn="just"/>
            <a:r>
              <a:rPr lang="en-US" sz="1800" dirty="0"/>
              <a:t>Weight Initialization: Using techniques like He or Xavier initialization ensures weights are not too large or small at the start, preventing the gradient from vanishing early on.</a:t>
            </a:r>
          </a:p>
          <a:p>
            <a:pPr algn="just"/>
            <a:r>
              <a:rPr lang="en-US" sz="1800" dirty="0"/>
              <a:t>Gradient Clipping: Limits the maximum value of gradients, which is particularly effective for dealing with exploding gradients (the opposite problem), but is generally used to maintain stability in RNN training.</a:t>
            </a:r>
          </a:p>
          <a:p>
            <a:pPr algn="just"/>
            <a:r>
              <a:rPr lang="en-US" sz="1800" dirty="0"/>
              <a:t>Truncated BPTT: A strategy that breaks the sequence into shorter chunks, limiting how far back the gradients are propagated, thus reducing the opportunity for them to vanish.</a:t>
            </a:r>
          </a:p>
          <a:p>
            <a:pPr marL="0" indent="0">
              <a:buNone/>
            </a:pPr>
            <a:endParaRPr lang="en-IN" sz="1600" dirty="0"/>
          </a:p>
        </p:txBody>
      </p:sp>
      <p:sp>
        <p:nvSpPr>
          <p:cNvPr id="4" name="Slide Number Placeholder 3">
            <a:extLst>
              <a:ext uri="{FF2B5EF4-FFF2-40B4-BE49-F238E27FC236}">
                <a16:creationId xmlns:a16="http://schemas.microsoft.com/office/drawing/2014/main" id="{93EEAC9C-B5E3-40D3-9360-3EC4E5530B76}"/>
              </a:ext>
            </a:extLst>
          </p:cNvPr>
          <p:cNvSpPr>
            <a:spLocks noGrp="1"/>
          </p:cNvSpPr>
          <p:nvPr>
            <p:ph type="sldNum" sz="quarter" idx="12"/>
          </p:nvPr>
        </p:nvSpPr>
        <p:spPr/>
        <p:txBody>
          <a:bodyPr/>
          <a:lstStyle/>
          <a:p>
            <a:fld id="{BB2CE0DE-867F-455F-B20B-96D381B4AB71}" type="slidenum">
              <a:rPr lang="en-US" smtClean="0"/>
              <a:t>42</a:t>
            </a:fld>
            <a:endParaRPr lang="en-US"/>
          </a:p>
        </p:txBody>
      </p:sp>
    </p:spTree>
    <p:extLst>
      <p:ext uri="{BB962C8B-B14F-4D97-AF65-F5344CB8AC3E}">
        <p14:creationId xmlns:p14="http://schemas.microsoft.com/office/powerpoint/2010/main" val="26215796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59820-D6D5-47C2-B2FE-7A4027668197}"/>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E1FBF51E-C412-40FE-A548-5AFF41C5E990}"/>
              </a:ext>
            </a:extLst>
          </p:cNvPr>
          <p:cNvSpPr>
            <a:spLocks noGrp="1"/>
          </p:cNvSpPr>
          <p:nvPr>
            <p:ph idx="1"/>
          </p:nvPr>
        </p:nvSpPr>
        <p:spPr/>
        <p:txBody>
          <a:bodyPr/>
          <a:lstStyle/>
          <a:p>
            <a:pPr marL="0" indent="0">
              <a:buNone/>
            </a:pPr>
            <a:r>
              <a:rPr lang="en-US" sz="3200" dirty="0"/>
              <a:t>Discuss the vanishing gradient in RNN and how they can be solved.</a:t>
            </a:r>
          </a:p>
          <a:p>
            <a:pPr marL="0" indent="0">
              <a:buNone/>
            </a:pPr>
            <a:endParaRPr lang="en-IN" dirty="0"/>
          </a:p>
        </p:txBody>
      </p:sp>
      <p:sp>
        <p:nvSpPr>
          <p:cNvPr id="4" name="Slide Number Placeholder 3">
            <a:extLst>
              <a:ext uri="{FF2B5EF4-FFF2-40B4-BE49-F238E27FC236}">
                <a16:creationId xmlns:a16="http://schemas.microsoft.com/office/drawing/2014/main" id="{01E694E4-1DBE-493B-BE63-8FB168FADE0F}"/>
              </a:ext>
            </a:extLst>
          </p:cNvPr>
          <p:cNvSpPr>
            <a:spLocks noGrp="1"/>
          </p:cNvSpPr>
          <p:nvPr>
            <p:ph type="sldNum" sz="quarter" idx="12"/>
          </p:nvPr>
        </p:nvSpPr>
        <p:spPr/>
        <p:txBody>
          <a:bodyPr/>
          <a:lstStyle/>
          <a:p>
            <a:fld id="{BB2CE0DE-867F-455F-B20B-96D381B4AB71}" type="slidenum">
              <a:rPr lang="en-US" smtClean="0"/>
              <a:t>43</a:t>
            </a:fld>
            <a:endParaRPr lang="en-US"/>
          </a:p>
        </p:txBody>
      </p:sp>
    </p:spTree>
    <p:extLst>
      <p:ext uri="{BB962C8B-B14F-4D97-AF65-F5344CB8AC3E}">
        <p14:creationId xmlns:p14="http://schemas.microsoft.com/office/powerpoint/2010/main" val="25705430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246CD-5FCB-4667-AC36-B554D95AD98B}"/>
              </a:ext>
            </a:extLst>
          </p:cNvPr>
          <p:cNvSpPr>
            <a:spLocks noGrp="1"/>
          </p:cNvSpPr>
          <p:nvPr>
            <p:ph type="title"/>
          </p:nvPr>
        </p:nvSpPr>
        <p:spPr/>
        <p:txBody>
          <a:bodyPr/>
          <a:lstStyle/>
          <a:p>
            <a:r>
              <a:rPr lang="en-US" sz="2400" dirty="0"/>
              <a:t>RNN: Recurrent Networks as Directed Graphical Models</a:t>
            </a:r>
            <a:endParaRPr lang="en-IN" sz="2400" dirty="0"/>
          </a:p>
        </p:txBody>
      </p:sp>
      <p:sp>
        <p:nvSpPr>
          <p:cNvPr id="3" name="Content Placeholder 2">
            <a:extLst>
              <a:ext uri="{FF2B5EF4-FFF2-40B4-BE49-F238E27FC236}">
                <a16:creationId xmlns:a16="http://schemas.microsoft.com/office/drawing/2014/main" id="{A205DBB9-DE12-46AE-87FB-A04FFE33123D}"/>
              </a:ext>
            </a:extLst>
          </p:cNvPr>
          <p:cNvSpPr>
            <a:spLocks noGrp="1"/>
          </p:cNvSpPr>
          <p:nvPr>
            <p:ph idx="1"/>
          </p:nvPr>
        </p:nvSpPr>
        <p:spPr/>
        <p:txBody>
          <a:bodyPr/>
          <a:lstStyle/>
          <a:p>
            <a:pPr marL="0" indent="0">
              <a:buNone/>
            </a:pPr>
            <a:r>
              <a:rPr lang="en-IN" sz="2000" dirty="0"/>
              <a:t>Conditional Probability in Sequence </a:t>
            </a:r>
            <a:r>
              <a:rPr lang="en-IN" sz="2000" dirty="0" err="1"/>
              <a:t>Modeling</a:t>
            </a:r>
            <a:r>
              <a:rPr lang="en-IN" sz="2000" dirty="0"/>
              <a:t>: In sequence </a:t>
            </a:r>
            <a:r>
              <a:rPr lang="en-IN" sz="2000" dirty="0" err="1"/>
              <a:t>modeling</a:t>
            </a:r>
            <a:r>
              <a:rPr lang="en-IN" sz="2000" dirty="0"/>
              <a:t>, the goal is to predict the next element of a sequence based on previous observations.</a:t>
            </a:r>
          </a:p>
          <a:p>
            <a:pPr marL="0" indent="0">
              <a:buNone/>
            </a:pPr>
            <a:r>
              <a:rPr lang="en-IN" sz="2000" dirty="0"/>
              <a:t>The conditional probability of the next element is written as </a:t>
            </a:r>
          </a:p>
          <a:p>
            <a:pPr marL="0" indent="0">
              <a:buNone/>
            </a:pPr>
            <a:r>
              <a:rPr lang="en-IN" sz="2000" dirty="0"/>
              <a:t>log⁡ p(y(t) ∣ x(1),...,x(t))</a:t>
            </a:r>
          </a:p>
          <a:p>
            <a:pPr marL="0" indent="0">
              <a:buNone/>
            </a:pPr>
            <a:r>
              <a:rPr lang="en-IN" sz="2000" dirty="0"/>
              <a:t>If the model includes dependencies on previous outputs, it becomes</a:t>
            </a:r>
          </a:p>
          <a:p>
            <a:pPr marL="0" indent="0">
              <a:buNone/>
            </a:pPr>
            <a:r>
              <a:rPr lang="en-IN" sz="2000" dirty="0"/>
              <a:t>log⁡ p(y(t) ∣ x(1),...,x(t),y(1),...,y(t−1)) </a:t>
            </a:r>
          </a:p>
          <a:p>
            <a:pPr marL="0" indent="0">
              <a:buNone/>
            </a:pPr>
            <a:r>
              <a:rPr lang="en-IN" sz="2000" dirty="0"/>
              <a:t>This means the prediction of the current element depends on all past inputs and outputs.</a:t>
            </a:r>
          </a:p>
          <a:p>
            <a:endParaRPr lang="en-IN" sz="2000" dirty="0"/>
          </a:p>
          <a:p>
            <a:pPr marL="0" indent="0">
              <a:buNone/>
            </a:pPr>
            <a:endParaRPr lang="en-IN" sz="2000" dirty="0"/>
          </a:p>
        </p:txBody>
      </p:sp>
      <p:sp>
        <p:nvSpPr>
          <p:cNvPr id="4" name="Slide Number Placeholder 3">
            <a:extLst>
              <a:ext uri="{FF2B5EF4-FFF2-40B4-BE49-F238E27FC236}">
                <a16:creationId xmlns:a16="http://schemas.microsoft.com/office/drawing/2014/main" id="{6A7E9D56-AADA-4E16-827E-1BFA535D92A5}"/>
              </a:ext>
            </a:extLst>
          </p:cNvPr>
          <p:cNvSpPr>
            <a:spLocks noGrp="1"/>
          </p:cNvSpPr>
          <p:nvPr>
            <p:ph type="sldNum" sz="quarter" idx="12"/>
          </p:nvPr>
        </p:nvSpPr>
        <p:spPr/>
        <p:txBody>
          <a:bodyPr/>
          <a:lstStyle/>
          <a:p>
            <a:fld id="{BB2CE0DE-867F-455F-B20B-96D381B4AB71}" type="slidenum">
              <a:rPr lang="en-US" smtClean="0"/>
              <a:t>44</a:t>
            </a:fld>
            <a:endParaRPr lang="en-US"/>
          </a:p>
        </p:txBody>
      </p:sp>
    </p:spTree>
    <p:extLst>
      <p:ext uri="{BB962C8B-B14F-4D97-AF65-F5344CB8AC3E}">
        <p14:creationId xmlns:p14="http://schemas.microsoft.com/office/powerpoint/2010/main" val="1850009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9FB37-6282-44F8-91F9-A7FAF284C61A}"/>
              </a:ext>
            </a:extLst>
          </p:cNvPr>
          <p:cNvSpPr>
            <a:spLocks noGrp="1"/>
          </p:cNvSpPr>
          <p:nvPr>
            <p:ph type="title"/>
          </p:nvPr>
        </p:nvSpPr>
        <p:spPr/>
        <p:txBody>
          <a:bodyPr/>
          <a:lstStyle/>
          <a:p>
            <a:r>
              <a:rPr lang="en-US" sz="2400" dirty="0"/>
              <a:t>RNN: Recurrent Networks as Directed Graphical Models</a:t>
            </a:r>
            <a:endParaRPr lang="en-IN" sz="2400" dirty="0"/>
          </a:p>
        </p:txBody>
      </p:sp>
      <p:sp>
        <p:nvSpPr>
          <p:cNvPr id="3" name="Content Placeholder 2">
            <a:extLst>
              <a:ext uri="{FF2B5EF4-FFF2-40B4-BE49-F238E27FC236}">
                <a16:creationId xmlns:a16="http://schemas.microsoft.com/office/drawing/2014/main" id="{44C52F7D-B4F7-462A-939C-69D10352CA3C}"/>
              </a:ext>
            </a:extLst>
          </p:cNvPr>
          <p:cNvSpPr>
            <a:spLocks noGrp="1"/>
          </p:cNvSpPr>
          <p:nvPr>
            <p:ph sz="half" idx="1"/>
          </p:nvPr>
        </p:nvSpPr>
        <p:spPr>
          <a:xfrm>
            <a:off x="708091" y="1295400"/>
            <a:ext cx="5232400" cy="4267200"/>
          </a:xfrm>
        </p:spPr>
        <p:txBody>
          <a:bodyPr/>
          <a:lstStyle/>
          <a:p>
            <a:pPr marL="0" indent="0">
              <a:buNone/>
            </a:pPr>
            <a:r>
              <a:rPr lang="en-IN" sz="1400" dirty="0"/>
              <a:t>Consider a sequence y(1),y(2),y(3),...,y(t) In the </a:t>
            </a:r>
            <a:r>
              <a:rPr lang="en-IN" sz="1400" b="1" dirty="0"/>
              <a:t>fully connected graphical model</a:t>
            </a:r>
            <a:r>
              <a:rPr lang="en-IN" sz="1400" dirty="0"/>
              <a:t>, every past observation can influence the future.</a:t>
            </a:r>
            <a:r>
              <a:rPr lang="en-US" sz="1400" dirty="0"/>
              <a:t> This represents</a:t>
            </a:r>
          </a:p>
          <a:p>
            <a:pPr marL="0" indent="0">
              <a:buNone/>
            </a:pPr>
            <a:r>
              <a:rPr lang="en-US" sz="1400" dirty="0"/>
              <a:t>P(y(t) ∣ y(1), y(2),...,y(t−1)) </a:t>
            </a:r>
          </a:p>
          <a:p>
            <a:pPr marL="0" indent="0">
              <a:buNone/>
            </a:pPr>
            <a:r>
              <a:rPr lang="en-US" sz="1400" dirty="0"/>
              <a:t>Thus every previous observation may influence the current prediction.</a:t>
            </a:r>
          </a:p>
          <a:p>
            <a:pPr marL="0" indent="0">
              <a:buNone/>
            </a:pPr>
            <a:endParaRPr lang="en-US" sz="1400" dirty="0"/>
          </a:p>
          <a:p>
            <a:pPr marL="0" indent="0">
              <a:buNone/>
            </a:pPr>
            <a:r>
              <a:rPr lang="en-US" sz="1400" b="1" dirty="0"/>
              <a:t>Limitation, </a:t>
            </a:r>
            <a:r>
              <a:rPr lang="en-US" sz="1400" dirty="0"/>
              <a:t>This model becomes inefficient because:</a:t>
            </a:r>
          </a:p>
          <a:p>
            <a:pPr marL="0" indent="0">
              <a:buNone/>
            </a:pPr>
            <a:r>
              <a:rPr lang="en-US" sz="1400" dirty="0"/>
              <a:t>The number of input connections grows with sequence length. </a:t>
            </a:r>
          </a:p>
          <a:p>
            <a:pPr marL="0" indent="0">
              <a:buNone/>
            </a:pPr>
            <a:r>
              <a:rPr lang="en-US" sz="1400" dirty="0"/>
              <a:t>The number of parameters increases rapidly. </a:t>
            </a:r>
          </a:p>
          <a:p>
            <a:pPr marL="0" indent="0">
              <a:buNone/>
            </a:pPr>
            <a:r>
              <a:rPr lang="en-US" sz="1400" dirty="0"/>
              <a:t>Computation becomes expensive for long sequences.</a:t>
            </a:r>
          </a:p>
          <a:p>
            <a:pPr marL="0" indent="0">
              <a:buNone/>
            </a:pPr>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EE1E0CA2-F8CA-453B-BD86-0030F41834C7}"/>
              </a:ext>
            </a:extLst>
          </p:cNvPr>
          <p:cNvSpPr>
            <a:spLocks noGrp="1"/>
          </p:cNvSpPr>
          <p:nvPr>
            <p:ph type="sldNum" sz="quarter" idx="12"/>
          </p:nvPr>
        </p:nvSpPr>
        <p:spPr/>
        <p:txBody>
          <a:bodyPr/>
          <a:lstStyle/>
          <a:p>
            <a:fld id="{BB2CE0DE-867F-455F-B20B-96D381B4AB71}" type="slidenum">
              <a:rPr lang="en-US" smtClean="0"/>
              <a:t>45</a:t>
            </a:fld>
            <a:endParaRPr lang="en-US"/>
          </a:p>
        </p:txBody>
      </p:sp>
      <p:pic>
        <p:nvPicPr>
          <p:cNvPr id="6" name="Picture 5">
            <a:extLst>
              <a:ext uri="{FF2B5EF4-FFF2-40B4-BE49-F238E27FC236}">
                <a16:creationId xmlns:a16="http://schemas.microsoft.com/office/drawing/2014/main" id="{1FC62C78-C1C2-4484-8272-6210A92AE562}"/>
              </a:ext>
            </a:extLst>
          </p:cNvPr>
          <p:cNvPicPr>
            <a:picLocks noChangeAspect="1"/>
          </p:cNvPicPr>
          <p:nvPr/>
        </p:nvPicPr>
        <p:blipFill>
          <a:blip r:embed="rId2"/>
          <a:stretch>
            <a:fillRect/>
          </a:stretch>
        </p:blipFill>
        <p:spPr>
          <a:xfrm>
            <a:off x="6477000" y="1170023"/>
            <a:ext cx="5181600" cy="2856803"/>
          </a:xfrm>
          <a:prstGeom prst="rect">
            <a:avLst/>
          </a:prstGeom>
        </p:spPr>
      </p:pic>
      <p:sp>
        <p:nvSpPr>
          <p:cNvPr id="7" name="TextBox 6">
            <a:extLst>
              <a:ext uri="{FF2B5EF4-FFF2-40B4-BE49-F238E27FC236}">
                <a16:creationId xmlns:a16="http://schemas.microsoft.com/office/drawing/2014/main" id="{6359AB22-9D15-4F75-A07E-05C05DCF6BCF}"/>
              </a:ext>
            </a:extLst>
          </p:cNvPr>
          <p:cNvSpPr txBox="1"/>
          <p:nvPr/>
        </p:nvSpPr>
        <p:spPr>
          <a:xfrm>
            <a:off x="6244999" y="4076003"/>
            <a:ext cx="5981637" cy="276999"/>
          </a:xfrm>
          <a:prstGeom prst="rect">
            <a:avLst/>
          </a:prstGeom>
          <a:noFill/>
        </p:spPr>
        <p:txBody>
          <a:bodyPr wrap="none" rtlCol="0">
            <a:spAutoFit/>
          </a:bodyPr>
          <a:lstStyle/>
          <a:p>
            <a:r>
              <a:rPr lang="en-US" sz="1200" dirty="0"/>
              <a:t>Fully connected graphical model for a sequence y(1), y (2), . . . , y(t) , . . .</a:t>
            </a:r>
            <a:endParaRPr lang="en-IN" sz="1200" dirty="0"/>
          </a:p>
        </p:txBody>
      </p:sp>
    </p:spTree>
    <p:extLst>
      <p:ext uri="{BB962C8B-B14F-4D97-AF65-F5344CB8AC3E}">
        <p14:creationId xmlns:p14="http://schemas.microsoft.com/office/powerpoint/2010/main" val="30224753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95E69-DBEE-4239-BBB8-8F37C1E7ABBF}"/>
              </a:ext>
            </a:extLst>
          </p:cNvPr>
          <p:cNvSpPr>
            <a:spLocks noGrp="1"/>
          </p:cNvSpPr>
          <p:nvPr>
            <p:ph type="title"/>
          </p:nvPr>
        </p:nvSpPr>
        <p:spPr/>
        <p:txBody>
          <a:bodyPr/>
          <a:lstStyle/>
          <a:p>
            <a:r>
              <a:rPr lang="en-US" sz="2400" dirty="0"/>
              <a:t>RNN: Recurrent Networks as Directed Graphical Models</a:t>
            </a:r>
            <a:endParaRPr lang="en-IN" sz="2400" dirty="0"/>
          </a:p>
        </p:txBody>
      </p:sp>
      <p:sp>
        <p:nvSpPr>
          <p:cNvPr id="6" name="Content Placeholder 5">
            <a:extLst>
              <a:ext uri="{FF2B5EF4-FFF2-40B4-BE49-F238E27FC236}">
                <a16:creationId xmlns:a16="http://schemas.microsoft.com/office/drawing/2014/main" id="{9C1DDF10-5A9F-47F8-84C4-04066C8069F4}"/>
              </a:ext>
            </a:extLst>
          </p:cNvPr>
          <p:cNvSpPr>
            <a:spLocks noGrp="1"/>
          </p:cNvSpPr>
          <p:nvPr>
            <p:ph idx="1"/>
          </p:nvPr>
        </p:nvSpPr>
        <p:spPr/>
        <p:txBody>
          <a:bodyPr/>
          <a:lstStyle/>
          <a:p>
            <a:r>
              <a:rPr lang="en-US" sz="2000" dirty="0"/>
              <a:t>The RNN is trained by maximizing the log-likelihood of the sequence.</a:t>
            </a:r>
          </a:p>
          <a:p>
            <a:r>
              <a:rPr lang="en-US" sz="2000" dirty="0"/>
              <a:t>The total loss is</a:t>
            </a:r>
          </a:p>
          <a:p>
            <a:endParaRPr lang="en-US" sz="2000" dirty="0"/>
          </a:p>
          <a:p>
            <a:endParaRPr lang="en-US" sz="2000" dirty="0"/>
          </a:p>
          <a:p>
            <a:endParaRPr lang="en-US" sz="2000" dirty="0"/>
          </a:p>
          <a:p>
            <a:endParaRPr lang="en-US" sz="2000" dirty="0"/>
          </a:p>
          <a:p>
            <a:endParaRPr lang="en-US" sz="2000" dirty="0"/>
          </a:p>
          <a:p>
            <a:r>
              <a:rPr lang="en-US" sz="2000" dirty="0"/>
              <a:t>Interpretation:</a:t>
            </a:r>
          </a:p>
          <a:p>
            <a:pPr>
              <a:buFont typeface="Arial" panose="020B0604020202020204" pitchFamily="34" charset="0"/>
              <a:buChar char="•"/>
            </a:pPr>
            <a:r>
              <a:rPr lang="en-US" sz="2000" dirty="0"/>
              <a:t>At each time step, the model predicts the next element. </a:t>
            </a:r>
          </a:p>
          <a:p>
            <a:pPr>
              <a:buFont typeface="Arial" panose="020B0604020202020204" pitchFamily="34" charset="0"/>
              <a:buChar char="•"/>
            </a:pPr>
            <a:r>
              <a:rPr lang="en-US" sz="2000" dirty="0"/>
              <a:t>The loss measures how well the predicted probability matches the true value.</a:t>
            </a:r>
          </a:p>
          <a:p>
            <a:endParaRPr lang="en-US" sz="2000" dirty="0"/>
          </a:p>
          <a:p>
            <a:pPr marL="0" indent="0">
              <a:buNone/>
            </a:pPr>
            <a:endParaRPr lang="en-IN" sz="2000" dirty="0"/>
          </a:p>
        </p:txBody>
      </p:sp>
      <p:sp>
        <p:nvSpPr>
          <p:cNvPr id="5" name="Slide Number Placeholder 4">
            <a:extLst>
              <a:ext uri="{FF2B5EF4-FFF2-40B4-BE49-F238E27FC236}">
                <a16:creationId xmlns:a16="http://schemas.microsoft.com/office/drawing/2014/main" id="{C1C9D581-8D15-4ADF-8E73-7ADAB598FED1}"/>
              </a:ext>
            </a:extLst>
          </p:cNvPr>
          <p:cNvSpPr>
            <a:spLocks noGrp="1"/>
          </p:cNvSpPr>
          <p:nvPr>
            <p:ph type="sldNum" sz="quarter" idx="12"/>
          </p:nvPr>
        </p:nvSpPr>
        <p:spPr/>
        <p:txBody>
          <a:bodyPr/>
          <a:lstStyle/>
          <a:p>
            <a:fld id="{BB2CE0DE-867F-455F-B20B-96D381B4AB71}" type="slidenum">
              <a:rPr lang="en-US" smtClean="0"/>
              <a:t>46</a:t>
            </a:fld>
            <a:endParaRPr lang="en-US"/>
          </a:p>
        </p:txBody>
      </p:sp>
      <p:pic>
        <p:nvPicPr>
          <p:cNvPr id="8" name="Picture 7">
            <a:extLst>
              <a:ext uri="{FF2B5EF4-FFF2-40B4-BE49-F238E27FC236}">
                <a16:creationId xmlns:a16="http://schemas.microsoft.com/office/drawing/2014/main" id="{5BEE2632-AAE2-4D5B-B039-BED8FCA473C7}"/>
              </a:ext>
            </a:extLst>
          </p:cNvPr>
          <p:cNvPicPr>
            <a:picLocks noChangeAspect="1"/>
          </p:cNvPicPr>
          <p:nvPr/>
        </p:nvPicPr>
        <p:blipFill>
          <a:blip r:embed="rId2"/>
          <a:stretch>
            <a:fillRect/>
          </a:stretch>
        </p:blipFill>
        <p:spPr>
          <a:xfrm>
            <a:off x="3265094" y="2057400"/>
            <a:ext cx="5649113" cy="1533739"/>
          </a:xfrm>
          <a:prstGeom prst="rect">
            <a:avLst/>
          </a:prstGeom>
        </p:spPr>
      </p:pic>
    </p:spTree>
    <p:extLst>
      <p:ext uri="{BB962C8B-B14F-4D97-AF65-F5344CB8AC3E}">
        <p14:creationId xmlns:p14="http://schemas.microsoft.com/office/powerpoint/2010/main" val="731462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80D4B6F-5425-443F-BB2D-4675C00494A4}"/>
              </a:ext>
            </a:extLst>
          </p:cNvPr>
          <p:cNvSpPr>
            <a:spLocks noGrp="1"/>
          </p:cNvSpPr>
          <p:nvPr>
            <p:ph type="title"/>
          </p:nvPr>
        </p:nvSpPr>
        <p:spPr/>
        <p:txBody>
          <a:bodyPr/>
          <a:lstStyle/>
          <a:p>
            <a:r>
              <a:rPr lang="en-US" sz="2400" dirty="0"/>
              <a:t>RNN: Recurrent Networks as Directed Graphical Models</a:t>
            </a:r>
            <a:endParaRPr lang="en-IN" sz="2400" dirty="0"/>
          </a:p>
        </p:txBody>
      </p:sp>
      <p:sp>
        <p:nvSpPr>
          <p:cNvPr id="3" name="Content Placeholder 2">
            <a:extLst>
              <a:ext uri="{FF2B5EF4-FFF2-40B4-BE49-F238E27FC236}">
                <a16:creationId xmlns:a16="http://schemas.microsoft.com/office/drawing/2014/main" id="{180E81ED-1F44-41A8-AF13-5C5E1B2351EF}"/>
              </a:ext>
            </a:extLst>
          </p:cNvPr>
          <p:cNvSpPr>
            <a:spLocks noGrp="1"/>
          </p:cNvSpPr>
          <p:nvPr>
            <p:ph sz="half" idx="1"/>
          </p:nvPr>
        </p:nvSpPr>
        <p:spPr>
          <a:xfrm>
            <a:off x="766233" y="1219200"/>
            <a:ext cx="5232400" cy="4800600"/>
          </a:xfrm>
        </p:spPr>
        <p:txBody>
          <a:bodyPr/>
          <a:lstStyle/>
          <a:p>
            <a:pPr marL="0" indent="0">
              <a:buNone/>
            </a:pPr>
            <a:r>
              <a:rPr lang="en-US" sz="1400" dirty="0"/>
              <a:t>To avoid the inefficiency of fully connected dependencies, RNN introduces a hidden state h(t).</a:t>
            </a:r>
          </a:p>
          <a:p>
            <a:pPr marL="0" indent="0">
              <a:buNone/>
            </a:pPr>
            <a:r>
              <a:rPr lang="en-US" sz="1400" dirty="0"/>
              <a:t>The hidden state acts as a compact summary of all previous observations.</a:t>
            </a:r>
          </a:p>
          <a:p>
            <a:pPr marL="0" indent="0">
              <a:buNone/>
            </a:pPr>
            <a:r>
              <a:rPr lang="en-IN" sz="1400" dirty="0"/>
              <a:t>Dependencies at each time step</a:t>
            </a:r>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r>
              <a:rPr lang="en-US" sz="1400" dirty="0"/>
              <a:t>h(t) stores information about the past. Instead of connecting to all previous outputs, the model only uses the hidden state. This allows parameter sharing across time steps.</a:t>
            </a:r>
            <a:endParaRPr lang="en-IN" sz="14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p:txBody>
      </p:sp>
      <p:sp>
        <p:nvSpPr>
          <p:cNvPr id="4" name="Slide Number Placeholder 3">
            <a:extLst>
              <a:ext uri="{FF2B5EF4-FFF2-40B4-BE49-F238E27FC236}">
                <a16:creationId xmlns:a16="http://schemas.microsoft.com/office/drawing/2014/main" id="{5253FC1E-5857-4FF9-AECF-2005A4AEE329}"/>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8" name="Picture 7">
            <a:extLst>
              <a:ext uri="{FF2B5EF4-FFF2-40B4-BE49-F238E27FC236}">
                <a16:creationId xmlns:a16="http://schemas.microsoft.com/office/drawing/2014/main" id="{9ADE0F10-543A-441E-9452-4E5A9802EB21}"/>
              </a:ext>
            </a:extLst>
          </p:cNvPr>
          <p:cNvPicPr>
            <a:picLocks noChangeAspect="1"/>
          </p:cNvPicPr>
          <p:nvPr/>
        </p:nvPicPr>
        <p:blipFill>
          <a:blip r:embed="rId3"/>
          <a:stretch>
            <a:fillRect/>
          </a:stretch>
        </p:blipFill>
        <p:spPr>
          <a:xfrm>
            <a:off x="6159887" y="1219200"/>
            <a:ext cx="5078267" cy="1537733"/>
          </a:xfrm>
          <a:prstGeom prst="rect">
            <a:avLst/>
          </a:prstGeom>
        </p:spPr>
      </p:pic>
      <p:sp>
        <p:nvSpPr>
          <p:cNvPr id="9" name="TextBox 8">
            <a:extLst>
              <a:ext uri="{FF2B5EF4-FFF2-40B4-BE49-F238E27FC236}">
                <a16:creationId xmlns:a16="http://schemas.microsoft.com/office/drawing/2014/main" id="{2B25786F-A2FF-4F87-8A77-7AF5E52DEF41}"/>
              </a:ext>
            </a:extLst>
          </p:cNvPr>
          <p:cNvSpPr txBox="1"/>
          <p:nvPr/>
        </p:nvSpPr>
        <p:spPr>
          <a:xfrm>
            <a:off x="6159887" y="2860935"/>
            <a:ext cx="5167505" cy="276999"/>
          </a:xfrm>
          <a:prstGeom prst="rect">
            <a:avLst/>
          </a:prstGeom>
          <a:noFill/>
        </p:spPr>
        <p:txBody>
          <a:bodyPr wrap="none" rtlCol="0">
            <a:spAutoFit/>
          </a:bodyPr>
          <a:lstStyle/>
          <a:p>
            <a:r>
              <a:rPr lang="en-US" sz="1200" dirty="0"/>
              <a:t>Introducing the state variable in the graphical model of the RNN</a:t>
            </a:r>
            <a:endParaRPr lang="en-IN" sz="1200" dirty="0"/>
          </a:p>
        </p:txBody>
      </p:sp>
      <p:pic>
        <p:nvPicPr>
          <p:cNvPr id="11" name="Picture 10">
            <a:extLst>
              <a:ext uri="{FF2B5EF4-FFF2-40B4-BE49-F238E27FC236}">
                <a16:creationId xmlns:a16="http://schemas.microsoft.com/office/drawing/2014/main" id="{6996A2AA-89A0-4FE2-8BF7-27C6A9435E0F}"/>
              </a:ext>
            </a:extLst>
          </p:cNvPr>
          <p:cNvPicPr>
            <a:picLocks noChangeAspect="1"/>
          </p:cNvPicPr>
          <p:nvPr/>
        </p:nvPicPr>
        <p:blipFill>
          <a:blip r:embed="rId4"/>
          <a:stretch>
            <a:fillRect/>
          </a:stretch>
        </p:blipFill>
        <p:spPr>
          <a:xfrm>
            <a:off x="766233" y="2433472"/>
            <a:ext cx="4458322" cy="2372056"/>
          </a:xfrm>
          <a:prstGeom prst="rect">
            <a:avLst/>
          </a:prstGeom>
        </p:spPr>
      </p:pic>
      <p:sp>
        <p:nvSpPr>
          <p:cNvPr id="14" name="TextBox 13">
            <a:extLst>
              <a:ext uri="{FF2B5EF4-FFF2-40B4-BE49-F238E27FC236}">
                <a16:creationId xmlns:a16="http://schemas.microsoft.com/office/drawing/2014/main" id="{71EEB06C-C88B-4435-BD61-9CC77D4C41BE}"/>
              </a:ext>
            </a:extLst>
          </p:cNvPr>
          <p:cNvSpPr txBox="1"/>
          <p:nvPr/>
        </p:nvSpPr>
        <p:spPr>
          <a:xfrm>
            <a:off x="6159887" y="5065693"/>
            <a:ext cx="5080237" cy="954107"/>
          </a:xfrm>
          <a:prstGeom prst="rect">
            <a:avLst/>
          </a:prstGeom>
          <a:noFill/>
        </p:spPr>
        <p:txBody>
          <a:bodyPr wrap="none" rtlCol="0">
            <a:spAutoFit/>
          </a:bodyPr>
          <a:lstStyle/>
          <a:p>
            <a:r>
              <a:rPr lang="en-US" sz="1400" dirty="0"/>
              <a:t>RNNs can be interpreted as Directed Graphical </a:t>
            </a:r>
          </a:p>
          <a:p>
            <a:r>
              <a:rPr lang="en-US" sz="1400" dirty="0"/>
              <a:t>Models where the hidden state summarizes past </a:t>
            </a:r>
          </a:p>
          <a:p>
            <a:r>
              <a:rPr lang="en-US" sz="1400" dirty="0"/>
              <a:t>information and enables efficient sequence prediction </a:t>
            </a:r>
          </a:p>
          <a:p>
            <a:r>
              <a:rPr lang="en-US" sz="1400" dirty="0"/>
              <a:t>while sharing parameters across time steps.</a:t>
            </a:r>
            <a:endParaRPr lang="en-IN" sz="1400" dirty="0"/>
          </a:p>
        </p:txBody>
      </p:sp>
    </p:spTree>
    <p:extLst>
      <p:ext uri="{BB962C8B-B14F-4D97-AF65-F5344CB8AC3E}">
        <p14:creationId xmlns:p14="http://schemas.microsoft.com/office/powerpoint/2010/main" val="1031705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57B56-EC7F-4D44-A6A8-E5DE82EAEB94}"/>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98B34219-79B9-406A-B6AF-2C22BC0FF35F}"/>
              </a:ext>
            </a:extLst>
          </p:cNvPr>
          <p:cNvSpPr>
            <a:spLocks noGrp="1"/>
          </p:cNvSpPr>
          <p:nvPr>
            <p:ph idx="1"/>
          </p:nvPr>
        </p:nvSpPr>
        <p:spPr/>
        <p:txBody>
          <a:bodyPr/>
          <a:lstStyle/>
          <a:p>
            <a:pPr marL="0" indent="0">
              <a:buNone/>
            </a:pPr>
            <a:r>
              <a:rPr lang="en-US" dirty="0"/>
              <a:t>With equations and neat diagrams, explain how Recurrent Neural Networks (RNNs) can be interpreted as Directed Graphical Models for sequence modeling.</a:t>
            </a:r>
            <a:endParaRPr lang="en-IN" dirty="0"/>
          </a:p>
        </p:txBody>
      </p:sp>
      <p:sp>
        <p:nvSpPr>
          <p:cNvPr id="4" name="Slide Number Placeholder 3">
            <a:extLst>
              <a:ext uri="{FF2B5EF4-FFF2-40B4-BE49-F238E27FC236}">
                <a16:creationId xmlns:a16="http://schemas.microsoft.com/office/drawing/2014/main" id="{F5324DC0-DF1B-4AF7-BCCD-060E3C43BBE9}"/>
              </a:ext>
            </a:extLst>
          </p:cNvPr>
          <p:cNvSpPr>
            <a:spLocks noGrp="1"/>
          </p:cNvSpPr>
          <p:nvPr>
            <p:ph type="sldNum" sz="quarter" idx="12"/>
          </p:nvPr>
        </p:nvSpPr>
        <p:spPr/>
        <p:txBody>
          <a:bodyPr/>
          <a:lstStyle/>
          <a:p>
            <a:fld id="{BB2CE0DE-867F-455F-B20B-96D381B4AB71}" type="slidenum">
              <a:rPr lang="en-US" smtClean="0"/>
              <a:t>48</a:t>
            </a:fld>
            <a:endParaRPr lang="en-US"/>
          </a:p>
        </p:txBody>
      </p:sp>
    </p:spTree>
    <p:extLst>
      <p:ext uri="{BB962C8B-B14F-4D97-AF65-F5344CB8AC3E}">
        <p14:creationId xmlns:p14="http://schemas.microsoft.com/office/powerpoint/2010/main" val="30074004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412EB-6057-4E7F-981B-11CADF9D8148}"/>
              </a:ext>
            </a:extLst>
          </p:cNvPr>
          <p:cNvSpPr>
            <a:spLocks noGrp="1"/>
          </p:cNvSpPr>
          <p:nvPr>
            <p:ph type="title"/>
          </p:nvPr>
        </p:nvSpPr>
        <p:spPr/>
        <p:txBody>
          <a:bodyPr/>
          <a:lstStyle/>
          <a:p>
            <a:r>
              <a:rPr lang="en-IN" sz="2000" dirty="0"/>
              <a:t>RNN: </a:t>
            </a:r>
            <a:r>
              <a:rPr lang="en-US" sz="2000" dirty="0"/>
              <a:t>Modeling Sequences Conditioned on Context with RNNs</a:t>
            </a:r>
            <a:endParaRPr lang="en-IN" sz="2000" dirty="0"/>
          </a:p>
        </p:txBody>
      </p:sp>
      <p:sp>
        <p:nvSpPr>
          <p:cNvPr id="3" name="Content Placeholder 2">
            <a:extLst>
              <a:ext uri="{FF2B5EF4-FFF2-40B4-BE49-F238E27FC236}">
                <a16:creationId xmlns:a16="http://schemas.microsoft.com/office/drawing/2014/main" id="{EEEA97D6-3902-4D64-958E-F3458EFC3A1B}"/>
              </a:ext>
            </a:extLst>
          </p:cNvPr>
          <p:cNvSpPr>
            <a:spLocks noGrp="1"/>
          </p:cNvSpPr>
          <p:nvPr>
            <p:ph idx="1"/>
          </p:nvPr>
        </p:nvSpPr>
        <p:spPr/>
        <p:txBody>
          <a:bodyPr/>
          <a:lstStyle/>
          <a:p>
            <a:pPr marL="0" indent="0">
              <a:buNone/>
            </a:pPr>
            <a:r>
              <a:rPr lang="en-US" sz="2400" dirty="0"/>
              <a:t>Any model representing a variable P(y; θ) can be reinterpreted as a model representing a conditional distribution P(</a:t>
            </a:r>
            <a:r>
              <a:rPr lang="en-US" sz="2400" dirty="0" err="1"/>
              <a:t>y|ω</a:t>
            </a:r>
            <a:r>
              <a:rPr lang="en-US" sz="2400" dirty="0"/>
              <a:t>) with ω = θ. </a:t>
            </a:r>
          </a:p>
          <a:p>
            <a:pPr marL="0" indent="0">
              <a:buNone/>
            </a:pPr>
            <a:r>
              <a:rPr lang="en-US" sz="2400" dirty="0"/>
              <a:t>We can extend such a model to represent a distribution P (y | x) by using the same P(y | ω) as before, but making ω a function of x. </a:t>
            </a:r>
          </a:p>
          <a:p>
            <a:pPr marL="0" indent="0">
              <a:buNone/>
            </a:pPr>
            <a:r>
              <a:rPr lang="en-US" sz="2400" dirty="0"/>
              <a:t>In the case of an RNN, this can be achieved in different ways.</a:t>
            </a:r>
            <a:endParaRPr lang="en-IN" sz="2400" dirty="0"/>
          </a:p>
        </p:txBody>
      </p:sp>
      <p:sp>
        <p:nvSpPr>
          <p:cNvPr id="4" name="Slide Number Placeholder 3">
            <a:extLst>
              <a:ext uri="{FF2B5EF4-FFF2-40B4-BE49-F238E27FC236}">
                <a16:creationId xmlns:a16="http://schemas.microsoft.com/office/drawing/2014/main" id="{57E8CA14-CC6D-43AD-9761-0F6FFD83A4B8}"/>
              </a:ext>
            </a:extLst>
          </p:cNvPr>
          <p:cNvSpPr>
            <a:spLocks noGrp="1"/>
          </p:cNvSpPr>
          <p:nvPr>
            <p:ph type="sldNum" sz="quarter" idx="12"/>
          </p:nvPr>
        </p:nvSpPr>
        <p:spPr/>
        <p:txBody>
          <a:bodyPr/>
          <a:lstStyle/>
          <a:p>
            <a:fld id="{BB2CE0DE-867F-455F-B20B-96D381B4AB71}" type="slidenum">
              <a:rPr lang="en-US" smtClean="0"/>
              <a:t>49</a:t>
            </a:fld>
            <a:endParaRPr lang="en-US"/>
          </a:p>
        </p:txBody>
      </p:sp>
    </p:spTree>
    <p:extLst>
      <p:ext uri="{BB962C8B-B14F-4D97-AF65-F5344CB8AC3E}">
        <p14:creationId xmlns:p14="http://schemas.microsoft.com/office/powerpoint/2010/main" val="34973031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E6044-790A-986C-3A50-5F7CFB00E615}"/>
              </a:ext>
            </a:extLst>
          </p:cNvPr>
          <p:cNvSpPr>
            <a:spLocks noGrp="1"/>
          </p:cNvSpPr>
          <p:nvPr>
            <p:ph type="title"/>
          </p:nvPr>
        </p:nvSpPr>
        <p:spPr/>
        <p:txBody>
          <a:bodyPr/>
          <a:lstStyle/>
          <a:p>
            <a:r>
              <a:rPr lang="en-IN" sz="2400" dirty="0"/>
              <a:t>RNN: </a:t>
            </a:r>
            <a:r>
              <a:rPr lang="en-US" sz="2400" dirty="0"/>
              <a:t>Modeling Sequences Conditioned on Context with RNNs</a:t>
            </a:r>
            <a:endParaRPr lang="en-IN" sz="2400" dirty="0"/>
          </a:p>
        </p:txBody>
      </p:sp>
      <p:sp>
        <p:nvSpPr>
          <p:cNvPr id="3" name="Content Placeholder 2">
            <a:extLst>
              <a:ext uri="{FF2B5EF4-FFF2-40B4-BE49-F238E27FC236}">
                <a16:creationId xmlns:a16="http://schemas.microsoft.com/office/drawing/2014/main" id="{31FFFAC3-23AB-D155-AD2F-409B2A09AA77}"/>
              </a:ext>
            </a:extLst>
          </p:cNvPr>
          <p:cNvSpPr>
            <a:spLocks noGrp="1"/>
          </p:cNvSpPr>
          <p:nvPr>
            <p:ph idx="1"/>
          </p:nvPr>
        </p:nvSpPr>
        <p:spPr/>
        <p:txBody>
          <a:bodyPr/>
          <a:lstStyle/>
          <a:p>
            <a:pPr marL="0" indent="0">
              <a:buNone/>
            </a:pPr>
            <a:r>
              <a:rPr lang="en-IN" sz="1400" dirty="0"/>
              <a:t>We want to model: P(y(1),y(2),...,y(T) | </a:t>
            </a:r>
            <a:r>
              <a:rPr lang="en-IN" sz="1400" b="1" dirty="0">
                <a:solidFill>
                  <a:srgbClr val="0000FF"/>
                </a:solidFill>
              </a:rPr>
              <a:t>context</a:t>
            </a:r>
            <a:r>
              <a:rPr lang="en-IN" sz="1400" dirty="0"/>
              <a:t>)</a:t>
            </a:r>
          </a:p>
          <a:p>
            <a:pPr marL="0" indent="0">
              <a:buNone/>
            </a:pPr>
            <a:r>
              <a:rPr lang="en-IN" sz="1400" dirty="0"/>
              <a:t>Meaning: Generate or predict an output sequence y using some given context</a:t>
            </a:r>
          </a:p>
          <a:p>
            <a:pPr marL="0" indent="0">
              <a:buNone/>
            </a:pPr>
            <a:r>
              <a:rPr lang="en-IN" sz="1400" b="1" dirty="0">
                <a:solidFill>
                  <a:srgbClr val="0000FF"/>
                </a:solidFill>
              </a:rPr>
              <a:t>Context</a:t>
            </a:r>
            <a:r>
              <a:rPr lang="en-IN" sz="1400" dirty="0">
                <a:solidFill>
                  <a:srgbClr val="0000FF"/>
                </a:solidFill>
              </a:rPr>
              <a:t> can be:  </a:t>
            </a:r>
            <a:r>
              <a:rPr lang="en-IN" sz="1400" dirty="0"/>
              <a:t>(A) Sequence context vector x(1),x(2),...,x(T) (B) Fixed context vector x </a:t>
            </a:r>
          </a:p>
          <a:p>
            <a:pPr marL="0" indent="0">
              <a:buNone/>
            </a:pPr>
            <a:r>
              <a:rPr lang="en-IN" sz="1400" dirty="0"/>
              <a:t>Examples</a:t>
            </a:r>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r>
              <a:rPr lang="en-IN" sz="1400" dirty="0"/>
              <a:t>Basic RNN Model </a:t>
            </a:r>
          </a:p>
          <a:p>
            <a:pPr marL="0" indent="0">
              <a:buNone/>
            </a:pPr>
            <a:r>
              <a:rPr lang="en-IN" sz="1400" dirty="0"/>
              <a:t>(Without Output Dependency)</a:t>
            </a:r>
          </a:p>
          <a:p>
            <a:pPr marL="0" indent="0">
              <a:buNone/>
            </a:pPr>
            <a:r>
              <a:rPr lang="en-IN" sz="900" dirty="0"/>
              <a:t> </a:t>
            </a:r>
          </a:p>
          <a:p>
            <a:pPr marL="0" indent="0">
              <a:buNone/>
            </a:pPr>
            <a:r>
              <a:rPr lang="en-IN" sz="1600" dirty="0"/>
              <a:t>Assumption: Outputs are independent given inputs</a:t>
            </a:r>
          </a:p>
          <a:p>
            <a:pPr marL="0" indent="0">
              <a:buNone/>
            </a:pPr>
            <a:r>
              <a:rPr lang="en-IN" sz="1600" dirty="0"/>
              <a:t>Limitation: Does not capture relationships between outputs</a:t>
            </a:r>
          </a:p>
          <a:p>
            <a:pPr marL="0" indent="0">
              <a:buNone/>
            </a:pPr>
            <a:r>
              <a:rPr lang="en-IN" sz="1600" dirty="0"/>
              <a:t>Example (Wrong </a:t>
            </a:r>
            <a:r>
              <a:rPr lang="en-IN" sz="1600" dirty="0" err="1"/>
              <a:t>Behavior</a:t>
            </a:r>
            <a:r>
              <a:rPr lang="en-IN" sz="1600" dirty="0"/>
              <a:t>): Input: I like AI</a:t>
            </a:r>
          </a:p>
          <a:p>
            <a:pPr marL="0" indent="0">
              <a:buNone/>
            </a:pPr>
            <a:r>
              <a:rPr lang="en-IN" sz="1600" dirty="0"/>
              <a:t>		               Output: </a:t>
            </a:r>
            <a:r>
              <a:rPr lang="hi-IN" sz="1200" dirty="0"/>
              <a:t>मुझे खेलना पसंद</a:t>
            </a:r>
            <a:r>
              <a:rPr lang="en-US" sz="1200" dirty="0"/>
              <a:t> </a:t>
            </a:r>
            <a:r>
              <a:rPr lang="en-IN" sz="1600" dirty="0"/>
              <a:t>❌</a:t>
            </a:r>
          </a:p>
          <a:p>
            <a:endParaRPr lang="en-IN" sz="800" dirty="0"/>
          </a:p>
          <a:p>
            <a:pPr marL="0" indent="0">
              <a:buNone/>
            </a:pPr>
            <a:endParaRPr lang="en-IN" sz="1600" dirty="0"/>
          </a:p>
          <a:p>
            <a:pPr marL="0" indent="0">
              <a:buNone/>
            </a:pPr>
            <a:endParaRPr lang="en-IN" sz="1200" dirty="0"/>
          </a:p>
          <a:p>
            <a:pPr marL="0" indent="0">
              <a:buNone/>
            </a:pPr>
            <a:endParaRPr lang="en-IN" sz="1200" dirty="0"/>
          </a:p>
        </p:txBody>
      </p:sp>
      <p:sp>
        <p:nvSpPr>
          <p:cNvPr id="4" name="Slide Number Placeholder 3">
            <a:extLst>
              <a:ext uri="{FF2B5EF4-FFF2-40B4-BE49-F238E27FC236}">
                <a16:creationId xmlns:a16="http://schemas.microsoft.com/office/drawing/2014/main" id="{DCE8DB34-6CBB-219E-95C2-F6E5E1B087A8}"/>
              </a:ext>
            </a:extLst>
          </p:cNvPr>
          <p:cNvSpPr>
            <a:spLocks noGrp="1"/>
          </p:cNvSpPr>
          <p:nvPr>
            <p:ph type="sldNum" sz="quarter" idx="12"/>
          </p:nvPr>
        </p:nvSpPr>
        <p:spPr/>
        <p:txBody>
          <a:bodyPr/>
          <a:lstStyle/>
          <a:p>
            <a:fld id="{BB2CE0DE-867F-455F-B20B-96D381B4AB71}" type="slidenum">
              <a:rPr lang="en-US" smtClean="0"/>
              <a:t>50</a:t>
            </a:fld>
            <a:endParaRPr lang="en-US"/>
          </a:p>
        </p:txBody>
      </p:sp>
      <p:pic>
        <p:nvPicPr>
          <p:cNvPr id="6" name="Picture 5">
            <a:extLst>
              <a:ext uri="{FF2B5EF4-FFF2-40B4-BE49-F238E27FC236}">
                <a16:creationId xmlns:a16="http://schemas.microsoft.com/office/drawing/2014/main" id="{7E32C145-9397-4461-A912-5A44C1242E0E}"/>
              </a:ext>
            </a:extLst>
          </p:cNvPr>
          <p:cNvPicPr>
            <a:picLocks noChangeAspect="1"/>
          </p:cNvPicPr>
          <p:nvPr/>
        </p:nvPicPr>
        <p:blipFill>
          <a:blip r:embed="rId3"/>
          <a:stretch>
            <a:fillRect/>
          </a:stretch>
        </p:blipFill>
        <p:spPr>
          <a:xfrm>
            <a:off x="766233" y="2323921"/>
            <a:ext cx="5191850" cy="2010056"/>
          </a:xfrm>
          <a:prstGeom prst="rect">
            <a:avLst/>
          </a:prstGeom>
        </p:spPr>
      </p:pic>
      <p:pic>
        <p:nvPicPr>
          <p:cNvPr id="7" name="Picture 6">
            <a:extLst>
              <a:ext uri="{FF2B5EF4-FFF2-40B4-BE49-F238E27FC236}">
                <a16:creationId xmlns:a16="http://schemas.microsoft.com/office/drawing/2014/main" id="{5BF46A51-585D-41A4-8DB4-98697B4EC094}"/>
              </a:ext>
            </a:extLst>
          </p:cNvPr>
          <p:cNvPicPr>
            <a:picLocks noChangeAspect="1"/>
          </p:cNvPicPr>
          <p:nvPr/>
        </p:nvPicPr>
        <p:blipFill>
          <a:blip r:embed="rId4"/>
          <a:stretch>
            <a:fillRect/>
          </a:stretch>
        </p:blipFill>
        <p:spPr>
          <a:xfrm>
            <a:off x="7696200" y="2514600"/>
            <a:ext cx="3810000" cy="3686098"/>
          </a:xfrm>
          <a:prstGeom prst="rect">
            <a:avLst/>
          </a:prstGeom>
        </p:spPr>
      </p:pic>
      <p:pic>
        <p:nvPicPr>
          <p:cNvPr id="9" name="Picture 8">
            <a:extLst>
              <a:ext uri="{FF2B5EF4-FFF2-40B4-BE49-F238E27FC236}">
                <a16:creationId xmlns:a16="http://schemas.microsoft.com/office/drawing/2014/main" id="{8E791C78-6CCA-493C-B1AA-613426669581}"/>
              </a:ext>
            </a:extLst>
          </p:cNvPr>
          <p:cNvPicPr>
            <a:picLocks noChangeAspect="1"/>
          </p:cNvPicPr>
          <p:nvPr/>
        </p:nvPicPr>
        <p:blipFill>
          <a:blip r:embed="rId5"/>
          <a:stretch>
            <a:fillRect/>
          </a:stretch>
        </p:blipFill>
        <p:spPr>
          <a:xfrm>
            <a:off x="4343400" y="4610214"/>
            <a:ext cx="3026270" cy="478686"/>
          </a:xfrm>
          <a:prstGeom prst="rect">
            <a:avLst/>
          </a:prstGeom>
        </p:spPr>
      </p:pic>
    </p:spTree>
    <p:extLst>
      <p:ext uri="{BB962C8B-B14F-4D97-AF65-F5344CB8AC3E}">
        <p14:creationId xmlns:p14="http://schemas.microsoft.com/office/powerpoint/2010/main" val="32441070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63A76-67AD-463E-A5AE-9ECA3E46A78B}"/>
              </a:ext>
            </a:extLst>
          </p:cNvPr>
          <p:cNvSpPr>
            <a:spLocks noGrp="1"/>
          </p:cNvSpPr>
          <p:nvPr>
            <p:ph type="title"/>
          </p:nvPr>
        </p:nvSpPr>
        <p:spPr/>
        <p:txBody>
          <a:bodyPr/>
          <a:lstStyle/>
          <a:p>
            <a:r>
              <a:rPr lang="en-IN" sz="2400" dirty="0"/>
              <a:t>RNN: </a:t>
            </a:r>
            <a:r>
              <a:rPr lang="en-US" sz="2400" dirty="0"/>
              <a:t>Modeling Sequences Conditioned on Context with RNNs</a:t>
            </a:r>
            <a:endParaRPr lang="en-IN" sz="2400" dirty="0"/>
          </a:p>
        </p:txBody>
      </p:sp>
      <p:sp>
        <p:nvSpPr>
          <p:cNvPr id="3" name="Content Placeholder 2">
            <a:extLst>
              <a:ext uri="{FF2B5EF4-FFF2-40B4-BE49-F238E27FC236}">
                <a16:creationId xmlns:a16="http://schemas.microsoft.com/office/drawing/2014/main" id="{4265C8D7-6ED4-4EFE-B573-A579F1B457F8}"/>
              </a:ext>
            </a:extLst>
          </p:cNvPr>
          <p:cNvSpPr>
            <a:spLocks noGrp="1"/>
          </p:cNvSpPr>
          <p:nvPr>
            <p:ph idx="1"/>
          </p:nvPr>
        </p:nvSpPr>
        <p:spPr/>
        <p:txBody>
          <a:bodyPr/>
          <a:lstStyle/>
          <a:p>
            <a:pPr marL="0" indent="0">
              <a:buNone/>
            </a:pPr>
            <a:r>
              <a:rPr lang="en-IN" sz="1800" b="1" dirty="0">
                <a:solidFill>
                  <a:srgbClr val="0000FF"/>
                </a:solidFill>
              </a:rPr>
              <a:t>Case 1: Sequence Context </a:t>
            </a:r>
          </a:p>
          <a:p>
            <a:pPr marL="0" indent="0">
              <a:buNone/>
            </a:pPr>
            <a:r>
              <a:rPr lang="en-IN" sz="1800" dirty="0"/>
              <a:t>Improved Model: Add Output Feedback</a:t>
            </a:r>
          </a:p>
          <a:p>
            <a:pPr marL="0" indent="0">
              <a:buNone/>
            </a:pPr>
            <a:r>
              <a:rPr lang="en-IN" sz="1800" dirty="0"/>
              <a:t>We modify hidden state: h(t)=f(h(t−1), x(t), y(t−1))</a:t>
            </a:r>
          </a:p>
          <a:p>
            <a:pPr marL="0" indent="0">
              <a:buNone/>
            </a:pPr>
            <a:endParaRPr lang="en-IN" sz="1800" dirty="0"/>
          </a:p>
          <a:p>
            <a:pPr marL="0" indent="0">
              <a:buNone/>
            </a:pPr>
            <a:r>
              <a:rPr lang="en-IN" sz="1400" dirty="0"/>
              <a:t>New Probability Model</a:t>
            </a:r>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r>
              <a:rPr lang="en-US" sz="1400" dirty="0"/>
              <a:t>Now output depends on: past inputs  and past outputs</a:t>
            </a:r>
          </a:p>
          <a:p>
            <a:pPr marL="0" indent="0">
              <a:buNone/>
            </a:pPr>
            <a:endParaRPr lang="en-US" sz="1400" dirty="0"/>
          </a:p>
          <a:p>
            <a:pPr marL="0" indent="0">
              <a:buNone/>
            </a:pPr>
            <a:endParaRPr lang="en-US" sz="1400" dirty="0"/>
          </a:p>
          <a:p>
            <a:pPr marL="0" indent="0">
              <a:buNone/>
            </a:pPr>
            <a:r>
              <a:rPr lang="en-US" sz="1600" dirty="0"/>
              <a:t>Example: Language translation</a:t>
            </a:r>
          </a:p>
          <a:p>
            <a:pPr marL="0" indent="0">
              <a:buNone/>
            </a:pPr>
            <a:r>
              <a:rPr lang="en-US" sz="1600" dirty="0"/>
              <a:t>Input: I like AI</a:t>
            </a:r>
          </a:p>
          <a:p>
            <a:pPr marL="0" indent="0">
              <a:buNone/>
            </a:pPr>
            <a:r>
              <a:rPr lang="en-US" sz="1600" dirty="0"/>
              <a:t>Output: </a:t>
            </a:r>
            <a:r>
              <a:rPr lang="hi-IN" sz="1600" dirty="0"/>
              <a:t>मुझे एआई पसंद</a:t>
            </a:r>
            <a:endParaRPr lang="en-IN" sz="1600" dirty="0"/>
          </a:p>
          <a:p>
            <a:pPr marL="0" indent="0">
              <a:buNone/>
            </a:pPr>
            <a:endParaRPr lang="en-US" sz="1400" dirty="0"/>
          </a:p>
          <a:p>
            <a:endParaRPr lang="en-IN" sz="1050" dirty="0"/>
          </a:p>
          <a:p>
            <a:pPr marL="0" indent="0">
              <a:buNone/>
            </a:pPr>
            <a:endParaRPr lang="en-IN" sz="2400" dirty="0"/>
          </a:p>
        </p:txBody>
      </p:sp>
      <p:sp>
        <p:nvSpPr>
          <p:cNvPr id="4" name="Slide Number Placeholder 3">
            <a:extLst>
              <a:ext uri="{FF2B5EF4-FFF2-40B4-BE49-F238E27FC236}">
                <a16:creationId xmlns:a16="http://schemas.microsoft.com/office/drawing/2014/main" id="{BA1A76B8-1C28-40D9-9330-6D4D246E3DDF}"/>
              </a:ext>
            </a:extLst>
          </p:cNvPr>
          <p:cNvSpPr>
            <a:spLocks noGrp="1"/>
          </p:cNvSpPr>
          <p:nvPr>
            <p:ph type="sldNum" sz="quarter" idx="12"/>
          </p:nvPr>
        </p:nvSpPr>
        <p:spPr/>
        <p:txBody>
          <a:bodyPr/>
          <a:lstStyle/>
          <a:p>
            <a:fld id="{BB2CE0DE-867F-455F-B20B-96D381B4AB71}" type="slidenum">
              <a:rPr lang="en-US" smtClean="0"/>
              <a:t>51</a:t>
            </a:fld>
            <a:endParaRPr lang="en-US"/>
          </a:p>
        </p:txBody>
      </p:sp>
      <p:pic>
        <p:nvPicPr>
          <p:cNvPr id="6" name="Picture 5">
            <a:extLst>
              <a:ext uri="{FF2B5EF4-FFF2-40B4-BE49-F238E27FC236}">
                <a16:creationId xmlns:a16="http://schemas.microsoft.com/office/drawing/2014/main" id="{57FEB20E-E1B3-4F0D-9DCF-E747E669ACF6}"/>
              </a:ext>
            </a:extLst>
          </p:cNvPr>
          <p:cNvPicPr>
            <a:picLocks noChangeAspect="1"/>
          </p:cNvPicPr>
          <p:nvPr/>
        </p:nvPicPr>
        <p:blipFill>
          <a:blip r:embed="rId3"/>
          <a:stretch>
            <a:fillRect/>
          </a:stretch>
        </p:blipFill>
        <p:spPr>
          <a:xfrm>
            <a:off x="769697" y="2514600"/>
            <a:ext cx="4378037" cy="762000"/>
          </a:xfrm>
          <a:prstGeom prst="rect">
            <a:avLst/>
          </a:prstGeom>
        </p:spPr>
      </p:pic>
      <p:pic>
        <p:nvPicPr>
          <p:cNvPr id="8" name="Picture 7">
            <a:extLst>
              <a:ext uri="{FF2B5EF4-FFF2-40B4-BE49-F238E27FC236}">
                <a16:creationId xmlns:a16="http://schemas.microsoft.com/office/drawing/2014/main" id="{F3A1CEB9-AA69-46EC-83DC-32735B30CD58}"/>
              </a:ext>
            </a:extLst>
          </p:cNvPr>
          <p:cNvPicPr>
            <a:picLocks noChangeAspect="1"/>
          </p:cNvPicPr>
          <p:nvPr/>
        </p:nvPicPr>
        <p:blipFill>
          <a:blip r:embed="rId4"/>
          <a:stretch>
            <a:fillRect/>
          </a:stretch>
        </p:blipFill>
        <p:spPr>
          <a:xfrm>
            <a:off x="6623161" y="2579440"/>
            <a:ext cx="4228878" cy="3247922"/>
          </a:xfrm>
          <a:prstGeom prst="rect">
            <a:avLst/>
          </a:prstGeom>
        </p:spPr>
      </p:pic>
      <p:sp>
        <p:nvSpPr>
          <p:cNvPr id="9" name="TextBox 8">
            <a:extLst>
              <a:ext uri="{FF2B5EF4-FFF2-40B4-BE49-F238E27FC236}">
                <a16:creationId xmlns:a16="http://schemas.microsoft.com/office/drawing/2014/main" id="{269C636C-9B6A-4A6B-9415-0639F372E0B6}"/>
              </a:ext>
            </a:extLst>
          </p:cNvPr>
          <p:cNvSpPr txBox="1"/>
          <p:nvPr/>
        </p:nvSpPr>
        <p:spPr>
          <a:xfrm>
            <a:off x="5845406" y="5827362"/>
            <a:ext cx="6222666" cy="461665"/>
          </a:xfrm>
          <a:prstGeom prst="rect">
            <a:avLst/>
          </a:prstGeom>
          <a:noFill/>
        </p:spPr>
        <p:txBody>
          <a:bodyPr wrap="none" rtlCol="0">
            <a:spAutoFit/>
          </a:bodyPr>
          <a:lstStyle/>
          <a:p>
            <a:r>
              <a:rPr lang="en-US" sz="1200" dirty="0"/>
              <a:t>A </a:t>
            </a:r>
            <a:r>
              <a:rPr lang="en-US" sz="1200" b="1" dirty="0"/>
              <a:t>conditional</a:t>
            </a:r>
            <a:r>
              <a:rPr lang="en-US" sz="1200" dirty="0"/>
              <a:t> recurrent neural network mapping a variable-length sequence</a:t>
            </a:r>
          </a:p>
          <a:p>
            <a:r>
              <a:rPr lang="en-US" sz="1200" dirty="0"/>
              <a:t> of x values into a distribution over sequences of y values of the same length.</a:t>
            </a:r>
            <a:endParaRPr lang="en-IN" sz="1200" dirty="0"/>
          </a:p>
        </p:txBody>
      </p:sp>
    </p:spTree>
    <p:extLst>
      <p:ext uri="{BB962C8B-B14F-4D97-AF65-F5344CB8AC3E}">
        <p14:creationId xmlns:p14="http://schemas.microsoft.com/office/powerpoint/2010/main" val="3545809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63A76-67AD-463E-A5AE-9ECA3E46A78B}"/>
              </a:ext>
            </a:extLst>
          </p:cNvPr>
          <p:cNvSpPr>
            <a:spLocks noGrp="1"/>
          </p:cNvSpPr>
          <p:nvPr>
            <p:ph type="title"/>
          </p:nvPr>
        </p:nvSpPr>
        <p:spPr/>
        <p:txBody>
          <a:bodyPr/>
          <a:lstStyle/>
          <a:p>
            <a:r>
              <a:rPr lang="en-IN" sz="2400" dirty="0"/>
              <a:t>RNN: </a:t>
            </a:r>
            <a:r>
              <a:rPr lang="en-US" sz="2400" dirty="0"/>
              <a:t>Modeling Sequences Conditioned on Context with RNNs</a:t>
            </a:r>
            <a:endParaRPr lang="en-IN" sz="2400" dirty="0"/>
          </a:p>
        </p:txBody>
      </p:sp>
      <p:sp>
        <p:nvSpPr>
          <p:cNvPr id="3" name="Content Placeholder 2">
            <a:extLst>
              <a:ext uri="{FF2B5EF4-FFF2-40B4-BE49-F238E27FC236}">
                <a16:creationId xmlns:a16="http://schemas.microsoft.com/office/drawing/2014/main" id="{4265C8D7-6ED4-4EFE-B573-A579F1B457F8}"/>
              </a:ext>
            </a:extLst>
          </p:cNvPr>
          <p:cNvSpPr>
            <a:spLocks noGrp="1"/>
          </p:cNvSpPr>
          <p:nvPr>
            <p:ph idx="1"/>
          </p:nvPr>
        </p:nvSpPr>
        <p:spPr/>
        <p:txBody>
          <a:bodyPr/>
          <a:lstStyle/>
          <a:p>
            <a:pPr marL="0" indent="0">
              <a:buNone/>
            </a:pPr>
            <a:r>
              <a:rPr lang="en-US" sz="1800" b="1" dirty="0">
                <a:solidFill>
                  <a:srgbClr val="0000FF"/>
                </a:solidFill>
              </a:rPr>
              <a:t>Case 2: Fixed Context Vector</a:t>
            </a:r>
          </a:p>
          <a:p>
            <a:pPr marL="0" indent="0">
              <a:buNone/>
            </a:pPr>
            <a:r>
              <a:rPr lang="en-US" sz="1800" dirty="0"/>
              <a:t>Example: Image caption generation</a:t>
            </a:r>
          </a:p>
          <a:p>
            <a:pPr marL="0" indent="0">
              <a:buNone/>
            </a:pPr>
            <a:endParaRPr lang="en-US" sz="1100" dirty="0"/>
          </a:p>
          <a:p>
            <a:pPr marL="0" indent="0">
              <a:buNone/>
            </a:pPr>
            <a:r>
              <a:rPr lang="en-US" sz="1600" dirty="0"/>
              <a:t>The interaction between the input x and each hidden unit </a:t>
            </a:r>
          </a:p>
          <a:p>
            <a:pPr marL="0" indent="0">
              <a:buNone/>
            </a:pPr>
            <a:r>
              <a:rPr lang="en-US" sz="1600" dirty="0"/>
              <a:t>vector h(t) is parametrized by a newly introduced </a:t>
            </a:r>
          </a:p>
          <a:p>
            <a:pPr marL="0" indent="0">
              <a:buNone/>
            </a:pPr>
            <a:r>
              <a:rPr lang="en-US" sz="1600" dirty="0"/>
              <a:t>weight matrix R that was absent from </a:t>
            </a:r>
          </a:p>
          <a:p>
            <a:pPr marL="0" indent="0">
              <a:buNone/>
            </a:pPr>
            <a:r>
              <a:rPr lang="en-US" sz="1600" dirty="0"/>
              <a:t>the model of only the sequence of y values.</a:t>
            </a:r>
            <a:endParaRPr lang="en-IN" sz="1600" dirty="0"/>
          </a:p>
          <a:p>
            <a:pPr marL="0" indent="0">
              <a:buNone/>
            </a:pPr>
            <a:endParaRPr lang="en-US" sz="1600" dirty="0"/>
          </a:p>
          <a:p>
            <a:pPr marL="0" indent="0">
              <a:buNone/>
            </a:pPr>
            <a:endParaRPr lang="en-US" sz="1600" dirty="0"/>
          </a:p>
          <a:p>
            <a:pPr marL="0" indent="0">
              <a:buNone/>
            </a:pPr>
            <a:r>
              <a:rPr lang="en-US" sz="1600" dirty="0"/>
              <a:t>This RNN is appropriate for tasks such as image captioning, </a:t>
            </a:r>
          </a:p>
          <a:p>
            <a:pPr marL="0" indent="0">
              <a:buNone/>
            </a:pPr>
            <a:r>
              <a:rPr lang="en-US" sz="1600" dirty="0"/>
              <a:t>where a single image is used as input to a model that then </a:t>
            </a:r>
          </a:p>
          <a:p>
            <a:pPr marL="0" indent="0">
              <a:buNone/>
            </a:pPr>
            <a:r>
              <a:rPr lang="en-US" sz="1600" dirty="0"/>
              <a:t>produces a sequence of words describing the image. </a:t>
            </a:r>
          </a:p>
          <a:p>
            <a:pPr marL="0" indent="0">
              <a:buNone/>
            </a:pPr>
            <a:r>
              <a:rPr lang="en-US" sz="1600" dirty="0"/>
              <a:t>Each element y(t) of the observed output sequence serves </a:t>
            </a:r>
          </a:p>
          <a:p>
            <a:pPr marL="0" indent="0">
              <a:buNone/>
            </a:pPr>
            <a:r>
              <a:rPr lang="en-US" sz="1600" dirty="0"/>
              <a:t>both as input (for the current time step) and, during training, </a:t>
            </a:r>
          </a:p>
          <a:p>
            <a:pPr marL="0" indent="0">
              <a:buNone/>
            </a:pPr>
            <a:r>
              <a:rPr lang="en-US" sz="1600" dirty="0"/>
              <a:t>as target (for the previous time step).</a:t>
            </a:r>
            <a:endParaRPr lang="en-IN" sz="2800" b="1" dirty="0">
              <a:solidFill>
                <a:srgbClr val="0000FF"/>
              </a:solidFill>
            </a:endParaRPr>
          </a:p>
        </p:txBody>
      </p:sp>
      <p:sp>
        <p:nvSpPr>
          <p:cNvPr id="4" name="Slide Number Placeholder 3">
            <a:extLst>
              <a:ext uri="{FF2B5EF4-FFF2-40B4-BE49-F238E27FC236}">
                <a16:creationId xmlns:a16="http://schemas.microsoft.com/office/drawing/2014/main" id="{BA1A76B8-1C28-40D9-9330-6D4D246E3DDF}"/>
              </a:ext>
            </a:extLst>
          </p:cNvPr>
          <p:cNvSpPr>
            <a:spLocks noGrp="1"/>
          </p:cNvSpPr>
          <p:nvPr>
            <p:ph type="sldNum" sz="quarter" idx="12"/>
          </p:nvPr>
        </p:nvSpPr>
        <p:spPr/>
        <p:txBody>
          <a:bodyPr/>
          <a:lstStyle/>
          <a:p>
            <a:fld id="{BB2CE0DE-867F-455F-B20B-96D381B4AB71}" type="slidenum">
              <a:rPr lang="en-US" smtClean="0"/>
              <a:t>52</a:t>
            </a:fld>
            <a:endParaRPr lang="en-US"/>
          </a:p>
        </p:txBody>
      </p:sp>
      <p:pic>
        <p:nvPicPr>
          <p:cNvPr id="6" name="Picture 5">
            <a:extLst>
              <a:ext uri="{FF2B5EF4-FFF2-40B4-BE49-F238E27FC236}">
                <a16:creationId xmlns:a16="http://schemas.microsoft.com/office/drawing/2014/main" id="{A0139418-71BA-4093-A01F-1A26405F93A9}"/>
              </a:ext>
            </a:extLst>
          </p:cNvPr>
          <p:cNvPicPr>
            <a:picLocks noChangeAspect="1"/>
          </p:cNvPicPr>
          <p:nvPr/>
        </p:nvPicPr>
        <p:blipFill>
          <a:blip r:embed="rId3"/>
          <a:stretch>
            <a:fillRect/>
          </a:stretch>
        </p:blipFill>
        <p:spPr>
          <a:xfrm>
            <a:off x="7374649" y="1293420"/>
            <a:ext cx="4527560" cy="4481904"/>
          </a:xfrm>
          <a:prstGeom prst="rect">
            <a:avLst/>
          </a:prstGeom>
        </p:spPr>
      </p:pic>
      <p:sp>
        <p:nvSpPr>
          <p:cNvPr id="7" name="TextBox 6">
            <a:extLst>
              <a:ext uri="{FF2B5EF4-FFF2-40B4-BE49-F238E27FC236}">
                <a16:creationId xmlns:a16="http://schemas.microsoft.com/office/drawing/2014/main" id="{AA8A04B8-70A3-4634-B708-FC767B8788FD}"/>
              </a:ext>
            </a:extLst>
          </p:cNvPr>
          <p:cNvSpPr txBox="1"/>
          <p:nvPr/>
        </p:nvSpPr>
        <p:spPr>
          <a:xfrm>
            <a:off x="7409285" y="5986790"/>
            <a:ext cx="4024948" cy="523220"/>
          </a:xfrm>
          <a:prstGeom prst="rect">
            <a:avLst/>
          </a:prstGeom>
          <a:noFill/>
        </p:spPr>
        <p:txBody>
          <a:bodyPr wrap="none" rtlCol="0">
            <a:spAutoFit/>
          </a:bodyPr>
          <a:lstStyle/>
          <a:p>
            <a:r>
              <a:rPr lang="en-US" sz="1400" dirty="0"/>
              <a:t>An RNN that maps a fixed-length vector x </a:t>
            </a:r>
          </a:p>
          <a:p>
            <a:r>
              <a:rPr lang="en-US" sz="1400" dirty="0"/>
              <a:t>into a distribution over sequences Y</a:t>
            </a:r>
            <a:endParaRPr lang="en-IN" sz="1400" dirty="0"/>
          </a:p>
        </p:txBody>
      </p:sp>
      <p:pic>
        <p:nvPicPr>
          <p:cNvPr id="8" name="Picture 7">
            <a:extLst>
              <a:ext uri="{FF2B5EF4-FFF2-40B4-BE49-F238E27FC236}">
                <a16:creationId xmlns:a16="http://schemas.microsoft.com/office/drawing/2014/main" id="{70749478-39F5-4DD9-8611-A6A9732E5C71}"/>
              </a:ext>
            </a:extLst>
          </p:cNvPr>
          <p:cNvPicPr>
            <a:picLocks noChangeAspect="1"/>
          </p:cNvPicPr>
          <p:nvPr/>
        </p:nvPicPr>
        <p:blipFill rotWithShape="1">
          <a:blip r:embed="rId4"/>
          <a:srcRect l="11407" r="8738"/>
          <a:stretch/>
        </p:blipFill>
        <p:spPr>
          <a:xfrm>
            <a:off x="289791" y="5775323"/>
            <a:ext cx="1261804" cy="1051503"/>
          </a:xfrm>
          <a:prstGeom prst="rect">
            <a:avLst/>
          </a:prstGeom>
        </p:spPr>
      </p:pic>
      <p:sp>
        <p:nvSpPr>
          <p:cNvPr id="9" name="TextBox 8">
            <a:extLst>
              <a:ext uri="{FF2B5EF4-FFF2-40B4-BE49-F238E27FC236}">
                <a16:creationId xmlns:a16="http://schemas.microsoft.com/office/drawing/2014/main" id="{7DDC4983-0AF9-495F-B96A-2662EE110474}"/>
              </a:ext>
            </a:extLst>
          </p:cNvPr>
          <p:cNvSpPr txBox="1"/>
          <p:nvPr/>
        </p:nvSpPr>
        <p:spPr>
          <a:xfrm>
            <a:off x="1447800" y="6047601"/>
            <a:ext cx="2259978" cy="276999"/>
          </a:xfrm>
          <a:prstGeom prst="rect">
            <a:avLst/>
          </a:prstGeom>
          <a:noFill/>
        </p:spPr>
        <p:txBody>
          <a:bodyPr wrap="none" rtlCol="0">
            <a:spAutoFit/>
          </a:bodyPr>
          <a:lstStyle/>
          <a:p>
            <a:r>
              <a:rPr lang="en-US" sz="1200" dirty="0"/>
              <a:t>Two people reading a book</a:t>
            </a:r>
            <a:endParaRPr lang="en-IN" sz="1200" dirty="0"/>
          </a:p>
        </p:txBody>
      </p:sp>
    </p:spTree>
    <p:extLst>
      <p:ext uri="{BB962C8B-B14F-4D97-AF65-F5344CB8AC3E}">
        <p14:creationId xmlns:p14="http://schemas.microsoft.com/office/powerpoint/2010/main" val="25807790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D78AA-4843-8346-4DA8-6A8C805DD408}"/>
              </a:ext>
            </a:extLst>
          </p:cNvPr>
          <p:cNvSpPr>
            <a:spLocks noGrp="1"/>
          </p:cNvSpPr>
          <p:nvPr>
            <p:ph type="title"/>
          </p:nvPr>
        </p:nvSpPr>
        <p:spPr/>
        <p:txBody>
          <a:bodyPr/>
          <a:lstStyle/>
          <a:p>
            <a:r>
              <a:rPr lang="en-IN" sz="2800" dirty="0"/>
              <a:t>Encoder-Decoder (Sequence-to-Sequence) Architectures</a:t>
            </a:r>
          </a:p>
        </p:txBody>
      </p:sp>
      <p:sp>
        <p:nvSpPr>
          <p:cNvPr id="3" name="Content Placeholder 2">
            <a:extLst>
              <a:ext uri="{FF2B5EF4-FFF2-40B4-BE49-F238E27FC236}">
                <a16:creationId xmlns:a16="http://schemas.microsoft.com/office/drawing/2014/main" id="{9FCAC3BB-D62D-97A1-D9D0-215D2069EADB}"/>
              </a:ext>
            </a:extLst>
          </p:cNvPr>
          <p:cNvSpPr>
            <a:spLocks noGrp="1"/>
          </p:cNvSpPr>
          <p:nvPr>
            <p:ph idx="1"/>
          </p:nvPr>
        </p:nvSpPr>
        <p:spPr/>
        <p:txBody>
          <a:bodyPr/>
          <a:lstStyle/>
          <a:p>
            <a:pPr marL="0" indent="0" algn="just">
              <a:buNone/>
            </a:pPr>
            <a:r>
              <a:rPr lang="en-US" sz="2000" dirty="0"/>
              <a:t>We discuss how an RNN can be trained to map an input sequence to an output sequence which is not necessarily of the same length. </a:t>
            </a:r>
          </a:p>
          <a:p>
            <a:pPr marL="0" indent="0" algn="just">
              <a:buNone/>
            </a:pPr>
            <a:r>
              <a:rPr lang="en-US" sz="2000" dirty="0"/>
              <a:t>This comes up in many applications, such as speech recognition, machine translation or question answering, </a:t>
            </a:r>
          </a:p>
          <a:p>
            <a:pPr marL="0" indent="0" algn="just">
              <a:buNone/>
            </a:pPr>
            <a:r>
              <a:rPr lang="en-US" sz="2000" dirty="0"/>
              <a:t>where the input and output sequences in the training set are generally not of the same length (although their lengths might be related).</a:t>
            </a:r>
            <a:endParaRPr lang="en-IN" sz="2000" dirty="0"/>
          </a:p>
        </p:txBody>
      </p:sp>
      <p:sp>
        <p:nvSpPr>
          <p:cNvPr id="4" name="Slide Number Placeholder 3">
            <a:extLst>
              <a:ext uri="{FF2B5EF4-FFF2-40B4-BE49-F238E27FC236}">
                <a16:creationId xmlns:a16="http://schemas.microsoft.com/office/drawing/2014/main" id="{86211476-B9C8-DCE5-74C6-0BD4497B508C}"/>
              </a:ext>
            </a:extLst>
          </p:cNvPr>
          <p:cNvSpPr>
            <a:spLocks noGrp="1"/>
          </p:cNvSpPr>
          <p:nvPr>
            <p:ph type="sldNum" sz="quarter" idx="12"/>
          </p:nvPr>
        </p:nvSpPr>
        <p:spPr/>
        <p:txBody>
          <a:bodyPr/>
          <a:lstStyle/>
          <a:p>
            <a:fld id="{BB2CE0DE-867F-455F-B20B-96D381B4AB71}" type="slidenum">
              <a:rPr lang="en-US" smtClean="0"/>
              <a:t>53</a:t>
            </a:fld>
            <a:endParaRPr lang="en-US"/>
          </a:p>
        </p:txBody>
      </p:sp>
    </p:spTree>
    <p:extLst>
      <p:ext uri="{BB962C8B-B14F-4D97-AF65-F5344CB8AC3E}">
        <p14:creationId xmlns:p14="http://schemas.microsoft.com/office/powerpoint/2010/main" val="27443453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AE782-9CA8-4BD3-85E0-76E78582E8A0}"/>
              </a:ext>
            </a:extLst>
          </p:cNvPr>
          <p:cNvSpPr>
            <a:spLocks noGrp="1"/>
          </p:cNvSpPr>
          <p:nvPr>
            <p:ph type="title"/>
          </p:nvPr>
        </p:nvSpPr>
        <p:spPr/>
        <p:txBody>
          <a:bodyPr/>
          <a:lstStyle/>
          <a:p>
            <a:r>
              <a:rPr lang="en-IN" sz="2400" dirty="0"/>
              <a:t>Encoder-Decoder (Sequence-to-Sequence) Architectures</a:t>
            </a:r>
          </a:p>
        </p:txBody>
      </p:sp>
      <p:sp>
        <p:nvSpPr>
          <p:cNvPr id="3" name="Content Placeholder 2">
            <a:extLst>
              <a:ext uri="{FF2B5EF4-FFF2-40B4-BE49-F238E27FC236}">
                <a16:creationId xmlns:a16="http://schemas.microsoft.com/office/drawing/2014/main" id="{87EE4B0C-40C9-4B90-A9F1-6724ED0DCD83}"/>
              </a:ext>
            </a:extLst>
          </p:cNvPr>
          <p:cNvSpPr>
            <a:spLocks noGrp="1"/>
          </p:cNvSpPr>
          <p:nvPr>
            <p:ph idx="1"/>
          </p:nvPr>
        </p:nvSpPr>
        <p:spPr/>
        <p:txBody>
          <a:bodyPr/>
          <a:lstStyle/>
          <a:p>
            <a:pPr marL="0" indent="0">
              <a:buNone/>
            </a:pPr>
            <a:r>
              <a:rPr lang="en-IN" sz="1600" dirty="0"/>
              <a:t>We want to learn:</a:t>
            </a:r>
          </a:p>
          <a:p>
            <a:pPr marL="0" indent="0">
              <a:buNone/>
            </a:pPr>
            <a:endParaRPr lang="en-IN" sz="1600" dirty="0"/>
          </a:p>
          <a:p>
            <a:pPr marL="0" indent="0">
              <a:buNone/>
            </a:pPr>
            <a:r>
              <a:rPr lang="en-US" sz="1600" dirty="0"/>
              <a:t>Convert an </a:t>
            </a:r>
            <a:r>
              <a:rPr lang="en-US" sz="1600" b="1" dirty="0"/>
              <a:t>input sequence</a:t>
            </a:r>
            <a:r>
              <a:rPr lang="en-US" sz="1600" dirty="0"/>
              <a:t> into an </a:t>
            </a:r>
            <a:r>
              <a:rPr lang="en-US" sz="1600" b="1" dirty="0"/>
              <a:t>output sequence</a:t>
            </a:r>
            <a:r>
              <a:rPr lang="en-US" sz="1600" dirty="0"/>
              <a:t>, </a:t>
            </a:r>
          </a:p>
          <a:p>
            <a:pPr marL="0" indent="0">
              <a:buNone/>
            </a:pPr>
            <a:r>
              <a:rPr lang="en-US" sz="1600" dirty="0"/>
              <a:t>where lengths can differ.</a:t>
            </a:r>
          </a:p>
          <a:p>
            <a:pPr marL="0" indent="0">
              <a:buNone/>
            </a:pPr>
            <a:endParaRPr lang="en-US" sz="1600" dirty="0"/>
          </a:p>
          <a:p>
            <a:pPr marL="0" indent="0">
              <a:buNone/>
            </a:pPr>
            <a:r>
              <a:rPr lang="en-IN" sz="1600" b="1" dirty="0"/>
              <a:t>Encoder–Decoder </a:t>
            </a:r>
            <a:r>
              <a:rPr lang="en-IN" sz="1600" dirty="0"/>
              <a:t>(Sequence-to-Sequence) </a:t>
            </a:r>
            <a:r>
              <a:rPr lang="en-IN" sz="1600" b="1" dirty="0"/>
              <a:t>Architecture</a:t>
            </a:r>
          </a:p>
          <a:p>
            <a:pPr marL="0" indent="0">
              <a:buNone/>
            </a:pPr>
            <a:r>
              <a:rPr lang="en-IN" sz="1800" dirty="0"/>
              <a:t>The architecture has </a:t>
            </a:r>
            <a:r>
              <a:rPr lang="en-IN" sz="1800" b="1" dirty="0"/>
              <a:t>two RNNs</a:t>
            </a:r>
            <a:r>
              <a:rPr lang="en-IN" sz="1800" dirty="0"/>
              <a:t>:</a:t>
            </a:r>
          </a:p>
          <a:p>
            <a:pPr marL="0" indent="0">
              <a:buNone/>
            </a:pPr>
            <a:r>
              <a:rPr lang="en-IN" sz="1800" b="1" dirty="0"/>
              <a:t>1. Encoder </a:t>
            </a:r>
          </a:p>
          <a:p>
            <a:pPr marL="0" indent="0">
              <a:buNone/>
            </a:pPr>
            <a:r>
              <a:rPr lang="en-IN" sz="1800" dirty="0"/>
              <a:t>Reads input sequence x(1),...,x(</a:t>
            </a:r>
            <a:r>
              <a:rPr lang="en-IN" sz="1800" dirty="0" err="1"/>
              <a:t>n</a:t>
            </a:r>
            <a:r>
              <a:rPr lang="en-IN" sz="2400" baseline="-25000" dirty="0" err="1"/>
              <a:t>x</a:t>
            </a:r>
            <a:r>
              <a:rPr lang="en-IN" sz="1800" dirty="0"/>
              <a:t>)</a:t>
            </a:r>
          </a:p>
          <a:p>
            <a:pPr marL="0" indent="0">
              <a:buNone/>
            </a:pPr>
            <a:r>
              <a:rPr lang="en-IN" sz="1800" dirty="0"/>
              <a:t>Compresses it into a </a:t>
            </a:r>
            <a:r>
              <a:rPr lang="en-IN" sz="1800" b="1" dirty="0"/>
              <a:t>context vector C</a:t>
            </a:r>
            <a:r>
              <a:rPr lang="en-IN" sz="1800" dirty="0"/>
              <a:t> </a:t>
            </a:r>
          </a:p>
          <a:p>
            <a:pPr marL="0" indent="0">
              <a:buNone/>
            </a:pPr>
            <a:r>
              <a:rPr lang="en-IN" sz="1800" b="1" dirty="0"/>
              <a:t>2. Decoder </a:t>
            </a:r>
          </a:p>
          <a:p>
            <a:pPr marL="0" indent="0">
              <a:buNone/>
            </a:pPr>
            <a:r>
              <a:rPr lang="en-IN" sz="1800" dirty="0"/>
              <a:t>Takes C as input </a:t>
            </a:r>
          </a:p>
          <a:p>
            <a:pPr marL="0" indent="0">
              <a:buNone/>
            </a:pPr>
            <a:r>
              <a:rPr lang="en-IN" sz="1800" dirty="0"/>
              <a:t>Generates output sequence y(1),...,y(</a:t>
            </a:r>
            <a:r>
              <a:rPr lang="en-IN" sz="1800" dirty="0" err="1"/>
              <a:t>n</a:t>
            </a:r>
            <a:r>
              <a:rPr lang="en-IN" sz="1800" baseline="-25000" dirty="0" err="1"/>
              <a:t>y</a:t>
            </a:r>
            <a:r>
              <a:rPr lang="en-IN" sz="1800" dirty="0"/>
              <a:t>)</a:t>
            </a:r>
          </a:p>
          <a:p>
            <a:endParaRPr lang="en-IN" sz="800" dirty="0"/>
          </a:p>
          <a:p>
            <a:pPr marL="0" indent="0">
              <a:buNone/>
            </a:pPr>
            <a:endParaRPr lang="en-IN" sz="1600" dirty="0"/>
          </a:p>
        </p:txBody>
      </p:sp>
      <p:sp>
        <p:nvSpPr>
          <p:cNvPr id="4" name="Slide Number Placeholder 3">
            <a:extLst>
              <a:ext uri="{FF2B5EF4-FFF2-40B4-BE49-F238E27FC236}">
                <a16:creationId xmlns:a16="http://schemas.microsoft.com/office/drawing/2014/main" id="{B14AD2B5-78A6-499D-8B3F-0F37399F3545}"/>
              </a:ext>
            </a:extLst>
          </p:cNvPr>
          <p:cNvSpPr>
            <a:spLocks noGrp="1"/>
          </p:cNvSpPr>
          <p:nvPr>
            <p:ph type="sldNum" sz="quarter" idx="12"/>
          </p:nvPr>
        </p:nvSpPr>
        <p:spPr/>
        <p:txBody>
          <a:bodyPr/>
          <a:lstStyle/>
          <a:p>
            <a:fld id="{BB2CE0DE-867F-455F-B20B-96D381B4AB71}" type="slidenum">
              <a:rPr lang="en-US" smtClean="0"/>
              <a:t>54</a:t>
            </a:fld>
            <a:endParaRPr lang="en-US"/>
          </a:p>
        </p:txBody>
      </p:sp>
      <p:pic>
        <p:nvPicPr>
          <p:cNvPr id="6" name="Picture 5">
            <a:extLst>
              <a:ext uri="{FF2B5EF4-FFF2-40B4-BE49-F238E27FC236}">
                <a16:creationId xmlns:a16="http://schemas.microsoft.com/office/drawing/2014/main" id="{C6B47CF0-1799-48EB-956C-B1C0BC9760F6}"/>
              </a:ext>
            </a:extLst>
          </p:cNvPr>
          <p:cNvPicPr>
            <a:picLocks noChangeAspect="1"/>
          </p:cNvPicPr>
          <p:nvPr/>
        </p:nvPicPr>
        <p:blipFill>
          <a:blip r:embed="rId3"/>
          <a:stretch>
            <a:fillRect/>
          </a:stretch>
        </p:blipFill>
        <p:spPr>
          <a:xfrm>
            <a:off x="2819400" y="1184564"/>
            <a:ext cx="2924583" cy="495369"/>
          </a:xfrm>
          <a:prstGeom prst="rect">
            <a:avLst/>
          </a:prstGeom>
        </p:spPr>
      </p:pic>
      <p:pic>
        <p:nvPicPr>
          <p:cNvPr id="8" name="Picture 7">
            <a:extLst>
              <a:ext uri="{FF2B5EF4-FFF2-40B4-BE49-F238E27FC236}">
                <a16:creationId xmlns:a16="http://schemas.microsoft.com/office/drawing/2014/main" id="{ACE69F3A-780D-4681-BD43-2F00344AFC7A}"/>
              </a:ext>
            </a:extLst>
          </p:cNvPr>
          <p:cNvPicPr>
            <a:picLocks noChangeAspect="1"/>
          </p:cNvPicPr>
          <p:nvPr/>
        </p:nvPicPr>
        <p:blipFill>
          <a:blip r:embed="rId4"/>
          <a:stretch>
            <a:fillRect/>
          </a:stretch>
        </p:blipFill>
        <p:spPr>
          <a:xfrm>
            <a:off x="7261142" y="907473"/>
            <a:ext cx="4173091" cy="4359276"/>
          </a:xfrm>
          <a:prstGeom prst="rect">
            <a:avLst/>
          </a:prstGeom>
        </p:spPr>
      </p:pic>
      <p:sp>
        <p:nvSpPr>
          <p:cNvPr id="9" name="TextBox 8">
            <a:extLst>
              <a:ext uri="{FF2B5EF4-FFF2-40B4-BE49-F238E27FC236}">
                <a16:creationId xmlns:a16="http://schemas.microsoft.com/office/drawing/2014/main" id="{192B190B-79FF-4031-8660-8E2880052CD9}"/>
              </a:ext>
            </a:extLst>
          </p:cNvPr>
          <p:cNvSpPr txBox="1"/>
          <p:nvPr/>
        </p:nvSpPr>
        <p:spPr>
          <a:xfrm>
            <a:off x="6934200" y="5301385"/>
            <a:ext cx="5105400" cy="276999"/>
          </a:xfrm>
          <a:prstGeom prst="rect">
            <a:avLst/>
          </a:prstGeom>
          <a:noFill/>
        </p:spPr>
        <p:txBody>
          <a:bodyPr wrap="square" rtlCol="0">
            <a:spAutoFit/>
          </a:bodyPr>
          <a:lstStyle/>
          <a:p>
            <a:r>
              <a:rPr lang="en-US" sz="1200" dirty="0"/>
              <a:t>An encoder-decoder or sequence-to-sequence RNN architecture</a:t>
            </a:r>
            <a:endParaRPr lang="en-IN" sz="1200" dirty="0"/>
          </a:p>
        </p:txBody>
      </p:sp>
      <p:sp>
        <p:nvSpPr>
          <p:cNvPr id="10" name="TextBox 9">
            <a:extLst>
              <a:ext uri="{FF2B5EF4-FFF2-40B4-BE49-F238E27FC236}">
                <a16:creationId xmlns:a16="http://schemas.microsoft.com/office/drawing/2014/main" id="{88E861A6-A558-4690-87C1-AB6FC452591C}"/>
              </a:ext>
            </a:extLst>
          </p:cNvPr>
          <p:cNvSpPr txBox="1"/>
          <p:nvPr/>
        </p:nvSpPr>
        <p:spPr>
          <a:xfrm>
            <a:off x="983993" y="5569804"/>
            <a:ext cx="3297698" cy="830997"/>
          </a:xfrm>
          <a:prstGeom prst="rect">
            <a:avLst/>
          </a:prstGeom>
          <a:noFill/>
        </p:spPr>
        <p:txBody>
          <a:bodyPr wrap="none" rtlCol="0">
            <a:spAutoFit/>
          </a:bodyPr>
          <a:lstStyle/>
          <a:p>
            <a:r>
              <a:rPr lang="en-US" sz="1200" dirty="0"/>
              <a:t>Think of:</a:t>
            </a:r>
          </a:p>
          <a:p>
            <a:pPr>
              <a:buFont typeface="Arial" panose="020B0604020202020204" pitchFamily="34" charset="0"/>
              <a:buChar char="•"/>
            </a:pPr>
            <a:r>
              <a:rPr lang="en-US" sz="1200" dirty="0"/>
              <a:t> Encoder = </a:t>
            </a:r>
            <a:r>
              <a:rPr lang="en-US" sz="1200" b="1" dirty="0"/>
              <a:t>Reader</a:t>
            </a:r>
            <a:r>
              <a:rPr lang="en-US" sz="1200" dirty="0"/>
              <a:t> </a:t>
            </a:r>
          </a:p>
          <a:p>
            <a:pPr>
              <a:buFont typeface="Arial" panose="020B0604020202020204" pitchFamily="34" charset="0"/>
              <a:buChar char="•"/>
            </a:pPr>
            <a:r>
              <a:rPr lang="en-US" sz="1200" dirty="0"/>
              <a:t> Decoder = </a:t>
            </a:r>
            <a:r>
              <a:rPr lang="en-US" sz="1200" b="1" dirty="0"/>
              <a:t>Writer</a:t>
            </a:r>
            <a:r>
              <a:rPr lang="en-US" sz="1200" dirty="0"/>
              <a:t> </a:t>
            </a:r>
          </a:p>
          <a:p>
            <a:pPr>
              <a:buFont typeface="Arial" panose="020B0604020202020204" pitchFamily="34" charset="0"/>
              <a:buChar char="•"/>
            </a:pPr>
            <a:r>
              <a:rPr lang="en-US" sz="1200" dirty="0"/>
              <a:t> C = </a:t>
            </a:r>
            <a:r>
              <a:rPr lang="en-US" sz="1200" b="1" dirty="0"/>
              <a:t>Understanding of the sentence</a:t>
            </a:r>
            <a:endParaRPr lang="en-IN" sz="1200" dirty="0"/>
          </a:p>
        </p:txBody>
      </p:sp>
    </p:spTree>
    <p:extLst>
      <p:ext uri="{BB962C8B-B14F-4D97-AF65-F5344CB8AC3E}">
        <p14:creationId xmlns:p14="http://schemas.microsoft.com/office/powerpoint/2010/main" val="34185447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84ADA-4D45-4641-8946-43DCCD430B2F}"/>
              </a:ext>
            </a:extLst>
          </p:cNvPr>
          <p:cNvSpPr>
            <a:spLocks noGrp="1"/>
          </p:cNvSpPr>
          <p:nvPr>
            <p:ph type="title"/>
          </p:nvPr>
        </p:nvSpPr>
        <p:spPr/>
        <p:txBody>
          <a:bodyPr/>
          <a:lstStyle/>
          <a:p>
            <a:r>
              <a:rPr lang="en-IN" sz="2400" dirty="0"/>
              <a:t>Encoder-Decoder (Sequence-to-Sequence) Architectures</a:t>
            </a:r>
          </a:p>
        </p:txBody>
      </p:sp>
      <p:sp>
        <p:nvSpPr>
          <p:cNvPr id="3" name="Content Placeholder 2">
            <a:extLst>
              <a:ext uri="{FF2B5EF4-FFF2-40B4-BE49-F238E27FC236}">
                <a16:creationId xmlns:a16="http://schemas.microsoft.com/office/drawing/2014/main" id="{377C1F59-80F0-4DF0-BF4A-2CEB3C21BC81}"/>
              </a:ext>
            </a:extLst>
          </p:cNvPr>
          <p:cNvSpPr>
            <a:spLocks noGrp="1"/>
          </p:cNvSpPr>
          <p:nvPr>
            <p:ph idx="1"/>
          </p:nvPr>
        </p:nvSpPr>
        <p:spPr/>
        <p:txBody>
          <a:bodyPr/>
          <a:lstStyle/>
          <a:p>
            <a:pPr marL="0" indent="0">
              <a:buNone/>
            </a:pPr>
            <a:r>
              <a:rPr lang="en-US" sz="1800" dirty="0"/>
              <a:t>How it works (Step-by-Step)</a:t>
            </a:r>
          </a:p>
          <a:p>
            <a:pPr marL="0" indent="0">
              <a:buNone/>
            </a:pPr>
            <a:endParaRPr lang="en-IN" sz="1800" dirty="0"/>
          </a:p>
        </p:txBody>
      </p:sp>
      <p:sp>
        <p:nvSpPr>
          <p:cNvPr id="4" name="Slide Number Placeholder 3">
            <a:extLst>
              <a:ext uri="{FF2B5EF4-FFF2-40B4-BE49-F238E27FC236}">
                <a16:creationId xmlns:a16="http://schemas.microsoft.com/office/drawing/2014/main" id="{A42F5A7E-2A0B-41CA-832B-6B464B211028}"/>
              </a:ext>
            </a:extLst>
          </p:cNvPr>
          <p:cNvSpPr>
            <a:spLocks noGrp="1"/>
          </p:cNvSpPr>
          <p:nvPr>
            <p:ph type="sldNum" sz="quarter" idx="12"/>
          </p:nvPr>
        </p:nvSpPr>
        <p:spPr/>
        <p:txBody>
          <a:bodyPr/>
          <a:lstStyle/>
          <a:p>
            <a:fld id="{BB2CE0DE-867F-455F-B20B-96D381B4AB71}" type="slidenum">
              <a:rPr lang="en-US" smtClean="0"/>
              <a:t>55</a:t>
            </a:fld>
            <a:endParaRPr lang="en-US"/>
          </a:p>
        </p:txBody>
      </p:sp>
      <p:pic>
        <p:nvPicPr>
          <p:cNvPr id="6" name="Picture 5">
            <a:extLst>
              <a:ext uri="{FF2B5EF4-FFF2-40B4-BE49-F238E27FC236}">
                <a16:creationId xmlns:a16="http://schemas.microsoft.com/office/drawing/2014/main" id="{47840855-AB98-43C4-ACA1-FF698E8C02DA}"/>
              </a:ext>
            </a:extLst>
          </p:cNvPr>
          <p:cNvPicPr>
            <a:picLocks noChangeAspect="1"/>
          </p:cNvPicPr>
          <p:nvPr/>
        </p:nvPicPr>
        <p:blipFill>
          <a:blip r:embed="rId2"/>
          <a:stretch>
            <a:fillRect/>
          </a:stretch>
        </p:blipFill>
        <p:spPr>
          <a:xfrm>
            <a:off x="457200" y="1618540"/>
            <a:ext cx="4677428" cy="5087060"/>
          </a:xfrm>
          <a:prstGeom prst="rect">
            <a:avLst/>
          </a:prstGeom>
        </p:spPr>
      </p:pic>
      <p:pic>
        <p:nvPicPr>
          <p:cNvPr id="7" name="Picture 6">
            <a:extLst>
              <a:ext uri="{FF2B5EF4-FFF2-40B4-BE49-F238E27FC236}">
                <a16:creationId xmlns:a16="http://schemas.microsoft.com/office/drawing/2014/main" id="{9AF4EF51-B6CE-4D5C-B747-C1BD82C31D59}"/>
              </a:ext>
            </a:extLst>
          </p:cNvPr>
          <p:cNvPicPr>
            <a:picLocks noChangeAspect="1"/>
          </p:cNvPicPr>
          <p:nvPr/>
        </p:nvPicPr>
        <p:blipFill>
          <a:blip r:embed="rId3"/>
          <a:stretch>
            <a:fillRect/>
          </a:stretch>
        </p:blipFill>
        <p:spPr>
          <a:xfrm>
            <a:off x="7261142" y="907473"/>
            <a:ext cx="4173091" cy="4359276"/>
          </a:xfrm>
          <a:prstGeom prst="rect">
            <a:avLst/>
          </a:prstGeom>
        </p:spPr>
      </p:pic>
    </p:spTree>
    <p:extLst>
      <p:ext uri="{BB962C8B-B14F-4D97-AF65-F5344CB8AC3E}">
        <p14:creationId xmlns:p14="http://schemas.microsoft.com/office/powerpoint/2010/main" val="26741909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2ACE5-00CC-4475-A8DD-BDBB31BEE3E1}"/>
              </a:ext>
            </a:extLst>
          </p:cNvPr>
          <p:cNvSpPr>
            <a:spLocks noGrp="1"/>
          </p:cNvSpPr>
          <p:nvPr>
            <p:ph type="title"/>
          </p:nvPr>
        </p:nvSpPr>
        <p:spPr/>
        <p:txBody>
          <a:bodyPr/>
          <a:lstStyle/>
          <a:p>
            <a:r>
              <a:rPr lang="en-IN" sz="2400" dirty="0"/>
              <a:t>Encoder-Decoder (Sequence-to-Sequence) Architectures</a:t>
            </a:r>
          </a:p>
        </p:txBody>
      </p:sp>
      <p:sp>
        <p:nvSpPr>
          <p:cNvPr id="3" name="Content Placeholder 2">
            <a:extLst>
              <a:ext uri="{FF2B5EF4-FFF2-40B4-BE49-F238E27FC236}">
                <a16:creationId xmlns:a16="http://schemas.microsoft.com/office/drawing/2014/main" id="{2615BFF5-B579-4EAB-A9C0-D1F721237C30}"/>
              </a:ext>
            </a:extLst>
          </p:cNvPr>
          <p:cNvSpPr>
            <a:spLocks noGrp="1"/>
          </p:cNvSpPr>
          <p:nvPr>
            <p:ph idx="1"/>
          </p:nvPr>
        </p:nvSpPr>
        <p:spPr/>
        <p:txBody>
          <a:bodyPr/>
          <a:lstStyle/>
          <a:p>
            <a:r>
              <a:rPr lang="en-US" sz="1600" dirty="0"/>
              <a:t>The encoder–decoder architecture, also known as sequence-to-sequence learning, is used to map an input sequence to an output sequence of possibly different length. </a:t>
            </a:r>
          </a:p>
          <a:p>
            <a:r>
              <a:rPr lang="en-US" sz="1600" dirty="0"/>
              <a:t>It consists of two RNNs: an encoder that processes the input sequence and produces a fixed-length context vector, and a decoder that generates the output sequence conditioned on this context. The decoder predicts each output element using the context and previous outputs. </a:t>
            </a:r>
          </a:p>
          <a:p>
            <a:r>
              <a:rPr lang="en-US" sz="1600" dirty="0"/>
              <a:t>This architecture is widely used in applications such as machine translation and speech recognition. </a:t>
            </a:r>
          </a:p>
          <a:p>
            <a:endParaRPr lang="en-US" sz="1600" dirty="0"/>
          </a:p>
          <a:p>
            <a:endParaRPr lang="en-US" sz="1600" dirty="0"/>
          </a:p>
          <a:p>
            <a:endParaRPr lang="en-US" sz="1600" dirty="0"/>
          </a:p>
          <a:p>
            <a:r>
              <a:rPr lang="en-US" sz="1600" dirty="0"/>
              <a:t>One clear </a:t>
            </a:r>
            <a:r>
              <a:rPr lang="en-US" sz="1600" b="1" dirty="0"/>
              <a:t>limitation</a:t>
            </a:r>
            <a:r>
              <a:rPr lang="en-US" sz="1600" dirty="0"/>
              <a:t> of this architecture (Encoder-Decoder or Sequence-to-Sequence) is when the context C output by the encoder RNN has a dimension that is too small to properly summarize a long sequence. </a:t>
            </a:r>
          </a:p>
          <a:p>
            <a:r>
              <a:rPr lang="en-US" sz="1600" dirty="0"/>
              <a:t>To make C a variable-length sequence rather than a fixed-size vector. An </a:t>
            </a:r>
            <a:r>
              <a:rPr lang="en-US" sz="1600" b="1" dirty="0"/>
              <a:t>attention mechanism </a:t>
            </a:r>
            <a:r>
              <a:rPr lang="en-US" sz="1600" dirty="0"/>
              <a:t>that learns to associate elements of the sequence C to elements of the output can be introduced.</a:t>
            </a:r>
          </a:p>
          <a:p>
            <a:r>
              <a:rPr lang="en-US" sz="1600" dirty="0"/>
              <a:t>Attention Mechanism: Allows decoder to look at all encoder states.</a:t>
            </a:r>
          </a:p>
          <a:p>
            <a:endParaRPr lang="en-US" sz="1400" dirty="0"/>
          </a:p>
          <a:p>
            <a:endParaRPr lang="en-IN" sz="1400" dirty="0"/>
          </a:p>
        </p:txBody>
      </p:sp>
      <p:sp>
        <p:nvSpPr>
          <p:cNvPr id="4" name="Slide Number Placeholder 3">
            <a:extLst>
              <a:ext uri="{FF2B5EF4-FFF2-40B4-BE49-F238E27FC236}">
                <a16:creationId xmlns:a16="http://schemas.microsoft.com/office/drawing/2014/main" id="{C55BCEB4-D2D2-4232-942F-462D31D85F19}"/>
              </a:ext>
            </a:extLst>
          </p:cNvPr>
          <p:cNvSpPr>
            <a:spLocks noGrp="1"/>
          </p:cNvSpPr>
          <p:nvPr>
            <p:ph type="sldNum" sz="quarter" idx="12"/>
          </p:nvPr>
        </p:nvSpPr>
        <p:spPr/>
        <p:txBody>
          <a:bodyPr/>
          <a:lstStyle/>
          <a:p>
            <a:fld id="{BB2CE0DE-867F-455F-B20B-96D381B4AB71}" type="slidenum">
              <a:rPr lang="en-US" smtClean="0"/>
              <a:t>56</a:t>
            </a:fld>
            <a:endParaRPr lang="en-US"/>
          </a:p>
        </p:txBody>
      </p:sp>
    </p:spTree>
    <p:extLst>
      <p:ext uri="{BB962C8B-B14F-4D97-AF65-F5344CB8AC3E}">
        <p14:creationId xmlns:p14="http://schemas.microsoft.com/office/powerpoint/2010/main" val="5593539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10962-B175-4B65-A7F8-225A5E59A240}"/>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30179CE1-B75D-431E-BBDF-047668A1740D}"/>
              </a:ext>
            </a:extLst>
          </p:cNvPr>
          <p:cNvSpPr>
            <a:spLocks noGrp="1"/>
          </p:cNvSpPr>
          <p:nvPr>
            <p:ph idx="1"/>
          </p:nvPr>
        </p:nvSpPr>
        <p:spPr/>
        <p:txBody>
          <a:bodyPr/>
          <a:lstStyle/>
          <a:p>
            <a:pPr algn="just"/>
            <a:r>
              <a:rPr lang="en-US" sz="2000" dirty="0"/>
              <a:t>Design an encoder- decoder sequence architecture that can map the input sequence to an output sequence that are of different lengths. Also describe the process of the mapping using the architecture.</a:t>
            </a:r>
          </a:p>
          <a:p>
            <a:pPr algn="just"/>
            <a:r>
              <a:rPr lang="en-US" sz="2000" dirty="0"/>
              <a:t>How the Sequence to Sequence Model works?</a:t>
            </a:r>
          </a:p>
          <a:p>
            <a:pPr algn="just"/>
            <a:endParaRPr lang="en-IN" sz="2000" dirty="0"/>
          </a:p>
        </p:txBody>
      </p:sp>
      <p:sp>
        <p:nvSpPr>
          <p:cNvPr id="4" name="Slide Number Placeholder 3">
            <a:extLst>
              <a:ext uri="{FF2B5EF4-FFF2-40B4-BE49-F238E27FC236}">
                <a16:creationId xmlns:a16="http://schemas.microsoft.com/office/drawing/2014/main" id="{48A88C12-DE2B-44D9-B6B3-1EBBA8ED8F75}"/>
              </a:ext>
            </a:extLst>
          </p:cNvPr>
          <p:cNvSpPr>
            <a:spLocks noGrp="1"/>
          </p:cNvSpPr>
          <p:nvPr>
            <p:ph type="sldNum" sz="quarter" idx="12"/>
          </p:nvPr>
        </p:nvSpPr>
        <p:spPr/>
        <p:txBody>
          <a:bodyPr/>
          <a:lstStyle/>
          <a:p>
            <a:fld id="{BB2CE0DE-867F-455F-B20B-96D381B4AB71}" type="slidenum">
              <a:rPr lang="en-US" smtClean="0"/>
              <a:t>57</a:t>
            </a:fld>
            <a:endParaRPr lang="en-US"/>
          </a:p>
        </p:txBody>
      </p:sp>
    </p:spTree>
    <p:extLst>
      <p:ext uri="{BB962C8B-B14F-4D97-AF65-F5344CB8AC3E}">
        <p14:creationId xmlns:p14="http://schemas.microsoft.com/office/powerpoint/2010/main" val="28764430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AF799-763D-98EA-2843-E5AD9175943B}"/>
              </a:ext>
            </a:extLst>
          </p:cNvPr>
          <p:cNvSpPr>
            <a:spLocks noGrp="1"/>
          </p:cNvSpPr>
          <p:nvPr>
            <p:ph type="title"/>
          </p:nvPr>
        </p:nvSpPr>
        <p:spPr/>
        <p:txBody>
          <a:bodyPr/>
          <a:lstStyle/>
          <a:p>
            <a:r>
              <a:rPr lang="en-US" dirty="0">
                <a:solidFill>
                  <a:srgbClr val="262626"/>
                </a:solidFill>
                <a:latin typeface="Inter"/>
              </a:rPr>
              <a:t>Deep Recurrent Networks</a:t>
            </a:r>
            <a:endParaRPr lang="en-IN" dirty="0"/>
          </a:p>
        </p:txBody>
      </p:sp>
      <p:sp>
        <p:nvSpPr>
          <p:cNvPr id="3" name="Content Placeholder 2">
            <a:extLst>
              <a:ext uri="{FF2B5EF4-FFF2-40B4-BE49-F238E27FC236}">
                <a16:creationId xmlns:a16="http://schemas.microsoft.com/office/drawing/2014/main" id="{F4F51AA9-17A7-3DD2-3B10-CC839CB59A8D}"/>
              </a:ext>
            </a:extLst>
          </p:cNvPr>
          <p:cNvSpPr>
            <a:spLocks noGrp="1"/>
          </p:cNvSpPr>
          <p:nvPr>
            <p:ph idx="1"/>
          </p:nvPr>
        </p:nvSpPr>
        <p:spPr/>
        <p:txBody>
          <a:bodyPr/>
          <a:lstStyle/>
          <a:p>
            <a:pPr marL="0" indent="0">
              <a:buNone/>
            </a:pPr>
            <a:r>
              <a:rPr lang="en-US" sz="1600" dirty="0"/>
              <a:t>The computation in most RNNs can be decomposed into three blocks of parameters and associated transformations: </a:t>
            </a:r>
          </a:p>
          <a:p>
            <a:pPr marL="0" indent="0">
              <a:buNone/>
            </a:pPr>
            <a:r>
              <a:rPr lang="en-US" sz="1600" dirty="0"/>
              <a:t>1. From the input to the hidden state, </a:t>
            </a:r>
          </a:p>
          <a:p>
            <a:pPr marL="0" indent="0">
              <a:buNone/>
            </a:pPr>
            <a:r>
              <a:rPr lang="en-US" sz="1600" dirty="0"/>
              <a:t>2. From the previous hidden state to the next hidden state, and </a:t>
            </a:r>
          </a:p>
          <a:p>
            <a:pPr marL="0" indent="0">
              <a:buNone/>
            </a:pPr>
            <a:r>
              <a:rPr lang="en-US" sz="1600" dirty="0"/>
              <a:t>3. From the hidden state to the output. With the RNN architecture of figure 10.3, each of these three blocks is associated with a single weight matrix (U, V, W). In other words, when the network is unfolded, each of these corresponds to a </a:t>
            </a:r>
            <a:r>
              <a:rPr lang="en-US" sz="1600" b="1" dirty="0"/>
              <a:t>shallow transformation</a:t>
            </a:r>
            <a:r>
              <a:rPr lang="en-US" sz="1600" dirty="0"/>
              <a:t>.</a:t>
            </a:r>
          </a:p>
          <a:p>
            <a:pPr marL="0" indent="0">
              <a:buNone/>
            </a:pPr>
            <a:endParaRPr lang="en-US" sz="1600" dirty="0"/>
          </a:p>
          <a:p>
            <a:pPr marL="0" indent="0">
              <a:buNone/>
            </a:pPr>
            <a:r>
              <a:rPr lang="en-US" sz="1600" dirty="0"/>
              <a:t>Why It is Called “Shallow”</a:t>
            </a:r>
          </a:p>
          <a:p>
            <a:pPr marL="0" indent="0">
              <a:buNone/>
            </a:pPr>
            <a:r>
              <a:rPr lang="en-US" sz="1600" dirty="0"/>
              <a:t>Even though RNN looks deep across time:</a:t>
            </a:r>
          </a:p>
          <a:p>
            <a:pPr marL="0" indent="0">
              <a:buNone/>
            </a:pPr>
            <a:r>
              <a:rPr lang="en-US" sz="1600" dirty="0"/>
              <a:t>h(1) → h(2) → h(3) → h(4)</a:t>
            </a:r>
          </a:p>
          <a:p>
            <a:pPr marL="0" indent="0">
              <a:buNone/>
            </a:pPr>
            <a:r>
              <a:rPr lang="en-US" sz="1600" dirty="0"/>
              <a:t>At each time step: Input → Hidden → Output </a:t>
            </a:r>
          </a:p>
          <a:p>
            <a:pPr marL="0" indent="0">
              <a:buNone/>
            </a:pPr>
            <a:r>
              <a:rPr lang="en-US" sz="1600" dirty="0"/>
              <a:t>		(only one layer)</a:t>
            </a:r>
          </a:p>
          <a:p>
            <a:pPr marL="0" indent="0">
              <a:buNone/>
            </a:pPr>
            <a:endParaRPr lang="en-US" sz="1600" dirty="0"/>
          </a:p>
          <a:p>
            <a:pPr marL="0" indent="0">
              <a:buNone/>
            </a:pPr>
            <a:r>
              <a:rPr lang="en-US" sz="1600" dirty="0"/>
              <a:t>So:</a:t>
            </a:r>
          </a:p>
          <a:p>
            <a:pPr marL="0" indent="0">
              <a:buNone/>
            </a:pPr>
            <a:r>
              <a:rPr lang="en-US" sz="1600" dirty="0"/>
              <a:t>Deep in time dimension</a:t>
            </a:r>
          </a:p>
          <a:p>
            <a:pPr marL="0" indent="0">
              <a:buNone/>
            </a:pPr>
            <a:r>
              <a:rPr lang="en-US" sz="1600" dirty="0"/>
              <a:t>Not deep in representation</a:t>
            </a:r>
            <a:endParaRPr lang="en-IN" sz="1600" dirty="0"/>
          </a:p>
        </p:txBody>
      </p:sp>
      <p:sp>
        <p:nvSpPr>
          <p:cNvPr id="4" name="Slide Number Placeholder 3">
            <a:extLst>
              <a:ext uri="{FF2B5EF4-FFF2-40B4-BE49-F238E27FC236}">
                <a16:creationId xmlns:a16="http://schemas.microsoft.com/office/drawing/2014/main" id="{A01B270C-9E7F-1141-FB03-8A6488BFEDEC}"/>
              </a:ext>
            </a:extLst>
          </p:cNvPr>
          <p:cNvSpPr>
            <a:spLocks noGrp="1"/>
          </p:cNvSpPr>
          <p:nvPr>
            <p:ph type="sldNum" sz="quarter" idx="12"/>
          </p:nvPr>
        </p:nvSpPr>
        <p:spPr/>
        <p:txBody>
          <a:bodyPr/>
          <a:lstStyle/>
          <a:p>
            <a:fld id="{BB2CE0DE-867F-455F-B20B-96D381B4AB71}" type="slidenum">
              <a:rPr lang="en-US" smtClean="0"/>
              <a:t>58</a:t>
            </a:fld>
            <a:endParaRPr lang="en-US"/>
          </a:p>
        </p:txBody>
      </p:sp>
      <p:pic>
        <p:nvPicPr>
          <p:cNvPr id="6" name="Picture 5">
            <a:extLst>
              <a:ext uri="{FF2B5EF4-FFF2-40B4-BE49-F238E27FC236}">
                <a16:creationId xmlns:a16="http://schemas.microsoft.com/office/drawing/2014/main" id="{D65AF98F-7956-4028-9001-046CE04FF787}"/>
              </a:ext>
            </a:extLst>
          </p:cNvPr>
          <p:cNvPicPr>
            <a:picLocks noChangeAspect="1"/>
          </p:cNvPicPr>
          <p:nvPr/>
        </p:nvPicPr>
        <p:blipFill>
          <a:blip r:embed="rId2"/>
          <a:stretch>
            <a:fillRect/>
          </a:stretch>
        </p:blipFill>
        <p:spPr>
          <a:xfrm>
            <a:off x="7086600" y="3208878"/>
            <a:ext cx="4419600" cy="3039522"/>
          </a:xfrm>
          <a:prstGeom prst="rect">
            <a:avLst/>
          </a:prstGeom>
        </p:spPr>
      </p:pic>
    </p:spTree>
    <p:extLst>
      <p:ext uri="{BB962C8B-B14F-4D97-AF65-F5344CB8AC3E}">
        <p14:creationId xmlns:p14="http://schemas.microsoft.com/office/powerpoint/2010/main" val="16134503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05355-A2A9-432B-82E6-13E833FB26CA}"/>
              </a:ext>
            </a:extLst>
          </p:cNvPr>
          <p:cNvSpPr>
            <a:spLocks noGrp="1"/>
          </p:cNvSpPr>
          <p:nvPr>
            <p:ph type="title"/>
          </p:nvPr>
        </p:nvSpPr>
        <p:spPr/>
        <p:txBody>
          <a:bodyPr/>
          <a:lstStyle/>
          <a:p>
            <a:r>
              <a:rPr lang="en-US" dirty="0">
                <a:solidFill>
                  <a:srgbClr val="262626"/>
                </a:solidFill>
                <a:latin typeface="Inter"/>
              </a:rPr>
              <a:t>Deep Recurrent Networks</a:t>
            </a:r>
            <a:endParaRPr lang="en-IN" dirty="0"/>
          </a:p>
        </p:txBody>
      </p:sp>
      <p:sp>
        <p:nvSpPr>
          <p:cNvPr id="3" name="Content Placeholder 2">
            <a:extLst>
              <a:ext uri="{FF2B5EF4-FFF2-40B4-BE49-F238E27FC236}">
                <a16:creationId xmlns:a16="http://schemas.microsoft.com/office/drawing/2014/main" id="{E0327806-8617-4C9A-AD08-15970DA6B40E}"/>
              </a:ext>
            </a:extLst>
          </p:cNvPr>
          <p:cNvSpPr>
            <a:spLocks noGrp="1"/>
          </p:cNvSpPr>
          <p:nvPr>
            <p:ph idx="1"/>
          </p:nvPr>
        </p:nvSpPr>
        <p:spPr/>
        <p:txBody>
          <a:bodyPr/>
          <a:lstStyle/>
          <a:p>
            <a:r>
              <a:rPr lang="en-US" sz="2400" dirty="0"/>
              <a:t>When the basic RNN is unfolded in time, these transformations are repeated but remain simple. This motivates deep recurrent networks, where multiple layers are introduced to increase model capacity.</a:t>
            </a:r>
          </a:p>
          <a:p>
            <a:r>
              <a:rPr lang="en-US" sz="2400" dirty="0"/>
              <a:t>A Deep Recurrent Network introduces multiple layers or deeper transformations either:</a:t>
            </a:r>
          </a:p>
          <a:p>
            <a:pPr lvl="1"/>
            <a:r>
              <a:rPr lang="en-US" sz="1800" dirty="0"/>
              <a:t>within each time step, or</a:t>
            </a:r>
          </a:p>
          <a:p>
            <a:pPr lvl="1"/>
            <a:r>
              <a:rPr lang="en-US" sz="1800" dirty="0"/>
              <a:t>across time, or</a:t>
            </a:r>
          </a:p>
          <a:p>
            <a:pPr lvl="1"/>
            <a:r>
              <a:rPr lang="en-US" sz="1800" dirty="0"/>
              <a:t>across state representations</a:t>
            </a:r>
            <a:endParaRPr lang="en-IN" sz="1800" dirty="0"/>
          </a:p>
        </p:txBody>
      </p:sp>
      <p:sp>
        <p:nvSpPr>
          <p:cNvPr id="4" name="Slide Number Placeholder 3">
            <a:extLst>
              <a:ext uri="{FF2B5EF4-FFF2-40B4-BE49-F238E27FC236}">
                <a16:creationId xmlns:a16="http://schemas.microsoft.com/office/drawing/2014/main" id="{E188F15B-8F29-4BC9-90A6-6A60AC96774A}"/>
              </a:ext>
            </a:extLst>
          </p:cNvPr>
          <p:cNvSpPr>
            <a:spLocks noGrp="1"/>
          </p:cNvSpPr>
          <p:nvPr>
            <p:ph type="sldNum" sz="quarter" idx="12"/>
          </p:nvPr>
        </p:nvSpPr>
        <p:spPr/>
        <p:txBody>
          <a:bodyPr/>
          <a:lstStyle/>
          <a:p>
            <a:fld id="{BB2CE0DE-867F-455F-B20B-96D381B4AB71}" type="slidenum">
              <a:rPr lang="en-US" smtClean="0"/>
              <a:t>59</a:t>
            </a:fld>
            <a:endParaRPr lang="en-US"/>
          </a:p>
        </p:txBody>
      </p:sp>
    </p:spTree>
    <p:extLst>
      <p:ext uri="{BB962C8B-B14F-4D97-AF65-F5344CB8AC3E}">
        <p14:creationId xmlns:p14="http://schemas.microsoft.com/office/powerpoint/2010/main" val="5893670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3AE7F-3277-42FE-8B97-2F08BA4D65D3}"/>
              </a:ext>
            </a:extLst>
          </p:cNvPr>
          <p:cNvSpPr>
            <a:spLocks noGrp="1"/>
          </p:cNvSpPr>
          <p:nvPr>
            <p:ph type="title"/>
          </p:nvPr>
        </p:nvSpPr>
        <p:spPr/>
        <p:txBody>
          <a:bodyPr/>
          <a:lstStyle/>
          <a:p>
            <a:r>
              <a:rPr lang="en-US" dirty="0">
                <a:solidFill>
                  <a:srgbClr val="262626"/>
                </a:solidFill>
                <a:latin typeface="Inter"/>
              </a:rPr>
              <a:t>Deep Recurrent Networks</a:t>
            </a:r>
            <a:endParaRPr lang="en-IN" dirty="0"/>
          </a:p>
        </p:txBody>
      </p:sp>
      <p:sp>
        <p:nvSpPr>
          <p:cNvPr id="3" name="Content Placeholder 2">
            <a:extLst>
              <a:ext uri="{FF2B5EF4-FFF2-40B4-BE49-F238E27FC236}">
                <a16:creationId xmlns:a16="http://schemas.microsoft.com/office/drawing/2014/main" id="{CD0D8AE1-C105-4CC6-B6A3-3E331EFA4ED4}"/>
              </a:ext>
            </a:extLst>
          </p:cNvPr>
          <p:cNvSpPr>
            <a:spLocks noGrp="1"/>
          </p:cNvSpPr>
          <p:nvPr>
            <p:ph idx="1"/>
          </p:nvPr>
        </p:nvSpPr>
        <p:spPr/>
        <p:txBody>
          <a:bodyPr/>
          <a:lstStyle/>
          <a:p>
            <a:pPr marL="0" indent="0">
              <a:buNone/>
            </a:pPr>
            <a:r>
              <a:rPr lang="en-US" sz="1200" dirty="0"/>
              <a:t>Different Types of Deep Recurrent Networks</a:t>
            </a:r>
          </a:p>
          <a:p>
            <a:pPr marL="0" indent="0">
              <a:buNone/>
            </a:pPr>
            <a:r>
              <a:rPr lang="en-US" sz="1200" dirty="0"/>
              <a:t>1. Deep Hidden State (Hierarchical State): The hidden recurrent state can be broken down into groups organized hierarchically</a:t>
            </a:r>
          </a:p>
          <a:p>
            <a:pPr marL="0" indent="0">
              <a:buNone/>
            </a:pPr>
            <a:r>
              <a:rPr lang="en-US" sz="1200" dirty="0"/>
              <a:t>2. Deep Transition Functions (MLP inside RNN): Deeper computation (e.g., an MLP) can be introduced in the input-to-hidden, hidden-to-hidden and hidden-to-output parts. This may lengthen the shortest path linking different time steps. </a:t>
            </a:r>
          </a:p>
          <a:p>
            <a:pPr marL="0" indent="0">
              <a:buNone/>
            </a:pPr>
            <a:r>
              <a:rPr lang="en-US" sz="1200" dirty="0"/>
              <a:t>3. Skip Connections (Residual Connections): The path-lengthening effect can be mitigated by introducing skip connections.</a:t>
            </a:r>
            <a:endParaRPr lang="en-IN" sz="1200" dirty="0"/>
          </a:p>
        </p:txBody>
      </p:sp>
      <p:sp>
        <p:nvSpPr>
          <p:cNvPr id="4" name="Slide Number Placeholder 3">
            <a:extLst>
              <a:ext uri="{FF2B5EF4-FFF2-40B4-BE49-F238E27FC236}">
                <a16:creationId xmlns:a16="http://schemas.microsoft.com/office/drawing/2014/main" id="{25946649-0C7B-46D8-912F-39FED1C15055}"/>
              </a:ext>
            </a:extLst>
          </p:cNvPr>
          <p:cNvSpPr>
            <a:spLocks noGrp="1"/>
          </p:cNvSpPr>
          <p:nvPr>
            <p:ph type="sldNum" sz="quarter" idx="12"/>
          </p:nvPr>
        </p:nvSpPr>
        <p:spPr/>
        <p:txBody>
          <a:bodyPr/>
          <a:lstStyle/>
          <a:p>
            <a:fld id="{BB2CE0DE-867F-455F-B20B-96D381B4AB71}" type="slidenum">
              <a:rPr lang="en-US" smtClean="0"/>
              <a:t>60</a:t>
            </a:fld>
            <a:endParaRPr lang="en-US"/>
          </a:p>
        </p:txBody>
      </p:sp>
      <p:pic>
        <p:nvPicPr>
          <p:cNvPr id="6" name="Picture 5">
            <a:extLst>
              <a:ext uri="{FF2B5EF4-FFF2-40B4-BE49-F238E27FC236}">
                <a16:creationId xmlns:a16="http://schemas.microsoft.com/office/drawing/2014/main" id="{81CB06DC-0DEB-49F4-AEF7-C310D3CFBCBC}"/>
              </a:ext>
            </a:extLst>
          </p:cNvPr>
          <p:cNvPicPr>
            <a:picLocks noChangeAspect="1"/>
          </p:cNvPicPr>
          <p:nvPr/>
        </p:nvPicPr>
        <p:blipFill rotWithShape="1">
          <a:blip r:embed="rId2"/>
          <a:srcRect t="19739"/>
          <a:stretch/>
        </p:blipFill>
        <p:spPr>
          <a:xfrm>
            <a:off x="1275387" y="2814935"/>
            <a:ext cx="1531426" cy="3124200"/>
          </a:xfrm>
          <a:prstGeom prst="rect">
            <a:avLst/>
          </a:prstGeom>
        </p:spPr>
      </p:pic>
      <p:sp>
        <p:nvSpPr>
          <p:cNvPr id="7" name="TextBox 6">
            <a:extLst>
              <a:ext uri="{FF2B5EF4-FFF2-40B4-BE49-F238E27FC236}">
                <a16:creationId xmlns:a16="http://schemas.microsoft.com/office/drawing/2014/main" id="{3FA378DB-195F-47FC-A61F-B36B4CAE46C0}"/>
              </a:ext>
            </a:extLst>
          </p:cNvPr>
          <p:cNvSpPr txBox="1"/>
          <p:nvPr/>
        </p:nvSpPr>
        <p:spPr>
          <a:xfrm>
            <a:off x="1043110" y="5939135"/>
            <a:ext cx="1904689" cy="461665"/>
          </a:xfrm>
          <a:prstGeom prst="rect">
            <a:avLst/>
          </a:prstGeom>
          <a:noFill/>
        </p:spPr>
        <p:txBody>
          <a:bodyPr wrap="none" rtlCol="0">
            <a:spAutoFit/>
          </a:bodyPr>
          <a:lstStyle/>
          <a:p>
            <a:r>
              <a:rPr lang="en-US" sz="1200" dirty="0"/>
              <a:t>1. Deep Hidden State </a:t>
            </a:r>
          </a:p>
          <a:p>
            <a:r>
              <a:rPr lang="en-US" sz="1200" dirty="0"/>
              <a:t>(Hierarchical State)</a:t>
            </a:r>
          </a:p>
        </p:txBody>
      </p:sp>
      <p:pic>
        <p:nvPicPr>
          <p:cNvPr id="9" name="Picture 8">
            <a:extLst>
              <a:ext uri="{FF2B5EF4-FFF2-40B4-BE49-F238E27FC236}">
                <a16:creationId xmlns:a16="http://schemas.microsoft.com/office/drawing/2014/main" id="{98EAD312-98D8-4FAB-8C3D-927AB1C2D566}"/>
              </a:ext>
            </a:extLst>
          </p:cNvPr>
          <p:cNvPicPr>
            <a:picLocks noChangeAspect="1"/>
          </p:cNvPicPr>
          <p:nvPr/>
        </p:nvPicPr>
        <p:blipFill>
          <a:blip r:embed="rId3"/>
          <a:stretch>
            <a:fillRect/>
          </a:stretch>
        </p:blipFill>
        <p:spPr>
          <a:xfrm>
            <a:off x="4412174" y="2947932"/>
            <a:ext cx="1531426" cy="2991203"/>
          </a:xfrm>
          <a:prstGeom prst="rect">
            <a:avLst/>
          </a:prstGeom>
        </p:spPr>
      </p:pic>
      <p:sp>
        <p:nvSpPr>
          <p:cNvPr id="10" name="TextBox 9">
            <a:extLst>
              <a:ext uri="{FF2B5EF4-FFF2-40B4-BE49-F238E27FC236}">
                <a16:creationId xmlns:a16="http://schemas.microsoft.com/office/drawing/2014/main" id="{E55B06AD-69D3-471C-8063-55053D4B688E}"/>
              </a:ext>
            </a:extLst>
          </p:cNvPr>
          <p:cNvSpPr txBox="1"/>
          <p:nvPr/>
        </p:nvSpPr>
        <p:spPr>
          <a:xfrm>
            <a:off x="3962400" y="5932708"/>
            <a:ext cx="2440027" cy="461665"/>
          </a:xfrm>
          <a:prstGeom prst="rect">
            <a:avLst/>
          </a:prstGeom>
          <a:noFill/>
        </p:spPr>
        <p:txBody>
          <a:bodyPr wrap="none" rtlCol="0">
            <a:spAutoFit/>
          </a:bodyPr>
          <a:lstStyle/>
          <a:p>
            <a:r>
              <a:rPr lang="en-US" sz="1200" dirty="0"/>
              <a:t>2. Deep Transition Functions </a:t>
            </a:r>
          </a:p>
          <a:p>
            <a:r>
              <a:rPr lang="en-US" sz="1200" dirty="0"/>
              <a:t>(MLP inside RNN)</a:t>
            </a:r>
            <a:endParaRPr lang="en-IN" sz="1200" dirty="0"/>
          </a:p>
        </p:txBody>
      </p:sp>
      <p:pic>
        <p:nvPicPr>
          <p:cNvPr id="12" name="Picture 11">
            <a:extLst>
              <a:ext uri="{FF2B5EF4-FFF2-40B4-BE49-F238E27FC236}">
                <a16:creationId xmlns:a16="http://schemas.microsoft.com/office/drawing/2014/main" id="{971B3459-16AB-4F6E-A6ED-0F16013DB602}"/>
              </a:ext>
            </a:extLst>
          </p:cNvPr>
          <p:cNvPicPr>
            <a:picLocks noChangeAspect="1"/>
          </p:cNvPicPr>
          <p:nvPr/>
        </p:nvPicPr>
        <p:blipFill>
          <a:blip r:embed="rId4"/>
          <a:stretch>
            <a:fillRect/>
          </a:stretch>
        </p:blipFill>
        <p:spPr>
          <a:xfrm>
            <a:off x="8077200" y="2997048"/>
            <a:ext cx="1371600" cy="2846339"/>
          </a:xfrm>
          <a:prstGeom prst="rect">
            <a:avLst/>
          </a:prstGeom>
        </p:spPr>
      </p:pic>
      <p:sp>
        <p:nvSpPr>
          <p:cNvPr id="13" name="TextBox 12">
            <a:extLst>
              <a:ext uri="{FF2B5EF4-FFF2-40B4-BE49-F238E27FC236}">
                <a16:creationId xmlns:a16="http://schemas.microsoft.com/office/drawing/2014/main" id="{34AE32C9-B296-45FB-B900-D15A7E96E93A}"/>
              </a:ext>
            </a:extLst>
          </p:cNvPr>
          <p:cNvSpPr txBox="1"/>
          <p:nvPr/>
        </p:nvSpPr>
        <p:spPr>
          <a:xfrm>
            <a:off x="7748654" y="5855879"/>
            <a:ext cx="2037161" cy="461665"/>
          </a:xfrm>
          <a:prstGeom prst="rect">
            <a:avLst/>
          </a:prstGeom>
          <a:noFill/>
        </p:spPr>
        <p:txBody>
          <a:bodyPr wrap="none" rtlCol="0">
            <a:spAutoFit/>
          </a:bodyPr>
          <a:lstStyle/>
          <a:p>
            <a:r>
              <a:rPr lang="en-US" sz="1200" dirty="0"/>
              <a:t>3. Skip Connections </a:t>
            </a:r>
          </a:p>
          <a:p>
            <a:r>
              <a:rPr lang="en-US" sz="1200" dirty="0"/>
              <a:t>(Residual Connections):</a:t>
            </a:r>
            <a:endParaRPr lang="en-IN" sz="1200" dirty="0"/>
          </a:p>
        </p:txBody>
      </p:sp>
    </p:spTree>
    <p:extLst>
      <p:ext uri="{BB962C8B-B14F-4D97-AF65-F5344CB8AC3E}">
        <p14:creationId xmlns:p14="http://schemas.microsoft.com/office/powerpoint/2010/main" val="32349378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41A86-8EF7-488C-9D54-B9A22B5964AE}"/>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B3509352-6BF8-44E6-9754-8588FDCE26F1}"/>
              </a:ext>
            </a:extLst>
          </p:cNvPr>
          <p:cNvSpPr>
            <a:spLocks noGrp="1"/>
          </p:cNvSpPr>
          <p:nvPr>
            <p:ph idx="1"/>
          </p:nvPr>
        </p:nvSpPr>
        <p:spPr/>
        <p:txBody>
          <a:bodyPr/>
          <a:lstStyle/>
          <a:p>
            <a:pPr marL="0" indent="0">
              <a:buNone/>
            </a:pPr>
            <a:r>
              <a:rPr lang="en-US" sz="1800" dirty="0"/>
              <a:t>Discuss how the computation in most recurrent neural networks can be decomposed. Analyze how the blocks of parameters are treated as shallow transformations. How a deeper RNN can be implemented?</a:t>
            </a:r>
          </a:p>
          <a:p>
            <a:pPr marL="0" indent="0">
              <a:buNone/>
            </a:pPr>
            <a:endParaRPr lang="en-IN" sz="1800" dirty="0"/>
          </a:p>
        </p:txBody>
      </p:sp>
      <p:sp>
        <p:nvSpPr>
          <p:cNvPr id="4" name="Slide Number Placeholder 3">
            <a:extLst>
              <a:ext uri="{FF2B5EF4-FFF2-40B4-BE49-F238E27FC236}">
                <a16:creationId xmlns:a16="http://schemas.microsoft.com/office/drawing/2014/main" id="{CC494A47-EB69-497B-A858-CD159AB9C9AB}"/>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22073283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A1FE5-0196-4C4C-B90F-CA055B2BF00B}"/>
              </a:ext>
            </a:extLst>
          </p:cNvPr>
          <p:cNvSpPr>
            <a:spLocks noGrp="1"/>
          </p:cNvSpPr>
          <p:nvPr>
            <p:ph type="title"/>
          </p:nvPr>
        </p:nvSpPr>
        <p:spPr/>
        <p:txBody>
          <a:bodyPr/>
          <a:lstStyle/>
          <a:p>
            <a:r>
              <a:rPr lang="en-US" dirty="0">
                <a:solidFill>
                  <a:srgbClr val="262626"/>
                </a:solidFill>
                <a:latin typeface="Inter"/>
              </a:rPr>
              <a:t>Deep Recurrent Networks</a:t>
            </a:r>
            <a:endParaRPr lang="en-IN" dirty="0"/>
          </a:p>
        </p:txBody>
      </p:sp>
      <p:sp>
        <p:nvSpPr>
          <p:cNvPr id="3" name="Content Placeholder 2">
            <a:extLst>
              <a:ext uri="{FF2B5EF4-FFF2-40B4-BE49-F238E27FC236}">
                <a16:creationId xmlns:a16="http://schemas.microsoft.com/office/drawing/2014/main" id="{8F1CB3A7-D2D3-4942-B674-F33A43C7D00D}"/>
              </a:ext>
            </a:extLst>
          </p:cNvPr>
          <p:cNvSpPr>
            <a:spLocks noGrp="1"/>
          </p:cNvSpPr>
          <p:nvPr>
            <p:ph idx="1"/>
          </p:nvPr>
        </p:nvSpPr>
        <p:spPr/>
        <p:txBody>
          <a:bodyPr/>
          <a:lstStyle/>
          <a:p>
            <a:pPr marL="0" indent="0" algn="just">
              <a:buNone/>
            </a:pPr>
            <a:r>
              <a:rPr lang="en-US" sz="1600" dirty="0"/>
              <a:t>Deep recurrent networks extend standard RNNs by introducing depth in different ways, such as stacking multiple hidden layers, using deep nonlinear transformations within each time step, and adding skip connections to improve gradient flow. These approaches increase the representational capacity of the network, allowing it to learn complex temporal dependencies. However, deeper architectures also introduce challenges such as vanishing gradients, which can be mitigated using techniques like residual connections and gated units.</a:t>
            </a:r>
            <a:endParaRPr lang="en-IN" sz="1600" dirty="0"/>
          </a:p>
        </p:txBody>
      </p:sp>
      <p:sp>
        <p:nvSpPr>
          <p:cNvPr id="4" name="Slide Number Placeholder 3">
            <a:extLst>
              <a:ext uri="{FF2B5EF4-FFF2-40B4-BE49-F238E27FC236}">
                <a16:creationId xmlns:a16="http://schemas.microsoft.com/office/drawing/2014/main" id="{D467031F-D06A-46C1-A2BE-64B5CB8F0230}"/>
              </a:ext>
            </a:extLst>
          </p:cNvPr>
          <p:cNvSpPr>
            <a:spLocks noGrp="1"/>
          </p:cNvSpPr>
          <p:nvPr>
            <p:ph type="sldNum" sz="quarter" idx="12"/>
          </p:nvPr>
        </p:nvSpPr>
        <p:spPr/>
        <p:txBody>
          <a:bodyPr/>
          <a:lstStyle/>
          <a:p>
            <a:fld id="{BB2CE0DE-867F-455F-B20B-96D381B4AB71}" type="slidenum">
              <a:rPr lang="en-US" smtClean="0"/>
              <a:t>62</a:t>
            </a:fld>
            <a:endParaRPr lang="en-US"/>
          </a:p>
        </p:txBody>
      </p:sp>
    </p:spTree>
    <p:extLst>
      <p:ext uri="{BB962C8B-B14F-4D97-AF65-F5344CB8AC3E}">
        <p14:creationId xmlns:p14="http://schemas.microsoft.com/office/powerpoint/2010/main" val="4420457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5754D-A039-9DE3-F855-B13C28DED807}"/>
              </a:ext>
            </a:extLst>
          </p:cNvPr>
          <p:cNvSpPr>
            <a:spLocks noGrp="1"/>
          </p:cNvSpPr>
          <p:nvPr>
            <p:ph type="title"/>
          </p:nvPr>
        </p:nvSpPr>
        <p:spPr/>
        <p:txBody>
          <a:bodyPr/>
          <a:lstStyle/>
          <a:p>
            <a:r>
              <a:rPr lang="en-US" dirty="0">
                <a:solidFill>
                  <a:srgbClr val="262626"/>
                </a:solidFill>
                <a:latin typeface="Inter"/>
              </a:rPr>
              <a:t>Recursive Neural Networks</a:t>
            </a:r>
            <a:endParaRPr lang="en-IN" dirty="0"/>
          </a:p>
        </p:txBody>
      </p:sp>
      <p:sp>
        <p:nvSpPr>
          <p:cNvPr id="3" name="Content Placeholder 2">
            <a:extLst>
              <a:ext uri="{FF2B5EF4-FFF2-40B4-BE49-F238E27FC236}">
                <a16:creationId xmlns:a16="http://schemas.microsoft.com/office/drawing/2014/main" id="{7378F7DC-1694-A778-D55C-BF72C70E6EEE}"/>
              </a:ext>
            </a:extLst>
          </p:cNvPr>
          <p:cNvSpPr>
            <a:spLocks noGrp="1"/>
          </p:cNvSpPr>
          <p:nvPr>
            <p:ph idx="1"/>
          </p:nvPr>
        </p:nvSpPr>
        <p:spPr/>
        <p:txBody>
          <a:bodyPr/>
          <a:lstStyle/>
          <a:p>
            <a:r>
              <a:rPr lang="en-US" sz="1800" dirty="0"/>
              <a:t>Recursive Neural Networks are neural architectures designed to process hierarchical data structures using a tree-based computational graph. </a:t>
            </a:r>
          </a:p>
          <a:p>
            <a:r>
              <a:rPr lang="en-US" sz="1800" dirty="0"/>
              <a:t>Unlike recurrent networks that process sequences, recursive networks combine inputs recursively using shared weight matrices. </a:t>
            </a:r>
          </a:p>
          <a:p>
            <a:r>
              <a:rPr lang="en-US" sz="1800" dirty="0"/>
              <a:t>Each internal node computes a representation from its children, and the final root node represents the entire structure. This representation is used for prediction in supervised tasks. </a:t>
            </a:r>
          </a:p>
          <a:p>
            <a:r>
              <a:rPr lang="en-US" sz="1800" dirty="0"/>
              <a:t>Recursive networks are widely used in natural language processing tasks such as parsing and sentiment analysis.</a:t>
            </a:r>
            <a:endParaRPr lang="en-IN" sz="1800" dirty="0"/>
          </a:p>
        </p:txBody>
      </p:sp>
      <p:sp>
        <p:nvSpPr>
          <p:cNvPr id="4" name="Slide Number Placeholder 3">
            <a:extLst>
              <a:ext uri="{FF2B5EF4-FFF2-40B4-BE49-F238E27FC236}">
                <a16:creationId xmlns:a16="http://schemas.microsoft.com/office/drawing/2014/main" id="{25622302-36CE-6A28-A798-E8D2A228E0AD}"/>
              </a:ext>
            </a:extLst>
          </p:cNvPr>
          <p:cNvSpPr>
            <a:spLocks noGrp="1"/>
          </p:cNvSpPr>
          <p:nvPr>
            <p:ph type="sldNum" sz="quarter" idx="12"/>
          </p:nvPr>
        </p:nvSpPr>
        <p:spPr/>
        <p:txBody>
          <a:bodyPr/>
          <a:lstStyle/>
          <a:p>
            <a:fld id="{BB2CE0DE-867F-455F-B20B-96D381B4AB71}" type="slidenum">
              <a:rPr lang="en-US" smtClean="0"/>
              <a:t>63</a:t>
            </a:fld>
            <a:endParaRPr lang="en-US"/>
          </a:p>
        </p:txBody>
      </p:sp>
    </p:spTree>
    <p:extLst>
      <p:ext uri="{BB962C8B-B14F-4D97-AF65-F5344CB8AC3E}">
        <p14:creationId xmlns:p14="http://schemas.microsoft.com/office/powerpoint/2010/main" val="2665554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0147E-9E3F-47A4-8EB6-991F5A8DACE0}"/>
              </a:ext>
            </a:extLst>
          </p:cNvPr>
          <p:cNvSpPr>
            <a:spLocks noGrp="1"/>
          </p:cNvSpPr>
          <p:nvPr>
            <p:ph type="title"/>
          </p:nvPr>
        </p:nvSpPr>
        <p:spPr/>
        <p:txBody>
          <a:bodyPr/>
          <a:lstStyle/>
          <a:p>
            <a:r>
              <a:rPr lang="en-US" dirty="0">
                <a:solidFill>
                  <a:srgbClr val="262626"/>
                </a:solidFill>
                <a:latin typeface="Inter"/>
              </a:rPr>
              <a:t>Recursive Neural Networks (</a:t>
            </a:r>
            <a:r>
              <a:rPr lang="en-US" dirty="0" err="1">
                <a:solidFill>
                  <a:srgbClr val="262626"/>
                </a:solidFill>
                <a:latin typeface="Inter"/>
              </a:rPr>
              <a:t>RecNN</a:t>
            </a:r>
            <a:r>
              <a:rPr lang="en-US" dirty="0">
                <a:solidFill>
                  <a:srgbClr val="262626"/>
                </a:solidFill>
                <a:latin typeface="Inter"/>
              </a:rPr>
              <a:t>)</a:t>
            </a:r>
            <a:endParaRPr lang="en-IN" dirty="0"/>
          </a:p>
        </p:txBody>
      </p:sp>
      <p:sp>
        <p:nvSpPr>
          <p:cNvPr id="3" name="Content Placeholder 2">
            <a:extLst>
              <a:ext uri="{FF2B5EF4-FFF2-40B4-BE49-F238E27FC236}">
                <a16:creationId xmlns:a16="http://schemas.microsoft.com/office/drawing/2014/main" id="{0A4EC41E-220B-4AC9-98A1-70F0C9F23A8E}"/>
              </a:ext>
            </a:extLst>
          </p:cNvPr>
          <p:cNvSpPr>
            <a:spLocks noGrp="1"/>
          </p:cNvSpPr>
          <p:nvPr>
            <p:ph idx="1"/>
          </p:nvPr>
        </p:nvSpPr>
        <p:spPr/>
        <p:txBody>
          <a:bodyPr/>
          <a:lstStyle/>
          <a:p>
            <a:pPr marL="0" indent="0" algn="l">
              <a:buNone/>
            </a:pPr>
            <a:r>
              <a:rPr lang="en-US" sz="1800" b="1" i="0" dirty="0">
                <a:solidFill>
                  <a:srgbClr val="000000"/>
                </a:solidFill>
                <a:effectLst/>
                <a:latin typeface="__CircularFontRegular_2f5777"/>
              </a:rPr>
              <a:t>How Recursive Neural Networks Process Hierarchical Data?</a:t>
            </a:r>
            <a:endParaRPr lang="en-US" sz="1800" b="1" i="0" dirty="0">
              <a:solidFill>
                <a:srgbClr val="000000"/>
              </a:solidFill>
              <a:effectLst/>
              <a:latin typeface="__CircularFontMedium_5fa3df"/>
            </a:endParaRPr>
          </a:p>
          <a:p>
            <a:pPr algn="l"/>
            <a:r>
              <a:rPr lang="en-US" sz="1800" b="0" i="0" dirty="0">
                <a:solidFill>
                  <a:srgbClr val="000000"/>
                </a:solidFill>
                <a:effectLst/>
                <a:latin typeface="__CircularFontRegular_2f5777"/>
              </a:rPr>
              <a:t>Hierarchical data is structured in the form of layers, resembling a tree or graph. Each "parent" node has "child" nodes and the relationships between them define the meaning of the data.</a:t>
            </a:r>
            <a:endParaRPr lang="en-US" sz="1800" b="0" i="0" dirty="0">
              <a:solidFill>
                <a:srgbClr val="333333"/>
              </a:solidFill>
              <a:effectLst/>
              <a:latin typeface="__CircularFontRegular_2f5777"/>
            </a:endParaRPr>
          </a:p>
          <a:p>
            <a:pPr marL="0" indent="0" algn="l">
              <a:buNone/>
            </a:pPr>
            <a:r>
              <a:rPr lang="en-US" sz="1800" b="0" i="0" dirty="0">
                <a:solidFill>
                  <a:srgbClr val="000000"/>
                </a:solidFill>
                <a:effectLst/>
                <a:latin typeface="__CircularFontRegular_2f5777"/>
              </a:rPr>
              <a:t>Here are some of the examples of hierarchical data.</a:t>
            </a:r>
            <a:endParaRPr lang="en-US" sz="1800" b="0" i="0" dirty="0">
              <a:solidFill>
                <a:srgbClr val="333333"/>
              </a:solidFill>
              <a:effectLst/>
              <a:latin typeface="__CircularFontRegular_2f5777"/>
            </a:endParaRPr>
          </a:p>
          <a:p>
            <a:pPr algn="l">
              <a:buFont typeface="Arial" panose="020B0604020202020204" pitchFamily="34" charset="0"/>
              <a:buChar char="•"/>
            </a:pPr>
            <a:r>
              <a:rPr lang="en-US" sz="1800" b="1" i="0" dirty="0">
                <a:solidFill>
                  <a:srgbClr val="000000"/>
                </a:solidFill>
                <a:effectLst/>
                <a:latin typeface="__CircularFontRegular_2f5777"/>
              </a:rPr>
              <a:t>Syntax Trees in NLP</a:t>
            </a:r>
            <a:r>
              <a:rPr lang="en-US" sz="1800" b="0" i="0" dirty="0">
                <a:solidFill>
                  <a:srgbClr val="000000"/>
                </a:solidFill>
                <a:effectLst/>
                <a:latin typeface="__CircularFontRegular_2f5777"/>
              </a:rPr>
              <a:t>: Sentences are divided into phrases, which are further broken into words.</a:t>
            </a:r>
            <a:endParaRPr lang="en-US" sz="1800" b="0" i="0" dirty="0">
              <a:solidFill>
                <a:srgbClr val="333333"/>
              </a:solidFill>
              <a:effectLst/>
              <a:latin typeface="__CircularFontRegular_2f5777"/>
            </a:endParaRPr>
          </a:p>
          <a:p>
            <a:pPr algn="l">
              <a:buFont typeface="Arial" panose="020B0604020202020204" pitchFamily="34" charset="0"/>
              <a:buChar char="•"/>
            </a:pPr>
            <a:r>
              <a:rPr lang="en-US" sz="1800" b="1" i="0" dirty="0">
                <a:solidFill>
                  <a:srgbClr val="000000"/>
                </a:solidFill>
                <a:effectLst/>
                <a:latin typeface="__CircularFontRegular_2f5777"/>
              </a:rPr>
              <a:t>Program Abstract Syntax Trees (ASTs)</a:t>
            </a:r>
            <a:r>
              <a:rPr lang="en-US" sz="1800" b="0" i="0" dirty="0">
                <a:solidFill>
                  <a:srgbClr val="000000"/>
                </a:solidFill>
                <a:effectLst/>
                <a:latin typeface="__CircularFontRegular_2f5777"/>
              </a:rPr>
              <a:t>: Code can be represented in the form of nested structures.</a:t>
            </a:r>
            <a:endParaRPr lang="en-US" sz="1800" b="0" i="0" dirty="0">
              <a:solidFill>
                <a:srgbClr val="333333"/>
              </a:solidFill>
              <a:effectLst/>
              <a:latin typeface="__CircularFontRegular_2f5777"/>
            </a:endParaRPr>
          </a:p>
          <a:p>
            <a:pPr algn="l">
              <a:buFont typeface="Arial" panose="020B0604020202020204" pitchFamily="34" charset="0"/>
              <a:buChar char="•"/>
            </a:pPr>
            <a:r>
              <a:rPr lang="en-US" sz="1800" b="1" i="0" dirty="0">
                <a:solidFill>
                  <a:srgbClr val="000000"/>
                </a:solidFill>
                <a:effectLst/>
                <a:latin typeface="__CircularFontRegular_2f5777"/>
              </a:rPr>
              <a:t>Scene Graphs in Vision</a:t>
            </a:r>
            <a:r>
              <a:rPr lang="en-US" sz="1800" b="0" i="0" dirty="0">
                <a:solidFill>
                  <a:srgbClr val="000000"/>
                </a:solidFill>
                <a:effectLst/>
                <a:latin typeface="__CircularFontRegular_2f5777"/>
              </a:rPr>
              <a:t>: Objects in an image relate to one another hierarchically (e.g., "A bottle is on a table").</a:t>
            </a:r>
            <a:endParaRPr lang="en-US" sz="1800" b="0" i="0" dirty="0">
              <a:solidFill>
                <a:srgbClr val="333333"/>
              </a:solidFill>
              <a:effectLst/>
              <a:latin typeface="__CircularFontRegular_2f5777"/>
            </a:endParaRPr>
          </a:p>
          <a:p>
            <a:pPr marL="0" indent="0" algn="l">
              <a:buNone/>
            </a:pPr>
            <a:r>
              <a:rPr lang="en-US" sz="1800" b="0" i="0" dirty="0">
                <a:solidFill>
                  <a:srgbClr val="000000"/>
                </a:solidFill>
                <a:effectLst/>
                <a:latin typeface="__CircularFontRegular_2f5777"/>
              </a:rPr>
              <a:t>A recursive neural network processes hierarchical data in the following ways.</a:t>
            </a:r>
            <a:endParaRPr lang="en-US" sz="1800" b="0" i="0" dirty="0">
              <a:solidFill>
                <a:srgbClr val="333333"/>
              </a:solidFill>
              <a:effectLst/>
              <a:latin typeface="__CircularFontRegular_2f5777"/>
            </a:endParaRPr>
          </a:p>
          <a:p>
            <a:pPr algn="l">
              <a:buFont typeface="Arial" panose="020B0604020202020204" pitchFamily="34" charset="0"/>
              <a:buChar char="•"/>
            </a:pPr>
            <a:r>
              <a:rPr lang="en-US" sz="1800" b="1" i="0" dirty="0">
                <a:solidFill>
                  <a:srgbClr val="000000"/>
                </a:solidFill>
                <a:effectLst/>
                <a:latin typeface="__CircularFontRegular_2f5777"/>
              </a:rPr>
              <a:t>Tree Structure Input: </a:t>
            </a:r>
            <a:r>
              <a:rPr lang="en-US" sz="1800" b="0" i="0" dirty="0">
                <a:solidFill>
                  <a:srgbClr val="000000"/>
                </a:solidFill>
                <a:effectLst/>
                <a:latin typeface="__CircularFontRegular_2f5777"/>
              </a:rPr>
              <a:t>Data is represented as a tree where each node represents a piece of information. (e.g., parse tree for a sentence)</a:t>
            </a:r>
            <a:endParaRPr lang="en-US" sz="1800" b="0" i="0" dirty="0">
              <a:solidFill>
                <a:srgbClr val="333333"/>
              </a:solidFill>
              <a:effectLst/>
              <a:latin typeface="__CircularFontRegular_2f5777"/>
            </a:endParaRPr>
          </a:p>
          <a:p>
            <a:pPr algn="l">
              <a:buFont typeface="Arial" panose="020B0604020202020204" pitchFamily="34" charset="0"/>
              <a:buChar char="•"/>
            </a:pPr>
            <a:r>
              <a:rPr lang="en-US" sz="1800" b="1" i="0" dirty="0">
                <a:solidFill>
                  <a:srgbClr val="000000"/>
                </a:solidFill>
                <a:effectLst/>
                <a:latin typeface="__CircularFontRegular_2f5777"/>
              </a:rPr>
              <a:t>Recursive Computation: </a:t>
            </a:r>
            <a:r>
              <a:rPr lang="en-US" sz="1800" b="0" i="0" dirty="0">
                <a:solidFill>
                  <a:srgbClr val="000000"/>
                </a:solidFill>
                <a:effectLst/>
                <a:latin typeface="__CircularFontRegular_2f5777"/>
              </a:rPr>
              <a:t>Starting from the leaf nodes (base elements), </a:t>
            </a:r>
            <a:r>
              <a:rPr lang="en-US" sz="1800" b="0" i="0" dirty="0" err="1">
                <a:solidFill>
                  <a:srgbClr val="000000"/>
                </a:solidFill>
                <a:effectLst/>
                <a:latin typeface="__CircularFontRegular_2f5777"/>
              </a:rPr>
              <a:t>RecNNs</a:t>
            </a:r>
            <a:r>
              <a:rPr lang="en-US" sz="1800" b="0" i="0" dirty="0">
                <a:solidFill>
                  <a:srgbClr val="000000"/>
                </a:solidFill>
                <a:effectLst/>
                <a:latin typeface="__CircularFontRegular_2f5777"/>
              </a:rPr>
              <a:t> recursively join the information of child nodes to compute the representation for their parent nodes. This process repeats until reaching the root node.</a:t>
            </a:r>
            <a:endParaRPr lang="en-US" sz="1800" b="0" i="0" dirty="0">
              <a:solidFill>
                <a:srgbClr val="333333"/>
              </a:solidFill>
              <a:effectLst/>
              <a:latin typeface="__CircularFontRegular_2f5777"/>
            </a:endParaRPr>
          </a:p>
          <a:p>
            <a:pPr algn="l">
              <a:buFont typeface="Arial" panose="020B0604020202020204" pitchFamily="34" charset="0"/>
              <a:buChar char="•"/>
            </a:pPr>
            <a:r>
              <a:rPr lang="en-US" sz="1800" b="1" i="0" dirty="0">
                <a:solidFill>
                  <a:srgbClr val="000000"/>
                </a:solidFill>
                <a:effectLst/>
                <a:latin typeface="__CircularFontRegular_2f5777"/>
              </a:rPr>
              <a:t>Top-Level Output: </a:t>
            </a:r>
            <a:r>
              <a:rPr lang="en-US" sz="1800" b="0" i="0" dirty="0">
                <a:solidFill>
                  <a:srgbClr val="000000"/>
                </a:solidFill>
                <a:effectLst/>
                <a:latin typeface="__CircularFontRegular_2f5777"/>
              </a:rPr>
              <a:t>The final output at the root node represents the complete structure. </a:t>
            </a:r>
            <a:endParaRPr lang="en-US" sz="1800" b="0" i="0" dirty="0">
              <a:solidFill>
                <a:srgbClr val="333333"/>
              </a:solidFill>
              <a:effectLst/>
              <a:latin typeface="__CircularFontRegular_2f5777"/>
            </a:endParaRPr>
          </a:p>
          <a:p>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C1124A68-2ECC-4343-814B-6FA1A592FE2E}"/>
              </a:ext>
            </a:extLst>
          </p:cNvPr>
          <p:cNvSpPr>
            <a:spLocks noGrp="1"/>
          </p:cNvSpPr>
          <p:nvPr>
            <p:ph type="sldNum" sz="quarter" idx="12"/>
          </p:nvPr>
        </p:nvSpPr>
        <p:spPr/>
        <p:txBody>
          <a:bodyPr/>
          <a:lstStyle/>
          <a:p>
            <a:fld id="{BB2CE0DE-867F-455F-B20B-96D381B4AB71}" type="slidenum">
              <a:rPr lang="en-US" smtClean="0"/>
              <a:t>64</a:t>
            </a:fld>
            <a:endParaRPr lang="en-US"/>
          </a:p>
        </p:txBody>
      </p:sp>
      <p:sp>
        <p:nvSpPr>
          <p:cNvPr id="5" name="TextBox 4">
            <a:extLst>
              <a:ext uri="{FF2B5EF4-FFF2-40B4-BE49-F238E27FC236}">
                <a16:creationId xmlns:a16="http://schemas.microsoft.com/office/drawing/2014/main" id="{AB52CC53-219E-4373-8012-FD1474751F03}"/>
              </a:ext>
            </a:extLst>
          </p:cNvPr>
          <p:cNvSpPr txBox="1"/>
          <p:nvPr/>
        </p:nvSpPr>
        <p:spPr>
          <a:xfrm>
            <a:off x="609600" y="6529871"/>
            <a:ext cx="4786888" cy="230832"/>
          </a:xfrm>
          <a:prstGeom prst="rect">
            <a:avLst/>
          </a:prstGeom>
          <a:noFill/>
        </p:spPr>
        <p:txBody>
          <a:bodyPr wrap="none" rtlCol="0">
            <a:spAutoFit/>
          </a:bodyPr>
          <a:lstStyle/>
          <a:p>
            <a:r>
              <a:rPr lang="en-US" sz="900" dirty="0"/>
              <a:t>Ref.: https://www.upgrad.com/blog/introduction-to-recursive-neural-network/</a:t>
            </a:r>
            <a:endParaRPr lang="en-IN" sz="900" dirty="0"/>
          </a:p>
        </p:txBody>
      </p:sp>
    </p:spTree>
    <p:extLst>
      <p:ext uri="{BB962C8B-B14F-4D97-AF65-F5344CB8AC3E}">
        <p14:creationId xmlns:p14="http://schemas.microsoft.com/office/powerpoint/2010/main" val="26734986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32EE7-8E18-4C46-94C3-C08364201F74}"/>
              </a:ext>
            </a:extLst>
          </p:cNvPr>
          <p:cNvSpPr>
            <a:spLocks noGrp="1"/>
          </p:cNvSpPr>
          <p:nvPr>
            <p:ph type="title"/>
          </p:nvPr>
        </p:nvSpPr>
        <p:spPr/>
        <p:txBody>
          <a:bodyPr/>
          <a:lstStyle/>
          <a:p>
            <a:r>
              <a:rPr lang="en-US" dirty="0">
                <a:solidFill>
                  <a:srgbClr val="262626"/>
                </a:solidFill>
                <a:latin typeface="Inter"/>
              </a:rPr>
              <a:t>Recursive Neural Networks</a:t>
            </a:r>
            <a:endParaRPr lang="en-IN" dirty="0"/>
          </a:p>
        </p:txBody>
      </p:sp>
      <p:sp>
        <p:nvSpPr>
          <p:cNvPr id="3" name="Content Placeholder 2">
            <a:extLst>
              <a:ext uri="{FF2B5EF4-FFF2-40B4-BE49-F238E27FC236}">
                <a16:creationId xmlns:a16="http://schemas.microsoft.com/office/drawing/2014/main" id="{066177DC-20C8-4EF3-A10F-EB8DB213868D}"/>
              </a:ext>
            </a:extLst>
          </p:cNvPr>
          <p:cNvSpPr>
            <a:spLocks noGrp="1"/>
          </p:cNvSpPr>
          <p:nvPr>
            <p:ph idx="1"/>
          </p:nvPr>
        </p:nvSpPr>
        <p:spPr/>
        <p:txBody>
          <a:bodyPr/>
          <a:lstStyle/>
          <a:p>
            <a:pPr marL="0" indent="0" algn="just">
              <a:buNone/>
            </a:pPr>
            <a:r>
              <a:rPr lang="en-US" sz="1600" dirty="0"/>
              <a:t>A Recursive Neural Network is a neural architecture where the computational structure is a tree, not a sequence.</a:t>
            </a:r>
          </a:p>
          <a:p>
            <a:pPr marL="0" indent="0" algn="just">
              <a:buNone/>
            </a:pPr>
            <a:r>
              <a:rPr lang="en-US" sz="1600" dirty="0"/>
              <a:t>A recursive network has a computational graph that </a:t>
            </a:r>
          </a:p>
          <a:p>
            <a:pPr marL="0" indent="0" algn="just">
              <a:buNone/>
            </a:pPr>
            <a:r>
              <a:rPr lang="en-US" sz="1600" dirty="0"/>
              <a:t>generalizes that of the recurrent network from a chain </a:t>
            </a:r>
          </a:p>
          <a:p>
            <a:pPr marL="0" indent="0" algn="just">
              <a:buNone/>
            </a:pPr>
            <a:r>
              <a:rPr lang="en-US" sz="1600" dirty="0"/>
              <a:t>to a tree. A variable-size sequence x(1),x(2), . . . , x(t) </a:t>
            </a:r>
          </a:p>
          <a:p>
            <a:pPr marL="0" indent="0" algn="just">
              <a:buNone/>
            </a:pPr>
            <a:r>
              <a:rPr lang="en-US" sz="1600" dirty="0"/>
              <a:t>can be mapped to a fixed-size representation </a:t>
            </a:r>
          </a:p>
          <a:p>
            <a:pPr marL="0" indent="0" algn="just">
              <a:buNone/>
            </a:pPr>
            <a:r>
              <a:rPr lang="en-US" sz="1600" dirty="0"/>
              <a:t>(the output o), with a fixed set of parameters </a:t>
            </a:r>
          </a:p>
          <a:p>
            <a:pPr marL="0" indent="0" algn="just">
              <a:buNone/>
            </a:pPr>
            <a:r>
              <a:rPr lang="en-US" sz="1600" dirty="0"/>
              <a:t>(the weight matrices U, V , W ). </a:t>
            </a:r>
          </a:p>
          <a:p>
            <a:pPr marL="0" indent="0" algn="just">
              <a:buNone/>
            </a:pPr>
            <a:r>
              <a:rPr lang="en-US" sz="1600" dirty="0"/>
              <a:t>The figure illustrates a supervised learning case </a:t>
            </a:r>
          </a:p>
          <a:p>
            <a:pPr marL="0" indent="0" algn="just">
              <a:buNone/>
            </a:pPr>
            <a:r>
              <a:rPr lang="en-US" sz="1600" dirty="0"/>
              <a:t>in which some target y is provided which is </a:t>
            </a:r>
          </a:p>
          <a:p>
            <a:pPr marL="0" indent="0" algn="just">
              <a:buNone/>
            </a:pPr>
            <a:r>
              <a:rPr lang="en-US" sz="1600" dirty="0"/>
              <a:t>associated with the whole sequence.</a:t>
            </a:r>
          </a:p>
          <a:p>
            <a:endParaRPr lang="en-IN" sz="1600" dirty="0"/>
          </a:p>
          <a:p>
            <a:pPr marL="0" indent="0">
              <a:buNone/>
            </a:pPr>
            <a:endParaRPr lang="en-IN" sz="1600" dirty="0"/>
          </a:p>
        </p:txBody>
      </p:sp>
      <p:sp>
        <p:nvSpPr>
          <p:cNvPr id="4" name="Slide Number Placeholder 3">
            <a:extLst>
              <a:ext uri="{FF2B5EF4-FFF2-40B4-BE49-F238E27FC236}">
                <a16:creationId xmlns:a16="http://schemas.microsoft.com/office/drawing/2014/main" id="{B123A384-D2D1-44C5-B2FC-FFEDB98BC0E3}"/>
              </a:ext>
            </a:extLst>
          </p:cNvPr>
          <p:cNvSpPr>
            <a:spLocks noGrp="1"/>
          </p:cNvSpPr>
          <p:nvPr>
            <p:ph type="sldNum" sz="quarter" idx="12"/>
          </p:nvPr>
        </p:nvSpPr>
        <p:spPr/>
        <p:txBody>
          <a:bodyPr/>
          <a:lstStyle/>
          <a:p>
            <a:fld id="{BB2CE0DE-867F-455F-B20B-96D381B4AB71}" type="slidenum">
              <a:rPr lang="en-US" smtClean="0"/>
              <a:t>65</a:t>
            </a:fld>
            <a:endParaRPr lang="en-US"/>
          </a:p>
        </p:txBody>
      </p:sp>
      <p:pic>
        <p:nvPicPr>
          <p:cNvPr id="6" name="Picture 5">
            <a:extLst>
              <a:ext uri="{FF2B5EF4-FFF2-40B4-BE49-F238E27FC236}">
                <a16:creationId xmlns:a16="http://schemas.microsoft.com/office/drawing/2014/main" id="{330393F8-3AE1-4D36-A5D4-3DD6322E2DB2}"/>
              </a:ext>
            </a:extLst>
          </p:cNvPr>
          <p:cNvPicPr>
            <a:picLocks noChangeAspect="1"/>
          </p:cNvPicPr>
          <p:nvPr/>
        </p:nvPicPr>
        <p:blipFill>
          <a:blip r:embed="rId3"/>
          <a:stretch>
            <a:fillRect/>
          </a:stretch>
        </p:blipFill>
        <p:spPr>
          <a:xfrm>
            <a:off x="7479878" y="1638820"/>
            <a:ext cx="3362507" cy="4465551"/>
          </a:xfrm>
          <a:prstGeom prst="rect">
            <a:avLst/>
          </a:prstGeom>
        </p:spPr>
      </p:pic>
      <p:sp>
        <p:nvSpPr>
          <p:cNvPr id="7" name="TextBox 6">
            <a:extLst>
              <a:ext uri="{FF2B5EF4-FFF2-40B4-BE49-F238E27FC236}">
                <a16:creationId xmlns:a16="http://schemas.microsoft.com/office/drawing/2014/main" id="{4EFFE5F9-DF27-45D3-9F3D-05037443D469}"/>
              </a:ext>
            </a:extLst>
          </p:cNvPr>
          <p:cNvSpPr txBox="1"/>
          <p:nvPr/>
        </p:nvSpPr>
        <p:spPr>
          <a:xfrm>
            <a:off x="7239000" y="6093024"/>
            <a:ext cx="4429995" cy="307777"/>
          </a:xfrm>
          <a:prstGeom prst="rect">
            <a:avLst/>
          </a:prstGeom>
          <a:noFill/>
        </p:spPr>
        <p:txBody>
          <a:bodyPr wrap="none" rtlCol="0">
            <a:spAutoFit/>
          </a:bodyPr>
          <a:lstStyle/>
          <a:p>
            <a:r>
              <a:rPr lang="en-IN" sz="1400" dirty="0"/>
              <a:t>Recursive neural network Computational graph</a:t>
            </a:r>
          </a:p>
        </p:txBody>
      </p:sp>
    </p:spTree>
    <p:extLst>
      <p:ext uri="{BB962C8B-B14F-4D97-AF65-F5344CB8AC3E}">
        <p14:creationId xmlns:p14="http://schemas.microsoft.com/office/powerpoint/2010/main" val="37966382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7AC36-3F8D-47E3-8A60-9B1534A83433}"/>
              </a:ext>
            </a:extLst>
          </p:cNvPr>
          <p:cNvSpPr>
            <a:spLocks noGrp="1"/>
          </p:cNvSpPr>
          <p:nvPr>
            <p:ph type="title"/>
          </p:nvPr>
        </p:nvSpPr>
        <p:spPr/>
        <p:txBody>
          <a:bodyPr/>
          <a:lstStyle/>
          <a:p>
            <a:r>
              <a:rPr lang="en-US" sz="2000" dirty="0">
                <a:solidFill>
                  <a:srgbClr val="000000"/>
                </a:solidFill>
                <a:latin typeface="__CircularFontRegular_2f5777"/>
              </a:rPr>
              <a:t>D</a:t>
            </a:r>
            <a:r>
              <a:rPr lang="en-US" sz="2000" b="0" i="0" dirty="0">
                <a:solidFill>
                  <a:srgbClr val="000000"/>
                </a:solidFill>
                <a:effectLst/>
                <a:latin typeface="__CircularFontRegular_2f5777"/>
              </a:rPr>
              <a:t>ifference between recurrent neural networks (RNN) and recursive neural networks (</a:t>
            </a:r>
            <a:r>
              <a:rPr lang="en-US" sz="2000" b="0" i="0" dirty="0" err="1">
                <a:solidFill>
                  <a:srgbClr val="000000"/>
                </a:solidFill>
                <a:effectLst/>
                <a:latin typeface="__CircularFontRegular_2f5777"/>
              </a:rPr>
              <a:t>RecNN</a:t>
            </a:r>
            <a:r>
              <a:rPr lang="en-US" sz="2000" b="0" i="0" dirty="0">
                <a:solidFill>
                  <a:srgbClr val="000000"/>
                </a:solidFill>
                <a:effectLst/>
                <a:latin typeface="__CircularFontRegular_2f5777"/>
              </a:rPr>
              <a:t>).</a:t>
            </a:r>
            <a:endParaRPr lang="en-IN" sz="2000" dirty="0"/>
          </a:p>
        </p:txBody>
      </p:sp>
      <p:sp>
        <p:nvSpPr>
          <p:cNvPr id="3" name="Content Placeholder 2">
            <a:extLst>
              <a:ext uri="{FF2B5EF4-FFF2-40B4-BE49-F238E27FC236}">
                <a16:creationId xmlns:a16="http://schemas.microsoft.com/office/drawing/2014/main" id="{E213D2B9-BD50-4374-8BA3-20CE5485FDB5}"/>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E5C514E6-153D-43E7-B048-A247053F76BA}"/>
              </a:ext>
            </a:extLst>
          </p:cNvPr>
          <p:cNvSpPr>
            <a:spLocks noGrp="1"/>
          </p:cNvSpPr>
          <p:nvPr>
            <p:ph type="sldNum" sz="quarter" idx="12"/>
          </p:nvPr>
        </p:nvSpPr>
        <p:spPr/>
        <p:txBody>
          <a:bodyPr/>
          <a:lstStyle/>
          <a:p>
            <a:fld id="{BB2CE0DE-867F-455F-B20B-96D381B4AB71}" type="slidenum">
              <a:rPr lang="en-US" smtClean="0"/>
              <a:t>66</a:t>
            </a:fld>
            <a:endParaRPr lang="en-US"/>
          </a:p>
        </p:txBody>
      </p:sp>
      <p:pic>
        <p:nvPicPr>
          <p:cNvPr id="6" name="Picture 5">
            <a:extLst>
              <a:ext uri="{FF2B5EF4-FFF2-40B4-BE49-F238E27FC236}">
                <a16:creationId xmlns:a16="http://schemas.microsoft.com/office/drawing/2014/main" id="{28B7F09E-EE52-4E7F-8E54-C3CAF1AF41E9}"/>
              </a:ext>
            </a:extLst>
          </p:cNvPr>
          <p:cNvPicPr>
            <a:picLocks noChangeAspect="1"/>
          </p:cNvPicPr>
          <p:nvPr/>
        </p:nvPicPr>
        <p:blipFill>
          <a:blip r:embed="rId2"/>
          <a:stretch>
            <a:fillRect/>
          </a:stretch>
        </p:blipFill>
        <p:spPr>
          <a:xfrm>
            <a:off x="755651" y="1276049"/>
            <a:ext cx="7821552" cy="4972351"/>
          </a:xfrm>
          <a:prstGeom prst="rect">
            <a:avLst/>
          </a:prstGeom>
        </p:spPr>
      </p:pic>
      <p:sp>
        <p:nvSpPr>
          <p:cNvPr id="7" name="TextBox 6">
            <a:extLst>
              <a:ext uri="{FF2B5EF4-FFF2-40B4-BE49-F238E27FC236}">
                <a16:creationId xmlns:a16="http://schemas.microsoft.com/office/drawing/2014/main" id="{84E68629-A007-4ADD-8076-829D8CC58C72}"/>
              </a:ext>
            </a:extLst>
          </p:cNvPr>
          <p:cNvSpPr txBox="1"/>
          <p:nvPr/>
        </p:nvSpPr>
        <p:spPr>
          <a:xfrm>
            <a:off x="609600" y="6529871"/>
            <a:ext cx="4786888" cy="230832"/>
          </a:xfrm>
          <a:prstGeom prst="rect">
            <a:avLst/>
          </a:prstGeom>
          <a:noFill/>
        </p:spPr>
        <p:txBody>
          <a:bodyPr wrap="none" rtlCol="0">
            <a:spAutoFit/>
          </a:bodyPr>
          <a:lstStyle/>
          <a:p>
            <a:r>
              <a:rPr lang="en-US" sz="900" dirty="0"/>
              <a:t>Ref.: https://www.upgrad.com/blog/introduction-to-recursive-neural-network/</a:t>
            </a:r>
            <a:endParaRPr lang="en-IN" sz="900" dirty="0"/>
          </a:p>
        </p:txBody>
      </p:sp>
    </p:spTree>
    <p:extLst>
      <p:ext uri="{BB962C8B-B14F-4D97-AF65-F5344CB8AC3E}">
        <p14:creationId xmlns:p14="http://schemas.microsoft.com/office/powerpoint/2010/main" val="23791985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398EA-21FA-40B0-BEC7-6877119530F0}"/>
              </a:ext>
            </a:extLst>
          </p:cNvPr>
          <p:cNvSpPr>
            <a:spLocks noGrp="1"/>
          </p:cNvSpPr>
          <p:nvPr>
            <p:ph type="title"/>
          </p:nvPr>
        </p:nvSpPr>
        <p:spPr/>
        <p:txBody>
          <a:bodyPr/>
          <a:lstStyle/>
          <a:p>
            <a:r>
              <a:rPr lang="en-US" dirty="0"/>
              <a:t>Questions</a:t>
            </a:r>
            <a:endParaRPr lang="en-IN" dirty="0"/>
          </a:p>
        </p:txBody>
      </p:sp>
      <p:sp>
        <p:nvSpPr>
          <p:cNvPr id="3" name="Content Placeholder 2">
            <a:extLst>
              <a:ext uri="{FF2B5EF4-FFF2-40B4-BE49-F238E27FC236}">
                <a16:creationId xmlns:a16="http://schemas.microsoft.com/office/drawing/2014/main" id="{425F994E-8FC0-4C92-A3AC-A2F6C34EDA54}"/>
              </a:ext>
            </a:extLst>
          </p:cNvPr>
          <p:cNvSpPr>
            <a:spLocks noGrp="1"/>
          </p:cNvSpPr>
          <p:nvPr>
            <p:ph idx="1"/>
          </p:nvPr>
        </p:nvSpPr>
        <p:spPr/>
        <p:txBody>
          <a:bodyPr/>
          <a:lstStyle/>
          <a:p>
            <a:pPr marL="0" indent="0">
              <a:buNone/>
            </a:pPr>
            <a:r>
              <a:rPr lang="en-US" sz="2000" dirty="0"/>
              <a:t>Examine the techniques for unfolding a computational graph of a Recursive Network. List its advantages over Recurrent Nets. Also write the variants of Recursive Net idea. </a:t>
            </a:r>
            <a:endParaRPr lang="en-IN" sz="2000" dirty="0"/>
          </a:p>
          <a:p>
            <a:pPr marL="0" indent="0">
              <a:buNone/>
            </a:pPr>
            <a:endParaRPr lang="en-IN" sz="2000" dirty="0"/>
          </a:p>
          <a:p>
            <a:pPr marL="0" indent="0">
              <a:buNone/>
            </a:pPr>
            <a:r>
              <a:rPr lang="en-US" sz="2000" dirty="0"/>
              <a:t>Differentiate between recurrent neural networks and recursive neural networks.</a:t>
            </a:r>
          </a:p>
          <a:p>
            <a:pPr marL="0" indent="0">
              <a:buNone/>
            </a:pPr>
            <a:endParaRPr lang="en-US" sz="2000" dirty="0"/>
          </a:p>
          <a:p>
            <a:pPr marL="0" indent="0">
              <a:buNone/>
            </a:pPr>
            <a:r>
              <a:rPr lang="en-US" sz="2000" dirty="0"/>
              <a:t>Explain the need for recursive models in NLP.</a:t>
            </a:r>
          </a:p>
          <a:p>
            <a:pPr marL="0" indent="0">
              <a:buNone/>
            </a:pPr>
            <a:endParaRPr lang="en-US" sz="2000" dirty="0"/>
          </a:p>
          <a:p>
            <a:pPr marL="0" indent="0">
              <a:buNone/>
            </a:pPr>
            <a:endParaRPr lang="en-IN" sz="2000" dirty="0"/>
          </a:p>
        </p:txBody>
      </p:sp>
      <p:sp>
        <p:nvSpPr>
          <p:cNvPr id="4" name="Slide Number Placeholder 3">
            <a:extLst>
              <a:ext uri="{FF2B5EF4-FFF2-40B4-BE49-F238E27FC236}">
                <a16:creationId xmlns:a16="http://schemas.microsoft.com/office/drawing/2014/main" id="{03D02F74-093F-4D58-BCF6-01078715BFBB}"/>
              </a:ext>
            </a:extLst>
          </p:cNvPr>
          <p:cNvSpPr>
            <a:spLocks noGrp="1"/>
          </p:cNvSpPr>
          <p:nvPr>
            <p:ph type="sldNum" sz="quarter" idx="12"/>
          </p:nvPr>
        </p:nvSpPr>
        <p:spPr/>
        <p:txBody>
          <a:bodyPr/>
          <a:lstStyle/>
          <a:p>
            <a:fld id="{BB2CE0DE-867F-455F-B20B-96D381B4AB71}" type="slidenum">
              <a:rPr lang="en-US" smtClean="0"/>
              <a:t>67</a:t>
            </a:fld>
            <a:endParaRPr lang="en-US"/>
          </a:p>
        </p:txBody>
      </p:sp>
    </p:spTree>
    <p:extLst>
      <p:ext uri="{BB962C8B-B14F-4D97-AF65-F5344CB8AC3E}">
        <p14:creationId xmlns:p14="http://schemas.microsoft.com/office/powerpoint/2010/main" val="37546785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8374E-E33D-4CBF-A522-82C43B3B553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C6A840A-E0C3-40A9-8618-3928219B78C4}"/>
              </a:ext>
            </a:extLst>
          </p:cNvPr>
          <p:cNvSpPr>
            <a:spLocks noGrp="1"/>
          </p:cNvSpPr>
          <p:nvPr>
            <p:ph idx="1"/>
          </p:nvPr>
        </p:nvSpPr>
        <p:spPr/>
        <p:txBody>
          <a:bodyPr/>
          <a:lstStyle/>
          <a:p>
            <a:pPr marL="0" indent="0">
              <a:buNone/>
            </a:pPr>
            <a:r>
              <a:rPr lang="en-US" sz="1800" dirty="0"/>
              <a:t>Draw and explain the architecture of Recurrent Neural Network Architecture.</a:t>
            </a:r>
          </a:p>
          <a:p>
            <a:pPr marL="0" indent="0">
              <a:buNone/>
            </a:pPr>
            <a:endParaRPr lang="en-US" sz="1800" dirty="0"/>
          </a:p>
          <a:p>
            <a:pPr marL="0" indent="0">
              <a:buNone/>
            </a:pPr>
            <a:r>
              <a:rPr lang="en-US" sz="1800" dirty="0"/>
              <a:t>What is Gradient Clipping? Why is it essential in training RNNs?</a:t>
            </a:r>
          </a:p>
          <a:p>
            <a:pPr marL="0" indent="0">
              <a:buNone/>
            </a:pPr>
            <a:r>
              <a:rPr lang="en-US" sz="1800" dirty="0"/>
              <a:t>Design a recurrent neural network that can map the input sequence to an output sequence that are of different lengths. Describe the process of the mapping using the architecture and mention the limitations of using the architecture.</a:t>
            </a:r>
          </a:p>
          <a:p>
            <a:pPr marL="0" indent="0">
              <a:buNone/>
            </a:pPr>
            <a:r>
              <a:rPr lang="en-US" sz="1800" dirty="0"/>
              <a:t>Design the recurrent neural networks with different patterns that map an input sequence of x values to a corresponding sequence of output o values and the measure of loss L to calculate the difference of o from training target y and explain the same.</a:t>
            </a:r>
          </a:p>
          <a:p>
            <a:pPr marL="0" indent="0">
              <a:buNone/>
            </a:pPr>
            <a:endParaRPr lang="en-US" sz="1800" dirty="0"/>
          </a:p>
          <a:p>
            <a:pPr marL="0" indent="0">
              <a:buNone/>
            </a:pPr>
            <a:r>
              <a:rPr lang="en-US" sz="1800" dirty="0"/>
              <a:t>Any model representing a variable P (y; θ) can be reinterpreted as a model representing a conditional distribution P (</a:t>
            </a:r>
            <a:r>
              <a:rPr lang="en-US" sz="1800" dirty="0" err="1"/>
              <a:t>y|ω</a:t>
            </a:r>
            <a:r>
              <a:rPr lang="en-US" sz="1800" dirty="0"/>
              <a:t>) with ω = θ. We can extend such a model to represent a distribution P(y | x) by using the same P(y | ω) as before, Design the different types of RNNs that generates the y sequence by considering extra input.</a:t>
            </a:r>
          </a:p>
          <a:p>
            <a:pPr marL="0" indent="0">
              <a:buNone/>
            </a:pPr>
            <a:endParaRPr lang="en-US" sz="1800" dirty="0"/>
          </a:p>
          <a:p>
            <a:pPr marL="0" indent="0">
              <a:buNone/>
            </a:pPr>
            <a:endParaRPr lang="en-IN" sz="1800" dirty="0"/>
          </a:p>
          <a:p>
            <a:pPr marL="0" indent="0">
              <a:buNone/>
            </a:pPr>
            <a:endParaRPr lang="en-US" sz="1800" dirty="0"/>
          </a:p>
          <a:p>
            <a:pPr marL="0" indent="0">
              <a:buNone/>
            </a:pPr>
            <a:endParaRPr lang="en-IN" sz="1800" dirty="0"/>
          </a:p>
        </p:txBody>
      </p:sp>
      <p:sp>
        <p:nvSpPr>
          <p:cNvPr id="4" name="Slide Number Placeholder 3">
            <a:extLst>
              <a:ext uri="{FF2B5EF4-FFF2-40B4-BE49-F238E27FC236}">
                <a16:creationId xmlns:a16="http://schemas.microsoft.com/office/drawing/2014/main" id="{CDD5DA8A-5374-4853-9596-53420091CF20}"/>
              </a:ext>
            </a:extLst>
          </p:cNvPr>
          <p:cNvSpPr>
            <a:spLocks noGrp="1"/>
          </p:cNvSpPr>
          <p:nvPr>
            <p:ph type="sldNum" sz="quarter" idx="12"/>
          </p:nvPr>
        </p:nvSpPr>
        <p:spPr/>
        <p:txBody>
          <a:bodyPr/>
          <a:lstStyle/>
          <a:p>
            <a:fld id="{BB2CE0DE-867F-455F-B20B-96D381B4AB71}" type="slidenum">
              <a:rPr lang="en-US" smtClean="0"/>
              <a:t>68</a:t>
            </a:fld>
            <a:endParaRPr lang="en-US"/>
          </a:p>
        </p:txBody>
      </p:sp>
    </p:spTree>
    <p:extLst>
      <p:ext uri="{BB962C8B-B14F-4D97-AF65-F5344CB8AC3E}">
        <p14:creationId xmlns:p14="http://schemas.microsoft.com/office/powerpoint/2010/main" val="38906324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4E97F-57C6-47B6-A211-4B6A0B9A6E8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CB9A0D-852A-4E77-9D64-CCA47324F158}"/>
              </a:ext>
            </a:extLst>
          </p:cNvPr>
          <p:cNvSpPr>
            <a:spLocks noGrp="1"/>
          </p:cNvSpPr>
          <p:nvPr>
            <p:ph idx="1"/>
          </p:nvPr>
        </p:nvSpPr>
        <p:spPr/>
        <p:txBody>
          <a:bodyPr/>
          <a:lstStyle/>
          <a:p>
            <a:pPr marL="0" indent="0">
              <a:buNone/>
            </a:pPr>
            <a:endParaRPr lang="en-US" sz="1600" dirty="0"/>
          </a:p>
          <a:p>
            <a:pPr marL="0" indent="0">
              <a:buNone/>
            </a:pPr>
            <a:r>
              <a:rPr lang="en-US" sz="1600" dirty="0"/>
              <a:t>Design an encoder- decoder sequence architecture that can map the input sequence to an output sequence that are of different lengths. Also describe the process of the mapping using the</a:t>
            </a:r>
          </a:p>
          <a:p>
            <a:pPr marL="0" indent="0">
              <a:buNone/>
            </a:pPr>
            <a:r>
              <a:rPr lang="en-US" sz="1600" dirty="0"/>
              <a:t>architecture.</a:t>
            </a:r>
          </a:p>
          <a:p>
            <a:pPr marL="0" indent="0">
              <a:buNone/>
            </a:pPr>
            <a:endParaRPr lang="en-US" sz="1600" dirty="0"/>
          </a:p>
          <a:p>
            <a:pPr marL="0" indent="0">
              <a:buNone/>
            </a:pPr>
            <a:r>
              <a:rPr lang="en-US" sz="1600" dirty="0"/>
              <a:t>Explain the contribution of the process of unfolding the recurrence in the computational graph.</a:t>
            </a:r>
          </a:p>
          <a:p>
            <a:pPr marL="0" indent="0">
              <a:buNone/>
            </a:pPr>
            <a:endParaRPr lang="en-US" sz="1600" dirty="0"/>
          </a:p>
          <a:p>
            <a:pPr marL="0" indent="0">
              <a:buNone/>
            </a:pPr>
            <a:r>
              <a:rPr lang="en-US" sz="1600" dirty="0"/>
              <a:t>Design the recurrent neural networks with different patterns that map an input sequence of x values to a corresponding sequence of output o values and the measure of loss L to calculate the difference of o from training target y and explain the same</a:t>
            </a:r>
          </a:p>
          <a:p>
            <a:pPr marL="0" indent="0">
              <a:buNone/>
            </a:pPr>
            <a:endParaRPr lang="en-US" sz="1600" dirty="0"/>
          </a:p>
          <a:p>
            <a:pPr marL="0" indent="0">
              <a:buNone/>
            </a:pPr>
            <a:r>
              <a:rPr lang="en-US" sz="1600" dirty="0"/>
              <a:t>Illustrate the method of training an RNN to estimate the conditional distribution of the next sequence element y(t) to maximize the log- likelihood with an example.</a:t>
            </a:r>
          </a:p>
          <a:p>
            <a:pPr marL="0" indent="0">
              <a:buNone/>
            </a:pPr>
            <a:endParaRPr lang="en-US" sz="1600" dirty="0"/>
          </a:p>
          <a:p>
            <a:pPr marL="0" indent="0">
              <a:buNone/>
            </a:pPr>
            <a:r>
              <a:rPr lang="en-US" sz="1600" dirty="0" err="1"/>
              <a:t>Analyse</a:t>
            </a:r>
            <a:r>
              <a:rPr lang="en-US" sz="1600" dirty="0"/>
              <a:t> the influence of teacher forcing in the training dynamics of recurrent networks, and what are the trade-offs between faster convergence during training and potential exposure bias during inference.</a:t>
            </a:r>
            <a:endParaRPr lang="en-IN" sz="1600" dirty="0"/>
          </a:p>
        </p:txBody>
      </p:sp>
      <p:sp>
        <p:nvSpPr>
          <p:cNvPr id="4" name="Slide Number Placeholder 3">
            <a:extLst>
              <a:ext uri="{FF2B5EF4-FFF2-40B4-BE49-F238E27FC236}">
                <a16:creationId xmlns:a16="http://schemas.microsoft.com/office/drawing/2014/main" id="{90306519-3E45-44DC-BC33-56BF2026C8A8}"/>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53078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70</a:t>
            </a:fld>
            <a:endParaRPr lang="en-US"/>
          </a:p>
        </p:txBody>
      </p:sp>
    </p:spTree>
    <p:extLst>
      <p:ext uri="{BB962C8B-B14F-4D97-AF65-F5344CB8AC3E}">
        <p14:creationId xmlns:p14="http://schemas.microsoft.com/office/powerpoint/2010/main" val="678513518"/>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5635</TotalTime>
  <Words>7142</Words>
  <Application>Microsoft Office PowerPoint</Application>
  <PresentationFormat>Widescreen</PresentationFormat>
  <Paragraphs>619</Paragraphs>
  <Slides>70</Slides>
  <Notes>23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70</vt:i4>
      </vt:variant>
    </vt:vector>
  </HeadingPairs>
  <TitlesOfParts>
    <vt:vector size="82" baseType="lpstr">
      <vt:lpstr>__CircularFontMedium_5fa3df</vt:lpstr>
      <vt:lpstr>__CircularFontRegular_2f5777</vt:lpstr>
      <vt:lpstr>Arial</vt:lpstr>
      <vt:lpstr>Calibri</vt:lpstr>
      <vt:lpstr>Google Sans</vt:lpstr>
      <vt:lpstr>Inter</vt:lpstr>
      <vt:lpstr>Noto Sans</vt:lpstr>
      <vt:lpstr>Times New Roman</vt:lpstr>
      <vt:lpstr>Verdana</vt:lpstr>
      <vt:lpstr>Wingdings</vt:lpstr>
      <vt:lpstr>Work Sans</vt:lpstr>
      <vt:lpstr>Theme1</vt:lpstr>
      <vt:lpstr>Neural Network and Deep Learning 23CS8PENDL/23CS7PENDL</vt:lpstr>
      <vt:lpstr>Unit-5</vt:lpstr>
      <vt:lpstr>Sequence Modeling</vt:lpstr>
      <vt:lpstr>Recurrent Neural Networks (RNNs)</vt:lpstr>
      <vt:lpstr>Recurrent Neural Networks process sequential data</vt:lpstr>
      <vt:lpstr>RNNs share same weights across Time Steps</vt:lpstr>
      <vt:lpstr>Computational Graphs</vt:lpstr>
      <vt:lpstr>Unfolding Computational Graphs</vt:lpstr>
      <vt:lpstr>Unfolding Computational Graphs</vt:lpstr>
      <vt:lpstr>Unfolding Computational Graphs</vt:lpstr>
      <vt:lpstr>Unfolding Computational Graphs</vt:lpstr>
      <vt:lpstr>Unfolding Computational Graphs</vt:lpstr>
      <vt:lpstr>Question</vt:lpstr>
      <vt:lpstr>Recurrent Neural Networks</vt:lpstr>
      <vt:lpstr>Recurrent Neural Networks</vt:lpstr>
      <vt:lpstr>Recurrent Neural Networks</vt:lpstr>
      <vt:lpstr>Recurrent Neural Networks</vt:lpstr>
      <vt:lpstr>Variation 1 of RNN (basic form): hidden2hidden connections, sequence output. Recurrent Hidden Units</vt:lpstr>
      <vt:lpstr>Variation 1 of RNN (basic form): hidden2hidden connections, sequence output.</vt:lpstr>
      <vt:lpstr>Variation 1 of RNN (basic form): hidden2hidden connections, sequence output.</vt:lpstr>
      <vt:lpstr>Variation 2 of RNN output2hidden, sequence output.  Recurrence through only the Output </vt:lpstr>
      <vt:lpstr>Variation 3 of RNN hidden2hidden, single output. Sequence Input, Single Output </vt:lpstr>
      <vt:lpstr>RNN: Teacher Forcing and  Networks with Output Recurrence</vt:lpstr>
      <vt:lpstr>RNN: Teacher Forcing</vt:lpstr>
      <vt:lpstr>RNN: Teacher Forcing</vt:lpstr>
      <vt:lpstr>RNN: Teacher Forcing</vt:lpstr>
      <vt:lpstr>RNN: Teacher forcing</vt:lpstr>
      <vt:lpstr>RNN: Teacher Forcing</vt:lpstr>
      <vt:lpstr>RNN: Teacher Forcing</vt:lpstr>
      <vt:lpstr>RNN: Teacher Forcing</vt:lpstr>
      <vt:lpstr>RNN: Recurrent Networks as Directed Graphical Models</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Question</vt:lpstr>
      <vt:lpstr>The Vanishing Gradient Problem in RNNs</vt:lpstr>
      <vt:lpstr>The Vanishing Gradient Problem in RNNs</vt:lpstr>
      <vt:lpstr>Question</vt:lpstr>
      <vt:lpstr>RNN: Recurrent Networks as Directed Graphical Models</vt:lpstr>
      <vt:lpstr>RNN: Recurrent Networks as Directed Graphical Models</vt:lpstr>
      <vt:lpstr>RNN: Recurrent Networks as Directed Graphical Models</vt:lpstr>
      <vt:lpstr>RNN: Recurrent Networks as Directed Graphical Models</vt:lpstr>
      <vt:lpstr>Question</vt:lpstr>
      <vt:lpstr>RNN: Modeling Sequences Conditioned on Context with RNNs</vt:lpstr>
      <vt:lpstr>RNN: Modeling Sequences Conditioned on Context with RNNs</vt:lpstr>
      <vt:lpstr>RNN: Modeling Sequences Conditioned on Context with RNNs</vt:lpstr>
      <vt:lpstr>RNN: Modeling Sequences Conditioned on Context with RNNs</vt:lpstr>
      <vt:lpstr>Encoder-Decoder (Sequence-to-Sequence) Architectures</vt:lpstr>
      <vt:lpstr>Encoder-Decoder (Sequence-to-Sequence) Architectures</vt:lpstr>
      <vt:lpstr>Encoder-Decoder (Sequence-to-Sequence) Architectures</vt:lpstr>
      <vt:lpstr>Encoder-Decoder (Sequence-to-Sequence) Architectures</vt:lpstr>
      <vt:lpstr>Question</vt:lpstr>
      <vt:lpstr>Deep Recurrent Networks</vt:lpstr>
      <vt:lpstr>Deep Recurrent Networks</vt:lpstr>
      <vt:lpstr>Deep Recurrent Networks</vt:lpstr>
      <vt:lpstr>Question</vt:lpstr>
      <vt:lpstr>Deep Recurrent Networks</vt:lpstr>
      <vt:lpstr>Recursive Neural Networks</vt:lpstr>
      <vt:lpstr>Recursive Neural Networks (RecNN)</vt:lpstr>
      <vt:lpstr>Recursive Neural Networks</vt:lpstr>
      <vt:lpstr>Difference between recurrent neural networks (RNN) and recursive neural networks (RecNN).</vt:lpstr>
      <vt:lpstr>Questions</vt:lpstr>
      <vt:lpstr>PowerPoint Presentation</vt:lpstr>
      <vt:lpstr>PowerPoint Presentation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Umadevi</cp:lastModifiedBy>
  <cp:revision>436</cp:revision>
  <cp:lastPrinted>2014-08-07T03:39:40Z</cp:lastPrinted>
  <dcterms:created xsi:type="dcterms:W3CDTF">2014-08-06T04:28:49Z</dcterms:created>
  <dcterms:modified xsi:type="dcterms:W3CDTF">2026-04-23T07:24:58Z</dcterms:modified>
</cp:coreProperties>
</file>