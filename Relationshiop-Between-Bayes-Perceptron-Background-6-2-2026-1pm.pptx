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503" r:id="rId3"/>
    <p:sldId id="499" r:id="rId4"/>
    <p:sldId id="501" r:id="rId5"/>
    <p:sldId id="502" r:id="rId6"/>
    <p:sldId id="511" r:id="rId7"/>
    <p:sldId id="257" r:id="rId8"/>
    <p:sldId id="512" r:id="rId9"/>
    <p:sldId id="504" r:id="rId10"/>
    <p:sldId id="506" r:id="rId11"/>
    <p:sldId id="505" r:id="rId12"/>
    <p:sldId id="507" r:id="rId13"/>
    <p:sldId id="522" r:id="rId14"/>
    <p:sldId id="509" r:id="rId15"/>
    <p:sldId id="510" r:id="rId16"/>
    <p:sldId id="514" r:id="rId17"/>
    <p:sldId id="523" r:id="rId18"/>
    <p:sldId id="513" r:id="rId19"/>
    <p:sldId id="515" r:id="rId20"/>
    <p:sldId id="516" r:id="rId21"/>
    <p:sldId id="517" r:id="rId22"/>
    <p:sldId id="518" r:id="rId23"/>
    <p:sldId id="508" r:id="rId24"/>
    <p:sldId id="519" r:id="rId25"/>
    <p:sldId id="520" r:id="rId26"/>
    <p:sldId id="524" r:id="rId27"/>
    <p:sldId id="521" r:id="rId28"/>
    <p:sldId id="540" r:id="rId29"/>
    <p:sldId id="528" r:id="rId30"/>
    <p:sldId id="529" r:id="rId31"/>
    <p:sldId id="531" r:id="rId32"/>
    <p:sldId id="530" r:id="rId33"/>
    <p:sldId id="532" r:id="rId34"/>
    <p:sldId id="533" r:id="rId35"/>
    <p:sldId id="534" r:id="rId36"/>
    <p:sldId id="525" r:id="rId37"/>
    <p:sldId id="536" r:id="rId38"/>
    <p:sldId id="526" r:id="rId39"/>
    <p:sldId id="527" r:id="rId40"/>
    <p:sldId id="537" r:id="rId41"/>
    <p:sldId id="538" r:id="rId42"/>
    <p:sldId id="53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588" autoAdjust="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8CB14-8596-46F9-90AA-3D87F8E7980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94D9F9-F198-4C27-87F3-FD5170A7F2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53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2443-B50C-0EC6-3840-93C5ADDA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7F446-4F22-CF8E-8579-EDAD0142C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4C24E1E-132A-90D1-8B0C-84E862DBE67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𝐵𝑒𝑛𝑖𝑔𝑛</m:t>
                        </m:r>
                      </m:e>
                    </m:d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𝑀𝑎𝑙𝑖𝑔𝑛𝑎𝑛𝑡</m:t>
                        </m:r>
                      </m:e>
                    </m:d>
                  </m:oMath>
                </a14:m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(𝑥∣𝐵𝑒𝑛𝑖𝑔𝑛)</a:t>
                </a:r>
                <a:r>
                  <a:rPr lang="en-IN" dirty="0"/>
                  <a:t>and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(𝑥∣𝑀𝑎𝑙𝑖𝑔𝑛𝑎𝑛𝑡)</a:t>
                </a:r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60C8C-6787-577C-2D93-73CF5B66D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505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𝐵𝑒𝑛𝑖𝑔𝑛</m:t>
                        </m:r>
                      </m:e>
                    </m:d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𝑀𝑎𝑙𝑖𝑔𝑛𝑎𝑛𝑡</m:t>
                        </m:r>
                      </m:e>
                    </m:d>
                  </m:oMath>
                </a14:m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(𝑥∣𝐵𝑒𝑛𝑖𝑔𝑛)</a:t>
                </a:r>
                <a:r>
                  <a:rPr lang="en-IN" dirty="0"/>
                  <a:t>and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(𝑥∣𝑀𝑎𝑙𝑖𝑔𝑛𝑎𝑛𝑡)</a:t>
                </a:r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0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7B99B-F59D-E9D7-E221-7F4393C6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515C6-F34B-3F12-3134-B63530CCC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01F973C-397B-7AFE-CD40-E7F249A2A1C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𝐵𝑒𝑛𝑖𝑔𝑛</m:t>
                        </m:r>
                      </m:e>
                    </m:d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∣</m:t>
                        </m:r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𝑀𝑎𝑙𝑖𝑔𝑛𝑎𝑛𝑡</m:t>
                        </m:r>
                      </m:e>
                    </m:d>
                  </m:oMath>
                </a14:m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  <a:p>
                <a:endParaRPr lang="en-IN" dirty="0"/>
              </a:p>
              <a:p>
                <a:r>
                  <a:rPr lang="en-IN" dirty="0">
                    <a:effectLst/>
                  </a:rPr>
                  <a:t>In a Bayes classifier, the </a:t>
                </a:r>
              </a:p>
              <a:p>
                <a:r>
                  <a:rPr lang="en-IN" b="1" dirty="0"/>
                  <a:t>likelihood probability</a:t>
                </a:r>
                <a:r>
                  <a:rPr lang="en-IN" dirty="0"/>
                  <a:t> (</a:t>
                </a:r>
                <a14:m>
                  <m:oMath xmlns:m="http://schemas.openxmlformats.org/officeDocument/2006/math">
                    <m:r>
                      <a:rPr lang="en-IN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𝑃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Data</m:t>
                        </m:r>
                      </m:e>
                      <m:e>
                        <m:r>
                          <m:rPr>
                            <m:nor/>
                          </m:rPr>
                          <a:rPr lang="en-IN" sz="1200" b="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Class</m:t>
                        </m:r>
                      </m:e>
                    </m:d>
                  </m:oMath>
                </a14:m>
                <a:r>
                  <a:rPr lang="en-IN" dirty="0"/>
                  <a:t>) represents the conditional probability of observing specific evidence, features, or data points, given that a particular class or hypothesis is true. It measures how likely the observed data is under a specific class,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IN" dirty="0"/>
                  <a:t>These curves are nothing but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(𝑥∣𝐵𝑒𝑛𝑖𝑔𝑛)</a:t>
                </a:r>
                <a:r>
                  <a:rPr lang="en-IN" dirty="0"/>
                  <a:t>and </a:t>
                </a:r>
                <a:r>
                  <a:rPr lang="en-I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(𝑥∣𝑀𝑎𝑙𝑖𝑔𝑛𝑎𝑛𝑡)</a:t>
                </a:r>
                <a:r>
                  <a:rPr lang="ar-AE" dirty="0"/>
                  <a:t>— </a:t>
                </a:r>
                <a:r>
                  <a:rPr lang="en-IN" dirty="0"/>
                  <a:t>the class-conditional densities required for Bayes classifier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DCB2-9CE8-8E7A-053B-79446B893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110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F2E8-4564-E267-0DC4-38CA9180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E38B9-14D7-85EB-8DFA-30ECCE38C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9AE14-21C8-2ABA-28D3-345A61FEF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1FD10-5E41-D08D-221B-00FEB306F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4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A4BC-BEA9-37CF-E3C4-73AF77D4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24C3E-9E90-5657-ED51-C586F2F66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9F65BE-3AA0-91D1-0B2F-905AE2409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A533A-1D02-CB72-A578-AB12C5998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0BFF-9EA4-696A-35CE-534F814F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C77A3-84C9-8AF6-1270-E6EFB0DAB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DAB8A-7503-3AE8-2F87-BFBF1D9E8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“If radius is greater than 13 mm, </a:t>
            </a:r>
          </a:p>
          <a:p>
            <a:r>
              <a:rPr lang="en-US" sz="1200" dirty="0"/>
              <a:t>there is 75% chance the tumor is </a:t>
            </a:r>
          </a:p>
          <a:p>
            <a:r>
              <a:rPr lang="en-US" sz="1200" dirty="0"/>
              <a:t>malignant.”</a:t>
            </a:r>
            <a:endParaRPr lang="ar-AE" sz="1200" b="1" dirty="0"/>
          </a:p>
          <a:p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9EE67-2204-CE7A-0774-490269DF6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208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BAEC-E19D-6984-D0AA-1EACA7BD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64F70-149B-858C-DCE1-6EA4D1A8E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5CECF-385D-1B73-C3DA-C76F4A653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F96F2-6075-4141-3786-181DF07961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823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0A48-534E-7D80-6540-E40DF075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77357-0157-D1AB-7B53-42EB53BD9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95F47-FE14-DE44-A3E5-209748565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 b="0" dirty="0"/>
          </a:p>
          <a:p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59A7D-585E-3F7F-5B4B-B76AEC009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968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65AF-F733-465B-0E62-71FC01D8E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74FB7-28E0-2E11-89B8-90F80C6E2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7BC55-2D19-0AE6-B2C2-51BF1D679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AE" b="0" dirty="0"/>
          </a:p>
          <a:p>
            <a:r>
              <a:rPr lang="en-US" dirty="0"/>
              <a:t>Probability of class after seeing data must depend on both how well data fits the class and how common the class is.</a:t>
            </a:r>
          </a:p>
          <a:p>
            <a:r>
              <a:rPr lang="en-US" dirty="0"/>
              <a:t>How well data fits the class × How common the class is</a:t>
            </a:r>
          </a:p>
          <a:p>
            <a:r>
              <a:rPr lang="en-US" dirty="0"/>
              <a:t>We multiply by prior because a class that matches the data well but rarely occurs should not dominate the decision.</a:t>
            </a:r>
          </a:p>
          <a:p>
            <a:r>
              <a:rPr lang="en-US" dirty="0"/>
              <a:t>Probability of class after seeing data must depend on both how well data fits the class and how common the class is.</a:t>
            </a:r>
            <a:endParaRPr lang="ar-A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3FCD6-DEA3-F2C2-1193-1D5F237D3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214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3D73-B343-D283-9C15-5DA57BADC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C77EB9-C03B-1CFD-A12A-01484E29B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CA2B6-C63D-EAF3-BBA0-F45575EBF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“These numbers come directly from the heights of the curves at 14 mm, multiplied by how common each class is, and normalized.”</a:t>
            </a:r>
          </a:p>
          <a:p>
            <a:r>
              <a:rPr lang="en-US" dirty="0"/>
              <a:t>That is </a:t>
            </a:r>
            <a:r>
              <a:rPr lang="en-US" b="1" dirty="0"/>
              <a:t>Bayes classifier in action</a:t>
            </a:r>
            <a:r>
              <a:rPr lang="en-US" dirty="0"/>
              <a:t> on your dataset.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693DA-3581-AE05-6A7C-9D1FEF369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74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A5B2-9F04-89F6-A2F3-3897F184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E8CF0-584C-5626-A79D-855FDC002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A311A-2591-AF44-51EC-BB3412486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EC997-D816-A2D4-1404-0A90897DF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476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F88FE-EEAA-BD25-CC5E-3CA15560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4591F-DB05-2E73-3DDC-C57EDF29D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B826D-F3EB-AC6C-0B6A-826F6BF0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8371B-42FE-C16F-E2D9-72AB9A0F1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023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13AD-7386-347C-78AC-0F9656F5B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725C7-19F1-4F39-615A-50048BE9B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26566-4F19-F0E2-08C0-4EA97EEAC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54E82-A1B9-35A4-8D14-8A96580773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8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86AA-DF77-929A-8B25-8A6E200B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71D81-44E5-6405-C05C-AA70502A0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1EE88-F797-02FD-CCDB-A887EB591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shaded area is the probability that even the best possible classifier will make a mistake.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418BE-F982-2397-2F27-297AA6C9E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474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cost matrix tells Bayes: it is safer to over-diagnose than to miss a cancer.”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1466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13D79-E484-FD70-A2D5-8A30BDEB7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99109-2063-BEEE-FA7B-8494A7A4E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2D1C1-334E-D8EE-3278-74B0F74AA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A9911-EE88-58BB-E2F7-6960C7483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06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4D9F9-F198-4C27-87F3-FD5170A7F27D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58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FB6C-6B2F-DA22-6748-85B1FBC20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0220D-A42E-52EE-0AC9-946ED3C1E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FA785-6436-BFF0-415B-543EA763E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33CCD-5F45-0447-3561-8323D57D2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70B41-B0D2-61D4-7743-B74E2D90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29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78489-1E54-C3E6-21BA-859E301A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3EF8-9249-B406-A313-07B92211C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530A9-A443-708D-076E-A9FD1671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63A4A-C724-E17D-A87B-9CDBA42A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AEC97-55AA-31D5-7DF4-0A2E5F03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42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32D2-C519-B049-5126-79AAE999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86B03-CE51-21D7-4AFE-0FC39125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7EFD2-6688-B040-0540-EBFFCE7C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926CC-EA77-F316-8C75-BD57C36B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85343-6A0B-0957-A8C4-3BB05BFC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1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F04B-25DC-AF9C-3424-4D4147BC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853F5-4986-0557-0DC2-6BBD7B813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86A52-C3A3-B9BC-A5AD-A1AE640BF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5BCB8-81FD-A085-27D2-C8C6D620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B5DE2-0563-B30F-3C2E-8FE45A18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18B99-6F88-F0F3-E408-9B3D2F2D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62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DBE1-6D8D-805E-BEE1-5FBA106A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753A6-4DDA-8CF4-3D67-9AD91B33F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6A486-D01D-5320-3543-B1D8D4947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02945-E859-ED52-DAC6-766C9167C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D4F7A-FE70-6260-E853-7FC3E9948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501F67-1440-DB1D-C933-98B074A0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4492B-1895-01B8-EF38-220AE70A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36A434-A5AD-99D0-C7EA-AFFE3B20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92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7263-5137-1F4A-FB05-3FA22399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B6E3A-861E-FD7F-86A8-23F4BAF9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4C682-0716-325F-BD52-93B5CB46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BA674-B17F-903C-6EC8-F76CEC47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37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BFDF4-A570-49ED-42C5-1F9FA23E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6A441-E0B2-904F-3CB1-2711B43F0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C773F-2629-4BC0-629F-DB2D3931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436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167E-2EC0-41D5-6426-17810E6C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AE8B-B9E8-1BF6-6466-6B4E2CC0C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C877B-A8E0-471D-873F-6EEB071C9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1AC86-ED87-2F86-ED5A-90CBD497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9F246-031B-D812-AF99-9CD4B8659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B16B4-A57F-3383-2ABF-A96165F9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879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9B17-9A85-8711-0C19-63155B58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2A2360-B9CD-F200-05CC-EDDD33CC4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AB901-343F-CA41-EB2F-279D8864C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289D99-CBE7-2D00-193F-908AFADE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AE1CF-5C0C-5EED-BEDE-6A81E11D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C5CD4-EA24-C536-5D16-A90919CE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E042C-81A6-86A4-5203-D17ED8FE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01A837-1861-D8D7-78A3-29C5029C3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45141-EABA-0B0B-1426-E751DC89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C4009-95F8-204C-A4E7-FC3452BA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DD-8C0A-D5F8-8522-2C18A54C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23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08767-23F5-4541-3397-A39020C63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1286E2-5EE6-5C10-0726-C38150D0B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4CD65-CE51-B329-075D-1C214EFC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779B2-B54A-7B15-2F82-91FB849A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DBD74-38E0-5FF8-67B6-1D31459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0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A2844A-380A-4C79-52DF-70EE5E8DD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3FEEC-070A-D4CF-7499-5697475DD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881CE-219F-98B3-E02E-E5A21CF15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22AB-2E7C-4D06-AE53-7B9EC2CEC6FB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A3B60-DD15-22F4-E136-6B177AE70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42186-1940-D204-6F8E-C6038B944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3F3E2-43D8-4FB8-B4AA-54E39AFB97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54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4" Type="http://schemas.openxmlformats.org/officeDocument/2006/relationships/image" Target="../media/image5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240.png"/><Relationship Id="rId10" Type="http://schemas.openxmlformats.org/officeDocument/2006/relationships/image" Target="../media/image29.png"/><Relationship Id="rId4" Type="http://schemas.openxmlformats.org/officeDocument/2006/relationships/image" Target="../media/image5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4E6FC-C3FA-0B95-FD7A-AF93C83782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Gaussian Distribution, Probability: Intersection and Conditional, Bayes Theorem, Bayes Error, Variance, Covariance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CE4CD-C10B-0FFD-5E2D-BC3FB775D3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Pre-requisite to understand the concepts for the topic “</a:t>
            </a:r>
            <a:r>
              <a:rPr lang="en-US" dirty="0">
                <a:solidFill>
                  <a:srgbClr val="262626"/>
                </a:solidFill>
                <a:latin typeface="Inter"/>
              </a:rPr>
              <a:t>Relation between Perceptron and Bayes Classifier for a Gaussian Environment”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0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420CC-8921-544E-E07E-C9760C62F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72A1-E140-36B0-61CB-06B16FFAB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Gaussian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C27D28-F6A5-FB5C-5142-6D834CFFC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1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DAE27-9D43-4E2E-BF88-29D7B46B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Gaussian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3C33-5E6E-4D6D-984E-1D68A0C6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1800" dirty="0"/>
              <a:t>A Gaussian distribution, also known as a normal distribution, is a continuous probability distribution characterized by its bell-shaped curve. It is defined by two parameters:</a:t>
            </a:r>
          </a:p>
          <a:p>
            <a:pPr algn="just"/>
            <a:r>
              <a:rPr lang="en-US" sz="1800" dirty="0"/>
              <a:t>μ (mu): The mean or expected value of the distribution</a:t>
            </a:r>
          </a:p>
          <a:p>
            <a:pPr algn="just"/>
            <a:r>
              <a:rPr lang="en-US" sz="1800" dirty="0"/>
              <a:t>σ (sigma): The standard deviation, which measures the spread of the distribution</a:t>
            </a:r>
          </a:p>
          <a:p>
            <a:pPr algn="just"/>
            <a:r>
              <a:rPr lang="en-US" sz="1800" dirty="0"/>
              <a:t>The probability density function (PDF) of a Gaussian distribution is given by:</a:t>
            </a:r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ADCD-6844-4737-892F-64F4F1D6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8786E-092F-0710-DB91-450D6D09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3159440"/>
            <a:ext cx="5791200" cy="204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8BD74-4D72-BA7F-7A6D-A4945217AE28}"/>
              </a:ext>
            </a:extLst>
          </p:cNvPr>
          <p:cNvSpPr txBox="1"/>
          <p:nvPr/>
        </p:nvSpPr>
        <p:spPr>
          <a:xfrm>
            <a:off x="5366516" y="3506651"/>
            <a:ext cx="6742167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Where:</a:t>
            </a:r>
          </a:p>
          <a:p>
            <a:r>
              <a:rPr lang="en-US" sz="1600" dirty="0"/>
              <a:t>x is the variable</a:t>
            </a:r>
          </a:p>
          <a:p>
            <a:r>
              <a:rPr lang="en-US" sz="1600" dirty="0"/>
              <a:t>e is Euler's number (approximately 2.71828)</a:t>
            </a:r>
          </a:p>
          <a:p>
            <a:r>
              <a:rPr lang="en-US" sz="1600" dirty="0"/>
              <a:t>π (pi) is the mathematical constant pi (approximately 3.14159)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2711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E94C-2DD3-D8B8-7A40-16049CFF4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Visualizing the Gaussian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3E53-5669-30EF-B67D-BEB74494D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To illustrate the concept of a Gaussian distribution, consider the distribution of birth weights for full-term babies in a large population: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85925-EAFC-5532-AF4A-C45E9DB2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E24614-10A4-B296-394E-A52510EBB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88" y="2332355"/>
            <a:ext cx="6934200" cy="4160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7473C9-321E-120C-9524-54EB26134686}"/>
              </a:ext>
            </a:extLst>
          </p:cNvPr>
          <p:cNvSpPr txBox="1"/>
          <p:nvPr/>
        </p:nvSpPr>
        <p:spPr>
          <a:xfrm>
            <a:off x="7136098" y="3120083"/>
            <a:ext cx="462710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key observations from this graph include:</a:t>
            </a:r>
          </a:p>
          <a:p>
            <a:r>
              <a:rPr lang="en-US" dirty="0"/>
              <a:t>- Most babies' birth weights cluster around an </a:t>
            </a:r>
          </a:p>
          <a:p>
            <a:r>
              <a:rPr lang="en-US" dirty="0"/>
              <a:t>average value (the peak of the curve).</a:t>
            </a:r>
          </a:p>
          <a:p>
            <a:r>
              <a:rPr lang="en-US" dirty="0"/>
              <a:t>- Fewer babies have birth weights that deviate </a:t>
            </a:r>
          </a:p>
          <a:p>
            <a:r>
              <a:rPr lang="en-US" dirty="0"/>
              <a:t>significantly from this average.</a:t>
            </a:r>
          </a:p>
          <a:p>
            <a:r>
              <a:rPr lang="en-US" dirty="0"/>
              <a:t>- Very few babies have extreme birth weights </a:t>
            </a:r>
          </a:p>
          <a:p>
            <a:r>
              <a:rPr lang="en-US" dirty="0"/>
              <a:t>(very high or very low).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21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D88F-FB07-9C4C-C4E5-D1A39A679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Visualizing the Gaussian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E16C4-ABB4-C69D-8EA6-C3B1ACDAC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CE0DE-867F-455F-B20B-96D381B4AB71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FD7FB2-2240-3638-CC5F-804C20D5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843" y="1900951"/>
            <a:ext cx="5715000" cy="42451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CB34CF-2798-7466-8B68-FEFDF92DEE90}"/>
              </a:ext>
            </a:extLst>
          </p:cNvPr>
          <p:cNvSpPr txBox="1"/>
          <p:nvPr/>
        </p:nvSpPr>
        <p:spPr>
          <a:xfrm>
            <a:off x="1779313" y="6123543"/>
            <a:ext cx="820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Visualization of three distinct one-dimensional Gaussian distributions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64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C600B-F3D9-4803-4E2C-89E89A82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CFD4CED-1F67-4529-CA5F-ACB6997EA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7" y="237814"/>
            <a:ext cx="2412564" cy="6195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65EB6A-AF5F-CFF5-E02C-F196A3CD4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17" y="305276"/>
            <a:ext cx="905001" cy="60111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8B06785-E426-0104-9C4C-6F51B1F56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1003" y="596265"/>
            <a:ext cx="7130409" cy="20727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772E09D-4654-96E4-DBB1-854409FC4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787" y="3069169"/>
            <a:ext cx="3907061" cy="9767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0C6B1-CAD3-B529-D5C3-232D4A6296D2}"/>
              </a:ext>
            </a:extLst>
          </p:cNvPr>
          <p:cNvSpPr txBox="1"/>
          <p:nvPr/>
        </p:nvSpPr>
        <p:spPr>
          <a:xfrm>
            <a:off x="4460787" y="2669059"/>
            <a:ext cx="31204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Probability Density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C735E-1F94-FB2D-71CE-FB4E4E3FB4FF}"/>
              </a:ext>
            </a:extLst>
          </p:cNvPr>
          <p:cNvSpPr txBox="1"/>
          <p:nvPr/>
        </p:nvSpPr>
        <p:spPr>
          <a:xfrm>
            <a:off x="4460787" y="4557187"/>
            <a:ext cx="4990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For x=14mm, </a:t>
            </a:r>
            <a:r>
              <a:rPr lang="en-US" dirty="0"/>
              <a:t>Probability density if tumor is </a:t>
            </a:r>
            <a:r>
              <a:rPr lang="en-US" b="1" dirty="0"/>
              <a:t>Benign</a:t>
            </a:r>
            <a:r>
              <a:rPr lang="en-IN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78A0BE-42E8-99E1-6EB4-D13C03EAC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0787" y="5141184"/>
            <a:ext cx="5323372" cy="976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34DC9D-D659-540D-24A7-9125AD4D6A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0787" y="6261735"/>
            <a:ext cx="3334215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133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07C4258-5FEE-CC3B-7BFF-AC015DC0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7" y="237814"/>
            <a:ext cx="2412564" cy="6195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059EC4-C114-3F48-E1C6-3BFF5A0D6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17" y="305276"/>
            <a:ext cx="905001" cy="6011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0674EE4-690C-D011-8B97-50DD65723A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06"/>
          <a:stretch>
            <a:fillRect/>
          </a:stretch>
        </p:blipFill>
        <p:spPr>
          <a:xfrm>
            <a:off x="3874358" y="441434"/>
            <a:ext cx="6667500" cy="42078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608AED-91D1-624A-4354-B34E39D689E5}"/>
              </a:ext>
            </a:extLst>
          </p:cNvPr>
          <p:cNvSpPr txBox="1"/>
          <p:nvPr/>
        </p:nvSpPr>
        <p:spPr>
          <a:xfrm>
            <a:off x="4577410" y="5595919"/>
            <a:ext cx="4005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height of the blue curve at 14.</a:t>
            </a:r>
            <a:endParaRPr lang="en-IN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0FA1F-259B-CEB5-19FA-39BC32F20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8892" y="4957921"/>
            <a:ext cx="4302109" cy="5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8A4CF-10F9-96B6-B1C9-10C75DEB4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D024A2-A593-16EB-E917-B7C1B880D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47" y="237814"/>
            <a:ext cx="2412564" cy="6195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168F64-460E-F13E-F752-920C0E032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17" y="305276"/>
            <a:ext cx="905001" cy="60111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6304B0-3170-352F-4298-9F562E97DD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67"/>
          <a:stretch>
            <a:fillRect/>
          </a:stretch>
        </p:blipFill>
        <p:spPr>
          <a:xfrm>
            <a:off x="3862001" y="305276"/>
            <a:ext cx="6667500" cy="41961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2B53B1-621F-03D7-E157-6142361A9FCF}"/>
              </a:ext>
            </a:extLst>
          </p:cNvPr>
          <p:cNvSpPr txBox="1"/>
          <p:nvPr/>
        </p:nvSpPr>
        <p:spPr>
          <a:xfrm>
            <a:off x="4574343" y="6248613"/>
            <a:ext cx="394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the height of dashed curve at 14.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0AE3C-AB4E-6FF2-9295-9E6E04C8A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0784" y="4548559"/>
            <a:ext cx="4458322" cy="100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4A6A9C-6FDB-BF65-51E7-6DEF4528B2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4343" y="5523332"/>
            <a:ext cx="3445192" cy="4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6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C7C1-676E-22BA-B35C-21E2DCAA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94DB-1DC1-9E20-1673-28E834B36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Probability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62619C-553F-9AB5-2848-31E5907CA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Intersection</a:t>
            </a:r>
          </a:p>
          <a:p>
            <a:r>
              <a:rPr lang="en-IN" dirty="0"/>
              <a:t>Conditional</a:t>
            </a:r>
          </a:p>
        </p:txBody>
      </p:sp>
    </p:spTree>
    <p:extLst>
      <p:ext uri="{BB962C8B-B14F-4D97-AF65-F5344CB8AC3E}">
        <p14:creationId xmlns:p14="http://schemas.microsoft.com/office/powerpoint/2010/main" val="1790392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7096-7A80-74BC-881E-611C37E6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137ACF-9F60-80EB-77C5-0C257DAFAE47}"/>
              </a:ext>
            </a:extLst>
          </p:cNvPr>
          <p:cNvSpPr/>
          <p:nvPr/>
        </p:nvSpPr>
        <p:spPr>
          <a:xfrm>
            <a:off x="6808573" y="2878964"/>
            <a:ext cx="4005482" cy="3645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999DF8-4312-B9A5-9CCF-1E94F3F0DCED}"/>
              </a:ext>
            </a:extLst>
          </p:cNvPr>
          <p:cNvSpPr txBox="1"/>
          <p:nvPr/>
        </p:nvSpPr>
        <p:spPr>
          <a:xfrm>
            <a:off x="9236048" y="3177880"/>
            <a:ext cx="1298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{1,2,3, 4}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5C5069-7A98-2708-8CD3-114A9230E623}"/>
              </a:ext>
            </a:extLst>
          </p:cNvPr>
          <p:cNvSpPr/>
          <p:nvPr/>
        </p:nvSpPr>
        <p:spPr>
          <a:xfrm>
            <a:off x="7207656" y="3984254"/>
            <a:ext cx="3172019" cy="2315938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40580B-68BC-9854-B058-FF2AF57CA2DE}"/>
              </a:ext>
            </a:extLst>
          </p:cNvPr>
          <p:cNvSpPr/>
          <p:nvPr/>
        </p:nvSpPr>
        <p:spPr>
          <a:xfrm>
            <a:off x="7735676" y="4520654"/>
            <a:ext cx="1675400" cy="15450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B19FF2-2116-F9DC-2122-10C0059288BE}"/>
              </a:ext>
            </a:extLst>
          </p:cNvPr>
          <p:cNvSpPr txBox="1"/>
          <p:nvPr/>
        </p:nvSpPr>
        <p:spPr>
          <a:xfrm>
            <a:off x="7938314" y="4200943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50D896-29FF-AFB5-7600-00544E5189E6}"/>
              </a:ext>
            </a:extLst>
          </p:cNvPr>
          <p:cNvSpPr txBox="1"/>
          <p:nvPr/>
        </p:nvSpPr>
        <p:spPr>
          <a:xfrm>
            <a:off x="9728439" y="3892887"/>
            <a:ext cx="1243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 </a:t>
            </a:r>
            <a:r>
              <a:rPr lang="en-IN" sz="2400" dirty="0"/>
              <a:t>(&gt;13)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34805E-85AF-200A-9CF3-E15F9AA00072}"/>
              </a:ext>
            </a:extLst>
          </p:cNvPr>
          <p:cNvSpPr txBox="1"/>
          <p:nvPr/>
        </p:nvSpPr>
        <p:spPr>
          <a:xfrm>
            <a:off x="9629753" y="2878964"/>
            <a:ext cx="901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Benign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56CEEE-F2B7-916B-1641-E743505141C4}"/>
              </a:ext>
            </a:extLst>
          </p:cNvPr>
          <p:cNvSpPr txBox="1"/>
          <p:nvPr/>
        </p:nvSpPr>
        <p:spPr>
          <a:xfrm>
            <a:off x="8249938" y="4200943"/>
            <a:ext cx="1243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Malignant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74A47E-1093-6F0A-23B9-6D0F52E6DF96}"/>
                  </a:ext>
                </a:extLst>
              </p:cNvPr>
              <p:cNvSpPr txBox="1"/>
              <p:nvPr/>
            </p:nvSpPr>
            <p:spPr>
              <a:xfrm>
                <a:off x="5109327" y="462005"/>
                <a:ext cx="431130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Let us define TWO events</a:t>
                </a:r>
              </a:p>
              <a:p>
                <a:r>
                  <a:rPr lang="en-US" sz="2400" b="1" dirty="0"/>
                  <a:t>Event A</a:t>
                </a:r>
                <a:r>
                  <a:rPr lang="en-US" sz="2400" dirty="0"/>
                  <a:t>: Tumor is Malignant</a:t>
                </a:r>
              </a:p>
              <a:p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𝐄𝐯𝐞𝐧𝐭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400" dirty="0"/>
                  <a:t>: Radius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3mm</a:t>
                </a:r>
              </a:p>
              <a:p>
                <a:r>
                  <a:rPr lang="en-US" sz="2400" dirty="0"/>
                  <a:t>From the table:</a:t>
                </a:r>
              </a:p>
              <a:p>
                <a:r>
                  <a:rPr lang="en-US" sz="2400" dirty="0"/>
                  <a:t>Radii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3: </a:t>
                </a:r>
                <a:r>
                  <a:rPr lang="en-IN" sz="2400" dirty="0"/>
                  <a:t>{5, 6,7, 8, 9,10,11,12}</a:t>
                </a:r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74A47E-1093-6F0A-23B9-6D0F52E6D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327" y="462005"/>
                <a:ext cx="4311308" cy="1938992"/>
              </a:xfrm>
              <a:prstGeom prst="rect">
                <a:avLst/>
              </a:prstGeom>
              <a:blipFill>
                <a:blip r:embed="rId3"/>
                <a:stretch>
                  <a:fillRect l="-2122" t="-2516" r="-849" b="-6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6FE9CFE-A4CE-10EB-9F0A-594977ACE5F4}"/>
              </a:ext>
            </a:extLst>
          </p:cNvPr>
          <p:cNvSpPr txBox="1"/>
          <p:nvPr/>
        </p:nvSpPr>
        <p:spPr>
          <a:xfrm>
            <a:off x="7890336" y="4919643"/>
            <a:ext cx="1366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{7,8,9,10,</a:t>
            </a:r>
          </a:p>
          <a:p>
            <a:r>
              <a:rPr lang="en-IN" sz="2400" dirty="0"/>
              <a:t>11,12}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24E2C-28E8-5B52-2CCA-368862D63F83}"/>
              </a:ext>
            </a:extLst>
          </p:cNvPr>
          <p:cNvSpPr txBox="1"/>
          <p:nvPr/>
        </p:nvSpPr>
        <p:spPr>
          <a:xfrm>
            <a:off x="9493420" y="4660184"/>
            <a:ext cx="764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{5,6}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01422B8-B545-5E53-CF39-262A0789D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4C92FB8-7FEF-CA79-551C-7B3924A4E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0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2C010-CCCF-0433-F287-776E0E998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0485DA-B411-3615-A08F-117B154AC73A}"/>
                  </a:ext>
                </a:extLst>
              </p:cNvPr>
              <p:cNvSpPr txBox="1"/>
              <p:nvPr/>
            </p:nvSpPr>
            <p:spPr>
              <a:xfrm>
                <a:off x="5109327" y="462005"/>
                <a:ext cx="431130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Let us define TWO events</a:t>
                </a:r>
              </a:p>
              <a:p>
                <a:r>
                  <a:rPr lang="en-US" sz="2400" b="1" dirty="0"/>
                  <a:t>Event A</a:t>
                </a:r>
                <a:r>
                  <a:rPr lang="en-US" sz="2400" dirty="0"/>
                  <a:t>: Tumor is Malignant</a:t>
                </a:r>
              </a:p>
              <a:p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𝐄𝐯𝐞𝐧𝐭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400" dirty="0"/>
                  <a:t>: Radius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3mm</a:t>
                </a:r>
              </a:p>
              <a:p>
                <a:r>
                  <a:rPr lang="en-US" sz="2400" dirty="0"/>
                  <a:t>From the table:</a:t>
                </a:r>
              </a:p>
              <a:p>
                <a:r>
                  <a:rPr lang="en-US" sz="2400" dirty="0"/>
                  <a:t>Radii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3: </a:t>
                </a:r>
                <a:r>
                  <a:rPr lang="en-IN" sz="2400" dirty="0"/>
                  <a:t>{5, 6,7, 8,9,10,11,12}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0485DA-B411-3615-A08F-117B154AC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327" y="462005"/>
                <a:ext cx="4311308" cy="1938992"/>
              </a:xfrm>
              <a:prstGeom prst="rect">
                <a:avLst/>
              </a:prstGeom>
              <a:blipFill>
                <a:blip r:embed="rId3"/>
                <a:stretch>
                  <a:fillRect l="-2122" t="-2516" b="-6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495FC3-843C-29D8-44E3-8B081BB824C8}"/>
                  </a:ext>
                </a:extLst>
              </p:cNvPr>
              <p:cNvSpPr txBox="1"/>
              <p:nvPr/>
            </p:nvSpPr>
            <p:spPr>
              <a:xfrm>
                <a:off x="5109327" y="2400997"/>
                <a:ext cx="467897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IN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400" dirty="0"/>
              </a:p>
              <a:p>
                <a:r>
                  <a:rPr lang="en-IN" sz="2400" dirty="0"/>
                  <a:t>This means:</a:t>
                </a:r>
              </a:p>
              <a:p>
                <a:r>
                  <a:rPr lang="en-IN" sz="2400" dirty="0" err="1"/>
                  <a:t>Tumor</a:t>
                </a:r>
                <a:r>
                  <a:rPr lang="en-IN" sz="2400" dirty="0"/>
                  <a:t> is malignant </a:t>
                </a:r>
                <a:r>
                  <a:rPr lang="en-IN" sz="2400" b="1" dirty="0"/>
                  <a:t>and</a:t>
                </a:r>
                <a:r>
                  <a:rPr lang="en-IN" sz="2400" dirty="0"/>
                  <a:t> radius 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495FC3-843C-29D8-44E3-8B081BB82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327" y="2400997"/>
                <a:ext cx="4678973" cy="1569660"/>
              </a:xfrm>
              <a:prstGeom prst="rect">
                <a:avLst/>
              </a:prstGeom>
              <a:blipFill>
                <a:blip r:embed="rId4"/>
                <a:stretch>
                  <a:fillRect l="-1953" b="-81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C60AAB78-C742-9E6E-C19E-E7B8D8865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466" y="3970657"/>
            <a:ext cx="3486202" cy="27143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CDB100-8812-067A-44CA-F7E5E4F4F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9DE25B-CC13-786E-775E-6B4C7BF6B9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2F08077-5262-90A4-1499-A005AB8A64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2091" y="4063024"/>
            <a:ext cx="2895798" cy="262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88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79ED-46CE-43DB-73C6-65246273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AD85691-3F4B-DEB5-271C-5B3F3CCEF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900" y="2391038"/>
            <a:ext cx="2869718" cy="223435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249C9BF-5E33-3FF5-C4C9-7B5284B16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904" y="3941822"/>
            <a:ext cx="3772426" cy="1262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CC2981-55F2-011E-09E8-FF217713C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BDFB0A6-0BAF-E527-B6F1-99E93FB755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8741D0-1F4A-509D-A15E-042BF1F335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733" y="363457"/>
            <a:ext cx="2733085" cy="24746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096F3-7B53-F62A-BEE0-604574497BD3}"/>
              </a:ext>
            </a:extLst>
          </p:cNvPr>
          <p:cNvSpPr txBox="1"/>
          <p:nvPr/>
        </p:nvSpPr>
        <p:spPr>
          <a:xfrm>
            <a:off x="8679183" y="3451197"/>
            <a:ext cx="3123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99521-1FAB-2677-781B-DCF063F76F66}"/>
                  </a:ext>
                </a:extLst>
              </p:cNvPr>
              <p:cNvSpPr txBox="1"/>
              <p:nvPr/>
            </p:nvSpPr>
            <p:spPr>
              <a:xfrm>
                <a:off x="4923265" y="317833"/>
                <a:ext cx="4311308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Let us define TWO events</a:t>
                </a:r>
              </a:p>
              <a:p>
                <a:r>
                  <a:rPr lang="en-US" sz="2400" b="1" dirty="0"/>
                  <a:t>Event A</a:t>
                </a:r>
                <a:r>
                  <a:rPr lang="en-US" sz="2400" dirty="0"/>
                  <a:t>: Tumor is Malignant</a:t>
                </a:r>
              </a:p>
              <a:p>
                <a14:m>
                  <m:oMath xmlns:m="http://schemas.openxmlformats.org/officeDocument/2006/math"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𝐄𝐯𝐞𝐧𝐭</m:t>
                    </m:r>
                    <m:r>
                      <a:rPr lang="en-I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2400" dirty="0"/>
                  <a:t>: Radius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3mm</a:t>
                </a:r>
              </a:p>
              <a:p>
                <a:r>
                  <a:rPr lang="en-US" sz="2400" dirty="0"/>
                  <a:t>From the table:</a:t>
                </a:r>
              </a:p>
              <a:p>
                <a:r>
                  <a:rPr lang="en-US" sz="2400" dirty="0"/>
                  <a:t>Radii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3: </a:t>
                </a:r>
                <a:r>
                  <a:rPr lang="en-IN" sz="2400" dirty="0"/>
                  <a:t>{5, 6,7, 8,9,10,11,12}</a:t>
                </a:r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B99521-1FAB-2677-781B-DCF063F76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265" y="317833"/>
                <a:ext cx="4311308" cy="1938992"/>
              </a:xfrm>
              <a:prstGeom prst="rect">
                <a:avLst/>
              </a:prstGeom>
              <a:blipFill>
                <a:blip r:embed="rId8"/>
                <a:stretch>
                  <a:fillRect l="-2263" t="-2516" b="-62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28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D454-9D15-38E1-6A43-A630C9EF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5F87-EA1C-ABED-2C5A-278C35A1F5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Bayes Theorem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84763-3F53-7B59-21E3-987E16CE2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61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4DD80-573D-757B-0F9D-548EC924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B19B055A-E4DD-5CDA-1767-9F89A00BD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B6B8E8A-1753-444A-CAB1-ED5FF3DF5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575344-F7FA-BD50-01A6-D265E23A2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833" y="2737664"/>
            <a:ext cx="3771900" cy="2124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CD55F5-6AE3-E3B6-6591-89170FB3E148}"/>
              </a:ext>
            </a:extLst>
          </p:cNvPr>
          <p:cNvSpPr txBox="1"/>
          <p:nvPr/>
        </p:nvSpPr>
        <p:spPr>
          <a:xfrm>
            <a:off x="5800977" y="1977081"/>
            <a:ext cx="2419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</a:rPr>
              <a:t>Bayes Theorem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2BD091-4CFE-C70C-D0E9-6FD628C9D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234" y="5099102"/>
            <a:ext cx="626745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03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3C857-ADB4-AB0A-2730-8AE2080A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EC03FB5-5520-7789-384C-33648111B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BBEA5E-7487-AC81-F0D6-D6ADA1191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26039B-F2B7-AF8B-6D14-86127F46E9EE}"/>
              </a:ext>
            </a:extLst>
          </p:cNvPr>
          <p:cNvSpPr txBox="1"/>
          <p:nvPr/>
        </p:nvSpPr>
        <p:spPr>
          <a:xfrm>
            <a:off x="5748229" y="363457"/>
            <a:ext cx="2419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510F17-B2E9-A1D4-9050-84706622A40F}"/>
                  </a:ext>
                </a:extLst>
              </p:cNvPr>
              <p:cNvSpPr txBox="1"/>
              <p:nvPr/>
            </p:nvSpPr>
            <p:spPr>
              <a:xfrm>
                <a:off x="5187488" y="1099752"/>
                <a:ext cx="34718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Feature (evidence)</a:t>
                </a:r>
                <a:r>
                  <a:rPr lang="en-US" dirty="0"/>
                  <a:t>: tumor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Class</a:t>
                </a:r>
                <a:r>
                  <a:rPr lang="en-US" dirty="0"/>
                  <a:t>: Malignant or Benign</a:t>
                </a:r>
                <a:endParaRPr lang="ar-AE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510F17-B2E9-A1D4-9050-84706622A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488" y="1099752"/>
                <a:ext cx="3471848" cy="646331"/>
              </a:xfrm>
              <a:prstGeom prst="rect">
                <a:avLst/>
              </a:prstGeom>
              <a:blipFill>
                <a:blip r:embed="rId5"/>
                <a:stretch>
                  <a:fillRect l="-1582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29A2C-9D0E-85B5-8153-8E16778671FC}"/>
                  </a:ext>
                </a:extLst>
              </p:cNvPr>
              <p:cNvSpPr txBox="1"/>
              <p:nvPr/>
            </p:nvSpPr>
            <p:spPr>
              <a:xfrm>
                <a:off x="4710621" y="2585430"/>
                <a:ext cx="733085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000" b="1" dirty="0"/>
                  <a:t>Posteriori </a:t>
                </a:r>
                <a:r>
                  <a:rPr lang="en-IN" sz="2000" dirty="0"/>
                  <a:t>Probability (</a:t>
                </a:r>
                <a:r>
                  <a:rPr lang="en-IN" sz="2000" dirty="0">
                    <a:solidFill>
                      <a:srgbClr val="00B050"/>
                    </a:solidFill>
                  </a:rPr>
                  <a:t>what we want</a:t>
                </a:r>
                <a:r>
                  <a:rPr lang="en-IN" sz="2000" dirty="0"/>
                  <a:t>): </a:t>
                </a:r>
              </a:p>
              <a:p>
                <a:r>
                  <a:rPr lang="en-US" sz="2000" dirty="0"/>
                  <a:t>P(Malignant ∣ x)  Probability tumor is malignant </a:t>
                </a:r>
                <a:r>
                  <a:rPr lang="en-US" sz="2000" b="1" dirty="0"/>
                  <a:t>after seeing radius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829A2C-9D0E-85B5-8153-8E1677867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0621" y="2585430"/>
                <a:ext cx="7330853" cy="707886"/>
              </a:xfrm>
              <a:prstGeom prst="rect">
                <a:avLst/>
              </a:prstGeom>
              <a:blipFill>
                <a:blip r:embed="rId6"/>
                <a:stretch>
                  <a:fillRect l="-915" t="-4310" b="-14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190163-DE88-C3BA-E81B-DD64C92AC1F8}"/>
              </a:ext>
            </a:extLst>
          </p:cNvPr>
          <p:cNvSpPr txBox="1"/>
          <p:nvPr/>
        </p:nvSpPr>
        <p:spPr>
          <a:xfrm>
            <a:off x="4710621" y="3490506"/>
            <a:ext cx="64204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Likelihood:</a:t>
            </a:r>
          </a:p>
          <a:p>
            <a:r>
              <a:rPr lang="en-IN" dirty="0"/>
              <a:t>𝑃(𝑥 ∣ Malignant) If </a:t>
            </a:r>
            <a:r>
              <a:rPr lang="en-IN" dirty="0" err="1"/>
              <a:t>tumor</a:t>
            </a:r>
            <a:r>
              <a:rPr lang="en-IN" dirty="0"/>
              <a:t> were malignant, how likely is this radius?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AFF09-31FF-CC2C-1257-4629CF1F7AC4}"/>
              </a:ext>
            </a:extLst>
          </p:cNvPr>
          <p:cNvSpPr txBox="1"/>
          <p:nvPr/>
        </p:nvSpPr>
        <p:spPr>
          <a:xfrm>
            <a:off x="4826234" y="4413836"/>
            <a:ext cx="5489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Prior:</a:t>
            </a:r>
          </a:p>
          <a:p>
            <a:r>
              <a:rPr lang="en-US" dirty="0"/>
              <a:t>P(Malignant) Before seeing radius, chance of malignancy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1011C6-72D0-7611-A3B4-67958A1019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9606" y="5999038"/>
            <a:ext cx="6011114" cy="5334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F92098-24AA-C520-A42C-6A2974FF249A}"/>
              </a:ext>
            </a:extLst>
          </p:cNvPr>
          <p:cNvSpPr txBox="1"/>
          <p:nvPr/>
        </p:nvSpPr>
        <p:spPr>
          <a:xfrm>
            <a:off x="4717715" y="5352707"/>
            <a:ext cx="5917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Evidence: </a:t>
            </a:r>
          </a:p>
          <a:p>
            <a:r>
              <a:rPr lang="en-US" dirty="0"/>
              <a:t>P (x) Overall probability of seeing this radius in the population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9610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72A85-A65A-22B3-26CC-DD3D4B53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3873CEA-5DF4-5E8C-34B8-8EF0028E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5DF5F62-A8A8-0A24-BB5C-F9AF44664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574F47-9F0F-0AA8-801F-7A798DF0B543}"/>
              </a:ext>
            </a:extLst>
          </p:cNvPr>
          <p:cNvSpPr txBox="1"/>
          <p:nvPr/>
        </p:nvSpPr>
        <p:spPr>
          <a:xfrm>
            <a:off x="5748229" y="363457"/>
            <a:ext cx="2419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C6E109-9FDA-F805-5BA4-A4351AEAB32A}"/>
                  </a:ext>
                </a:extLst>
              </p:cNvPr>
              <p:cNvSpPr txBox="1"/>
              <p:nvPr/>
            </p:nvSpPr>
            <p:spPr>
              <a:xfrm>
                <a:off x="5187488" y="1099752"/>
                <a:ext cx="34718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Feature (evidence)</a:t>
                </a:r>
                <a:r>
                  <a:rPr lang="en-US" dirty="0"/>
                  <a:t>: tumor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Class</a:t>
                </a:r>
                <a:r>
                  <a:rPr lang="en-US" dirty="0"/>
                  <a:t>: Malignant or Benign</a:t>
                </a:r>
                <a:endParaRPr lang="ar-AE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C6E109-9FDA-F805-5BA4-A4351AEAB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488" y="1099752"/>
                <a:ext cx="3471848" cy="646331"/>
              </a:xfrm>
              <a:prstGeom prst="rect">
                <a:avLst/>
              </a:prstGeom>
              <a:blipFill>
                <a:blip r:embed="rId6"/>
                <a:stretch>
                  <a:fillRect l="-1582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0FD425C-13AF-83AA-DE93-F39F832CB3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308" y="3836276"/>
            <a:ext cx="6895967" cy="665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DF4A36-2100-21F6-0D05-C5C3859D2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9393" y="1979468"/>
            <a:ext cx="2459822" cy="13852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7C5AA5-2345-2238-3E5D-D0E24254E2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1476" y="5002363"/>
            <a:ext cx="6982799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430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24D94-DC49-145C-41E6-7BE33DBA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99CB-F47A-C961-DE40-B68F1155F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Bayes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02189-A46C-E2AC-4298-0EDB9460DA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646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2C4AF-77DB-ECE3-D420-8B4BD8FE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BF766AA-3301-1265-A64F-355954B4E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63F37B-29D3-2D72-5525-3A95A7DA9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E492C-EBC1-FC06-BD04-4A330E0CA1F6}"/>
              </a:ext>
            </a:extLst>
          </p:cNvPr>
          <p:cNvSpPr txBox="1"/>
          <p:nvPr/>
        </p:nvSpPr>
        <p:spPr>
          <a:xfrm>
            <a:off x="5014569" y="31842"/>
            <a:ext cx="2405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Bayes Classifier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147330-9A67-0DDB-EF76-79577EB2D8C3}"/>
                  </a:ext>
                </a:extLst>
              </p:cNvPr>
              <p:cNvSpPr txBox="1"/>
              <p:nvPr/>
            </p:nvSpPr>
            <p:spPr>
              <a:xfrm>
                <a:off x="5000101" y="458102"/>
                <a:ext cx="347184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Feature (evidence)</a:t>
                </a:r>
                <a:r>
                  <a:rPr lang="en-US" dirty="0"/>
                  <a:t>: tumor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Class</a:t>
                </a:r>
                <a:r>
                  <a:rPr lang="en-US" dirty="0"/>
                  <a:t>: Malignant or Benign</a:t>
                </a:r>
              </a:p>
              <a:p>
                <a:endParaRPr lang="en-US" b="1" dirty="0"/>
              </a:p>
              <a:p>
                <a:r>
                  <a:rPr lang="en-US" dirty="0"/>
                  <a:t>Consider x=14mm</a:t>
                </a:r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147330-9A67-0DDB-EF76-79577EB2D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101" y="458102"/>
                <a:ext cx="3471848" cy="1200329"/>
              </a:xfrm>
              <a:prstGeom prst="rect">
                <a:avLst/>
              </a:prstGeom>
              <a:blipFill>
                <a:blip r:embed="rId5"/>
                <a:stretch>
                  <a:fillRect l="-1404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75FE80-8F36-83F3-A01F-706749977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6234" y="4744212"/>
            <a:ext cx="6895967" cy="6650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2D3294-01E9-9598-D939-FB97AA2524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234" y="1746320"/>
            <a:ext cx="5039428" cy="8097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2EEAEA4-75C4-ECCB-90C5-8B1FA86B28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3430" y="2427192"/>
            <a:ext cx="2781688" cy="8478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50CF5BF-B01E-6D4F-4923-15B46D1B5A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4075" y="3399890"/>
            <a:ext cx="3943900" cy="4382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224243-96FC-91EC-DC78-933D1846E0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0073" y="3878332"/>
            <a:ext cx="2857899" cy="8668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45DEBAF-FA79-C8AB-6821-B6F56F2D8894}"/>
              </a:ext>
            </a:extLst>
          </p:cNvPr>
          <p:cNvSpPr txBox="1"/>
          <p:nvPr/>
        </p:nvSpPr>
        <p:spPr>
          <a:xfrm>
            <a:off x="4826234" y="4144768"/>
            <a:ext cx="1432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Evidence P(x)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2B865A4-DF42-B7FA-A47E-58C87275F4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7631" y="5546697"/>
            <a:ext cx="3153215" cy="116221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2DB3DED-9593-D1FF-E204-00ED21C5EBF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846" y="5562959"/>
            <a:ext cx="2867425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371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18F5-BED9-ED46-BFF4-9D32921C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557EC92-F81A-99A5-7142-6013A1F55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23DF10E-0EDB-4996-B5DC-9A9CA01A6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68D76D-E684-DFC4-88C0-3FF439AB9919}"/>
              </a:ext>
            </a:extLst>
          </p:cNvPr>
          <p:cNvSpPr txBox="1"/>
          <p:nvPr/>
        </p:nvSpPr>
        <p:spPr>
          <a:xfrm>
            <a:off x="5000101" y="133931"/>
            <a:ext cx="3741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0070C0"/>
                </a:solidFill>
              </a:rPr>
              <a:t>Bayes Decision Boundary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E8A25-E3F8-1042-6A0E-67C27655399A}"/>
              </a:ext>
            </a:extLst>
          </p:cNvPr>
          <p:cNvSpPr txBox="1"/>
          <p:nvPr/>
        </p:nvSpPr>
        <p:spPr>
          <a:xfrm>
            <a:off x="5000101" y="458102"/>
            <a:ext cx="64122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Bayes decision boundary is the optimal </a:t>
            </a:r>
          </a:p>
          <a:p>
            <a:r>
              <a:rPr lang="en-US" dirty="0"/>
              <a:t>separating surface between classes that minimizes </a:t>
            </a:r>
          </a:p>
          <a:p>
            <a:r>
              <a:rPr lang="en-US" dirty="0"/>
              <a:t>the total probability of misclassification (expected loss). </a:t>
            </a:r>
          </a:p>
          <a:p>
            <a:r>
              <a:rPr lang="en-US" dirty="0"/>
              <a:t>It occurs where the posterior probabilities of two classes are equal</a:t>
            </a:r>
          </a:p>
          <a:p>
            <a:r>
              <a:rPr lang="en-US" dirty="0"/>
              <a:t>or where the ratio of their class-conditional densities matches </a:t>
            </a:r>
          </a:p>
          <a:p>
            <a:r>
              <a:rPr lang="en-US" dirty="0"/>
              <a:t>the ratio of their prior probabilities.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1EDE4-1E66-9D6C-6152-6ADACD6B7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855" y="2212428"/>
            <a:ext cx="4064464" cy="2934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EA44C1-3B19-D65F-5FF8-A9B4D07DC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482" y="2418619"/>
            <a:ext cx="3029373" cy="8884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7CA8F7-FA7E-EABE-6D00-A0A00A62B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234" y="3724907"/>
            <a:ext cx="2941205" cy="8884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9FA549-E9DE-8A4C-BBD0-913EDAA16D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4107" y="5208957"/>
            <a:ext cx="5955311" cy="82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B6B41B-C1D3-EE22-D8DB-273B716470B8}"/>
              </a:ext>
            </a:extLst>
          </p:cNvPr>
          <p:cNvSpPr txBox="1"/>
          <p:nvPr/>
        </p:nvSpPr>
        <p:spPr>
          <a:xfrm>
            <a:off x="5162995" y="6303636"/>
            <a:ext cx="3803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Solving this equation yield x=15.22mm</a:t>
            </a:r>
          </a:p>
        </p:txBody>
      </p:sp>
    </p:spTree>
    <p:extLst>
      <p:ext uri="{BB962C8B-B14F-4D97-AF65-F5344CB8AC3E}">
        <p14:creationId xmlns:p14="http://schemas.microsoft.com/office/powerpoint/2010/main" val="365283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49CF-29C3-D5B6-C760-FF6CFEB31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7150B78-4B35-AB56-AA0E-C6F21A231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E9390AA-5F75-AC33-3591-4C8F1F73A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8502C76-7655-F41B-D216-A2F6A4360E29}"/>
              </a:ext>
            </a:extLst>
          </p:cNvPr>
          <p:cNvSpPr txBox="1"/>
          <p:nvPr/>
        </p:nvSpPr>
        <p:spPr>
          <a:xfrm>
            <a:off x="4902434" y="305608"/>
            <a:ext cx="3103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Decision Boundary x</a:t>
            </a:r>
            <a:r>
              <a:rPr lang="en-IN" baseline="-25000" dirty="0"/>
              <a:t>0</a:t>
            </a:r>
            <a:r>
              <a:rPr lang="en-IN" dirty="0"/>
              <a:t>=15.2mm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4AAAD7-CD71-A8AD-8218-2C6D338F2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1337" y="881743"/>
            <a:ext cx="6314126" cy="423948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31501F4-5A16-E966-C965-6DC08A225AC5}"/>
              </a:ext>
            </a:extLst>
          </p:cNvPr>
          <p:cNvCxnSpPr>
            <a:cxnSpLocks/>
          </p:cNvCxnSpPr>
          <p:nvPr/>
        </p:nvCxnSpPr>
        <p:spPr>
          <a:xfrm flipV="1">
            <a:off x="8316686" y="4898571"/>
            <a:ext cx="0" cy="50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D69320-19F3-DE0D-CB78-B11A30B250DC}"/>
              </a:ext>
            </a:extLst>
          </p:cNvPr>
          <p:cNvSpPr txBox="1"/>
          <p:nvPr/>
        </p:nvSpPr>
        <p:spPr>
          <a:xfrm>
            <a:off x="7888701" y="5399314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5F135D-B571-216F-D19D-A2592D47F541}"/>
              </a:ext>
            </a:extLst>
          </p:cNvPr>
          <p:cNvSpPr txBox="1"/>
          <p:nvPr/>
        </p:nvSpPr>
        <p:spPr>
          <a:xfrm>
            <a:off x="6551158" y="5805465"/>
            <a:ext cx="1519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 &lt; 15.22mm</a:t>
            </a:r>
          </a:p>
          <a:p>
            <a:r>
              <a:rPr lang="en-US" dirty="0"/>
              <a:t>decide </a:t>
            </a:r>
            <a:r>
              <a:rPr lang="en-US" b="1" dirty="0"/>
              <a:t>Benign</a:t>
            </a:r>
            <a:endParaRPr lang="en-IN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36DBD8-FED7-A505-9B93-11F89E35F7DF}"/>
              </a:ext>
            </a:extLst>
          </p:cNvPr>
          <p:cNvSpPr txBox="1"/>
          <p:nvPr/>
        </p:nvSpPr>
        <p:spPr>
          <a:xfrm>
            <a:off x="9636808" y="5539957"/>
            <a:ext cx="1838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 &gt; 15.22 mm</a:t>
            </a:r>
          </a:p>
          <a:p>
            <a:r>
              <a:rPr lang="en-US" dirty="0"/>
              <a:t>decide </a:t>
            </a:r>
            <a:r>
              <a:rPr lang="en-US" b="1" dirty="0"/>
              <a:t>Malignant</a:t>
            </a:r>
            <a:endParaRPr lang="en-IN" baseline="-250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C5EEF89-B222-2FB7-7EE1-DF268E251F71}"/>
              </a:ext>
            </a:extLst>
          </p:cNvPr>
          <p:cNvCxnSpPr>
            <a:cxnSpLocks/>
          </p:cNvCxnSpPr>
          <p:nvPr/>
        </p:nvCxnSpPr>
        <p:spPr>
          <a:xfrm flipV="1">
            <a:off x="7311142" y="5267903"/>
            <a:ext cx="0" cy="50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ight Brace 27">
            <a:extLst>
              <a:ext uri="{FF2B5EF4-FFF2-40B4-BE49-F238E27FC236}">
                <a16:creationId xmlns:a16="http://schemas.microsoft.com/office/drawing/2014/main" id="{1E01D952-3DA5-730D-7851-56EBC8B18C15}"/>
              </a:ext>
            </a:extLst>
          </p:cNvPr>
          <p:cNvSpPr/>
          <p:nvPr/>
        </p:nvSpPr>
        <p:spPr>
          <a:xfrm rot="5400000">
            <a:off x="7096141" y="4092536"/>
            <a:ext cx="405063" cy="1818296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291E7A-CDB4-29E2-1E4D-ACF3C415769F}"/>
              </a:ext>
            </a:extLst>
          </p:cNvPr>
          <p:cNvCxnSpPr>
            <a:cxnSpLocks/>
          </p:cNvCxnSpPr>
          <p:nvPr/>
        </p:nvCxnSpPr>
        <p:spPr>
          <a:xfrm flipV="1">
            <a:off x="10018642" y="5083237"/>
            <a:ext cx="0" cy="5007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BE47294-EF00-DABD-C77F-A501798DB1D2}"/>
              </a:ext>
            </a:extLst>
          </p:cNvPr>
          <p:cNvSpPr/>
          <p:nvPr/>
        </p:nvSpPr>
        <p:spPr>
          <a:xfrm rot="5400000">
            <a:off x="9568579" y="3693183"/>
            <a:ext cx="405063" cy="2626886"/>
          </a:xfrm>
          <a:prstGeom prst="rightBrac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478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F2435-39DB-5AD0-7D72-A766C27E1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E6F590B-D59C-423D-1D4C-0135536C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5237DAB-3DD0-788E-B66F-19D8BBF0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74E1E3-136E-C6D4-E578-FBFBB5E1F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578" y="118282"/>
            <a:ext cx="6314126" cy="423948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5D4C774-5210-F6DA-50FE-7FFB855D3041}"/>
              </a:ext>
            </a:extLst>
          </p:cNvPr>
          <p:cNvCxnSpPr>
            <a:cxnSpLocks/>
          </p:cNvCxnSpPr>
          <p:nvPr/>
        </p:nvCxnSpPr>
        <p:spPr>
          <a:xfrm flipV="1">
            <a:off x="8085458" y="4165596"/>
            <a:ext cx="0" cy="384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C8423A-2A64-6B16-5914-DCCE38B0CDDD}"/>
              </a:ext>
            </a:extLst>
          </p:cNvPr>
          <p:cNvSpPr txBox="1"/>
          <p:nvPr/>
        </p:nvSpPr>
        <p:spPr>
          <a:xfrm>
            <a:off x="7598976" y="4499583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B148F5-8CF6-20F6-003F-120D6D79C445}"/>
              </a:ext>
            </a:extLst>
          </p:cNvPr>
          <p:cNvSpPr txBox="1"/>
          <p:nvPr/>
        </p:nvSpPr>
        <p:spPr>
          <a:xfrm>
            <a:off x="5782934" y="4868915"/>
            <a:ext cx="49577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Where Bayes error happens</a:t>
            </a:r>
          </a:p>
          <a:p>
            <a:r>
              <a:rPr lang="en-IN" sz="1600" dirty="0"/>
              <a:t>Look at the shaded regions:</a:t>
            </a:r>
          </a:p>
          <a:p>
            <a:r>
              <a:rPr lang="en-IN" sz="1600" b="1" dirty="0"/>
              <a:t>Left shaded under malignant curve</a:t>
            </a:r>
            <a:br>
              <a:rPr lang="en-IN" sz="1600" dirty="0"/>
            </a:br>
            <a:r>
              <a:rPr lang="en-IN" sz="1600" dirty="0"/>
              <a:t>→ Malignant </a:t>
            </a:r>
            <a:r>
              <a:rPr lang="en-IN" sz="1600" dirty="0" err="1"/>
              <a:t>tumors</a:t>
            </a:r>
            <a:r>
              <a:rPr lang="en-IN" sz="1600" dirty="0"/>
              <a:t> misclassified as benign</a:t>
            </a:r>
          </a:p>
          <a:p>
            <a:r>
              <a:rPr lang="en-IN" sz="1600" b="1" dirty="0"/>
              <a:t>Right shaded under benign curve</a:t>
            </a:r>
            <a:br>
              <a:rPr lang="en-IN" sz="1600" dirty="0"/>
            </a:br>
            <a:r>
              <a:rPr lang="en-IN" sz="1600" dirty="0"/>
              <a:t>→ Benign </a:t>
            </a:r>
            <a:r>
              <a:rPr lang="en-IN" sz="1600" dirty="0" err="1"/>
              <a:t>tumors</a:t>
            </a:r>
            <a:r>
              <a:rPr lang="en-IN" sz="1600" dirty="0"/>
              <a:t> misclassified as malignant</a:t>
            </a:r>
          </a:p>
          <a:p>
            <a:r>
              <a:rPr lang="en-IN" sz="1600" dirty="0"/>
              <a:t>These are </a:t>
            </a:r>
            <a:r>
              <a:rPr lang="en-IN" sz="1600" b="1" dirty="0"/>
              <a:t>unavoidable errors</a:t>
            </a:r>
            <a:r>
              <a:rPr lang="en-IN" sz="1600" dirty="0"/>
              <a:t> due to overlap.</a:t>
            </a:r>
          </a:p>
        </p:txBody>
      </p:sp>
    </p:spTree>
    <p:extLst>
      <p:ext uri="{BB962C8B-B14F-4D97-AF65-F5344CB8AC3E}">
        <p14:creationId xmlns:p14="http://schemas.microsoft.com/office/powerpoint/2010/main" val="4206040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75B8-810B-4DF9-193A-7E5B2800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4498FB-0037-46B8-C5AA-D1197307D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80" y="191854"/>
            <a:ext cx="3374954" cy="65572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D248C54-1761-AA3D-C565-EB54E05E1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7" y="201858"/>
            <a:ext cx="1105439" cy="6557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C6AB88-CF5B-7E99-28CC-536933ADC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8578" y="118282"/>
            <a:ext cx="4751655" cy="319039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AFE555-459F-B4EC-A2DF-0CF8E03C7E28}"/>
              </a:ext>
            </a:extLst>
          </p:cNvPr>
          <p:cNvCxnSpPr>
            <a:cxnSpLocks/>
          </p:cNvCxnSpPr>
          <p:nvPr/>
        </p:nvCxnSpPr>
        <p:spPr>
          <a:xfrm flipV="1">
            <a:off x="7339224" y="3044661"/>
            <a:ext cx="0" cy="384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FCD06C-C46E-B1B7-5123-95DD58409801}"/>
              </a:ext>
            </a:extLst>
          </p:cNvPr>
          <p:cNvSpPr txBox="1"/>
          <p:nvPr/>
        </p:nvSpPr>
        <p:spPr>
          <a:xfrm>
            <a:off x="6669103" y="3475610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722B4-030C-D0EA-CAC6-AEFB3CAF0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282" y="4008391"/>
            <a:ext cx="7234649" cy="2593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809D05-16F5-01FF-EE2C-02BF511FDBA1}"/>
              </a:ext>
            </a:extLst>
          </p:cNvPr>
          <p:cNvSpPr txBox="1"/>
          <p:nvPr/>
        </p:nvSpPr>
        <p:spPr>
          <a:xfrm>
            <a:off x="4643983" y="3639059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Bayes Error Rate</a:t>
            </a:r>
          </a:p>
        </p:txBody>
      </p:sp>
    </p:spTree>
    <p:extLst>
      <p:ext uri="{BB962C8B-B14F-4D97-AF65-F5344CB8AC3E}">
        <p14:creationId xmlns:p14="http://schemas.microsoft.com/office/powerpoint/2010/main" val="4272971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3644B0-3C59-0CCF-F566-B200455EA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1" y="181344"/>
            <a:ext cx="5256152" cy="35291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76CDA13-BA96-833B-6F67-2FD39FAB10C8}"/>
              </a:ext>
            </a:extLst>
          </p:cNvPr>
          <p:cNvCxnSpPr>
            <a:cxnSpLocks/>
          </p:cNvCxnSpPr>
          <p:nvPr/>
        </p:nvCxnSpPr>
        <p:spPr>
          <a:xfrm flipV="1">
            <a:off x="2851306" y="3492062"/>
            <a:ext cx="0" cy="384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1794FFB-FBD5-AE2A-9C28-1AC8C00C3552}"/>
              </a:ext>
            </a:extLst>
          </p:cNvPr>
          <p:cNvSpPr txBox="1"/>
          <p:nvPr/>
        </p:nvSpPr>
        <p:spPr>
          <a:xfrm>
            <a:off x="2249454" y="3876401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4B869A-3471-4F96-6D49-632E5863A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22" y="436147"/>
            <a:ext cx="5048955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6A27C9-8D83-933A-6B13-428D316B4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722" y="1087631"/>
            <a:ext cx="5202926" cy="457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0EAD44-E6C6-E59F-5910-6B5CAFEB4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431" y="2110567"/>
            <a:ext cx="6163535" cy="1076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EB3DB9-C745-6DDF-155F-FF10204616EE}"/>
              </a:ext>
            </a:extLst>
          </p:cNvPr>
          <p:cNvSpPr txBox="1"/>
          <p:nvPr/>
        </p:nvSpPr>
        <p:spPr>
          <a:xfrm>
            <a:off x="5927453" y="1741235"/>
            <a:ext cx="126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Matrix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F42F97-2A4F-F0C5-87FE-BE2CA6300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8061" y="3868014"/>
            <a:ext cx="7382905" cy="2448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B06943-CFDC-B084-D450-12E8C96499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9500" y="4728104"/>
            <a:ext cx="1457528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5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C485E-A024-082B-CE66-2B50CE2B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338528-4D18-D849-0F86-3AE897F4E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91" y="181344"/>
            <a:ext cx="5256152" cy="35291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843CF9-44CF-AA8E-DFAD-B80560D04C36}"/>
              </a:ext>
            </a:extLst>
          </p:cNvPr>
          <p:cNvCxnSpPr>
            <a:cxnSpLocks/>
          </p:cNvCxnSpPr>
          <p:nvPr/>
        </p:nvCxnSpPr>
        <p:spPr>
          <a:xfrm flipV="1">
            <a:off x="2851306" y="3492062"/>
            <a:ext cx="0" cy="384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0A139E-B2D5-9F8E-5C85-6854251F2285}"/>
              </a:ext>
            </a:extLst>
          </p:cNvPr>
          <p:cNvSpPr txBox="1"/>
          <p:nvPr/>
        </p:nvSpPr>
        <p:spPr>
          <a:xfrm>
            <a:off x="2249454" y="3876401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624D85-A3F3-B5A9-F977-4A4A1C224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22" y="436147"/>
            <a:ext cx="5048955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8268DB-679A-2132-1C4B-C2FFE6C66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722" y="1077121"/>
            <a:ext cx="4010585" cy="352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468355-FBDC-0A93-2F7F-E9B40947A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431" y="2110567"/>
            <a:ext cx="6163535" cy="1076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E8B78E-31D0-7016-D18F-B6E08D4A5F78}"/>
              </a:ext>
            </a:extLst>
          </p:cNvPr>
          <p:cNvSpPr txBox="1"/>
          <p:nvPr/>
        </p:nvSpPr>
        <p:spPr>
          <a:xfrm>
            <a:off x="5927453" y="1741235"/>
            <a:ext cx="126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Matrix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84DAF1-9048-6B08-E1DB-288A7898E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250" y="3037189"/>
            <a:ext cx="1457528" cy="1038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FA63DB-3823-744D-1B14-C6E7DF45EE17}"/>
                  </a:ext>
                </a:extLst>
              </p:cNvPr>
              <p:cNvSpPr txBox="1"/>
              <p:nvPr/>
            </p:nvSpPr>
            <p:spPr>
              <a:xfrm>
                <a:off x="5927453" y="4113664"/>
                <a:ext cx="5604226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b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b="1" dirty="0"/>
                  <a:t>?</a:t>
                </a:r>
              </a:p>
              <a:p>
                <a:r>
                  <a:rPr lang="en-IN" dirty="0"/>
                  <a:t>Because: If our decision is correct, there is </a:t>
                </a:r>
                <a:r>
                  <a:rPr lang="en-IN" b="1" dirty="0"/>
                  <a:t>no penalty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  <a:p>
                <a:r>
                  <a:rPr lang="en-IN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b="1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b="1" dirty="0"/>
                  <a:t>?</a:t>
                </a:r>
              </a:p>
              <a:p>
                <a:r>
                  <a:rPr lang="en-IN" dirty="0"/>
                  <a:t>Because:</a:t>
                </a:r>
              </a:p>
              <a:p>
                <a:r>
                  <a:rPr lang="en-IN" dirty="0"/>
                  <a:t>Any mistake counts equally as one error.</a:t>
                </a:r>
              </a:p>
              <a:p>
                <a:r>
                  <a:rPr lang="en-IN" dirty="0"/>
                  <a:t>This is called </a:t>
                </a:r>
                <a:r>
                  <a:rPr lang="en-IN" b="1" dirty="0"/>
                  <a:t>0–1 loss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This assumption turns </a:t>
                </a:r>
                <a:r>
                  <a:rPr lang="en-IN" b="1" dirty="0"/>
                  <a:t>minimum risk</a:t>
                </a:r>
                <a:r>
                  <a:rPr lang="en-IN" dirty="0"/>
                  <a:t> into </a:t>
                </a:r>
                <a:r>
                  <a:rPr lang="en-IN" b="1" dirty="0"/>
                  <a:t>minimum error</a:t>
                </a:r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FA63DB-3823-744D-1B14-C6E7DF45E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453" y="4113664"/>
                <a:ext cx="5604226" cy="2308324"/>
              </a:xfrm>
              <a:prstGeom prst="rect">
                <a:avLst/>
              </a:prstGeom>
              <a:blipFill>
                <a:blip r:embed="rId7"/>
                <a:stretch>
                  <a:fillRect l="-870" t="-1852" r="-217" b="-34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680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B68F-4CCD-EB24-6A35-38B3A6FF4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363CE9-3C6D-D984-47DB-7FB633129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91" y="181344"/>
            <a:ext cx="5256152" cy="352913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321CC5-EC39-9BED-9A68-12946F72B4A1}"/>
              </a:ext>
            </a:extLst>
          </p:cNvPr>
          <p:cNvCxnSpPr>
            <a:cxnSpLocks/>
          </p:cNvCxnSpPr>
          <p:nvPr/>
        </p:nvCxnSpPr>
        <p:spPr>
          <a:xfrm flipV="1">
            <a:off x="2851306" y="3492062"/>
            <a:ext cx="0" cy="3843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6983D9-2804-BA64-3042-ECEC507938E4}"/>
              </a:ext>
            </a:extLst>
          </p:cNvPr>
          <p:cNvSpPr txBox="1"/>
          <p:nvPr/>
        </p:nvSpPr>
        <p:spPr>
          <a:xfrm>
            <a:off x="2249454" y="3876401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</a:t>
            </a:r>
            <a:r>
              <a:rPr lang="en-IN" baseline="-25000" dirty="0"/>
              <a:t>0</a:t>
            </a:r>
            <a:r>
              <a:rPr lang="en-IN" dirty="0"/>
              <a:t>=15.22mm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47A5D1-AEC3-54F3-DC10-641E726EA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722" y="436147"/>
            <a:ext cx="5048955" cy="45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138750-ADF9-A966-0CDF-C18220C5E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722" y="1077121"/>
            <a:ext cx="4010585" cy="3524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DDF82E-823B-E518-C83A-470AAA6FD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431" y="2110567"/>
            <a:ext cx="6163535" cy="10764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04F989-1563-C44C-F558-6DDE700B6153}"/>
              </a:ext>
            </a:extLst>
          </p:cNvPr>
          <p:cNvSpPr txBox="1"/>
          <p:nvPr/>
        </p:nvSpPr>
        <p:spPr>
          <a:xfrm>
            <a:off x="5927453" y="1741235"/>
            <a:ext cx="126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Cost Matrix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CB745-5EFB-EB81-5659-F7B316B0BA5E}"/>
              </a:ext>
            </a:extLst>
          </p:cNvPr>
          <p:cNvSpPr txBox="1"/>
          <p:nvPr/>
        </p:nvSpPr>
        <p:spPr>
          <a:xfrm>
            <a:off x="578069" y="4558298"/>
            <a:ext cx="6460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fine, if Benign Tumors are classified as Malignant Tumor.</a:t>
            </a:r>
          </a:p>
          <a:p>
            <a:r>
              <a:rPr lang="en-US" dirty="0"/>
              <a:t>But Malignant tumor should not be classified as Benign Tumor.      "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C8ED3-F31B-7F46-3BEE-50A4EAFE59C2}"/>
              </a:ext>
            </a:extLst>
          </p:cNvPr>
          <p:cNvSpPr txBox="1"/>
          <p:nvPr/>
        </p:nvSpPr>
        <p:spPr>
          <a:xfrm>
            <a:off x="7328085" y="4709504"/>
            <a:ext cx="4035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missing a malignant tumor costs 10.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574AA0-5D6A-9576-0336-ABC7499BE9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5208" y="3133321"/>
            <a:ext cx="2486015" cy="153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23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C724E-5492-8EE8-23F7-BA52C2FA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Risk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7F285-2FE5-F60C-5086-0DFCF31C3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/>
              <a:t>Bayes risk is the minimum expected loss of a decision rule, calculated by averaging the loss function over the posterior distribution of parameters, representing the best possible performance achievable in a Bayesian framework for a given problem and loss function.</a:t>
            </a:r>
            <a:endParaRPr lang="en-IN" sz="1800" dirty="0"/>
          </a:p>
          <a:p>
            <a:pPr algn="just"/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8DCBD-D0CE-1ECD-3AD5-94813ABC1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7" y="2743617"/>
            <a:ext cx="4460790" cy="335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997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ECF9-7DAA-2DB2-2E72-2623F8A2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8403D5-E921-E307-0EDD-59931B91A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91" y="181344"/>
            <a:ext cx="5256152" cy="3529130"/>
          </a:xfrm>
          <a:prstGeom prst="rect">
            <a:avLst/>
          </a:prstGeom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2B62C1F0-755D-821A-6B8E-04D9A194EA6D}"/>
              </a:ext>
            </a:extLst>
          </p:cNvPr>
          <p:cNvSpPr/>
          <p:nvPr/>
        </p:nvSpPr>
        <p:spPr>
          <a:xfrm rot="5400000">
            <a:off x="3863805" y="2527077"/>
            <a:ext cx="319089" cy="2379560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D2D320D-03C3-56BF-BF8F-1BAEC795AC31}"/>
              </a:ext>
            </a:extLst>
          </p:cNvPr>
          <p:cNvSpPr/>
          <p:nvPr/>
        </p:nvSpPr>
        <p:spPr>
          <a:xfrm rot="5400000">
            <a:off x="1674950" y="2839199"/>
            <a:ext cx="369330" cy="1675065"/>
          </a:xfrm>
          <a:prstGeom prst="rightBrac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F370B7-F517-19E4-B460-43570581E0B3}"/>
              </a:ext>
            </a:extLst>
          </p:cNvPr>
          <p:cNvSpPr txBox="1"/>
          <p:nvPr/>
        </p:nvSpPr>
        <p:spPr>
          <a:xfrm>
            <a:off x="3714478" y="3863976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75D0F9-851D-64A9-8E80-81F8D02F8188}"/>
              </a:ext>
            </a:extLst>
          </p:cNvPr>
          <p:cNvSpPr txBox="1"/>
          <p:nvPr/>
        </p:nvSpPr>
        <p:spPr>
          <a:xfrm>
            <a:off x="1646431" y="3861397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358123-5705-4AF2-D260-92F5E9A1A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34" y="4245733"/>
            <a:ext cx="8697539" cy="1416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71BB04F-2E18-2BC1-C033-F61A3672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701" y="181345"/>
            <a:ext cx="6257153" cy="40643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CD691D2-779B-385F-B808-775D4F613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5922" y="4105736"/>
            <a:ext cx="2486015" cy="153896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42AD506-2809-A68F-F307-3916CDFC493A}"/>
              </a:ext>
            </a:extLst>
          </p:cNvPr>
          <p:cNvSpPr txBox="1"/>
          <p:nvPr/>
        </p:nvSpPr>
        <p:spPr>
          <a:xfrm>
            <a:off x="230794" y="4245733"/>
            <a:ext cx="704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Risk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ABA533-297F-9A3A-D376-0D4CF7252421}"/>
              </a:ext>
            </a:extLst>
          </p:cNvPr>
          <p:cNvSpPr txBox="1"/>
          <p:nvPr/>
        </p:nvSpPr>
        <p:spPr>
          <a:xfrm>
            <a:off x="251134" y="5489825"/>
            <a:ext cx="266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c11​=c22​=0, c21​=10, c12​=1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7E557F4-EC11-44D1-E92C-7E5F30B22253}"/>
              </a:ext>
            </a:extLst>
          </p:cNvPr>
          <p:cNvSpPr/>
          <p:nvPr/>
        </p:nvSpPr>
        <p:spPr>
          <a:xfrm>
            <a:off x="4421227" y="5386191"/>
            <a:ext cx="357352" cy="4729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15216BD-68BD-9CBA-00E4-CD396BA670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568" y="5859157"/>
            <a:ext cx="5933147" cy="86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865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448-7603-CFE3-AAF6-8B82AF67D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262626"/>
                </a:solidFill>
                <a:latin typeface="Inter"/>
              </a:rPr>
              <a:t>Relation between Perceptron and Bayes Classifier for a Gaussian Environment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4FEEA-98AD-5CE5-8309-53675A7C57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Tx/>
              <a:buChar char="-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Bayes Classifier</a:t>
            </a:r>
          </a:p>
          <a:p>
            <a:pPr marL="457200" indent="-457200">
              <a:buFontTx/>
              <a:buChar char="-"/>
            </a:pPr>
            <a:r>
              <a:rPr lang="en-IN" dirty="0"/>
              <a:t>Bayes Classifier for a Gaussian Distribution</a:t>
            </a:r>
          </a:p>
          <a:p>
            <a:r>
              <a:rPr lang="en-IN" sz="1900" dirty="0"/>
              <a:t>Covariance Matrix, Expectation, </a:t>
            </a:r>
          </a:p>
          <a:p>
            <a:r>
              <a:rPr lang="en-IN" sz="1900" dirty="0"/>
              <a:t>Matrix: Diagonal vs Non-Diagonal</a:t>
            </a:r>
          </a:p>
          <a:p>
            <a:r>
              <a:rPr lang="en-IN" sz="1900" dirty="0"/>
              <a:t>Singular vs Non-Singular</a:t>
            </a:r>
            <a:endParaRPr lang="en-US" sz="19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5179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2C278-7A27-C9F1-05D4-0CAB0D22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BDF42-761E-D93B-CA1D-38B0BA9B74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Take a 2-feature example (tumor)</a:t>
                </a:r>
              </a:p>
              <a:p>
                <a:r>
                  <a:rPr lang="en-IN" sz="1600" dirty="0"/>
                  <a:t>Let features be: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1600" dirty="0"/>
                  <a:t>: </a:t>
                </a:r>
                <a:r>
                  <a:rPr lang="en-IN" sz="1600" dirty="0"/>
                  <a:t>Radius (mm)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1600" dirty="0"/>
                  <a:t>: </a:t>
                </a:r>
                <a:r>
                  <a:rPr lang="en-IN" sz="1600" dirty="0"/>
                  <a:t>Texture score</a:t>
                </a:r>
              </a:p>
              <a:p>
                <a:r>
                  <a:rPr lang="en-IN" sz="1600" dirty="0"/>
                  <a:t>Suppose for </a:t>
                </a:r>
                <a:r>
                  <a:rPr lang="en-IN" sz="1600" b="1" dirty="0"/>
                  <a:t>Benign </a:t>
                </a:r>
                <a:r>
                  <a:rPr lang="en-IN" sz="1600" b="1" dirty="0" err="1"/>
                  <a:t>tumors</a:t>
                </a:r>
                <a:r>
                  <a:rPr lang="en-IN" sz="1600" dirty="0"/>
                  <a:t> we observed: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BDF42-761E-D93B-CA1D-38B0BA9B74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48" t="-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32DBCF4-F640-16E8-E931-BC9AB9EE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34" y="3711709"/>
            <a:ext cx="4025790" cy="207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39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DFA2-B60C-E835-2A5E-4016176A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FFAACA-E655-9782-17FC-3D973E013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8" y="232785"/>
            <a:ext cx="4025790" cy="207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BDE16C-5663-0537-1B08-46A919F93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24" y="453371"/>
            <a:ext cx="1756853" cy="144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6A5E33-B4CF-4E60-6628-BA67EB25141C}"/>
              </a:ext>
            </a:extLst>
          </p:cNvPr>
          <p:cNvSpPr txBox="1"/>
          <p:nvPr/>
        </p:nvSpPr>
        <p:spPr>
          <a:xfrm>
            <a:off x="5379250" y="26870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Mean</a:t>
            </a:r>
          </a:p>
        </p:txBody>
      </p:sp>
    </p:spTree>
    <p:extLst>
      <p:ext uri="{BB962C8B-B14F-4D97-AF65-F5344CB8AC3E}">
        <p14:creationId xmlns:p14="http://schemas.microsoft.com/office/powerpoint/2010/main" val="537718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B847-45A4-7AF2-611B-C39D9211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B8BBA0-F1CE-E6C4-B9A9-46DE0783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8" y="232785"/>
            <a:ext cx="4025790" cy="207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0F762F-E776-D327-7DCC-05FBB32BC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24" y="453371"/>
            <a:ext cx="1756853" cy="144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54838A-85D2-12DC-5B09-46C4EC0A6B7E}"/>
              </a:ext>
            </a:extLst>
          </p:cNvPr>
          <p:cNvSpPr txBox="1"/>
          <p:nvPr/>
        </p:nvSpPr>
        <p:spPr>
          <a:xfrm>
            <a:off x="5379250" y="26870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F3EB3E-B1C8-589D-847C-EBDA01F4FE1C}"/>
                  </a:ext>
                </a:extLst>
              </p:cNvPr>
              <p:cNvSpPr txBox="1"/>
              <p:nvPr/>
            </p:nvSpPr>
            <p:spPr>
              <a:xfrm>
                <a:off x="7567451" y="244722"/>
                <a:ext cx="2873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Compute deviations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EF3EB3E-B1C8-589D-847C-EBDA01F4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451" y="244722"/>
                <a:ext cx="2873415" cy="369332"/>
              </a:xfrm>
              <a:prstGeom prst="rect">
                <a:avLst/>
              </a:prstGeom>
              <a:blipFill>
                <a:blip r:embed="rId4"/>
                <a:stretch>
                  <a:fillRect l="-169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88E7C16-3854-271D-A0D6-1D558BF22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451" y="640334"/>
            <a:ext cx="3720570" cy="158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968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C8F7-7E41-595E-3693-86EDAADC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80F4BC-FD07-B355-460E-9DCAAD553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8" y="232785"/>
            <a:ext cx="4025790" cy="20704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6942A2-2DE1-12DF-8B54-F3D234005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824" y="453371"/>
            <a:ext cx="1756853" cy="14437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D4164-5212-BE78-4701-350E35F3D6BE}"/>
              </a:ext>
            </a:extLst>
          </p:cNvPr>
          <p:cNvSpPr txBox="1"/>
          <p:nvPr/>
        </p:nvSpPr>
        <p:spPr>
          <a:xfrm>
            <a:off x="5379250" y="26870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5930A-26EB-4A53-C36A-F7C9CE1B33A5}"/>
                  </a:ext>
                </a:extLst>
              </p:cNvPr>
              <p:cNvSpPr txBox="1"/>
              <p:nvPr/>
            </p:nvSpPr>
            <p:spPr>
              <a:xfrm>
                <a:off x="7567451" y="244722"/>
                <a:ext cx="28734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Compute deviations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F5930A-26EB-4A53-C36A-F7C9CE1B3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451" y="244722"/>
                <a:ext cx="2873415" cy="369332"/>
              </a:xfrm>
              <a:prstGeom prst="rect">
                <a:avLst/>
              </a:prstGeom>
              <a:blipFill>
                <a:blip r:embed="rId4"/>
                <a:stretch>
                  <a:fillRect l="-169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B3FE46E-31A5-D69D-8E90-89DEA73E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451" y="640334"/>
            <a:ext cx="3720570" cy="15878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3ED2B0-9118-42E8-13F3-89DC99F67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96" y="2658663"/>
            <a:ext cx="3810532" cy="514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DAD29F-8A95-4218-6E16-52B9729F2F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394" y="3286818"/>
            <a:ext cx="2514951" cy="310558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3C7D6262-F26F-6CF7-F3F1-A419326DC5B0}"/>
              </a:ext>
            </a:extLst>
          </p:cNvPr>
          <p:cNvSpPr/>
          <p:nvPr/>
        </p:nvSpPr>
        <p:spPr>
          <a:xfrm>
            <a:off x="3672886" y="3537771"/>
            <a:ext cx="430924" cy="2942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F1E91-8BD5-8595-4BC7-414D112CBE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5158" y="3212500"/>
            <a:ext cx="4515563" cy="9448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83FD17-95B6-DD35-AB28-7628F107C917}"/>
              </a:ext>
            </a:extLst>
          </p:cNvPr>
          <p:cNvSpPr txBox="1"/>
          <p:nvPr/>
        </p:nvSpPr>
        <p:spPr>
          <a:xfrm>
            <a:off x="8740721" y="4029196"/>
            <a:ext cx="1706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Divide by number </a:t>
            </a:r>
          </a:p>
          <a:p>
            <a:r>
              <a:rPr lang="en-US" sz="1600" dirty="0"/>
              <a:t>of samples (3)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812C699-0D70-8C26-FF9C-8F15CC6147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2957" y="4675527"/>
            <a:ext cx="2429214" cy="724001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BDDB970D-24D5-45B1-1FFC-712DD1704FB9}"/>
              </a:ext>
            </a:extLst>
          </p:cNvPr>
          <p:cNvSpPr/>
          <p:nvPr/>
        </p:nvSpPr>
        <p:spPr>
          <a:xfrm>
            <a:off x="8095013" y="4243761"/>
            <a:ext cx="231228" cy="2837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D968E45-D238-F9C3-F497-B8F2511D6E2B}"/>
              </a:ext>
            </a:extLst>
          </p:cNvPr>
          <p:cNvSpPr/>
          <p:nvPr/>
        </p:nvSpPr>
        <p:spPr>
          <a:xfrm>
            <a:off x="8137056" y="5319194"/>
            <a:ext cx="231228" cy="2837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CCC1DD-BF7A-81B6-ADA0-557A79145C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7368" y="5612333"/>
            <a:ext cx="2362076" cy="94483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EA9363-7FDE-E391-ACF4-4C144A078AC8}"/>
              </a:ext>
            </a:extLst>
          </p:cNvPr>
          <p:cNvSpPr txBox="1"/>
          <p:nvPr/>
        </p:nvSpPr>
        <p:spPr>
          <a:xfrm>
            <a:off x="9158349" y="5733057"/>
            <a:ext cx="1874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Covariance matrix</a:t>
            </a:r>
          </a:p>
        </p:txBody>
      </p:sp>
    </p:spTree>
    <p:extLst>
      <p:ext uri="{BB962C8B-B14F-4D97-AF65-F5344CB8AC3E}">
        <p14:creationId xmlns:p14="http://schemas.microsoft.com/office/powerpoint/2010/main" val="663122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5507F3-DE95-B097-B533-48220565D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68" y="232785"/>
            <a:ext cx="4025790" cy="2070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109C06-EB4A-6FF8-061C-A269E27B9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366" y="232785"/>
            <a:ext cx="1819529" cy="943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A23BD0-02BC-10C5-D9C1-E7895AB9A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609" y="375680"/>
            <a:ext cx="3105583" cy="800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66A934-3B1B-A423-F8DB-2736A61C5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202" y="1389080"/>
            <a:ext cx="4810796" cy="13051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97E6C3-FDEF-E752-4D7C-CED8B3604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0447" y="2828840"/>
            <a:ext cx="4720551" cy="13673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49F7A4-6668-BE9D-FD66-682E6745AF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739" y="4450330"/>
            <a:ext cx="4843527" cy="217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1079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7F95-3260-889D-534E-25122ABA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“Expectation”?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11EE4-58F5-403A-8A70-A274F71B7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Expectation = long-run average value</a:t>
            </a:r>
            <a:r>
              <a:rPr lang="en-US" sz="1800" dirty="0"/>
              <a:t> of a random quantity.</a:t>
            </a:r>
          </a:p>
          <a:p>
            <a:r>
              <a:rPr lang="en-US" sz="1800" dirty="0"/>
              <a:t>If you measure the same thing many, many times, the average you get is the expectation.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60667-6251-CF69-48C2-F487B9ED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474" y="2683077"/>
            <a:ext cx="6981306" cy="380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406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264E-3801-8FE3-E911-1D3BD82E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“Expectation”?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697FB-04B1-FEFE-5096-61D059ECE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81" y="1690688"/>
            <a:ext cx="8981701" cy="1807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95DCC1-C801-5074-4CEE-186A82958A1A}"/>
              </a:ext>
            </a:extLst>
          </p:cNvPr>
          <p:cNvSpPr txBox="1"/>
          <p:nvPr/>
        </p:nvSpPr>
        <p:spPr>
          <a:xfrm>
            <a:off x="838200" y="3932359"/>
            <a:ext cx="9024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Expectation is the average value you would get if you observed infinitely many tumor samples.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0444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D0BB725-48A2-6610-8103-0D866A67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77" y="249471"/>
            <a:ext cx="2549223" cy="28268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949A11-BE15-BEF1-EDA6-228D89A6F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52745"/>
            <a:ext cx="3897650" cy="12351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D57EBC-D667-135C-D317-7655E18A170D}"/>
              </a:ext>
            </a:extLst>
          </p:cNvPr>
          <p:cNvSpPr txBox="1"/>
          <p:nvPr/>
        </p:nvSpPr>
        <p:spPr>
          <a:xfrm>
            <a:off x="5490101" y="4664329"/>
            <a:ext cx="6701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That means the </a:t>
            </a:r>
            <a:r>
              <a:rPr lang="en-US" sz="2000" b="1" dirty="0"/>
              <a:t>covariance matrix is identical</a:t>
            </a:r>
            <a:r>
              <a:rPr lang="en-US" sz="2000" dirty="0"/>
              <a:t> for both classes.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64272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09D87-8251-F94E-11DE-5EFA95F8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4CE7B0C-35FF-BD3B-E8D8-8782930A5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77" y="249471"/>
            <a:ext cx="2549223" cy="28268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BD1A21-0FA8-6EE2-A4B7-8F60695EB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52745"/>
            <a:ext cx="3897650" cy="12351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0AF74B-423C-1E11-93C1-4AC8280FC509}"/>
              </a:ext>
            </a:extLst>
          </p:cNvPr>
          <p:cNvSpPr txBox="1"/>
          <p:nvPr/>
        </p:nvSpPr>
        <p:spPr>
          <a:xfrm>
            <a:off x="5490101" y="4664329"/>
            <a:ext cx="67018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That means the </a:t>
            </a:r>
            <a:r>
              <a:rPr lang="en-US" sz="2000" b="1" dirty="0"/>
              <a:t>covariance matrix is identical</a:t>
            </a:r>
            <a:r>
              <a:rPr lang="en-US" sz="2000" dirty="0"/>
              <a:t> for both classes.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47B2FB-E7FA-F487-191B-9B7717DC0916}"/>
              </a:ext>
            </a:extLst>
          </p:cNvPr>
          <p:cNvSpPr txBox="1"/>
          <p:nvPr/>
        </p:nvSpPr>
        <p:spPr>
          <a:xfrm>
            <a:off x="5854262" y="5064439"/>
            <a:ext cx="55271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Covariance controls </a:t>
            </a:r>
            <a:r>
              <a:rPr lang="en-US" b="1" dirty="0"/>
              <a:t>three things</a:t>
            </a:r>
            <a:r>
              <a:rPr lang="en-US" dirty="0"/>
              <a:t> about a Gaussian cloud:</a:t>
            </a:r>
          </a:p>
          <a:p>
            <a:r>
              <a:rPr lang="en-US" dirty="0"/>
              <a:t>- How much it spreads in each direction (variance)</a:t>
            </a:r>
          </a:p>
          <a:p>
            <a:r>
              <a:rPr lang="en-US" dirty="0"/>
              <a:t>- How features move together (correlation)</a:t>
            </a:r>
          </a:p>
          <a:p>
            <a:r>
              <a:rPr lang="en-US" dirty="0"/>
              <a:t>- The orientation (tilt) of the ellipse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077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A04E5-A509-B3B0-67B0-D05B50EF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521B6C-C86F-B4DC-446D-A2F69E2EF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4709"/>
            <a:ext cx="5370814" cy="53708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E6707C-0D63-67AC-0B81-29D945F5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95" y="92674"/>
            <a:ext cx="6528419" cy="362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341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5D7B-0F21-671F-6109-CACC1DBC6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FA2BA-1612-DB04-BAA5-F9691F3B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5D3183-751C-EA5B-1A35-47833167B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4709"/>
            <a:ext cx="5370814" cy="537081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6A9A2-0F5C-5CA0-0C2E-F798D598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95" y="92674"/>
            <a:ext cx="6528419" cy="31960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E3A15D3-639A-D6A0-6373-EB5C3BC07C59}"/>
              </a:ext>
            </a:extLst>
          </p:cNvPr>
          <p:cNvSpPr txBox="1"/>
          <p:nvPr/>
        </p:nvSpPr>
        <p:spPr>
          <a:xfrm>
            <a:off x="5738649" y="3764543"/>
            <a:ext cx="5379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two classes have identical shape and orientation.</a:t>
            </a:r>
            <a:br>
              <a:rPr lang="en-US" dirty="0"/>
            </a:br>
            <a:r>
              <a:rPr lang="en-US" dirty="0"/>
              <a:t>Only their locations are different.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96848-7519-4ECA-43AD-A0705A6D2D05}"/>
              </a:ext>
            </a:extLst>
          </p:cNvPr>
          <p:cNvSpPr txBox="1"/>
          <p:nvPr/>
        </p:nvSpPr>
        <p:spPr>
          <a:xfrm>
            <a:off x="5602014" y="4702049"/>
            <a:ext cx="5367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shapes are same and only shifted, the best separator </a:t>
            </a:r>
          </a:p>
          <a:p>
            <a:r>
              <a:rPr lang="en-US" dirty="0"/>
              <a:t>must be a </a:t>
            </a:r>
            <a:r>
              <a:rPr lang="en-US" b="1" dirty="0"/>
              <a:t>straight line.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9459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10D9-06B3-9340-6F3A-BECB5DDF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Covariance Matrix: Non-diagonal vs Diagonal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657FC-1470-D3CC-12E5-278940FBD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9072"/>
            <a:ext cx="5906324" cy="3896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868F7-D582-5369-DFCC-3F0A2161D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844" y="1825625"/>
            <a:ext cx="5201376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687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173D2-625F-D947-DDDD-0BB47C6C3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Singular vs Non-Singular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365E6-200D-E1FF-DEAE-3AAE6015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12" y="1837090"/>
            <a:ext cx="4334480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2BBA84-5A21-5DB1-8660-4F7E44296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64" y="3297400"/>
            <a:ext cx="4591691" cy="80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B26E44-DF4E-B5A5-76CA-251A3B23C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156" y="1690688"/>
            <a:ext cx="2838846" cy="123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8B75B4-C6F1-3A6D-8E84-597A1A5E8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156" y="3121165"/>
            <a:ext cx="462027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9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E9184B-7E58-B33D-BB02-C3E0F96F7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948"/>
          <a:stretch>
            <a:fillRect/>
          </a:stretch>
        </p:blipFill>
        <p:spPr>
          <a:xfrm>
            <a:off x="538069" y="1397876"/>
            <a:ext cx="8884371" cy="4277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C595A-8170-C825-AC61-51C8B6DBA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355" y="4790088"/>
            <a:ext cx="5363569" cy="8854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E4BF97-4541-A923-CA50-01C98FF840E9}"/>
              </a:ext>
            </a:extLst>
          </p:cNvPr>
          <p:cNvSpPr txBox="1"/>
          <p:nvPr/>
        </p:nvSpPr>
        <p:spPr>
          <a:xfrm>
            <a:off x="880065" y="267334"/>
            <a:ext cx="73074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1D Gaussian PDF vs  Multi-Dimensional Gaussian PDF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C7A979-3D4C-1DB0-6E98-F4BDD896DE4D}"/>
              </a:ext>
            </a:extLst>
          </p:cNvPr>
          <p:cNvSpPr txBox="1"/>
          <p:nvPr/>
        </p:nvSpPr>
        <p:spPr>
          <a:xfrm>
            <a:off x="9422440" y="5667354"/>
            <a:ext cx="27104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d: Number of features (dimension)</a:t>
            </a:r>
          </a:p>
        </p:txBody>
      </p:sp>
    </p:spTree>
    <p:extLst>
      <p:ext uri="{BB962C8B-B14F-4D97-AF65-F5344CB8AC3E}">
        <p14:creationId xmlns:p14="http://schemas.microsoft.com/office/powerpoint/2010/main" val="1887509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</TotalTime>
  <Words>1354</Words>
  <Application>Microsoft Office PowerPoint</Application>
  <PresentationFormat>Widescreen</PresentationFormat>
  <Paragraphs>202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Inter</vt:lpstr>
      <vt:lpstr>Office Theme</vt:lpstr>
      <vt:lpstr>Gaussian Distribution, Probability: Intersection and Conditional, Bayes Theorem, Bayes Error, Variance, Covariance</vt:lpstr>
      <vt:lpstr>Gaussian Distribution</vt:lpstr>
      <vt:lpstr>Gaussian Distribution</vt:lpstr>
      <vt:lpstr>Visualizing the Gaussian distribution</vt:lpstr>
      <vt:lpstr>Visualizing the Gaussian distribution</vt:lpstr>
      <vt:lpstr>PowerPoint Presentation</vt:lpstr>
      <vt:lpstr>PowerPoint Presentation</vt:lpstr>
      <vt:lpstr>PowerPoint Presentation</vt:lpstr>
      <vt:lpstr>Probability</vt:lpstr>
      <vt:lpstr>PowerPoint Presentation</vt:lpstr>
      <vt:lpstr>PowerPoint Presentation</vt:lpstr>
      <vt:lpstr>PowerPoint Presentation</vt:lpstr>
      <vt:lpstr>Bayes Theorem</vt:lpstr>
      <vt:lpstr>PowerPoint Presentation</vt:lpstr>
      <vt:lpstr>PowerPoint Presentation</vt:lpstr>
      <vt:lpstr>PowerPoint Presentation</vt:lpstr>
      <vt:lpstr>Bayes Classifier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 Risk</vt:lpstr>
      <vt:lpstr>PowerPoint Presentation</vt:lpstr>
      <vt:lpstr>Relation between Perceptron and Bayes Classifier for a Gaussian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“Expectation”?</vt:lpstr>
      <vt:lpstr>What is “Expectation”?</vt:lpstr>
      <vt:lpstr>PowerPoint Presentation</vt:lpstr>
      <vt:lpstr>PowerPoint Presentation</vt:lpstr>
      <vt:lpstr>PowerPoint Presentation</vt:lpstr>
      <vt:lpstr>PowerPoint Presentation</vt:lpstr>
      <vt:lpstr>Covariance Matrix: Non-diagonal vs Diagonal</vt:lpstr>
      <vt:lpstr>Singular vs Non-Singular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 Devi</dc:creator>
  <cp:lastModifiedBy>Uma Devi</cp:lastModifiedBy>
  <cp:revision>42</cp:revision>
  <dcterms:created xsi:type="dcterms:W3CDTF">2026-02-03T05:44:47Z</dcterms:created>
  <dcterms:modified xsi:type="dcterms:W3CDTF">2026-02-06T14:44:40Z</dcterms:modified>
</cp:coreProperties>
</file>