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handoutMasterIdLst>
    <p:handoutMasterId r:id="rId44"/>
  </p:handoutMasterIdLst>
  <p:sldIdLst>
    <p:sldId id="256" r:id="rId2"/>
    <p:sldId id="349" r:id="rId3"/>
    <p:sldId id="881" r:id="rId4"/>
    <p:sldId id="882" r:id="rId5"/>
    <p:sldId id="883" r:id="rId6"/>
    <p:sldId id="884" r:id="rId7"/>
    <p:sldId id="885" r:id="rId8"/>
    <p:sldId id="886" r:id="rId9"/>
    <p:sldId id="887" r:id="rId10"/>
    <p:sldId id="889" r:id="rId11"/>
    <p:sldId id="891" r:id="rId12"/>
    <p:sldId id="892" r:id="rId13"/>
    <p:sldId id="890" r:id="rId14"/>
    <p:sldId id="913" r:id="rId15"/>
    <p:sldId id="914" r:id="rId16"/>
    <p:sldId id="893" r:id="rId17"/>
    <p:sldId id="915" r:id="rId18"/>
    <p:sldId id="894" r:id="rId19"/>
    <p:sldId id="895" r:id="rId20"/>
    <p:sldId id="896" r:id="rId21"/>
    <p:sldId id="897" r:id="rId22"/>
    <p:sldId id="898" r:id="rId23"/>
    <p:sldId id="899" r:id="rId24"/>
    <p:sldId id="906" r:id="rId25"/>
    <p:sldId id="907" r:id="rId26"/>
    <p:sldId id="908" r:id="rId27"/>
    <p:sldId id="911" r:id="rId28"/>
    <p:sldId id="909" r:id="rId29"/>
    <p:sldId id="910" r:id="rId30"/>
    <p:sldId id="912" r:id="rId31"/>
    <p:sldId id="900" r:id="rId32"/>
    <p:sldId id="901" r:id="rId33"/>
    <p:sldId id="902" r:id="rId34"/>
    <p:sldId id="903" r:id="rId35"/>
    <p:sldId id="904" r:id="rId36"/>
    <p:sldId id="905" r:id="rId37"/>
    <p:sldId id="878" r:id="rId38"/>
    <p:sldId id="877" r:id="rId39"/>
    <p:sldId id="879" r:id="rId40"/>
    <p:sldId id="880" r:id="rId41"/>
    <p:sldId id="8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900FF"/>
    <a:srgbClr val="FF00FF"/>
    <a:srgbClr val="00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416" autoAdjust="0"/>
  </p:normalViewPr>
  <p:slideViewPr>
    <p:cSldViewPr>
      <p:cViewPr varScale="1">
        <p:scale>
          <a:sx n="69" d="100"/>
          <a:sy n="69" d="100"/>
        </p:scale>
        <p:origin x="1363" y="72"/>
      </p:cViewPr>
      <p:guideLst>
        <p:guide orient="horz" pos="2160"/>
        <p:guide pos="3840"/>
      </p:guideLst>
    </p:cSldViewPr>
  </p:slideViewPr>
  <p:notesTextViewPr>
    <p:cViewPr>
      <p:scale>
        <a:sx n="1" d="1"/>
        <a:sy n="1" d="1"/>
      </p:scale>
      <p:origin x="0" y="0"/>
    </p:cViewPr>
  </p:notesTextViewPr>
  <p:sorterViewPr>
    <p:cViewPr varScale="1">
      <p:scale>
        <a:sx n="1" d="1"/>
        <a:sy n="1" d="1"/>
      </p:scale>
      <p:origin x="0" y="-32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https://medium.com/@jianqiangma/all-about-recurrent-neural-networks-9e5ae2936f6e</a:t>
            </a:r>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04454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94818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2511419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2570550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2123903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158830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27</a:t>
            </a:fld>
            <a:endParaRPr lang="en-US"/>
          </a:p>
        </p:txBody>
      </p:sp>
    </p:spTree>
    <p:extLst>
      <p:ext uri="{BB962C8B-B14F-4D97-AF65-F5344CB8AC3E}">
        <p14:creationId xmlns:p14="http://schemas.microsoft.com/office/powerpoint/2010/main" val="3720488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Time: We feed the correct output y(t) (from teacher) drawn from the training set as input to h(t+1)</a:t>
            </a:r>
          </a:p>
          <a:p>
            <a:r>
              <a:rPr lang="en-US" dirty="0"/>
              <a:t>Test time: True output is not known. We approximate the correct output y(t) with the model’s output o(t) and feed the output back to the model</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3483364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41</a:t>
            </a:fld>
            <a:endParaRPr lang="en-US"/>
          </a:p>
        </p:txBody>
      </p:sp>
    </p:spTree>
    <p:extLst>
      <p:ext uri="{BB962C8B-B14F-4D97-AF65-F5344CB8AC3E}">
        <p14:creationId xmlns:p14="http://schemas.microsoft.com/office/powerpoint/2010/main" val="269086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19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19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19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19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19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19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19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19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19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19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19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19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19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Unit-5</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marL="0" indent="0" algn="just">
              <a:buNone/>
            </a:pPr>
            <a:r>
              <a:rPr lang="en-US" sz="2000" b="1" dirty="0">
                <a:solidFill>
                  <a:srgbClr val="262626"/>
                </a:solidFill>
                <a:latin typeface="Inter"/>
              </a:rPr>
              <a:t>Sequence Modelling: </a:t>
            </a:r>
            <a:r>
              <a:rPr lang="en-US" sz="2000" dirty="0">
                <a:solidFill>
                  <a:srgbClr val="262626"/>
                </a:solidFill>
                <a:latin typeface="Inter"/>
              </a:rPr>
              <a:t>Recurrent and Recursive Nets: Unfolding</a:t>
            </a:r>
          </a:p>
          <a:p>
            <a:pPr marL="0" indent="0" algn="just">
              <a:buNone/>
            </a:pPr>
            <a:r>
              <a:rPr lang="en-US" sz="2000" dirty="0">
                <a:solidFill>
                  <a:srgbClr val="262626"/>
                </a:solidFill>
                <a:latin typeface="Inter"/>
              </a:rPr>
              <a:t>Computational Graphs, Recurrent Neural Networks, Encoder-Decoder Sequence-to-Sequence Architectures, Deep Recurrent Networks, Recursive Neural Networks</a:t>
            </a:r>
            <a:endParaRPr lang="en-IN"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p:txBody>
          <a:bodyPr/>
          <a:lstStyle/>
          <a:p>
            <a:pPr marL="0" indent="0" algn="just">
              <a:buNone/>
            </a:pPr>
            <a:r>
              <a:rPr lang="en-US" sz="1400" b="0" i="0" dirty="0">
                <a:solidFill>
                  <a:srgbClr val="2A2A2A"/>
                </a:solidFill>
                <a:effectLst/>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400" b="0" i="0" u="sng" dirty="0">
                <a:solidFill>
                  <a:srgbClr val="2A2A2A"/>
                </a:solidFill>
                <a:effectLst/>
                <a:latin typeface="Work Sans" pitchFamily="2" charset="0"/>
              </a:rPr>
              <a:t>Applications of Sequence Models</a:t>
            </a:r>
          </a:p>
          <a:p>
            <a:pPr marL="0" indent="0" algn="just">
              <a:buNone/>
            </a:pPr>
            <a:r>
              <a:rPr lang="en-US" sz="1400" b="0" i="0" dirty="0">
                <a:solidFill>
                  <a:srgbClr val="2A2A2A"/>
                </a:solidFill>
                <a:effectLst/>
                <a:latin typeface="Work Sans" pitchFamily="2" charset="0"/>
              </a:rPr>
              <a:t>1. Speech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r>
              <a:rPr lang="en-US" sz="1400" b="0" i="0" dirty="0">
                <a:solidFill>
                  <a:srgbClr val="2A2A2A"/>
                </a:solidFill>
                <a:effectLst/>
                <a:latin typeface="Work Sans" pitchFamily="2" charset="0"/>
              </a:rPr>
              <a:t>2. Video Activity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400" b="0" i="0" dirty="0">
              <a:solidFill>
                <a:srgbClr val="2A2A2A"/>
              </a:solidFill>
              <a:effectLst/>
              <a:latin typeface="Work Sans" pitchFamily="2" charset="0"/>
            </a:endParaRPr>
          </a:p>
          <a:p>
            <a:pPr marL="0" indent="0" algn="just">
              <a:buNone/>
            </a:pPr>
            <a:endParaRPr lang="en-IN" sz="140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219200" y="2743200"/>
            <a:ext cx="4267200" cy="1098997"/>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685800" y="6132984"/>
            <a:ext cx="6513322" cy="230832"/>
          </a:xfrm>
          <a:prstGeom prst="rect">
            <a:avLst/>
          </a:prstGeom>
          <a:noFill/>
        </p:spPr>
        <p:txBody>
          <a:bodyPr wrap="none" rtlCol="0">
            <a:spAutoFit/>
          </a:bodyPr>
          <a:lstStyle/>
          <a:p>
            <a:r>
              <a:rPr lang="en-IN" sz="900"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5486400" y="4853268"/>
            <a:ext cx="1416627" cy="1082844"/>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2692899" y="4829021"/>
            <a:ext cx="2824674" cy="1131339"/>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800" b="0" i="0" dirty="0">
                <a:solidFill>
                  <a:srgbClr val="2A2A2A"/>
                </a:solidFill>
                <a:effectLst/>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800" b="0" i="0" dirty="0">
                <a:solidFill>
                  <a:srgbClr val="2A2A2A"/>
                </a:solidFill>
                <a:effectLst/>
                <a:latin typeface="Work Sans" pitchFamily="2" charset="0"/>
              </a:rPr>
              <a:t>RNNs are mostly used in the field of Natural Language Processing (NLP). </a:t>
            </a:r>
          </a:p>
          <a:p>
            <a:pPr marL="0" indent="0" algn="just">
              <a:buNone/>
            </a:pPr>
            <a:r>
              <a:rPr lang="en-US" sz="1800" b="0" i="0" dirty="0">
                <a:solidFill>
                  <a:srgbClr val="2A2A2A"/>
                </a:solidFill>
                <a:effectLst/>
                <a:latin typeface="Work Sans" pitchFamily="2" charset="0"/>
              </a:rPr>
              <a:t>RNN maintains internal memory, due to this they are very efficient for machine learning problems that involve sequential data. </a:t>
            </a:r>
          </a:p>
          <a:p>
            <a:pPr marL="0" indent="0" algn="just">
              <a:buNone/>
            </a:pPr>
            <a:r>
              <a:rPr lang="en-US" sz="1800" b="0" i="0" dirty="0">
                <a:solidFill>
                  <a:srgbClr val="2A2A2A"/>
                </a:solidFill>
                <a:effectLst/>
                <a:latin typeface="Work Sans" pitchFamily="2" charset="0"/>
              </a:rPr>
              <a:t>RNNs are also used in time series predictions as well.</a:t>
            </a:r>
            <a:endParaRPr lang="en-IN" sz="1800" dirty="0"/>
          </a:p>
          <a:p>
            <a:pPr marL="0" indent="0" algn="just">
              <a:buNone/>
            </a:pPr>
            <a:endParaRPr lang="en-IN" sz="180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165421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2400" dirty="0"/>
              <a:t>Recurrent Neural Networks process sequential data</a:t>
            </a:r>
            <a:endParaRPr lang="en-IN" sz="24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713678" y="1219200"/>
            <a:ext cx="9116697" cy="5020376"/>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685800" y="6437784"/>
            <a:ext cx="4899098" cy="230832"/>
          </a:xfrm>
          <a:prstGeom prst="rect">
            <a:avLst/>
          </a:prstGeom>
          <a:noFill/>
        </p:spPr>
        <p:txBody>
          <a:bodyPr wrap="none" rtlCol="0">
            <a:spAutoFit/>
          </a:bodyPr>
          <a:lstStyle/>
          <a:p>
            <a:r>
              <a:rPr lang="en-IN" sz="900"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5AF-8EE4-41C6-8576-4A06905C0059}"/>
              </a:ext>
            </a:extLst>
          </p:cNvPr>
          <p:cNvSpPr>
            <a:spLocks noGrp="1"/>
          </p:cNvSpPr>
          <p:nvPr>
            <p:ph type="title"/>
          </p:nvPr>
        </p:nvSpPr>
        <p:spPr/>
        <p:txBody>
          <a:bodyPr/>
          <a:lstStyle/>
          <a:p>
            <a:r>
              <a:rPr lang="en-US" dirty="0"/>
              <a:t>RNNs share same weights across Time Steps</a:t>
            </a:r>
            <a:endParaRPr lang="en-IN" dirty="0"/>
          </a:p>
        </p:txBody>
      </p:sp>
      <p:sp>
        <p:nvSpPr>
          <p:cNvPr id="3" name="Content Placeholder 2">
            <a:extLst>
              <a:ext uri="{FF2B5EF4-FFF2-40B4-BE49-F238E27FC236}">
                <a16:creationId xmlns:a16="http://schemas.microsoft.com/office/drawing/2014/main" id="{90DAE330-3D4C-4BB5-AEAE-61E3BD8CA5E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E82818-303E-41C9-A111-EF5B453D4778}"/>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6" name="Picture 5">
            <a:extLst>
              <a:ext uri="{FF2B5EF4-FFF2-40B4-BE49-F238E27FC236}">
                <a16:creationId xmlns:a16="http://schemas.microsoft.com/office/drawing/2014/main" id="{507624D5-66E2-4F92-B849-24D45B061737}"/>
              </a:ext>
            </a:extLst>
          </p:cNvPr>
          <p:cNvPicPr>
            <a:picLocks noChangeAspect="1"/>
          </p:cNvPicPr>
          <p:nvPr/>
        </p:nvPicPr>
        <p:blipFill>
          <a:blip r:embed="rId2"/>
          <a:stretch>
            <a:fillRect/>
          </a:stretch>
        </p:blipFill>
        <p:spPr>
          <a:xfrm>
            <a:off x="755651" y="1219200"/>
            <a:ext cx="9449268" cy="4953000"/>
          </a:xfrm>
          <a:prstGeom prst="rect">
            <a:avLst/>
          </a:prstGeom>
        </p:spPr>
      </p:pic>
    </p:spTree>
    <p:extLst>
      <p:ext uri="{BB962C8B-B14F-4D97-AF65-F5344CB8AC3E}">
        <p14:creationId xmlns:p14="http://schemas.microsoft.com/office/powerpoint/2010/main" val="428981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E78A-2335-564D-FE6D-8596DE6BF342}"/>
              </a:ext>
            </a:extLst>
          </p:cNvPr>
          <p:cNvSpPr>
            <a:spLocks noGrp="1"/>
          </p:cNvSpPr>
          <p:nvPr>
            <p:ph type="title"/>
          </p:nvPr>
        </p:nvSpPr>
        <p:spPr/>
        <p:txBody>
          <a:bodyPr/>
          <a:lstStyle/>
          <a:p>
            <a:r>
              <a:rPr lang="en-IN" dirty="0"/>
              <a:t>Computational Graphs</a:t>
            </a:r>
          </a:p>
        </p:txBody>
      </p:sp>
      <p:sp>
        <p:nvSpPr>
          <p:cNvPr id="3" name="Content Placeholder 2">
            <a:extLst>
              <a:ext uri="{FF2B5EF4-FFF2-40B4-BE49-F238E27FC236}">
                <a16:creationId xmlns:a16="http://schemas.microsoft.com/office/drawing/2014/main" id="{5D52DF2F-969F-B371-2AB7-A74411B376B3}"/>
              </a:ext>
            </a:extLst>
          </p:cNvPr>
          <p:cNvSpPr>
            <a:spLocks noGrp="1"/>
          </p:cNvSpPr>
          <p:nvPr>
            <p:ph idx="1"/>
          </p:nvPr>
        </p:nvSpPr>
        <p:spPr/>
        <p:txBody>
          <a:bodyPr/>
          <a:lstStyle/>
          <a:p>
            <a:pPr marL="0" indent="0" algn="just">
              <a:buNone/>
            </a:pPr>
            <a:r>
              <a:rPr lang="en-IN" sz="1600" dirty="0"/>
              <a:t>Computational Graphs: Formalizing computation as graphs.</a:t>
            </a:r>
          </a:p>
          <a:p>
            <a:pPr marL="0" indent="0" algn="just">
              <a:buNone/>
            </a:pPr>
            <a:r>
              <a:rPr lang="en-US" sz="1600" dirty="0"/>
              <a:t>Each node in the graph to indicate a variable. The variable may be a scalar, vector, matrix, tensor, or even a variable of another type.</a:t>
            </a:r>
          </a:p>
          <a:p>
            <a:pPr marL="0" indent="0" algn="just">
              <a:buNone/>
            </a:pPr>
            <a:r>
              <a:rPr lang="en-US" sz="1600" dirty="0"/>
              <a:t>An operation is a simple function of one or more variables. Graph language is accompanied by a set of allowable operations.</a:t>
            </a:r>
          </a:p>
          <a:p>
            <a:pPr marL="0" indent="0" algn="just">
              <a:buNone/>
            </a:pPr>
            <a:r>
              <a:rPr lang="en-US" sz="1600" dirty="0"/>
              <a:t>If a variable y is computed by applying an operation to a variable x, then we draw a directed edge from x to y.</a:t>
            </a:r>
          </a:p>
          <a:p>
            <a:pPr marL="0" indent="0" algn="just">
              <a:buNone/>
            </a:pPr>
            <a:r>
              <a:rPr lang="en-IN" sz="1600" dirty="0"/>
              <a:t>Examples of computational graphs</a:t>
            </a:r>
          </a:p>
        </p:txBody>
      </p:sp>
      <p:sp>
        <p:nvSpPr>
          <p:cNvPr id="4" name="Slide Number Placeholder 3">
            <a:extLst>
              <a:ext uri="{FF2B5EF4-FFF2-40B4-BE49-F238E27FC236}">
                <a16:creationId xmlns:a16="http://schemas.microsoft.com/office/drawing/2014/main" id="{B9309DA8-93D2-1C80-5EAA-0956747FC3EA}"/>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E2B1F4FC-FC83-72BE-357E-3511531EF6B7}"/>
              </a:ext>
            </a:extLst>
          </p:cNvPr>
          <p:cNvPicPr>
            <a:picLocks noChangeAspect="1"/>
          </p:cNvPicPr>
          <p:nvPr/>
        </p:nvPicPr>
        <p:blipFill>
          <a:blip r:embed="rId2"/>
          <a:stretch>
            <a:fillRect/>
          </a:stretch>
        </p:blipFill>
        <p:spPr>
          <a:xfrm>
            <a:off x="769950" y="3581400"/>
            <a:ext cx="1676400" cy="1581807"/>
          </a:xfrm>
          <a:prstGeom prst="rect">
            <a:avLst/>
          </a:prstGeom>
        </p:spPr>
      </p:pic>
      <p:pic>
        <p:nvPicPr>
          <p:cNvPr id="8" name="Picture 7">
            <a:extLst>
              <a:ext uri="{FF2B5EF4-FFF2-40B4-BE49-F238E27FC236}">
                <a16:creationId xmlns:a16="http://schemas.microsoft.com/office/drawing/2014/main" id="{70A89C20-E4A6-272B-8AAB-0CF577FF028D}"/>
              </a:ext>
            </a:extLst>
          </p:cNvPr>
          <p:cNvPicPr>
            <a:picLocks noChangeAspect="1"/>
          </p:cNvPicPr>
          <p:nvPr/>
        </p:nvPicPr>
        <p:blipFill>
          <a:blip r:embed="rId3"/>
          <a:stretch>
            <a:fillRect/>
          </a:stretch>
        </p:blipFill>
        <p:spPr>
          <a:xfrm>
            <a:off x="2819400" y="3581400"/>
            <a:ext cx="2762583" cy="2491850"/>
          </a:xfrm>
          <a:prstGeom prst="rect">
            <a:avLst/>
          </a:prstGeom>
        </p:spPr>
      </p:pic>
      <p:pic>
        <p:nvPicPr>
          <p:cNvPr id="10" name="Picture 9">
            <a:extLst>
              <a:ext uri="{FF2B5EF4-FFF2-40B4-BE49-F238E27FC236}">
                <a16:creationId xmlns:a16="http://schemas.microsoft.com/office/drawing/2014/main" id="{66A9BAF6-30F2-2C85-103D-FE75AA7F4B67}"/>
              </a:ext>
            </a:extLst>
          </p:cNvPr>
          <p:cNvPicPr>
            <a:picLocks noChangeAspect="1"/>
          </p:cNvPicPr>
          <p:nvPr/>
        </p:nvPicPr>
        <p:blipFill>
          <a:blip r:embed="rId4"/>
          <a:stretch>
            <a:fillRect/>
          </a:stretch>
        </p:blipFill>
        <p:spPr>
          <a:xfrm>
            <a:off x="5900788" y="3396957"/>
            <a:ext cx="2855397" cy="2667000"/>
          </a:xfrm>
          <a:prstGeom prst="rect">
            <a:avLst/>
          </a:prstGeom>
        </p:spPr>
      </p:pic>
      <p:pic>
        <p:nvPicPr>
          <p:cNvPr id="12" name="Picture 11">
            <a:extLst>
              <a:ext uri="{FF2B5EF4-FFF2-40B4-BE49-F238E27FC236}">
                <a16:creationId xmlns:a16="http://schemas.microsoft.com/office/drawing/2014/main" id="{D176EE20-DCDC-94E8-BB25-A0739F423BC0}"/>
              </a:ext>
            </a:extLst>
          </p:cNvPr>
          <p:cNvPicPr>
            <a:picLocks noChangeAspect="1"/>
          </p:cNvPicPr>
          <p:nvPr/>
        </p:nvPicPr>
        <p:blipFill>
          <a:blip r:embed="rId5"/>
          <a:stretch>
            <a:fillRect/>
          </a:stretch>
        </p:blipFill>
        <p:spPr>
          <a:xfrm>
            <a:off x="9074990" y="2882054"/>
            <a:ext cx="3040810" cy="2793422"/>
          </a:xfrm>
          <a:prstGeom prst="rect">
            <a:avLst/>
          </a:prstGeom>
        </p:spPr>
      </p:pic>
      <p:sp>
        <p:nvSpPr>
          <p:cNvPr id="13" name="TextBox 12">
            <a:extLst>
              <a:ext uri="{FF2B5EF4-FFF2-40B4-BE49-F238E27FC236}">
                <a16:creationId xmlns:a16="http://schemas.microsoft.com/office/drawing/2014/main" id="{C844873E-8BAE-0C38-C759-155ECC700DB8}"/>
              </a:ext>
            </a:extLst>
          </p:cNvPr>
          <p:cNvSpPr txBox="1"/>
          <p:nvPr/>
        </p:nvSpPr>
        <p:spPr>
          <a:xfrm>
            <a:off x="279218" y="5207913"/>
            <a:ext cx="2380780" cy="430887"/>
          </a:xfrm>
          <a:prstGeom prst="rect">
            <a:avLst/>
          </a:prstGeom>
          <a:noFill/>
        </p:spPr>
        <p:txBody>
          <a:bodyPr wrap="none" rtlCol="0">
            <a:spAutoFit/>
          </a:bodyPr>
          <a:lstStyle/>
          <a:p>
            <a:r>
              <a:rPr lang="en-US" sz="1100" dirty="0"/>
              <a:t>The graph using the</a:t>
            </a:r>
          </a:p>
          <a:p>
            <a:r>
              <a:rPr lang="en-US" sz="1100" dirty="0"/>
              <a:t>× operation to compute z = </a:t>
            </a:r>
            <a:r>
              <a:rPr lang="en-US" sz="1100" dirty="0" err="1"/>
              <a:t>xy</a:t>
            </a:r>
            <a:endParaRPr lang="en-IN" sz="1100" dirty="0"/>
          </a:p>
        </p:txBody>
      </p:sp>
      <p:pic>
        <p:nvPicPr>
          <p:cNvPr id="15" name="Picture 14">
            <a:extLst>
              <a:ext uri="{FF2B5EF4-FFF2-40B4-BE49-F238E27FC236}">
                <a16:creationId xmlns:a16="http://schemas.microsoft.com/office/drawing/2014/main" id="{976CF2FD-7A46-69BE-048A-45BC417BF846}"/>
              </a:ext>
            </a:extLst>
          </p:cNvPr>
          <p:cNvPicPr>
            <a:picLocks noChangeAspect="1"/>
          </p:cNvPicPr>
          <p:nvPr/>
        </p:nvPicPr>
        <p:blipFill>
          <a:blip r:embed="rId6"/>
          <a:stretch>
            <a:fillRect/>
          </a:stretch>
        </p:blipFill>
        <p:spPr>
          <a:xfrm>
            <a:off x="3124200" y="6098986"/>
            <a:ext cx="2245269" cy="409610"/>
          </a:xfrm>
          <a:prstGeom prst="rect">
            <a:avLst/>
          </a:prstGeom>
        </p:spPr>
      </p:pic>
      <p:pic>
        <p:nvPicPr>
          <p:cNvPr id="17" name="Picture 16">
            <a:extLst>
              <a:ext uri="{FF2B5EF4-FFF2-40B4-BE49-F238E27FC236}">
                <a16:creationId xmlns:a16="http://schemas.microsoft.com/office/drawing/2014/main" id="{B5F0C8D2-1DC3-8622-807D-AF280D595198}"/>
              </a:ext>
            </a:extLst>
          </p:cNvPr>
          <p:cNvPicPr>
            <a:picLocks noChangeAspect="1"/>
          </p:cNvPicPr>
          <p:nvPr/>
        </p:nvPicPr>
        <p:blipFill>
          <a:blip r:embed="rId7"/>
          <a:stretch>
            <a:fillRect/>
          </a:stretch>
        </p:blipFill>
        <p:spPr>
          <a:xfrm>
            <a:off x="6133172" y="6111761"/>
            <a:ext cx="1905266" cy="266737"/>
          </a:xfrm>
          <a:prstGeom prst="rect">
            <a:avLst/>
          </a:prstGeom>
        </p:spPr>
      </p:pic>
      <p:sp>
        <p:nvSpPr>
          <p:cNvPr id="18" name="TextBox 17">
            <a:extLst>
              <a:ext uri="{FF2B5EF4-FFF2-40B4-BE49-F238E27FC236}">
                <a16:creationId xmlns:a16="http://schemas.microsoft.com/office/drawing/2014/main" id="{F5BB4AEE-8372-7FD3-B857-176B280A664A}"/>
              </a:ext>
            </a:extLst>
          </p:cNvPr>
          <p:cNvSpPr txBox="1"/>
          <p:nvPr/>
        </p:nvSpPr>
        <p:spPr>
          <a:xfrm>
            <a:off x="8843191" y="5982812"/>
            <a:ext cx="3211200" cy="738664"/>
          </a:xfrm>
          <a:prstGeom prst="rect">
            <a:avLst/>
          </a:prstGeom>
          <a:noFill/>
        </p:spPr>
        <p:txBody>
          <a:bodyPr wrap="none" rtlCol="0">
            <a:spAutoFit/>
          </a:bodyPr>
          <a:lstStyle/>
          <a:p>
            <a:r>
              <a:rPr lang="en-US" sz="1400" dirty="0"/>
              <a:t>Example computation graph that </a:t>
            </a:r>
          </a:p>
          <a:p>
            <a:r>
              <a:rPr lang="en-US" sz="1400" dirty="0"/>
              <a:t>applies more than one operation</a:t>
            </a:r>
          </a:p>
          <a:p>
            <a:r>
              <a:rPr lang="en-US" sz="1400" dirty="0"/>
              <a:t> to the weights w </a:t>
            </a:r>
            <a:endParaRPr lang="en-IN" sz="1400" dirty="0"/>
          </a:p>
        </p:txBody>
      </p:sp>
      <p:pic>
        <p:nvPicPr>
          <p:cNvPr id="20" name="Picture 19">
            <a:extLst>
              <a:ext uri="{FF2B5EF4-FFF2-40B4-BE49-F238E27FC236}">
                <a16:creationId xmlns:a16="http://schemas.microsoft.com/office/drawing/2014/main" id="{EE708F6D-1CF6-9865-22D3-FA79A4CA00F4}"/>
              </a:ext>
            </a:extLst>
          </p:cNvPr>
          <p:cNvPicPr>
            <a:picLocks noChangeAspect="1"/>
          </p:cNvPicPr>
          <p:nvPr/>
        </p:nvPicPr>
        <p:blipFill>
          <a:blip r:embed="rId8"/>
          <a:stretch>
            <a:fillRect/>
          </a:stretch>
        </p:blipFill>
        <p:spPr>
          <a:xfrm>
            <a:off x="10727120" y="5520856"/>
            <a:ext cx="992941" cy="459420"/>
          </a:xfrm>
          <a:prstGeom prst="rect">
            <a:avLst/>
          </a:prstGeom>
        </p:spPr>
      </p:pic>
    </p:spTree>
    <p:extLst>
      <p:ext uri="{BB962C8B-B14F-4D97-AF65-F5344CB8AC3E}">
        <p14:creationId xmlns:p14="http://schemas.microsoft.com/office/powerpoint/2010/main" val="3756655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6A00-B2A5-117A-EDA0-F46B272F70B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681D5395-D669-A226-E519-506B8082FA52}"/>
              </a:ext>
            </a:extLst>
          </p:cNvPr>
          <p:cNvSpPr>
            <a:spLocks noGrp="1"/>
          </p:cNvSpPr>
          <p:nvPr>
            <p:ph idx="1"/>
          </p:nvPr>
        </p:nvSpPr>
        <p:spPr/>
        <p:txBody>
          <a:bodyPr/>
          <a:lstStyle/>
          <a:p>
            <a:pPr marL="0" indent="0">
              <a:buNone/>
            </a:pPr>
            <a:r>
              <a:rPr lang="en-US" sz="1600" dirty="0"/>
              <a:t>To define recurrent neural networks, computational graphs are used.</a:t>
            </a:r>
          </a:p>
          <a:p>
            <a:pPr marL="0" indent="0">
              <a:buNone/>
            </a:pPr>
            <a:r>
              <a:rPr lang="en-US" sz="1600" dirty="0"/>
              <a:t>We will discuss the idea of unfolding a recursive or recurrent computation into a computational graph that has a repetitive structure, typically corresponding to a chain of events.</a:t>
            </a:r>
          </a:p>
          <a:p>
            <a:pPr marL="0" indent="0">
              <a:buNone/>
            </a:pPr>
            <a:r>
              <a:rPr lang="en-US" sz="1600" dirty="0"/>
              <a:t>This graph results in the sharing of parameters across a deep network structure.</a:t>
            </a:r>
          </a:p>
          <a:p>
            <a:pPr marL="0" indent="0">
              <a:buNone/>
            </a:pPr>
            <a:r>
              <a:rPr lang="en-US" sz="1600" dirty="0"/>
              <a:t>For example, consider the classical form of a dynamical system:</a:t>
            </a:r>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where s</a:t>
            </a:r>
            <a:r>
              <a:rPr lang="en-US" sz="1600" baseline="30000" dirty="0"/>
              <a:t>(t) </a:t>
            </a:r>
            <a:r>
              <a:rPr lang="en-US" sz="1600" dirty="0"/>
              <a:t>is called the state of the system. This equation is recurrent because the definition of s at time t refers back to the same definition at time t − 1</a:t>
            </a:r>
          </a:p>
          <a:p>
            <a:pPr marL="0" indent="0">
              <a:buNone/>
            </a:pPr>
            <a:endParaRPr lang="en-US" sz="1600" dirty="0"/>
          </a:p>
          <a:p>
            <a:pPr marL="0" indent="0">
              <a:buNone/>
            </a:pPr>
            <a:r>
              <a:rPr lang="en-US" sz="1600" dirty="0"/>
              <a:t>For a finite number of time steps τ , the graph can be unfolded by applying the definition τ − 1 times. For example, if we unfold equation for τ = 3 time steps, we obtain</a:t>
            </a:r>
            <a:endParaRPr lang="en-IN" sz="1600" dirty="0"/>
          </a:p>
        </p:txBody>
      </p:sp>
      <p:sp>
        <p:nvSpPr>
          <p:cNvPr id="4" name="Slide Number Placeholder 3">
            <a:extLst>
              <a:ext uri="{FF2B5EF4-FFF2-40B4-BE49-F238E27FC236}">
                <a16:creationId xmlns:a16="http://schemas.microsoft.com/office/drawing/2014/main" id="{44AB4FB3-97C8-04C8-69BF-78C67D72E829}"/>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FDADAEC5-52B6-0751-743B-58E3B8C9525B}"/>
              </a:ext>
            </a:extLst>
          </p:cNvPr>
          <p:cNvPicPr>
            <a:picLocks noChangeAspect="1"/>
          </p:cNvPicPr>
          <p:nvPr/>
        </p:nvPicPr>
        <p:blipFill>
          <a:blip r:embed="rId3"/>
          <a:stretch>
            <a:fillRect/>
          </a:stretch>
        </p:blipFill>
        <p:spPr>
          <a:xfrm>
            <a:off x="3810000" y="2743200"/>
            <a:ext cx="2871786" cy="685800"/>
          </a:xfrm>
          <a:prstGeom prst="rect">
            <a:avLst/>
          </a:prstGeom>
        </p:spPr>
      </p:pic>
      <p:pic>
        <p:nvPicPr>
          <p:cNvPr id="8" name="Picture 7">
            <a:extLst>
              <a:ext uri="{FF2B5EF4-FFF2-40B4-BE49-F238E27FC236}">
                <a16:creationId xmlns:a16="http://schemas.microsoft.com/office/drawing/2014/main" id="{FA64D352-0632-9B47-E5A3-169C9E85EA77}"/>
              </a:ext>
            </a:extLst>
          </p:cNvPr>
          <p:cNvPicPr>
            <a:picLocks noChangeAspect="1"/>
          </p:cNvPicPr>
          <p:nvPr/>
        </p:nvPicPr>
        <p:blipFill>
          <a:blip r:embed="rId4"/>
          <a:stretch>
            <a:fillRect/>
          </a:stretch>
        </p:blipFill>
        <p:spPr>
          <a:xfrm>
            <a:off x="4044870" y="5142278"/>
            <a:ext cx="2577443" cy="1093112"/>
          </a:xfrm>
          <a:prstGeom prst="rect">
            <a:avLst/>
          </a:prstGeom>
        </p:spPr>
      </p:pic>
    </p:spTree>
    <p:extLst>
      <p:ext uri="{BB962C8B-B14F-4D97-AF65-F5344CB8AC3E}">
        <p14:creationId xmlns:p14="http://schemas.microsoft.com/office/powerpoint/2010/main" val="283681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9672D-A4D3-FB86-9E4B-BBEB8743239F}"/>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BE5081F2-3F83-05F8-57A1-E655F9E92228}"/>
              </a:ext>
            </a:extLst>
          </p:cNvPr>
          <p:cNvSpPr>
            <a:spLocks noGrp="1"/>
          </p:cNvSpPr>
          <p:nvPr>
            <p:ph idx="1"/>
          </p:nvPr>
        </p:nvSpPr>
        <p:spPr/>
        <p:txBody>
          <a:bodyPr/>
          <a:lstStyle/>
          <a:p>
            <a:pPr marL="0" indent="0">
              <a:buNone/>
            </a:pPr>
            <a:r>
              <a:rPr lang="en-IN" sz="2400" dirty="0"/>
              <a:t>Unfolded computational graph</a:t>
            </a:r>
          </a:p>
          <a:p>
            <a:pPr marL="0" indent="0">
              <a:buNone/>
            </a:pPr>
            <a:endParaRPr lang="en-IN" sz="2400" dirty="0"/>
          </a:p>
          <a:p>
            <a:pPr marL="0" indent="0">
              <a:buNone/>
            </a:pPr>
            <a:endParaRPr lang="en-IN" sz="2400" dirty="0"/>
          </a:p>
          <a:p>
            <a:pPr marL="0" indent="0">
              <a:buNone/>
            </a:pPr>
            <a:endParaRPr lang="en-IN" sz="2400" dirty="0"/>
          </a:p>
          <a:p>
            <a:pPr marL="0" indent="0">
              <a:buNone/>
            </a:pPr>
            <a:r>
              <a:rPr lang="en-US" sz="1800" dirty="0"/>
              <a:t>The classical dynamical system described by equation </a:t>
            </a:r>
          </a:p>
          <a:p>
            <a:pPr marL="0" indent="0">
              <a:buNone/>
            </a:pPr>
            <a:r>
              <a:rPr lang="en-US" sz="1800" dirty="0"/>
              <a:t>, illustrated as an unfolded computational graph. Each node represents the state at some time t and the function f maps the state at t to the state at t + 1. The same parameters (the same value of θ used to parametrize f) are used for all time steps.</a:t>
            </a:r>
          </a:p>
          <a:p>
            <a:pPr marL="0" indent="0">
              <a:buNone/>
            </a:pPr>
            <a:endParaRPr lang="en-US" sz="1800" dirty="0"/>
          </a:p>
          <a:p>
            <a:pPr marL="0" indent="0">
              <a:buNone/>
            </a:pPr>
            <a:r>
              <a:rPr lang="en-US" sz="1800" dirty="0"/>
              <a:t>As another example, let us consider a dynamical system driven by an external signal x(t),</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where we see that the state now contains information about the whole past sequence.</a:t>
            </a:r>
            <a:endParaRPr lang="en-IN" sz="1800" dirty="0"/>
          </a:p>
        </p:txBody>
      </p:sp>
      <p:sp>
        <p:nvSpPr>
          <p:cNvPr id="4" name="Slide Number Placeholder 3">
            <a:extLst>
              <a:ext uri="{FF2B5EF4-FFF2-40B4-BE49-F238E27FC236}">
                <a16:creationId xmlns:a16="http://schemas.microsoft.com/office/drawing/2014/main" id="{CFB3B0C8-B3AB-7B27-07C9-F3FE1FC008A0}"/>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6" name="Picture 5">
            <a:extLst>
              <a:ext uri="{FF2B5EF4-FFF2-40B4-BE49-F238E27FC236}">
                <a16:creationId xmlns:a16="http://schemas.microsoft.com/office/drawing/2014/main" id="{6CAA777E-950E-00E8-D9EC-12519AB2DFEB}"/>
              </a:ext>
            </a:extLst>
          </p:cNvPr>
          <p:cNvPicPr>
            <a:picLocks noChangeAspect="1"/>
          </p:cNvPicPr>
          <p:nvPr/>
        </p:nvPicPr>
        <p:blipFill>
          <a:blip r:embed="rId2"/>
          <a:stretch>
            <a:fillRect/>
          </a:stretch>
        </p:blipFill>
        <p:spPr>
          <a:xfrm>
            <a:off x="2133600" y="1981200"/>
            <a:ext cx="4944165" cy="885949"/>
          </a:xfrm>
          <a:prstGeom prst="rect">
            <a:avLst/>
          </a:prstGeom>
        </p:spPr>
      </p:pic>
      <p:pic>
        <p:nvPicPr>
          <p:cNvPr id="7" name="Picture 6">
            <a:extLst>
              <a:ext uri="{FF2B5EF4-FFF2-40B4-BE49-F238E27FC236}">
                <a16:creationId xmlns:a16="http://schemas.microsoft.com/office/drawing/2014/main" id="{853D2BFA-55CB-C5F3-4002-FB1FC5F57BE5}"/>
              </a:ext>
            </a:extLst>
          </p:cNvPr>
          <p:cNvPicPr>
            <a:picLocks noChangeAspect="1"/>
          </p:cNvPicPr>
          <p:nvPr/>
        </p:nvPicPr>
        <p:blipFill>
          <a:blip r:embed="rId3"/>
          <a:stretch>
            <a:fillRect/>
          </a:stretch>
        </p:blipFill>
        <p:spPr>
          <a:xfrm>
            <a:off x="7162800" y="2867149"/>
            <a:ext cx="1981200" cy="473123"/>
          </a:xfrm>
          <a:prstGeom prst="rect">
            <a:avLst/>
          </a:prstGeom>
        </p:spPr>
      </p:pic>
      <p:pic>
        <p:nvPicPr>
          <p:cNvPr id="8" name="Picture 7">
            <a:extLst>
              <a:ext uri="{FF2B5EF4-FFF2-40B4-BE49-F238E27FC236}">
                <a16:creationId xmlns:a16="http://schemas.microsoft.com/office/drawing/2014/main" id="{828F8CCB-948C-C5E9-DF7C-F8A66FB6947C}"/>
              </a:ext>
            </a:extLst>
          </p:cNvPr>
          <p:cNvPicPr>
            <a:picLocks noChangeAspect="1"/>
          </p:cNvPicPr>
          <p:nvPr/>
        </p:nvPicPr>
        <p:blipFill>
          <a:blip r:embed="rId4"/>
          <a:stretch>
            <a:fillRect/>
          </a:stretch>
        </p:blipFill>
        <p:spPr>
          <a:xfrm>
            <a:off x="2971800" y="4966158"/>
            <a:ext cx="2953162" cy="600159"/>
          </a:xfrm>
          <a:prstGeom prst="rect">
            <a:avLst/>
          </a:prstGeom>
        </p:spPr>
      </p:pic>
    </p:spTree>
    <p:extLst>
      <p:ext uri="{BB962C8B-B14F-4D97-AF65-F5344CB8AC3E}">
        <p14:creationId xmlns:p14="http://schemas.microsoft.com/office/powerpoint/2010/main" val="28484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93F9-0884-BB33-7A52-E21649BC6E63}"/>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47813B3-E79D-CD58-BA4F-AB56C5A40404}"/>
              </a:ext>
            </a:extLst>
          </p:cNvPr>
          <p:cNvSpPr>
            <a:spLocks noGrp="1"/>
          </p:cNvSpPr>
          <p:nvPr>
            <p:ph idx="1"/>
          </p:nvPr>
        </p:nvSpPr>
        <p:spPr/>
        <p:txBody>
          <a:bodyPr/>
          <a:lstStyle/>
          <a:p>
            <a:pPr marL="0" indent="0">
              <a:buNone/>
            </a:pPr>
            <a:r>
              <a:rPr lang="en-US" sz="1800" dirty="0"/>
              <a:t>Recurrent Neural Networks:</a:t>
            </a:r>
          </a:p>
          <a:p>
            <a:pPr marL="0" indent="0">
              <a:buNone/>
            </a:pPr>
            <a:r>
              <a:rPr lang="en-US" sz="1800" dirty="0"/>
              <a:t>Many recurrent neural networks use equation  </a:t>
            </a:r>
          </a:p>
          <a:p>
            <a:pPr marL="0" indent="0">
              <a:buNone/>
            </a:pPr>
            <a:r>
              <a:rPr lang="en-US" sz="1800" dirty="0"/>
              <a:t>or a similar equation to define the values of their hidden units.</a:t>
            </a:r>
          </a:p>
          <a:p>
            <a:pPr marL="0" indent="0">
              <a:buNone/>
            </a:pPr>
            <a:endParaRPr lang="en-US" sz="1800" dirty="0"/>
          </a:p>
          <a:p>
            <a:pPr marL="0" indent="0">
              <a:buNone/>
            </a:pPr>
            <a:r>
              <a:rPr lang="en-US" sz="1800" dirty="0"/>
              <a:t>When the recurrent network is trained to perform a task that requires predicting the future from the past, the network typically learns to use h(t) as a kind of lossy summary of the task-relevant aspects of the past sequence of inputs up to t. This summary is in general necessarily lossy, since it maps an arbitrary length sequence (x(t) , x(t−1), x(t−2), . . . , x(2), x(1)) to a fixed length vector h(t) .</a:t>
            </a:r>
            <a:endParaRPr lang="en-IN" sz="1800" dirty="0"/>
          </a:p>
          <a:p>
            <a:pPr marL="0" indent="0">
              <a:buNone/>
            </a:pPr>
            <a:r>
              <a:rPr lang="en-US" sz="1800" dirty="0"/>
              <a:t> </a:t>
            </a:r>
            <a:endParaRPr lang="en-IN" sz="1800" dirty="0"/>
          </a:p>
        </p:txBody>
      </p:sp>
      <p:sp>
        <p:nvSpPr>
          <p:cNvPr id="4" name="Slide Number Placeholder 3">
            <a:extLst>
              <a:ext uri="{FF2B5EF4-FFF2-40B4-BE49-F238E27FC236}">
                <a16:creationId xmlns:a16="http://schemas.microsoft.com/office/drawing/2014/main" id="{B707C912-1F7E-8B5E-4917-38E874F16C28}"/>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351A9B06-C0E7-B07C-7569-CA9196525483}"/>
              </a:ext>
            </a:extLst>
          </p:cNvPr>
          <p:cNvPicPr>
            <a:picLocks noChangeAspect="1"/>
          </p:cNvPicPr>
          <p:nvPr/>
        </p:nvPicPr>
        <p:blipFill>
          <a:blip r:embed="rId3"/>
          <a:stretch>
            <a:fillRect/>
          </a:stretch>
        </p:blipFill>
        <p:spPr>
          <a:xfrm>
            <a:off x="6172200" y="1371600"/>
            <a:ext cx="2867425" cy="495369"/>
          </a:xfrm>
          <a:prstGeom prst="rect">
            <a:avLst/>
          </a:prstGeom>
        </p:spPr>
      </p:pic>
    </p:spTree>
    <p:extLst>
      <p:ext uri="{BB962C8B-B14F-4D97-AF65-F5344CB8AC3E}">
        <p14:creationId xmlns:p14="http://schemas.microsoft.com/office/powerpoint/2010/main" val="155837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4BA8-186F-5359-64A9-ED3E23A1701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C01FC5D-FE37-AA25-CE90-43898F95B1EF}"/>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US" sz="1800" dirty="0"/>
          </a:p>
          <a:p>
            <a:pPr marL="0" indent="0">
              <a:buNone/>
            </a:pPr>
            <a:r>
              <a:rPr lang="en-US" sz="1800" dirty="0"/>
              <a:t>		Figure: A recurrent network with no outputs.</a:t>
            </a:r>
          </a:p>
          <a:p>
            <a:pPr marL="0" indent="0">
              <a:buNone/>
            </a:pPr>
            <a:r>
              <a:rPr lang="en-US" sz="1800" dirty="0"/>
              <a:t>This recurrent network just processes information from the input x by incorporating it into the state h that is passed forward through time. </a:t>
            </a:r>
          </a:p>
          <a:p>
            <a:pPr marL="0" indent="0">
              <a:buNone/>
            </a:pPr>
            <a:r>
              <a:rPr lang="en-US" sz="1800" dirty="0"/>
              <a:t>(Left) Circuit diagram. The black square indicates a delay of a single time step. </a:t>
            </a:r>
          </a:p>
          <a:p>
            <a:pPr marL="0" indent="0">
              <a:buNone/>
            </a:pPr>
            <a:r>
              <a:rPr lang="en-US" sz="1800" dirty="0"/>
              <a:t>(Right) The same network seen as an unfolded computational graph, where each node is now associated with one particular time instance.</a:t>
            </a:r>
          </a:p>
          <a:p>
            <a:pPr marL="0" indent="0">
              <a:buNone/>
            </a:pPr>
            <a:r>
              <a:rPr lang="en-US" sz="1800" dirty="0"/>
              <a:t>We use a black square in a circuit diagram to indicate that an interaction takes place with a delay of a single time step, from the state at time t to the state at time t + 1.</a:t>
            </a:r>
          </a:p>
          <a:p>
            <a:pPr marL="0" indent="0">
              <a:buNone/>
            </a:pPr>
            <a:r>
              <a:rPr lang="en-US" sz="1800" dirty="0"/>
              <a:t>What we call unfolding is the operation that maps a circuit as in the left side of the figure to a computational graph with repeated pieces as in the right side. The unfolded graph now has a size that depends on the sequence length.</a:t>
            </a:r>
            <a:endParaRPr lang="en-IN" sz="1800" dirty="0"/>
          </a:p>
        </p:txBody>
      </p:sp>
      <p:sp>
        <p:nvSpPr>
          <p:cNvPr id="4" name="Slide Number Placeholder 3">
            <a:extLst>
              <a:ext uri="{FF2B5EF4-FFF2-40B4-BE49-F238E27FC236}">
                <a16:creationId xmlns:a16="http://schemas.microsoft.com/office/drawing/2014/main" id="{13D51DE3-60E3-E135-EFBD-B102BB08BD58}"/>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6" name="Picture 5">
            <a:extLst>
              <a:ext uri="{FF2B5EF4-FFF2-40B4-BE49-F238E27FC236}">
                <a16:creationId xmlns:a16="http://schemas.microsoft.com/office/drawing/2014/main" id="{EAB5F3F4-25D5-EF50-B69A-DFCD63C3D705}"/>
              </a:ext>
            </a:extLst>
          </p:cNvPr>
          <p:cNvPicPr>
            <a:picLocks noChangeAspect="1"/>
          </p:cNvPicPr>
          <p:nvPr/>
        </p:nvPicPr>
        <p:blipFill>
          <a:blip r:embed="rId2"/>
          <a:stretch>
            <a:fillRect/>
          </a:stretch>
        </p:blipFill>
        <p:spPr>
          <a:xfrm>
            <a:off x="2279119" y="1096536"/>
            <a:ext cx="6941081" cy="1900121"/>
          </a:xfrm>
          <a:prstGeom prst="rect">
            <a:avLst/>
          </a:prstGeom>
        </p:spPr>
      </p:pic>
    </p:spTree>
    <p:extLst>
      <p:ext uri="{BB962C8B-B14F-4D97-AF65-F5344CB8AC3E}">
        <p14:creationId xmlns:p14="http://schemas.microsoft.com/office/powerpoint/2010/main" val="135060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D5B2-4CE2-EB1C-900F-ADCAF2F21D1D}"/>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DE1B6F8E-5164-FE2C-A0BA-216D7A6B51E1}"/>
              </a:ext>
            </a:extLst>
          </p:cNvPr>
          <p:cNvSpPr>
            <a:spLocks noGrp="1"/>
          </p:cNvSpPr>
          <p:nvPr>
            <p:ph idx="1"/>
          </p:nvPr>
        </p:nvSpPr>
        <p:spPr/>
        <p:txBody>
          <a:bodyPr/>
          <a:lstStyle/>
          <a:p>
            <a:pPr marL="0" indent="0">
              <a:buNone/>
            </a:pPr>
            <a:r>
              <a:rPr lang="en-US" sz="1800" dirty="0"/>
              <a:t>We can represent the unfolded recurrence after t steps with a function g(t):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600" dirty="0"/>
              <a:t>The function g(t) takes the whole past sequence (x(t) , x(t−1), x(t−2), . . . , x(2), x(1)) as input and produces the current state, but the unfolded recurrent structure allows us to factorize g(t) into repeated application of a function f . </a:t>
            </a:r>
          </a:p>
          <a:p>
            <a:pPr marL="0" indent="0">
              <a:buNone/>
            </a:pPr>
            <a:r>
              <a:rPr lang="en-US" sz="1600" dirty="0"/>
              <a:t>The unfolding process thus introduces two major advantages: </a:t>
            </a:r>
          </a:p>
          <a:p>
            <a:pPr marL="0" indent="0">
              <a:buNone/>
            </a:pPr>
            <a:r>
              <a:rPr lang="en-US" sz="1600" dirty="0"/>
              <a:t>1. Regardless of the sequence length, the learned model always has the same input size, because it is specified in terms of transition from one state to another state, rather than specified in terms of a variable-length history of states. </a:t>
            </a:r>
          </a:p>
          <a:p>
            <a:pPr marL="0" indent="0">
              <a:buNone/>
            </a:pPr>
            <a:r>
              <a:rPr lang="en-US" sz="1600" dirty="0"/>
              <a:t>2. It is possible to use the same transition function f with the same parameters at every time step. </a:t>
            </a:r>
          </a:p>
          <a:p>
            <a:pPr marL="0" indent="0">
              <a:buNone/>
            </a:pPr>
            <a:endParaRPr lang="en-US" sz="1600" dirty="0"/>
          </a:p>
          <a:p>
            <a:pPr marL="0" indent="0">
              <a:buNone/>
            </a:pPr>
            <a:r>
              <a:rPr lang="en-US" sz="1600" dirty="0"/>
              <a:t>These two factors make it possible to learn a single model f that operates on all time steps and all sequence lengths, rather than needing to learn a separate model g(t) for all possible time steps.</a:t>
            </a:r>
            <a:endParaRPr lang="en-IN" sz="1600" dirty="0"/>
          </a:p>
          <a:p>
            <a:pPr marL="0" indent="0">
              <a:buNone/>
            </a:pPr>
            <a:endParaRPr lang="en-IN" sz="1800" dirty="0"/>
          </a:p>
        </p:txBody>
      </p:sp>
      <p:sp>
        <p:nvSpPr>
          <p:cNvPr id="4" name="Slide Number Placeholder 3">
            <a:extLst>
              <a:ext uri="{FF2B5EF4-FFF2-40B4-BE49-F238E27FC236}">
                <a16:creationId xmlns:a16="http://schemas.microsoft.com/office/drawing/2014/main" id="{98130B4B-4A2F-865F-76B9-AFF23E709FFD}"/>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6" name="Picture 5">
            <a:extLst>
              <a:ext uri="{FF2B5EF4-FFF2-40B4-BE49-F238E27FC236}">
                <a16:creationId xmlns:a16="http://schemas.microsoft.com/office/drawing/2014/main" id="{B00E9852-2671-A11E-32B2-74E41772ED73}"/>
              </a:ext>
            </a:extLst>
          </p:cNvPr>
          <p:cNvPicPr>
            <a:picLocks noChangeAspect="1"/>
          </p:cNvPicPr>
          <p:nvPr/>
        </p:nvPicPr>
        <p:blipFill>
          <a:blip r:embed="rId3"/>
          <a:stretch>
            <a:fillRect/>
          </a:stretch>
        </p:blipFill>
        <p:spPr>
          <a:xfrm>
            <a:off x="1981200" y="1752600"/>
            <a:ext cx="5758544" cy="1295400"/>
          </a:xfrm>
          <a:prstGeom prst="rect">
            <a:avLst/>
          </a:prstGeom>
        </p:spPr>
      </p:pic>
    </p:spTree>
    <p:extLst>
      <p:ext uri="{BB962C8B-B14F-4D97-AF65-F5344CB8AC3E}">
        <p14:creationId xmlns:p14="http://schemas.microsoft.com/office/powerpoint/2010/main" val="423524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23E7-B98F-EEB4-7B62-064F58F45F1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73284EB-C31B-44C2-55F9-6739CED51938}"/>
              </a:ext>
            </a:extLst>
          </p:cNvPr>
          <p:cNvSpPr>
            <a:spLocks noGrp="1"/>
          </p:cNvSpPr>
          <p:nvPr>
            <p:ph idx="1"/>
          </p:nvPr>
        </p:nvSpPr>
        <p:spPr/>
        <p:txBody>
          <a:bodyPr/>
          <a:lstStyle/>
          <a:p>
            <a:r>
              <a:rPr lang="en-US" sz="2000" dirty="0"/>
              <a:t>Examine the techniques for unfolding a computational graph with a repetitive structure within a dynamical system. Formulate this unfolding process using the external input signal x t and the hidden unit h. Mention the advantages of the unfolding process. </a:t>
            </a:r>
          </a:p>
          <a:p>
            <a:r>
              <a:rPr lang="en-US" sz="2000" dirty="0"/>
              <a:t>Illustrate unfolding computational graph with example. 	</a:t>
            </a:r>
          </a:p>
          <a:p>
            <a:endParaRPr lang="en-US" sz="2000" dirty="0"/>
          </a:p>
          <a:p>
            <a:endParaRPr lang="en-IN" sz="2000" dirty="0"/>
          </a:p>
        </p:txBody>
      </p:sp>
      <p:sp>
        <p:nvSpPr>
          <p:cNvPr id="4" name="Slide Number Placeholder 3">
            <a:extLst>
              <a:ext uri="{FF2B5EF4-FFF2-40B4-BE49-F238E27FC236}">
                <a16:creationId xmlns:a16="http://schemas.microsoft.com/office/drawing/2014/main" id="{B8585253-0DAC-9775-84D2-2F0A47517A7F}"/>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7909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0D4A-49FC-9A41-FA1D-DCACE4D9E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3406C-BCE6-6487-FCB8-0C5C1596505F}"/>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1062BD21-74FF-B501-ABA4-1073DA4F2931}"/>
              </a:ext>
            </a:extLst>
          </p:cNvPr>
          <p:cNvSpPr>
            <a:spLocks noGrp="1"/>
          </p:cNvSpPr>
          <p:nvPr>
            <p:ph idx="1"/>
          </p:nvPr>
        </p:nvSpPr>
        <p:spPr/>
        <p:txBody>
          <a:bodyPr/>
          <a:lstStyle/>
          <a:p>
            <a:pPr marL="0" indent="0">
              <a:buNone/>
            </a:pPr>
            <a:r>
              <a:rPr lang="en-US" sz="1400" dirty="0"/>
              <a:t>Variety of recurrent neural networks</a:t>
            </a:r>
          </a:p>
          <a:p>
            <a:r>
              <a:rPr lang="en-US" sz="1400" dirty="0"/>
              <a:t>Variation 1 of RNN (basic form): hidden2hidden connections, sequence output.</a:t>
            </a:r>
          </a:p>
          <a:p>
            <a:r>
              <a:rPr lang="en-US" sz="1400" dirty="0"/>
              <a:t>Variation 2 of RNN output2hidden, sequence output. </a:t>
            </a:r>
          </a:p>
          <a:p>
            <a:r>
              <a:rPr lang="en-US" sz="1400" dirty="0"/>
              <a:t>Variation 3 of RNN hidden2hidden, single output. </a:t>
            </a:r>
            <a:endParaRPr lang="en-IN" sz="1400" dirty="0"/>
          </a:p>
        </p:txBody>
      </p:sp>
      <p:sp>
        <p:nvSpPr>
          <p:cNvPr id="4" name="Slide Number Placeholder 3">
            <a:extLst>
              <a:ext uri="{FF2B5EF4-FFF2-40B4-BE49-F238E27FC236}">
                <a16:creationId xmlns:a16="http://schemas.microsoft.com/office/drawing/2014/main" id="{62B516B9-C2EC-01EC-B28B-0BB68A64139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5" name="Picture 4">
            <a:extLst>
              <a:ext uri="{FF2B5EF4-FFF2-40B4-BE49-F238E27FC236}">
                <a16:creationId xmlns:a16="http://schemas.microsoft.com/office/drawing/2014/main" id="{51854383-F5F8-E932-85E9-C21898BDAE86}"/>
              </a:ext>
            </a:extLst>
          </p:cNvPr>
          <p:cNvPicPr>
            <a:picLocks noChangeAspect="1"/>
          </p:cNvPicPr>
          <p:nvPr/>
        </p:nvPicPr>
        <p:blipFill>
          <a:blip r:embed="rId2"/>
          <a:stretch>
            <a:fillRect/>
          </a:stretch>
        </p:blipFill>
        <p:spPr>
          <a:xfrm>
            <a:off x="8737600" y="3262123"/>
            <a:ext cx="3352800" cy="2453007"/>
          </a:xfrm>
          <a:prstGeom prst="rect">
            <a:avLst/>
          </a:prstGeom>
        </p:spPr>
      </p:pic>
      <p:pic>
        <p:nvPicPr>
          <p:cNvPr id="6" name="Picture 5">
            <a:extLst>
              <a:ext uri="{FF2B5EF4-FFF2-40B4-BE49-F238E27FC236}">
                <a16:creationId xmlns:a16="http://schemas.microsoft.com/office/drawing/2014/main" id="{C298C995-6548-1DFC-6A43-16FD6E74261D}"/>
              </a:ext>
            </a:extLst>
          </p:cNvPr>
          <p:cNvPicPr>
            <a:picLocks noChangeAspect="1"/>
          </p:cNvPicPr>
          <p:nvPr/>
        </p:nvPicPr>
        <p:blipFill>
          <a:blip r:embed="rId3"/>
          <a:stretch>
            <a:fillRect/>
          </a:stretch>
        </p:blipFill>
        <p:spPr>
          <a:xfrm>
            <a:off x="38014" y="2971799"/>
            <a:ext cx="4109725" cy="3505200"/>
          </a:xfrm>
          <a:prstGeom prst="rect">
            <a:avLst/>
          </a:prstGeom>
        </p:spPr>
      </p:pic>
      <p:sp>
        <p:nvSpPr>
          <p:cNvPr id="7" name="TextBox 6">
            <a:extLst>
              <a:ext uri="{FF2B5EF4-FFF2-40B4-BE49-F238E27FC236}">
                <a16:creationId xmlns:a16="http://schemas.microsoft.com/office/drawing/2014/main" id="{14C4DAC3-D909-4998-DBB0-95447E521780}"/>
              </a:ext>
            </a:extLst>
          </p:cNvPr>
          <p:cNvSpPr txBox="1"/>
          <p:nvPr/>
        </p:nvSpPr>
        <p:spPr>
          <a:xfrm>
            <a:off x="1143000" y="6564868"/>
            <a:ext cx="1438151" cy="369332"/>
          </a:xfrm>
          <a:prstGeom prst="rect">
            <a:avLst/>
          </a:prstGeom>
          <a:noFill/>
        </p:spPr>
        <p:txBody>
          <a:bodyPr wrap="none" rtlCol="0">
            <a:spAutoFit/>
          </a:bodyPr>
          <a:lstStyle/>
          <a:p>
            <a:r>
              <a:rPr lang="en-IN" dirty="0"/>
              <a:t>Variation 1</a:t>
            </a:r>
          </a:p>
        </p:txBody>
      </p:sp>
      <p:sp>
        <p:nvSpPr>
          <p:cNvPr id="8" name="TextBox 7">
            <a:extLst>
              <a:ext uri="{FF2B5EF4-FFF2-40B4-BE49-F238E27FC236}">
                <a16:creationId xmlns:a16="http://schemas.microsoft.com/office/drawing/2014/main" id="{EECE03DA-D7F6-0F98-BBBE-D0092EC8DBC1}"/>
              </a:ext>
            </a:extLst>
          </p:cNvPr>
          <p:cNvSpPr txBox="1"/>
          <p:nvPr/>
        </p:nvSpPr>
        <p:spPr>
          <a:xfrm>
            <a:off x="5370575" y="6526768"/>
            <a:ext cx="1438151" cy="369332"/>
          </a:xfrm>
          <a:prstGeom prst="rect">
            <a:avLst/>
          </a:prstGeom>
          <a:noFill/>
        </p:spPr>
        <p:txBody>
          <a:bodyPr wrap="none" rtlCol="0">
            <a:spAutoFit/>
          </a:bodyPr>
          <a:lstStyle/>
          <a:p>
            <a:r>
              <a:rPr lang="en-IN" dirty="0"/>
              <a:t>Variation 2</a:t>
            </a:r>
          </a:p>
        </p:txBody>
      </p:sp>
      <p:sp>
        <p:nvSpPr>
          <p:cNvPr id="9" name="TextBox 8">
            <a:extLst>
              <a:ext uri="{FF2B5EF4-FFF2-40B4-BE49-F238E27FC236}">
                <a16:creationId xmlns:a16="http://schemas.microsoft.com/office/drawing/2014/main" id="{3F011642-16F5-363C-D333-12E55B4DFD23}"/>
              </a:ext>
            </a:extLst>
          </p:cNvPr>
          <p:cNvSpPr txBox="1"/>
          <p:nvPr/>
        </p:nvSpPr>
        <p:spPr>
          <a:xfrm>
            <a:off x="9610849" y="6513087"/>
            <a:ext cx="1438151" cy="369332"/>
          </a:xfrm>
          <a:prstGeom prst="rect">
            <a:avLst/>
          </a:prstGeom>
          <a:noFill/>
        </p:spPr>
        <p:txBody>
          <a:bodyPr wrap="none" rtlCol="0">
            <a:spAutoFit/>
          </a:bodyPr>
          <a:lstStyle/>
          <a:p>
            <a:r>
              <a:rPr lang="en-IN" dirty="0"/>
              <a:t>Variation 3</a:t>
            </a:r>
          </a:p>
        </p:txBody>
      </p:sp>
      <p:pic>
        <p:nvPicPr>
          <p:cNvPr id="10" name="Picture 9">
            <a:extLst>
              <a:ext uri="{FF2B5EF4-FFF2-40B4-BE49-F238E27FC236}">
                <a16:creationId xmlns:a16="http://schemas.microsoft.com/office/drawing/2014/main" id="{F92BE3D3-BC8F-2FA4-41E0-B8C5AEE82ADA}"/>
              </a:ext>
            </a:extLst>
          </p:cNvPr>
          <p:cNvPicPr>
            <a:picLocks noChangeAspect="1"/>
          </p:cNvPicPr>
          <p:nvPr/>
        </p:nvPicPr>
        <p:blipFill>
          <a:blip r:embed="rId3"/>
          <a:stretch>
            <a:fillRect/>
          </a:stretch>
        </p:blipFill>
        <p:spPr>
          <a:xfrm>
            <a:off x="4269056" y="2908196"/>
            <a:ext cx="4109725" cy="3505200"/>
          </a:xfrm>
          <a:prstGeom prst="rect">
            <a:avLst/>
          </a:prstGeom>
        </p:spPr>
      </p:pic>
    </p:spTree>
    <p:extLst>
      <p:ext uri="{BB962C8B-B14F-4D97-AF65-F5344CB8AC3E}">
        <p14:creationId xmlns:p14="http://schemas.microsoft.com/office/powerpoint/2010/main" val="103431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6A8C-2A3E-D129-BC21-D19DEE3C2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57248-4528-86FC-3A2F-962AECD1E526}"/>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E6DC837B-9252-6EBA-8F6D-2625B8C74D48}"/>
              </a:ext>
            </a:extLst>
          </p:cNvPr>
          <p:cNvSpPr>
            <a:spLocks noGrp="1"/>
          </p:cNvSpPr>
          <p:nvPr>
            <p:ph idx="1"/>
          </p:nvPr>
        </p:nvSpPr>
        <p:spPr/>
        <p:txBody>
          <a:bodyPr/>
          <a:lstStyle/>
          <a:p>
            <a:pPr marL="0" indent="0">
              <a:buNone/>
            </a:pPr>
            <a:r>
              <a:rPr lang="en-US" sz="1400" b="1" dirty="0"/>
              <a:t>Variation 1 </a:t>
            </a:r>
            <a:r>
              <a:rPr lang="en-US" sz="1400" dirty="0"/>
              <a:t>of RNN (basic form): hidden2hidden connections, sequence output.</a:t>
            </a:r>
          </a:p>
          <a:p>
            <a:pPr marL="0" indent="0">
              <a:buNone/>
            </a:pPr>
            <a:r>
              <a:rPr lang="en-US" sz="1400" b="1" dirty="0"/>
              <a:t>Task: </a:t>
            </a:r>
            <a:r>
              <a:rPr lang="en-US" sz="1400" dirty="0"/>
              <a:t>Given a sentence, predict the grammatical tag of each word.</a:t>
            </a:r>
          </a:p>
          <a:p>
            <a:pPr marL="0" indent="0">
              <a:buNone/>
            </a:pPr>
            <a:r>
              <a:rPr lang="en-US" sz="1400" dirty="0"/>
              <a:t>Example</a:t>
            </a:r>
          </a:p>
          <a:p>
            <a:pPr marL="0" indent="0">
              <a:buNone/>
            </a:pPr>
            <a:r>
              <a:rPr lang="en-US" sz="1400" dirty="0"/>
              <a:t>Input Sequence			Output Sequence</a:t>
            </a:r>
          </a:p>
          <a:p>
            <a:pPr marL="0" indent="0">
              <a:buNone/>
            </a:pPr>
            <a:r>
              <a:rPr lang="en-US" sz="1400" dirty="0"/>
              <a:t>"Students like deep learning"		Noun Verb Adjective Noun</a:t>
            </a:r>
          </a:p>
        </p:txBody>
      </p:sp>
      <p:sp>
        <p:nvSpPr>
          <p:cNvPr id="4" name="Slide Number Placeholder 3">
            <a:extLst>
              <a:ext uri="{FF2B5EF4-FFF2-40B4-BE49-F238E27FC236}">
                <a16:creationId xmlns:a16="http://schemas.microsoft.com/office/drawing/2014/main" id="{1E3444CB-84BA-EB68-65BE-5C1C3D1BDCBA}"/>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3DDAE7C5-48E6-7D1A-3B84-E7796D90EB89}"/>
              </a:ext>
            </a:extLst>
          </p:cNvPr>
          <p:cNvPicPr>
            <a:picLocks noChangeAspect="1"/>
          </p:cNvPicPr>
          <p:nvPr/>
        </p:nvPicPr>
        <p:blipFill>
          <a:blip r:embed="rId2"/>
          <a:stretch>
            <a:fillRect/>
          </a:stretch>
        </p:blipFill>
        <p:spPr>
          <a:xfrm>
            <a:off x="228600" y="2759927"/>
            <a:ext cx="4109725" cy="3505200"/>
          </a:xfrm>
          <a:prstGeom prst="rect">
            <a:avLst/>
          </a:prstGeom>
        </p:spPr>
      </p:pic>
      <p:sp>
        <p:nvSpPr>
          <p:cNvPr id="7" name="TextBox 6">
            <a:extLst>
              <a:ext uri="{FF2B5EF4-FFF2-40B4-BE49-F238E27FC236}">
                <a16:creationId xmlns:a16="http://schemas.microsoft.com/office/drawing/2014/main" id="{0DCAA7EE-822D-8FCE-29D1-7FBAD3AD52AA}"/>
              </a:ext>
            </a:extLst>
          </p:cNvPr>
          <p:cNvSpPr txBox="1"/>
          <p:nvPr/>
        </p:nvSpPr>
        <p:spPr>
          <a:xfrm>
            <a:off x="1143000" y="6328421"/>
            <a:ext cx="1438151" cy="369332"/>
          </a:xfrm>
          <a:prstGeom prst="rect">
            <a:avLst/>
          </a:prstGeom>
          <a:noFill/>
        </p:spPr>
        <p:txBody>
          <a:bodyPr wrap="none" rtlCol="0">
            <a:spAutoFit/>
          </a:bodyPr>
          <a:lstStyle/>
          <a:p>
            <a:r>
              <a:rPr lang="en-IN" dirty="0"/>
              <a:t>Variation 1</a:t>
            </a:r>
          </a:p>
        </p:txBody>
      </p:sp>
    </p:spTree>
    <p:extLst>
      <p:ext uri="{BB962C8B-B14F-4D97-AF65-F5344CB8AC3E}">
        <p14:creationId xmlns:p14="http://schemas.microsoft.com/office/powerpoint/2010/main" val="13705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7BA-D4E1-86A4-C9A8-00735D7B9AEC}"/>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0499A094-E28D-AF0B-53DB-04464F058741}"/>
              </a:ext>
            </a:extLst>
          </p:cNvPr>
          <p:cNvSpPr>
            <a:spLocks noGrp="1"/>
          </p:cNvSpPr>
          <p:nvPr>
            <p:ph idx="1"/>
          </p:nvPr>
        </p:nvSpPr>
        <p:spPr/>
        <p:txBody>
          <a:bodyPr/>
          <a:lstStyle/>
          <a:p>
            <a:pPr marL="0" indent="0">
              <a:buNone/>
            </a:pPr>
            <a:r>
              <a:rPr lang="en-US" sz="1400" b="1" dirty="0"/>
              <a:t>Variation 2 </a:t>
            </a:r>
            <a:r>
              <a:rPr lang="en-US" sz="1400" dirty="0"/>
              <a:t>of RNN output2hidden, sequence output. </a:t>
            </a:r>
          </a:p>
          <a:p>
            <a:pPr marL="0" indent="0">
              <a:buNone/>
            </a:pPr>
            <a:endParaRPr lang="en-US" sz="1400" dirty="0"/>
          </a:p>
          <a:p>
            <a:pPr marL="0" indent="0">
              <a:buNone/>
            </a:pPr>
            <a:r>
              <a:rPr lang="en-US" sz="1400" dirty="0"/>
              <a:t>Task:</a:t>
            </a:r>
          </a:p>
          <a:p>
            <a:pPr marL="0" indent="0">
              <a:buNone/>
            </a:pPr>
            <a:r>
              <a:rPr lang="en-US" sz="1400" dirty="0"/>
              <a:t>Predict the next word in a sentence.</a:t>
            </a:r>
          </a:p>
          <a:p>
            <a:pPr marL="0" indent="0">
              <a:buNone/>
            </a:pPr>
            <a:endParaRPr lang="en-US" sz="1400" dirty="0"/>
          </a:p>
          <a:p>
            <a:pPr marL="0" indent="0">
              <a:buNone/>
            </a:pPr>
            <a:r>
              <a:rPr lang="en-US" sz="1400" dirty="0"/>
              <a:t>Example</a:t>
            </a:r>
          </a:p>
          <a:p>
            <a:pPr marL="0" indent="0">
              <a:buNone/>
            </a:pPr>
            <a:r>
              <a:rPr lang="en-US" sz="1400" dirty="0"/>
              <a:t>Input seed:</a:t>
            </a:r>
          </a:p>
          <a:p>
            <a:pPr marL="0" indent="0">
              <a:buNone/>
            </a:pPr>
            <a:r>
              <a:rPr lang="en-US" sz="1400" dirty="0"/>
              <a:t>"Deep learning is"</a:t>
            </a:r>
          </a:p>
          <a:p>
            <a:pPr marL="0" indent="0">
              <a:buNone/>
            </a:pPr>
            <a:endParaRPr lang="en-US" sz="1400" dirty="0"/>
          </a:p>
          <a:p>
            <a:pPr marL="0" indent="0">
              <a:buNone/>
            </a:pPr>
            <a:r>
              <a:rPr lang="en-US" sz="1400" dirty="0"/>
              <a:t>RNN generates sequence:</a:t>
            </a:r>
          </a:p>
          <a:p>
            <a:pPr marL="0" indent="0">
              <a:buNone/>
            </a:pPr>
            <a:endParaRPr lang="en-US" sz="1400" dirty="0"/>
          </a:p>
          <a:p>
            <a:pPr marL="0" indent="0">
              <a:buNone/>
            </a:pPr>
            <a:r>
              <a:rPr lang="en-US" sz="1400" dirty="0"/>
              <a:t>Step	Predicted Word</a:t>
            </a:r>
          </a:p>
          <a:p>
            <a:pPr marL="0" indent="0">
              <a:buNone/>
            </a:pPr>
            <a:r>
              <a:rPr lang="en-US" sz="1400" dirty="0"/>
              <a:t>t1	powerful</a:t>
            </a:r>
          </a:p>
          <a:p>
            <a:pPr marL="0" indent="0">
              <a:buNone/>
            </a:pPr>
            <a:r>
              <a:rPr lang="en-US" sz="1400" dirty="0"/>
              <a:t>t2	for</a:t>
            </a:r>
          </a:p>
          <a:p>
            <a:pPr marL="0" indent="0">
              <a:buNone/>
            </a:pPr>
            <a:r>
              <a:rPr lang="en-US" sz="1400" dirty="0"/>
              <a:t>t3	many</a:t>
            </a:r>
          </a:p>
          <a:p>
            <a:pPr marL="0" indent="0">
              <a:buNone/>
            </a:pPr>
            <a:r>
              <a:rPr lang="en-US" sz="1400" dirty="0"/>
              <a:t>t4	applications</a:t>
            </a:r>
          </a:p>
        </p:txBody>
      </p:sp>
      <p:sp>
        <p:nvSpPr>
          <p:cNvPr id="4" name="Slide Number Placeholder 3">
            <a:extLst>
              <a:ext uri="{FF2B5EF4-FFF2-40B4-BE49-F238E27FC236}">
                <a16:creationId xmlns:a16="http://schemas.microsoft.com/office/drawing/2014/main" id="{90217D93-01EE-9EB6-578F-166AFA85E269}"/>
              </a:ext>
            </a:extLst>
          </p:cNvPr>
          <p:cNvSpPr>
            <a:spLocks noGrp="1"/>
          </p:cNvSpPr>
          <p:nvPr>
            <p:ph type="sldNum" sz="quarter" idx="12"/>
          </p:nvPr>
        </p:nvSpPr>
        <p:spPr/>
        <p:txBody>
          <a:bodyPr/>
          <a:lstStyle/>
          <a:p>
            <a:fld id="{BB2CE0DE-867F-455F-B20B-96D381B4AB71}" type="slidenum">
              <a:rPr lang="en-US" smtClean="0"/>
              <a:t>16</a:t>
            </a:fld>
            <a:endParaRPr lang="en-US"/>
          </a:p>
        </p:txBody>
      </p:sp>
      <p:sp>
        <p:nvSpPr>
          <p:cNvPr id="11" name="TextBox 10">
            <a:extLst>
              <a:ext uri="{FF2B5EF4-FFF2-40B4-BE49-F238E27FC236}">
                <a16:creationId xmlns:a16="http://schemas.microsoft.com/office/drawing/2014/main" id="{4DAEC4DE-67A1-99A2-EA5B-086632B42749}"/>
              </a:ext>
            </a:extLst>
          </p:cNvPr>
          <p:cNvSpPr txBox="1"/>
          <p:nvPr/>
        </p:nvSpPr>
        <p:spPr>
          <a:xfrm>
            <a:off x="5370575" y="6443133"/>
            <a:ext cx="1438151" cy="369332"/>
          </a:xfrm>
          <a:prstGeom prst="rect">
            <a:avLst/>
          </a:prstGeom>
          <a:noFill/>
        </p:spPr>
        <p:txBody>
          <a:bodyPr wrap="none" rtlCol="0">
            <a:spAutoFit/>
          </a:bodyPr>
          <a:lstStyle/>
          <a:p>
            <a:r>
              <a:rPr lang="en-IN" dirty="0"/>
              <a:t>Variation 2</a:t>
            </a:r>
          </a:p>
        </p:txBody>
      </p:sp>
      <p:pic>
        <p:nvPicPr>
          <p:cNvPr id="12" name="Picture 11">
            <a:extLst>
              <a:ext uri="{FF2B5EF4-FFF2-40B4-BE49-F238E27FC236}">
                <a16:creationId xmlns:a16="http://schemas.microsoft.com/office/drawing/2014/main" id="{BBD424E0-875E-F150-6FC3-5AC60CB0FF6C}"/>
              </a:ext>
            </a:extLst>
          </p:cNvPr>
          <p:cNvPicPr>
            <a:picLocks noChangeAspect="1"/>
          </p:cNvPicPr>
          <p:nvPr/>
        </p:nvPicPr>
        <p:blipFill>
          <a:blip r:embed="rId2"/>
          <a:stretch>
            <a:fillRect/>
          </a:stretch>
        </p:blipFill>
        <p:spPr>
          <a:xfrm>
            <a:off x="4269056" y="2908196"/>
            <a:ext cx="4109725" cy="3505200"/>
          </a:xfrm>
          <a:prstGeom prst="rect">
            <a:avLst/>
          </a:prstGeom>
        </p:spPr>
      </p:pic>
    </p:spTree>
    <p:extLst>
      <p:ext uri="{BB962C8B-B14F-4D97-AF65-F5344CB8AC3E}">
        <p14:creationId xmlns:p14="http://schemas.microsoft.com/office/powerpoint/2010/main" val="2479005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2331-C9B9-3DC1-31B6-7881E47DC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49BC6-E35E-91D0-22DD-FBA6322DB871}"/>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C409A5C2-0D21-D67D-EC81-0F6BA0CFF136}"/>
              </a:ext>
            </a:extLst>
          </p:cNvPr>
          <p:cNvSpPr>
            <a:spLocks noGrp="1"/>
          </p:cNvSpPr>
          <p:nvPr>
            <p:ph idx="1"/>
          </p:nvPr>
        </p:nvSpPr>
        <p:spPr/>
        <p:txBody>
          <a:bodyPr/>
          <a:lstStyle/>
          <a:p>
            <a:pPr marL="0" indent="0">
              <a:buNone/>
            </a:pPr>
            <a:r>
              <a:rPr lang="en-US" sz="2000" b="1" dirty="0"/>
              <a:t>Variation 3 </a:t>
            </a:r>
            <a:r>
              <a:rPr lang="en-US" sz="2000" dirty="0"/>
              <a:t>of RNN hidden2hidden, single output.</a:t>
            </a:r>
          </a:p>
          <a:p>
            <a:pPr marL="0" indent="0">
              <a:buNone/>
            </a:pPr>
            <a:r>
              <a:rPr lang="en-US" sz="2000" b="1" dirty="0"/>
              <a:t>Task:</a:t>
            </a:r>
            <a:br>
              <a:rPr lang="en-US" sz="2000" dirty="0"/>
            </a:br>
            <a:r>
              <a:rPr lang="en-US" sz="2000" dirty="0"/>
              <a:t>Classify sentiment of a sentence.</a:t>
            </a:r>
          </a:p>
          <a:p>
            <a:pPr marL="0" indent="0">
              <a:buNone/>
            </a:pPr>
            <a:r>
              <a:rPr lang="en-US" sz="2000" b="1" dirty="0"/>
              <a:t>Example</a:t>
            </a:r>
            <a:endParaRPr lang="en-US" sz="2000" dirty="0"/>
          </a:p>
          <a:p>
            <a:pPr marL="0" indent="0">
              <a:buNone/>
            </a:pPr>
            <a:r>
              <a:rPr lang="en-US" sz="2000" dirty="0"/>
              <a:t>Input sequence:</a:t>
            </a:r>
          </a:p>
          <a:p>
            <a:pPr marL="0" indent="0">
              <a:buNone/>
            </a:pPr>
            <a:r>
              <a:rPr lang="en-US" sz="2000" kern="1200" dirty="0">
                <a:solidFill>
                  <a:schemeClr val="tx1"/>
                </a:solidFill>
              </a:rPr>
              <a:t>"This movie is very interesting"</a:t>
            </a:r>
          </a:p>
          <a:p>
            <a:pPr marL="0" indent="0">
              <a:buNone/>
            </a:pPr>
            <a:r>
              <a:rPr lang="en-US" sz="2000" dirty="0"/>
              <a:t>Output:</a:t>
            </a:r>
          </a:p>
          <a:p>
            <a:pPr marL="0" indent="0">
              <a:buNone/>
            </a:pPr>
            <a:r>
              <a:rPr lang="en-US" sz="2000" kern="1200" dirty="0">
                <a:solidFill>
                  <a:schemeClr val="tx1"/>
                </a:solidFill>
              </a:rPr>
              <a:t>Positive</a:t>
            </a:r>
          </a:p>
          <a:p>
            <a:endParaRPr lang="en-IN" sz="1400" dirty="0"/>
          </a:p>
          <a:p>
            <a:pPr marL="0" indent="0">
              <a:buNone/>
            </a:pPr>
            <a:endParaRPr lang="en-US" sz="1400" dirty="0"/>
          </a:p>
        </p:txBody>
      </p:sp>
      <p:sp>
        <p:nvSpPr>
          <p:cNvPr id="4" name="Slide Number Placeholder 3">
            <a:extLst>
              <a:ext uri="{FF2B5EF4-FFF2-40B4-BE49-F238E27FC236}">
                <a16:creationId xmlns:a16="http://schemas.microsoft.com/office/drawing/2014/main" id="{0FBCFFEB-24E3-0133-B09A-147E73205796}"/>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1F031A9B-64EB-8989-8AAC-F4FD012FDDF7}"/>
              </a:ext>
            </a:extLst>
          </p:cNvPr>
          <p:cNvPicPr>
            <a:picLocks noChangeAspect="1"/>
          </p:cNvPicPr>
          <p:nvPr/>
        </p:nvPicPr>
        <p:blipFill>
          <a:blip r:embed="rId3"/>
          <a:stretch>
            <a:fillRect/>
          </a:stretch>
        </p:blipFill>
        <p:spPr>
          <a:xfrm>
            <a:off x="8382000" y="3205695"/>
            <a:ext cx="3352800" cy="2453007"/>
          </a:xfrm>
          <a:prstGeom prst="rect">
            <a:avLst/>
          </a:prstGeom>
        </p:spPr>
      </p:pic>
      <p:sp>
        <p:nvSpPr>
          <p:cNvPr id="9" name="TextBox 8">
            <a:extLst>
              <a:ext uri="{FF2B5EF4-FFF2-40B4-BE49-F238E27FC236}">
                <a16:creationId xmlns:a16="http://schemas.microsoft.com/office/drawing/2014/main" id="{CCCF2F6F-8B06-C652-44A2-7EA7058DDB14}"/>
              </a:ext>
            </a:extLst>
          </p:cNvPr>
          <p:cNvSpPr txBox="1"/>
          <p:nvPr/>
        </p:nvSpPr>
        <p:spPr>
          <a:xfrm>
            <a:off x="9448800" y="5835264"/>
            <a:ext cx="1438151" cy="369332"/>
          </a:xfrm>
          <a:prstGeom prst="rect">
            <a:avLst/>
          </a:prstGeom>
          <a:noFill/>
        </p:spPr>
        <p:txBody>
          <a:bodyPr wrap="none" rtlCol="0">
            <a:spAutoFit/>
          </a:bodyPr>
          <a:lstStyle/>
          <a:p>
            <a:r>
              <a:rPr lang="en-IN" dirty="0"/>
              <a:t>Variation 3</a:t>
            </a:r>
          </a:p>
        </p:txBody>
      </p:sp>
    </p:spTree>
    <p:extLst>
      <p:ext uri="{BB962C8B-B14F-4D97-AF65-F5344CB8AC3E}">
        <p14:creationId xmlns:p14="http://schemas.microsoft.com/office/powerpoint/2010/main" val="659047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0B2167-12CC-15CB-42F6-7F0BA5D04526}"/>
              </a:ext>
            </a:extLst>
          </p:cNvPr>
          <p:cNvSpPr>
            <a:spLocks noGrp="1"/>
          </p:cNvSpPr>
          <p:nvPr>
            <p:ph type="title"/>
          </p:nvPr>
        </p:nvSpPr>
        <p:spPr/>
        <p:txBody>
          <a:bodyPr/>
          <a:lstStyle/>
          <a:p>
            <a:r>
              <a:rPr lang="en-US" sz="2000" dirty="0"/>
              <a:t>Variation 1 of RNN (basic form): hidden2hidden connections, sequence output.</a:t>
            </a:r>
            <a:br>
              <a:rPr lang="en-US" sz="2000" dirty="0"/>
            </a:br>
            <a:r>
              <a:rPr lang="en-IN" sz="2000" dirty="0"/>
              <a:t>Recurrent Hidden Units</a:t>
            </a:r>
          </a:p>
        </p:txBody>
      </p:sp>
      <p:sp>
        <p:nvSpPr>
          <p:cNvPr id="12" name="Content Placeholder 11">
            <a:extLst>
              <a:ext uri="{FF2B5EF4-FFF2-40B4-BE49-F238E27FC236}">
                <a16:creationId xmlns:a16="http://schemas.microsoft.com/office/drawing/2014/main" id="{D6C8E64F-4AED-79D7-79F8-877C9C4F938D}"/>
              </a:ext>
            </a:extLst>
          </p:cNvPr>
          <p:cNvSpPr>
            <a:spLocks noGrp="1"/>
          </p:cNvSpPr>
          <p:nvPr>
            <p:ph sz="half" idx="2"/>
          </p:nvPr>
        </p:nvSpPr>
        <p:spPr>
          <a:xfrm>
            <a:off x="6191251" y="1219200"/>
            <a:ext cx="5232400" cy="4800600"/>
          </a:xfrm>
        </p:spPr>
        <p:txBody>
          <a:bodyPr/>
          <a:lstStyle/>
          <a:p>
            <a:pPr marL="0" indent="0" algn="just">
              <a:buNone/>
            </a:pPr>
            <a:r>
              <a:rPr lang="en-US" sz="1400" dirty="0"/>
              <a:t>The computational graph to compute the training loss of a recurrent network that maps an input sequence of x values to a corresponding sequence of output o values. </a:t>
            </a:r>
          </a:p>
          <a:p>
            <a:pPr marL="0" indent="0" algn="just">
              <a:buNone/>
            </a:pPr>
            <a:r>
              <a:rPr lang="en-US" sz="1400" dirty="0"/>
              <a:t>A loss L measures how far each o is from the corresponding training </a:t>
            </a:r>
            <a:r>
              <a:rPr lang="en-US" sz="1400" dirty="0" err="1"/>
              <a:t>targety</a:t>
            </a:r>
            <a:r>
              <a:rPr lang="en-US" sz="1400" dirty="0"/>
              <a:t> . </a:t>
            </a:r>
          </a:p>
          <a:p>
            <a:pPr marL="0" indent="0" algn="just">
              <a:buNone/>
            </a:pPr>
            <a:r>
              <a:rPr lang="en-US" sz="1400" dirty="0"/>
              <a:t>When using </a:t>
            </a:r>
            <a:r>
              <a:rPr lang="en-US" sz="1400" dirty="0" err="1"/>
              <a:t>softmax</a:t>
            </a:r>
            <a:r>
              <a:rPr lang="en-US" sz="1400" dirty="0"/>
              <a:t> outputs, we assume o is the unnormalized log probabilities. The </a:t>
            </a:r>
            <a:r>
              <a:rPr lang="en-US" sz="1400" dirty="0" err="1"/>
              <a:t>lossL</a:t>
            </a:r>
            <a:r>
              <a:rPr lang="en-US" sz="1400" dirty="0"/>
              <a:t> internally computes yˆ = </a:t>
            </a:r>
            <a:r>
              <a:rPr lang="en-US" sz="1400" dirty="0" err="1"/>
              <a:t>softmax</a:t>
            </a:r>
            <a:r>
              <a:rPr lang="en-US" sz="1400" dirty="0"/>
              <a:t>(o) and compares this to the target y. </a:t>
            </a:r>
          </a:p>
          <a:p>
            <a:pPr marL="0" indent="0" algn="just">
              <a:buNone/>
            </a:pPr>
            <a:r>
              <a:rPr lang="en-US" sz="1400" dirty="0"/>
              <a:t>The RNN has input to hidden connections parametrized by a weight matrix U, hidden-to-hidden recurrent connections parametrized by a weight matrix W , and hidden-to-output connections parametrized by a weight matrix V.</a:t>
            </a:r>
          </a:p>
          <a:p>
            <a:pPr marL="0" indent="0" algn="just">
              <a:buNone/>
            </a:pPr>
            <a:r>
              <a:rPr lang="en-US" sz="1400" dirty="0"/>
              <a:t>(Left)The RNN and its loss drawn with recurrent connections. </a:t>
            </a:r>
          </a:p>
          <a:p>
            <a:pPr marL="0" indent="0" algn="just">
              <a:buNone/>
            </a:pPr>
            <a:r>
              <a:rPr lang="en-US" sz="1400" dirty="0"/>
              <a:t>(Right)The same seen as an time unfolded computational graph, where each node is now associated with one particular time instance.</a:t>
            </a:r>
            <a:endParaRPr lang="en-IN" sz="1400" dirty="0"/>
          </a:p>
        </p:txBody>
      </p:sp>
      <p:sp>
        <p:nvSpPr>
          <p:cNvPr id="4" name="Slide Number Placeholder 3">
            <a:extLst>
              <a:ext uri="{FF2B5EF4-FFF2-40B4-BE49-F238E27FC236}">
                <a16:creationId xmlns:a16="http://schemas.microsoft.com/office/drawing/2014/main" id="{D6551364-376B-F278-16A4-7E1639A780E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6" name="Picture 5">
            <a:extLst>
              <a:ext uri="{FF2B5EF4-FFF2-40B4-BE49-F238E27FC236}">
                <a16:creationId xmlns:a16="http://schemas.microsoft.com/office/drawing/2014/main" id="{403468A3-9B63-DAAA-B721-CEA4040F86DC}"/>
              </a:ext>
            </a:extLst>
          </p:cNvPr>
          <p:cNvPicPr>
            <a:picLocks noChangeAspect="1"/>
          </p:cNvPicPr>
          <p:nvPr/>
        </p:nvPicPr>
        <p:blipFill>
          <a:blip r:embed="rId2"/>
          <a:stretch>
            <a:fillRect/>
          </a:stretch>
        </p:blipFill>
        <p:spPr>
          <a:xfrm>
            <a:off x="461556" y="1295400"/>
            <a:ext cx="5539194" cy="4724400"/>
          </a:xfrm>
          <a:prstGeom prst="rect">
            <a:avLst/>
          </a:prstGeom>
        </p:spPr>
      </p:pic>
    </p:spTree>
    <p:extLst>
      <p:ext uri="{BB962C8B-B14F-4D97-AF65-F5344CB8AC3E}">
        <p14:creationId xmlns:p14="http://schemas.microsoft.com/office/powerpoint/2010/main" val="86228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BFBDC-2380-0BCB-9A61-3739F85908CE}"/>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6" name="Content Placeholder 5">
            <a:extLst>
              <a:ext uri="{FF2B5EF4-FFF2-40B4-BE49-F238E27FC236}">
                <a16:creationId xmlns:a16="http://schemas.microsoft.com/office/drawing/2014/main" id="{EA319750-DD9B-1A12-A0F9-FDD66CEDA296}"/>
              </a:ext>
            </a:extLst>
          </p:cNvPr>
          <p:cNvSpPr>
            <a:spLocks noGrp="1"/>
          </p:cNvSpPr>
          <p:nvPr>
            <p:ph idx="1"/>
          </p:nvPr>
        </p:nvSpPr>
        <p:spPr/>
        <p:txBody>
          <a:bodyPr/>
          <a:lstStyle/>
          <a:p>
            <a:pPr marL="0" indent="0">
              <a:buNone/>
            </a:pPr>
            <a:r>
              <a:rPr lang="en-US" sz="2000" dirty="0"/>
              <a:t>The basic equations that defines the RNN (Variation 1) is shown in (10.6) below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600" dirty="0"/>
              <a:t>where the parameters are the bias vectors b and c along with the weight matrices U, V and W , respectively for input-to-hidden, hidden-to-output and hidden-</a:t>
            </a:r>
            <a:r>
              <a:rPr lang="en-US" sz="1600" dirty="0" err="1"/>
              <a:t>tohidden</a:t>
            </a:r>
            <a:r>
              <a:rPr lang="en-US" sz="1600" dirty="0"/>
              <a:t> connections. This is an example of a recurrent network that maps an input sequence to an output sequence of the same length.</a:t>
            </a:r>
          </a:p>
          <a:p>
            <a:pPr marL="0" indent="0">
              <a:buNone/>
            </a:pPr>
            <a:r>
              <a:rPr lang="en-US" sz="1600" b="1" dirty="0" err="1"/>
              <a:t>Foward</a:t>
            </a:r>
            <a:r>
              <a:rPr lang="en-US" sz="1600" b="1" dirty="0"/>
              <a:t> Pass</a:t>
            </a:r>
            <a:r>
              <a:rPr lang="en-US" sz="1600" dirty="0"/>
              <a:t>: The runtime is O(τ) (</a:t>
            </a:r>
            <a:r>
              <a:rPr lang="en-IN" sz="1600" dirty="0"/>
              <a:t>t = 1 to t = </a:t>
            </a:r>
            <a:r>
              <a:rPr lang="el-GR" sz="1600" dirty="0"/>
              <a:t>τ</a:t>
            </a:r>
            <a:r>
              <a:rPr lang="en-IN" sz="1600" dirty="0"/>
              <a:t>) </a:t>
            </a:r>
            <a:r>
              <a:rPr lang="en-US" sz="1600" dirty="0"/>
              <a:t>and cannot be reduced by parallelization because the forward propagation graph is inherently sequential; each time step may only be computed after the previous one.</a:t>
            </a:r>
          </a:p>
          <a:p>
            <a:pPr marL="0" indent="0">
              <a:buNone/>
            </a:pPr>
            <a:endParaRPr lang="en-IN" sz="2000" dirty="0"/>
          </a:p>
        </p:txBody>
      </p:sp>
      <p:sp>
        <p:nvSpPr>
          <p:cNvPr id="5" name="Slide Number Placeholder 4">
            <a:extLst>
              <a:ext uri="{FF2B5EF4-FFF2-40B4-BE49-F238E27FC236}">
                <a16:creationId xmlns:a16="http://schemas.microsoft.com/office/drawing/2014/main" id="{752B55AD-9A63-A8FC-8C6C-CD21D14B3071}"/>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39C8CE58-D983-61A8-99CE-016CE7BEBF64}"/>
              </a:ext>
            </a:extLst>
          </p:cNvPr>
          <p:cNvPicPr>
            <a:picLocks noChangeAspect="1"/>
          </p:cNvPicPr>
          <p:nvPr/>
        </p:nvPicPr>
        <p:blipFill>
          <a:blip r:embed="rId3"/>
          <a:stretch>
            <a:fillRect/>
          </a:stretch>
        </p:blipFill>
        <p:spPr>
          <a:xfrm>
            <a:off x="685800" y="1828800"/>
            <a:ext cx="7343775" cy="1743075"/>
          </a:xfrm>
          <a:prstGeom prst="rect">
            <a:avLst/>
          </a:prstGeom>
        </p:spPr>
      </p:pic>
      <p:pic>
        <p:nvPicPr>
          <p:cNvPr id="9" name="Picture 8">
            <a:extLst>
              <a:ext uri="{FF2B5EF4-FFF2-40B4-BE49-F238E27FC236}">
                <a16:creationId xmlns:a16="http://schemas.microsoft.com/office/drawing/2014/main" id="{67E1175B-589F-CD07-71D9-EE80EA97FF0D}"/>
              </a:ext>
            </a:extLst>
          </p:cNvPr>
          <p:cNvPicPr>
            <a:picLocks noChangeAspect="1"/>
          </p:cNvPicPr>
          <p:nvPr/>
        </p:nvPicPr>
        <p:blipFill>
          <a:blip r:embed="rId4"/>
          <a:stretch>
            <a:fillRect/>
          </a:stretch>
        </p:blipFill>
        <p:spPr>
          <a:xfrm>
            <a:off x="10972800" y="1600200"/>
            <a:ext cx="1066800" cy="2905488"/>
          </a:xfrm>
          <a:prstGeom prst="rect">
            <a:avLst/>
          </a:prstGeom>
        </p:spPr>
      </p:pic>
    </p:spTree>
    <p:extLst>
      <p:ext uri="{BB962C8B-B14F-4D97-AF65-F5344CB8AC3E}">
        <p14:creationId xmlns:p14="http://schemas.microsoft.com/office/powerpoint/2010/main" val="434874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EBEE-76E6-03AE-828C-7C2D0E839F3B}"/>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3" name="Content Placeholder 2">
            <a:extLst>
              <a:ext uri="{FF2B5EF4-FFF2-40B4-BE49-F238E27FC236}">
                <a16:creationId xmlns:a16="http://schemas.microsoft.com/office/drawing/2014/main" id="{C0841AD6-55EA-1984-BD4C-CF74C272B4D5}"/>
              </a:ext>
            </a:extLst>
          </p:cNvPr>
          <p:cNvSpPr>
            <a:spLocks noGrp="1"/>
          </p:cNvSpPr>
          <p:nvPr>
            <p:ph idx="1"/>
          </p:nvPr>
        </p:nvSpPr>
        <p:spPr/>
        <p:txBody>
          <a:bodyPr/>
          <a:lstStyle/>
          <a:p>
            <a:pPr marL="0" indent="0" algn="just">
              <a:buNone/>
            </a:pPr>
            <a:r>
              <a:rPr lang="en-US" sz="1800" dirty="0"/>
              <a:t>The total loss for a given sequence of x values paired with a sequence of y values would then be just the sum of the losses over all the time steps. For example, if L(t) is the negative log-likelihood of y(t) given x(1), . . . , x(t) , then sum them up you get the loss for the sequence</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1600" dirty="0"/>
              <a:t>where </a:t>
            </a:r>
            <a:r>
              <a:rPr lang="en-US" sz="1600" dirty="0" err="1"/>
              <a:t>p</a:t>
            </a:r>
            <a:r>
              <a:rPr lang="en-US" sz="1600" baseline="-25000" dirty="0" err="1"/>
              <a:t>model</a:t>
            </a:r>
            <a:r>
              <a:rPr lang="en-US" sz="1600" dirty="0"/>
              <a:t>(y(t) | {x(1) , . . . , x(t)}) is given by reading the entry for y(t) from the model’s output vector yˆ(t) . Computing the gradient of this loss function with respect to the parameters is an expensive operation. The gradient computation involves performing a forward propagation pass moving left to right through our illustration of the unrolled graph in figure, followed by a backward propagation pass moving right to left through the graph. The runtime is O(τ ) and </a:t>
            </a:r>
            <a:r>
              <a:rPr lang="en-US" sz="1600" b="1" dirty="0">
                <a:solidFill>
                  <a:srgbClr val="C00000"/>
                </a:solidFill>
              </a:rPr>
              <a:t>cannot be reduced by parallelization </a:t>
            </a:r>
            <a:r>
              <a:rPr lang="en-US" sz="1600" dirty="0"/>
              <a:t>because the forward propagation graph is inherently sequential; each time step may only be computed after the previous one. States computed in the forward pass must be stored until they are reused during the backward pass, so the memory cost is also O(τ). The back-propagation algorithm applied to the unrolled graph with O(τ) cost is called back-propagation through time or BPTT</a:t>
            </a:r>
            <a:endParaRPr lang="en-IN" sz="1600" dirty="0"/>
          </a:p>
        </p:txBody>
      </p:sp>
      <p:sp>
        <p:nvSpPr>
          <p:cNvPr id="4" name="Slide Number Placeholder 3">
            <a:extLst>
              <a:ext uri="{FF2B5EF4-FFF2-40B4-BE49-F238E27FC236}">
                <a16:creationId xmlns:a16="http://schemas.microsoft.com/office/drawing/2014/main" id="{4B3EE30B-56FA-065E-A47B-5CA2ECDA9E0E}"/>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32200F2F-9C7B-F5D9-5B6C-62884709F6D2}"/>
              </a:ext>
            </a:extLst>
          </p:cNvPr>
          <p:cNvPicPr>
            <a:picLocks noChangeAspect="1"/>
          </p:cNvPicPr>
          <p:nvPr/>
        </p:nvPicPr>
        <p:blipFill>
          <a:blip r:embed="rId2"/>
          <a:stretch>
            <a:fillRect/>
          </a:stretch>
        </p:blipFill>
        <p:spPr>
          <a:xfrm>
            <a:off x="3429000" y="2282936"/>
            <a:ext cx="3772246" cy="1450864"/>
          </a:xfrm>
          <a:prstGeom prst="rect">
            <a:avLst/>
          </a:prstGeom>
        </p:spPr>
      </p:pic>
    </p:spTree>
    <p:extLst>
      <p:ext uri="{BB962C8B-B14F-4D97-AF65-F5344CB8AC3E}">
        <p14:creationId xmlns:p14="http://schemas.microsoft.com/office/powerpoint/2010/main" val="122352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3E27-89B0-2085-B422-8E73605BB8E3}"/>
              </a:ext>
            </a:extLst>
          </p:cNvPr>
          <p:cNvSpPr>
            <a:spLocks noGrp="1"/>
          </p:cNvSpPr>
          <p:nvPr>
            <p:ph type="title"/>
          </p:nvPr>
        </p:nvSpPr>
        <p:spPr/>
        <p:txBody>
          <a:bodyPr/>
          <a:lstStyle/>
          <a:p>
            <a:r>
              <a:rPr lang="en-US" sz="2400" dirty="0"/>
              <a:t>Variation 2 of RNN output2hidden, sequence output. </a:t>
            </a:r>
            <a:br>
              <a:rPr lang="en-US" sz="2400" dirty="0"/>
            </a:br>
            <a:r>
              <a:rPr lang="en-US" sz="2400" dirty="0"/>
              <a:t>Recurrence through only the Output </a:t>
            </a:r>
            <a:endParaRPr lang="en-IN" sz="2400" dirty="0"/>
          </a:p>
        </p:txBody>
      </p:sp>
      <p:sp>
        <p:nvSpPr>
          <p:cNvPr id="7" name="Content Placeholder 6">
            <a:extLst>
              <a:ext uri="{FF2B5EF4-FFF2-40B4-BE49-F238E27FC236}">
                <a16:creationId xmlns:a16="http://schemas.microsoft.com/office/drawing/2014/main" id="{6B5AF199-E173-FDE9-0E68-A200520EF60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3D5DB5F4-1FD4-E2D5-6DF2-4AEDE1836D4A}"/>
              </a:ext>
            </a:extLst>
          </p:cNvPr>
          <p:cNvSpPr>
            <a:spLocks noGrp="1"/>
          </p:cNvSpPr>
          <p:nvPr>
            <p:ph sz="half" idx="2"/>
          </p:nvPr>
        </p:nvSpPr>
        <p:spPr>
          <a:xfrm>
            <a:off x="6191251" y="1066800"/>
            <a:ext cx="5232400" cy="5334001"/>
          </a:xfrm>
        </p:spPr>
        <p:txBody>
          <a:bodyPr/>
          <a:lstStyle/>
          <a:p>
            <a:pPr marL="0" indent="0" algn="just">
              <a:buNone/>
            </a:pPr>
            <a:r>
              <a:rPr lang="en-US" sz="1400" dirty="0"/>
              <a:t>An RNN whose only recurrence is the feedback connection from the output to the hidden layer. At each time step t, the input is </a:t>
            </a:r>
            <a:r>
              <a:rPr lang="en-US" sz="1400" dirty="0" err="1"/>
              <a:t>xt</a:t>
            </a:r>
            <a:r>
              <a:rPr lang="en-US" sz="1400" dirty="0"/>
              <a:t>, the hidden layer activations are h(t) , the outputs are o(t) , the targets are y(t) and the loss is L(t) . </a:t>
            </a:r>
          </a:p>
          <a:p>
            <a:pPr marL="0" indent="0" algn="just">
              <a:buNone/>
            </a:pPr>
            <a:r>
              <a:rPr lang="en-US" sz="1400" dirty="0"/>
              <a:t>(Left)Circuit diagram. </a:t>
            </a:r>
          </a:p>
          <a:p>
            <a:pPr marL="0" indent="0" algn="just">
              <a:buNone/>
            </a:pPr>
            <a:r>
              <a:rPr lang="en-US" sz="1400" dirty="0"/>
              <a:t>(Right)Unfolded computational graph. Such an RNN is less powerful (can express a smaller set of functions) than those in the family represented by figure (Variation1). The RNN in figure (Variation1) can choose to put any information it wants about the past into its hidden representation h and transmit h to the future. The RNN in this figure is trained to put a specific output value into o, and o is the only information it is allowed to send to the future. There are no direct connections from h going forward. The previous h is connected to the present only indirectly, via the predictions it was used to produce. Unless o is very high-dimensional and rich, it will usually lack important information from the past. This makes the RNN in this figure less powerful, but it may be easier to train because each time step can be trained in isolation from the others, allowing </a:t>
            </a:r>
            <a:r>
              <a:rPr lang="en-US" sz="1400" b="1" dirty="0">
                <a:solidFill>
                  <a:srgbClr val="C00000"/>
                </a:solidFill>
              </a:rPr>
              <a:t>greater parallelization </a:t>
            </a:r>
            <a:r>
              <a:rPr lang="en-US" sz="1400" dirty="0"/>
              <a:t>during training, x</a:t>
            </a:r>
            <a:endParaRPr lang="en-IN" sz="1400" dirty="0"/>
          </a:p>
        </p:txBody>
      </p:sp>
      <p:sp>
        <p:nvSpPr>
          <p:cNvPr id="4" name="Slide Number Placeholder 3">
            <a:extLst>
              <a:ext uri="{FF2B5EF4-FFF2-40B4-BE49-F238E27FC236}">
                <a16:creationId xmlns:a16="http://schemas.microsoft.com/office/drawing/2014/main" id="{5C85A717-9D6F-BDA9-F6E1-883CDEF1054B}"/>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DCD957CB-879B-290D-8184-2A3110F7697F}"/>
              </a:ext>
            </a:extLst>
          </p:cNvPr>
          <p:cNvPicPr>
            <a:picLocks noChangeAspect="1"/>
          </p:cNvPicPr>
          <p:nvPr/>
        </p:nvPicPr>
        <p:blipFill>
          <a:blip r:embed="rId2"/>
          <a:stretch>
            <a:fillRect/>
          </a:stretch>
        </p:blipFill>
        <p:spPr>
          <a:xfrm>
            <a:off x="304800" y="1219200"/>
            <a:ext cx="5559226" cy="4953000"/>
          </a:xfrm>
          <a:prstGeom prst="rect">
            <a:avLst/>
          </a:prstGeom>
        </p:spPr>
      </p:pic>
    </p:spTree>
    <p:extLst>
      <p:ext uri="{BB962C8B-B14F-4D97-AF65-F5344CB8AC3E}">
        <p14:creationId xmlns:p14="http://schemas.microsoft.com/office/powerpoint/2010/main" val="2412991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4F20-ABF9-5670-41E3-53A7C639D822}"/>
              </a:ext>
            </a:extLst>
          </p:cNvPr>
          <p:cNvSpPr>
            <a:spLocks noGrp="1"/>
          </p:cNvSpPr>
          <p:nvPr>
            <p:ph type="title"/>
          </p:nvPr>
        </p:nvSpPr>
        <p:spPr/>
        <p:txBody>
          <a:bodyPr/>
          <a:lstStyle/>
          <a:p>
            <a:r>
              <a:rPr lang="en-US" sz="2400" dirty="0"/>
              <a:t>Variation 3 of RNN hidden2hidden, single output.</a:t>
            </a:r>
            <a:br>
              <a:rPr lang="en-US" sz="2400" dirty="0"/>
            </a:br>
            <a:r>
              <a:rPr lang="en-IN" sz="2400" dirty="0"/>
              <a:t>Sequence Input, Single Output</a:t>
            </a:r>
            <a:r>
              <a:rPr lang="en-US" sz="2400" dirty="0"/>
              <a:t> </a:t>
            </a:r>
            <a:endParaRPr lang="en-IN" sz="2400" dirty="0"/>
          </a:p>
        </p:txBody>
      </p:sp>
      <p:sp>
        <p:nvSpPr>
          <p:cNvPr id="7" name="Content Placeholder 6">
            <a:extLst>
              <a:ext uri="{FF2B5EF4-FFF2-40B4-BE49-F238E27FC236}">
                <a16:creationId xmlns:a16="http://schemas.microsoft.com/office/drawing/2014/main" id="{A6656436-FFD9-1976-40D4-371828AAE8A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E0FBBE25-7977-38C8-3F81-D35147AF63CA}"/>
              </a:ext>
            </a:extLst>
          </p:cNvPr>
          <p:cNvSpPr>
            <a:spLocks noGrp="1"/>
          </p:cNvSpPr>
          <p:nvPr>
            <p:ph sz="half" idx="2"/>
          </p:nvPr>
        </p:nvSpPr>
        <p:spPr>
          <a:xfrm>
            <a:off x="6191251" y="1088030"/>
            <a:ext cx="5232400" cy="4931770"/>
          </a:xfrm>
        </p:spPr>
        <p:txBody>
          <a:bodyPr/>
          <a:lstStyle/>
          <a:p>
            <a:pPr marL="0" indent="0" algn="just">
              <a:buNone/>
            </a:pPr>
            <a:r>
              <a:rPr lang="en-US" sz="2000" dirty="0"/>
              <a:t>Time-unfolded recurrent neural network with a single output at the end of the sequence. </a:t>
            </a:r>
          </a:p>
          <a:p>
            <a:pPr marL="0" indent="0" algn="just">
              <a:buNone/>
            </a:pPr>
            <a:r>
              <a:rPr lang="en-US" sz="2000" dirty="0"/>
              <a:t>Such a network can be used to summarize a sequence and produce a fixed-size representation used as input for further processing. </a:t>
            </a:r>
          </a:p>
          <a:p>
            <a:pPr marL="0" indent="0" algn="just">
              <a:buNone/>
            </a:pPr>
            <a:r>
              <a:rPr lang="en-US" sz="2000" dirty="0"/>
              <a:t>There might be a target right at the end (as depicted here) or the gradient on the output o(t) can be obtained by back-propagating from further downstream modules.</a:t>
            </a:r>
            <a:endParaRPr lang="en-IN" sz="2000" dirty="0"/>
          </a:p>
        </p:txBody>
      </p:sp>
      <p:sp>
        <p:nvSpPr>
          <p:cNvPr id="4" name="Slide Number Placeholder 3">
            <a:extLst>
              <a:ext uri="{FF2B5EF4-FFF2-40B4-BE49-F238E27FC236}">
                <a16:creationId xmlns:a16="http://schemas.microsoft.com/office/drawing/2014/main" id="{93A64F3F-C36F-4381-136E-3C0446063F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77079B82-D961-2E56-AB2B-DFA89C679370}"/>
              </a:ext>
            </a:extLst>
          </p:cNvPr>
          <p:cNvPicPr>
            <a:picLocks noChangeAspect="1"/>
          </p:cNvPicPr>
          <p:nvPr/>
        </p:nvPicPr>
        <p:blipFill>
          <a:blip r:embed="rId2"/>
          <a:stretch>
            <a:fillRect/>
          </a:stretch>
        </p:blipFill>
        <p:spPr>
          <a:xfrm>
            <a:off x="0" y="1247470"/>
            <a:ext cx="5963482" cy="4363059"/>
          </a:xfrm>
          <a:prstGeom prst="rect">
            <a:avLst/>
          </a:prstGeom>
        </p:spPr>
      </p:pic>
    </p:spTree>
    <p:extLst>
      <p:ext uri="{BB962C8B-B14F-4D97-AF65-F5344CB8AC3E}">
        <p14:creationId xmlns:p14="http://schemas.microsoft.com/office/powerpoint/2010/main" val="93515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3AD70B-33AD-372A-A00E-E099EDD1943B}"/>
              </a:ext>
            </a:extLst>
          </p:cNvPr>
          <p:cNvSpPr>
            <a:spLocks noGrp="1"/>
          </p:cNvSpPr>
          <p:nvPr>
            <p:ph type="title"/>
          </p:nvPr>
        </p:nvSpPr>
        <p:spPr/>
        <p:txBody>
          <a:bodyPr/>
          <a:lstStyle/>
          <a:p>
            <a:r>
              <a:rPr lang="en-IN" sz="2400" dirty="0"/>
              <a:t>RNN: </a:t>
            </a:r>
            <a:r>
              <a:rPr lang="en-US" sz="2400" dirty="0"/>
              <a:t>Teacher Forcing and </a:t>
            </a:r>
            <a:br>
              <a:rPr lang="en-US" sz="2400" dirty="0"/>
            </a:br>
            <a:r>
              <a:rPr lang="en-US" sz="2400" dirty="0"/>
              <a:t>Networks with Output Recurrence</a:t>
            </a:r>
            <a:endParaRPr lang="en-IN" sz="2400" dirty="0"/>
          </a:p>
        </p:txBody>
      </p:sp>
      <p:sp>
        <p:nvSpPr>
          <p:cNvPr id="7" name="Content Placeholder 6">
            <a:extLst>
              <a:ext uri="{FF2B5EF4-FFF2-40B4-BE49-F238E27FC236}">
                <a16:creationId xmlns:a16="http://schemas.microsoft.com/office/drawing/2014/main" id="{DA8BCB79-385E-1C6A-1E39-33E8508F6D53}"/>
              </a:ext>
            </a:extLst>
          </p:cNvPr>
          <p:cNvSpPr>
            <a:spLocks noGrp="1"/>
          </p:cNvSpPr>
          <p:nvPr>
            <p:ph idx="1"/>
          </p:nvPr>
        </p:nvSpPr>
        <p:spPr/>
        <p:txBody>
          <a:bodyPr/>
          <a:lstStyle/>
          <a:p>
            <a:pPr marL="0" indent="0">
              <a:buNone/>
            </a:pPr>
            <a:r>
              <a:rPr lang="en-US" sz="1600" dirty="0"/>
              <a:t>Teacher forcing as a method for training recurrent neural networks.</a:t>
            </a:r>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en-US" sz="1600" b="1" dirty="0"/>
              <a:t>Using Output as Input in Sequence Prediction</a:t>
            </a:r>
          </a:p>
          <a:p>
            <a:r>
              <a:rPr lang="en-US" sz="1600" dirty="0"/>
              <a:t>There are sequence prediction models that use the output from the last time step y(t-1) as input for the model at the current time step X(t).</a:t>
            </a:r>
          </a:p>
          <a:p>
            <a:r>
              <a:rPr lang="en-US" sz="1600" dirty="0"/>
              <a:t>This type of model is common in language models that output one word at a time and use the output word as input for generating the next word in the sequence.</a:t>
            </a:r>
          </a:p>
          <a:p>
            <a:r>
              <a:rPr lang="en-US" sz="1600" dirty="0"/>
              <a:t>For example, sequence-to-sequence generation problems such as: Machine Translation, Caption Generation, Text Summarization</a:t>
            </a:r>
          </a:p>
          <a:p>
            <a:r>
              <a:rPr lang="en-US" sz="1600" dirty="0"/>
              <a:t>After the model is trained, a “start-of-sequence” token can be used to start the process and the generated word in the output sequence is used as input on the subsequent time step.</a:t>
            </a:r>
          </a:p>
          <a:p>
            <a:r>
              <a:rPr lang="en-US" sz="1600" dirty="0"/>
              <a:t>This same recursive output-as-input process can be used when training the model, but it can result in problems such as: Slow convergence, Model instability, Poor skill.</a:t>
            </a:r>
          </a:p>
          <a:p>
            <a:pPr marL="0" indent="0">
              <a:buNone/>
            </a:pPr>
            <a:r>
              <a:rPr lang="en-US" sz="1600" dirty="0"/>
              <a:t>Teacher forcing is an approach to improve model skill and stability when training these types of models.</a:t>
            </a:r>
          </a:p>
          <a:p>
            <a:endParaRPr lang="en-US" sz="1600" dirty="0"/>
          </a:p>
          <a:p>
            <a:pPr marL="0" indent="0">
              <a:buNone/>
            </a:pPr>
            <a:endParaRPr lang="en-IN" sz="1600" dirty="0"/>
          </a:p>
        </p:txBody>
      </p:sp>
      <p:sp>
        <p:nvSpPr>
          <p:cNvPr id="5" name="Slide Number Placeholder 4">
            <a:extLst>
              <a:ext uri="{FF2B5EF4-FFF2-40B4-BE49-F238E27FC236}">
                <a16:creationId xmlns:a16="http://schemas.microsoft.com/office/drawing/2014/main" id="{CA410218-C34D-E616-1F02-1BDA5C19EE59}"/>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80F73D75-CC27-3AC9-BC12-324A6E2C7C75}"/>
              </a:ext>
            </a:extLst>
          </p:cNvPr>
          <p:cNvPicPr>
            <a:picLocks noChangeAspect="1"/>
          </p:cNvPicPr>
          <p:nvPr/>
        </p:nvPicPr>
        <p:blipFill>
          <a:blip r:embed="rId2"/>
          <a:stretch>
            <a:fillRect/>
          </a:stretch>
        </p:blipFill>
        <p:spPr>
          <a:xfrm>
            <a:off x="8839200" y="136524"/>
            <a:ext cx="3157125" cy="2759076"/>
          </a:xfrm>
          <a:prstGeom prst="rect">
            <a:avLst/>
          </a:prstGeom>
        </p:spPr>
      </p:pic>
    </p:spTree>
    <p:extLst>
      <p:ext uri="{BB962C8B-B14F-4D97-AF65-F5344CB8AC3E}">
        <p14:creationId xmlns:p14="http://schemas.microsoft.com/office/powerpoint/2010/main" val="1305810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B6E2-27F5-63E7-F92D-DEBD556FEB26}"/>
              </a:ext>
            </a:extLst>
          </p:cNvPr>
          <p:cNvSpPr>
            <a:spLocks noGrp="1"/>
          </p:cNvSpPr>
          <p:nvPr>
            <p:ph type="title"/>
          </p:nvPr>
        </p:nvSpPr>
        <p:spPr/>
        <p:txBody>
          <a:bodyPr/>
          <a:lstStyle/>
          <a:p>
            <a:r>
              <a:rPr lang="en-IN" sz="2000" dirty="0"/>
              <a:t>RNN: </a:t>
            </a:r>
            <a:r>
              <a:rPr lang="en-US" sz="2000" dirty="0"/>
              <a:t>Teacher Forcing</a:t>
            </a:r>
            <a:endParaRPr lang="en-IN" sz="2000" dirty="0"/>
          </a:p>
        </p:txBody>
      </p:sp>
      <p:sp>
        <p:nvSpPr>
          <p:cNvPr id="3" name="Content Placeholder 2">
            <a:extLst>
              <a:ext uri="{FF2B5EF4-FFF2-40B4-BE49-F238E27FC236}">
                <a16:creationId xmlns:a16="http://schemas.microsoft.com/office/drawing/2014/main" id="{0FC16F9E-7C8F-ED14-3AAB-54F69CA4B96A}"/>
              </a:ext>
            </a:extLst>
          </p:cNvPr>
          <p:cNvSpPr>
            <a:spLocks noGrp="1"/>
          </p:cNvSpPr>
          <p:nvPr>
            <p:ph idx="1"/>
          </p:nvPr>
        </p:nvSpPr>
        <p:spPr/>
        <p:txBody>
          <a:bodyPr/>
          <a:lstStyle/>
          <a:p>
            <a:pPr marL="0" indent="0" algn="just">
              <a:buNone/>
            </a:pPr>
            <a:r>
              <a:rPr lang="en-US" sz="1800" dirty="0"/>
              <a:t>What is Teacher Forcing?</a:t>
            </a:r>
          </a:p>
          <a:p>
            <a:pPr marL="0" indent="0" algn="just">
              <a:buNone/>
            </a:pPr>
            <a:r>
              <a:rPr lang="en-US" sz="1800" dirty="0"/>
              <a:t>Teacher forcing is a strategy for training recurrent neural networks that uses ground truth as input, instead of model output from a prior time step as an input.</a:t>
            </a:r>
          </a:p>
          <a:p>
            <a:pPr marL="0" indent="0" algn="just">
              <a:buNone/>
            </a:pPr>
            <a:r>
              <a:rPr lang="en-US" sz="1800" dirty="0"/>
              <a:t>The approach was originally described and developed as an alternative technique to backpropagation through time for training a recurrent neural network.</a:t>
            </a:r>
          </a:p>
          <a:p>
            <a:pPr marL="0" indent="0" algn="just">
              <a:buNone/>
            </a:pPr>
            <a:r>
              <a:rPr lang="en-US" sz="1800" dirty="0"/>
              <a:t>Teacher forcing works by using the actual or expected output from the training dataset at the current time step y(t) as input in the next time step X(t+1), rather than the output generated by the network.</a:t>
            </a:r>
            <a:endParaRPr lang="en-IN" sz="1800" dirty="0"/>
          </a:p>
        </p:txBody>
      </p:sp>
      <p:sp>
        <p:nvSpPr>
          <p:cNvPr id="4" name="Slide Number Placeholder 3">
            <a:extLst>
              <a:ext uri="{FF2B5EF4-FFF2-40B4-BE49-F238E27FC236}">
                <a16:creationId xmlns:a16="http://schemas.microsoft.com/office/drawing/2014/main" id="{C88C5A01-172F-D02F-4594-8753095759C9}"/>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13491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796B-6FEA-D358-1966-0229B0373CEA}"/>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D40597EA-09CF-0D4B-D917-7E2E28949C9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D0CD186-D12C-9B49-EA72-F15F96F67D6D}"/>
              </a:ext>
            </a:extLst>
          </p:cNvPr>
          <p:cNvSpPr>
            <a:spLocks noGrp="1"/>
          </p:cNvSpPr>
          <p:nvPr>
            <p:ph type="sldNum" sz="quarter" idx="12"/>
          </p:nvPr>
        </p:nvSpPr>
        <p:spPr/>
        <p:txBody>
          <a:bodyPr/>
          <a:lstStyle/>
          <a:p>
            <a:fld id="{BB2CE0DE-867F-455F-B20B-96D381B4AB71}" type="slidenum">
              <a:rPr lang="en-US" smtClean="0"/>
              <a:t>25</a:t>
            </a:fld>
            <a:endParaRPr lang="en-US"/>
          </a:p>
        </p:txBody>
      </p:sp>
      <p:sp>
        <p:nvSpPr>
          <p:cNvPr id="5" name="TextBox 4">
            <a:extLst>
              <a:ext uri="{FF2B5EF4-FFF2-40B4-BE49-F238E27FC236}">
                <a16:creationId xmlns:a16="http://schemas.microsoft.com/office/drawing/2014/main" id="{4026E36A-5D3F-2D79-0B6C-5C899C5F5567}"/>
              </a:ext>
            </a:extLst>
          </p:cNvPr>
          <p:cNvSpPr txBox="1"/>
          <p:nvPr/>
        </p:nvSpPr>
        <p:spPr>
          <a:xfrm>
            <a:off x="457200" y="6553200"/>
            <a:ext cx="5490606" cy="230832"/>
          </a:xfrm>
          <a:prstGeom prst="rect">
            <a:avLst/>
          </a:prstGeom>
          <a:noFill/>
        </p:spPr>
        <p:txBody>
          <a:bodyPr wrap="none" rtlCol="0">
            <a:spAutoFit/>
          </a:bodyPr>
          <a:lstStyle/>
          <a:p>
            <a:r>
              <a:rPr lang="en-IN" sz="900" dirty="0"/>
              <a:t>Ref.: https://machinelearningmastery.com/teacher-forcing-for-recurrent-neural-networks/</a:t>
            </a:r>
          </a:p>
        </p:txBody>
      </p:sp>
      <p:pic>
        <p:nvPicPr>
          <p:cNvPr id="7" name="Picture 6">
            <a:extLst>
              <a:ext uri="{FF2B5EF4-FFF2-40B4-BE49-F238E27FC236}">
                <a16:creationId xmlns:a16="http://schemas.microsoft.com/office/drawing/2014/main" id="{0CAD4530-D4A5-D6DC-E693-C17032052AF3}"/>
              </a:ext>
            </a:extLst>
          </p:cNvPr>
          <p:cNvPicPr>
            <a:picLocks noChangeAspect="1"/>
          </p:cNvPicPr>
          <p:nvPr/>
        </p:nvPicPr>
        <p:blipFill>
          <a:blip r:embed="rId2"/>
          <a:stretch>
            <a:fillRect/>
          </a:stretch>
        </p:blipFill>
        <p:spPr>
          <a:xfrm>
            <a:off x="533400" y="1066801"/>
            <a:ext cx="8914643" cy="5515414"/>
          </a:xfrm>
          <a:prstGeom prst="rect">
            <a:avLst/>
          </a:prstGeom>
        </p:spPr>
      </p:pic>
    </p:spTree>
    <p:extLst>
      <p:ext uri="{BB962C8B-B14F-4D97-AF65-F5344CB8AC3E}">
        <p14:creationId xmlns:p14="http://schemas.microsoft.com/office/powerpoint/2010/main" val="1528757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24C3-5A45-C9B7-D80A-CC1BFD227DFF}"/>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761EFC1C-6B85-C4FD-DDE4-5E33E3115CD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134EAE1-ADBA-1A45-1679-3D2BEB7AF7E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61D7EBF6-27CE-22F7-CC6A-C7B7E976CCEC}"/>
              </a:ext>
            </a:extLst>
          </p:cNvPr>
          <p:cNvPicPr>
            <a:picLocks noChangeAspect="1"/>
          </p:cNvPicPr>
          <p:nvPr/>
        </p:nvPicPr>
        <p:blipFill>
          <a:blip r:embed="rId2"/>
          <a:stretch>
            <a:fillRect/>
          </a:stretch>
        </p:blipFill>
        <p:spPr>
          <a:xfrm>
            <a:off x="609600" y="1012284"/>
            <a:ext cx="8687502" cy="5528410"/>
          </a:xfrm>
          <a:prstGeom prst="rect">
            <a:avLst/>
          </a:prstGeom>
        </p:spPr>
      </p:pic>
    </p:spTree>
    <p:extLst>
      <p:ext uri="{BB962C8B-B14F-4D97-AF65-F5344CB8AC3E}">
        <p14:creationId xmlns:p14="http://schemas.microsoft.com/office/powerpoint/2010/main" val="324638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C600-64D8-7626-CA15-7361C7DBBCD7}"/>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5B0B27A7-02BE-55B1-842D-70887E8DBFD2}"/>
              </a:ext>
            </a:extLst>
          </p:cNvPr>
          <p:cNvSpPr>
            <a:spLocks noGrp="1"/>
          </p:cNvSpPr>
          <p:nvPr>
            <p:ph sz="half" idx="1"/>
          </p:nvPr>
        </p:nvSpPr>
        <p:spPr>
          <a:xfrm>
            <a:off x="755651" y="1066800"/>
            <a:ext cx="5232400" cy="4953000"/>
          </a:xfrm>
        </p:spPr>
        <p:txBody>
          <a:bodyPr/>
          <a:lstStyle/>
          <a:p>
            <a:pPr marL="0" indent="0">
              <a:buNone/>
            </a:pPr>
            <a:r>
              <a:rPr lang="en-IN" sz="1600" dirty="0"/>
              <a:t>Another example</a:t>
            </a:r>
            <a:endParaRPr lang="en-US" sz="1600" dirty="0"/>
          </a:p>
          <a:p>
            <a:r>
              <a:rPr lang="en-US" sz="1600" dirty="0"/>
              <a:t>Let us assume we want to train an image captioning model, and the ground truth caption for the above image is “Two people reading a book”. Our model makes a mistake in predicting the 2nd word and we have “Two” and “birds” for the 1st and 2nd prediction respectively.</a:t>
            </a:r>
          </a:p>
          <a:p>
            <a:r>
              <a:rPr lang="en-US" sz="1600" dirty="0"/>
              <a:t>Without </a:t>
            </a:r>
            <a:r>
              <a:rPr lang="en-US" sz="1600" i="1" dirty="0"/>
              <a:t>Teacher Forcing</a:t>
            </a:r>
            <a:r>
              <a:rPr lang="en-US" sz="1600" dirty="0"/>
              <a:t>, we would feed “birds” back to our RNN to predict the 3rd word. Let’s say the 3rd prediction is “flying”. Even though it makes sense for our model to predict “flying” given the input is “birds”, it is different from the ground truth.</a:t>
            </a:r>
          </a:p>
          <a:p>
            <a:r>
              <a:rPr lang="en-US" sz="1600" dirty="0"/>
              <a:t>On the other hand, if we use </a:t>
            </a:r>
            <a:r>
              <a:rPr lang="en-US" sz="1600" i="1" dirty="0"/>
              <a:t>Teacher Forcing</a:t>
            </a:r>
            <a:r>
              <a:rPr lang="en-US" sz="1600" dirty="0"/>
              <a:t>, we would feed “people” to our RNN for the 3rd prediction, after computing and recording the loss for the 2nd prediction.</a:t>
            </a:r>
          </a:p>
          <a:p>
            <a:pPr marL="0" indent="0">
              <a:buNone/>
            </a:pPr>
            <a:endParaRPr lang="en-IN" sz="1600" dirty="0"/>
          </a:p>
        </p:txBody>
      </p:sp>
      <p:sp>
        <p:nvSpPr>
          <p:cNvPr id="4" name="Slide Number Placeholder 3">
            <a:extLst>
              <a:ext uri="{FF2B5EF4-FFF2-40B4-BE49-F238E27FC236}">
                <a16:creationId xmlns:a16="http://schemas.microsoft.com/office/drawing/2014/main" id="{E2AC1B59-AADD-E16E-48EB-BCE2B74E5A4D}"/>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5" name="Picture 4">
            <a:extLst>
              <a:ext uri="{FF2B5EF4-FFF2-40B4-BE49-F238E27FC236}">
                <a16:creationId xmlns:a16="http://schemas.microsoft.com/office/drawing/2014/main" id="{B9095DAC-767C-47C3-AA26-1555BA31E51E}"/>
              </a:ext>
            </a:extLst>
          </p:cNvPr>
          <p:cNvPicPr>
            <a:picLocks noChangeAspect="1"/>
          </p:cNvPicPr>
          <p:nvPr/>
        </p:nvPicPr>
        <p:blipFill>
          <a:blip r:embed="rId3"/>
          <a:stretch>
            <a:fillRect/>
          </a:stretch>
        </p:blipFill>
        <p:spPr>
          <a:xfrm>
            <a:off x="5562600" y="0"/>
            <a:ext cx="2003894" cy="1333500"/>
          </a:xfrm>
          <a:prstGeom prst="rect">
            <a:avLst/>
          </a:prstGeom>
        </p:spPr>
      </p:pic>
      <p:pic>
        <p:nvPicPr>
          <p:cNvPr id="7" name="Picture 6">
            <a:extLst>
              <a:ext uri="{FF2B5EF4-FFF2-40B4-BE49-F238E27FC236}">
                <a16:creationId xmlns:a16="http://schemas.microsoft.com/office/drawing/2014/main" id="{0BF8E693-6F9E-FE04-A03F-BCECA0357230}"/>
              </a:ext>
            </a:extLst>
          </p:cNvPr>
          <p:cNvPicPr>
            <a:picLocks noChangeAspect="1"/>
          </p:cNvPicPr>
          <p:nvPr/>
        </p:nvPicPr>
        <p:blipFill>
          <a:blip r:embed="rId4"/>
          <a:stretch>
            <a:fillRect/>
          </a:stretch>
        </p:blipFill>
        <p:spPr>
          <a:xfrm>
            <a:off x="7899372" y="152400"/>
            <a:ext cx="4140228" cy="5943600"/>
          </a:xfrm>
          <a:prstGeom prst="rect">
            <a:avLst/>
          </a:prstGeom>
        </p:spPr>
      </p:pic>
    </p:spTree>
    <p:extLst>
      <p:ext uri="{BB962C8B-B14F-4D97-AF65-F5344CB8AC3E}">
        <p14:creationId xmlns:p14="http://schemas.microsoft.com/office/powerpoint/2010/main" val="86446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D6EC54-6097-6D5D-397F-318A92A65B38}"/>
              </a:ext>
            </a:extLst>
          </p:cNvPr>
          <p:cNvSpPr>
            <a:spLocks noGrp="1"/>
          </p:cNvSpPr>
          <p:nvPr>
            <p:ph type="title"/>
          </p:nvPr>
        </p:nvSpPr>
        <p:spPr/>
        <p:txBody>
          <a:bodyPr/>
          <a:lstStyle/>
          <a:p>
            <a:r>
              <a:rPr lang="en-IN" sz="1800" dirty="0"/>
              <a:t>RNN: </a:t>
            </a:r>
            <a:r>
              <a:rPr lang="en-US" sz="1800" dirty="0"/>
              <a:t>Teacher Forcing</a:t>
            </a:r>
            <a:endParaRPr lang="en-IN" sz="1800" dirty="0"/>
          </a:p>
        </p:txBody>
      </p:sp>
      <p:sp>
        <p:nvSpPr>
          <p:cNvPr id="8" name="Content Placeholder 7">
            <a:extLst>
              <a:ext uri="{FF2B5EF4-FFF2-40B4-BE49-F238E27FC236}">
                <a16:creationId xmlns:a16="http://schemas.microsoft.com/office/drawing/2014/main" id="{2A1CC594-1CAF-DB92-BE2A-778E68214DB2}"/>
              </a:ext>
            </a:extLst>
          </p:cNvPr>
          <p:cNvSpPr>
            <a:spLocks noGrp="1"/>
          </p:cNvSpPr>
          <p:nvPr>
            <p:ph sz="half" idx="1"/>
          </p:nvPr>
        </p:nvSpPr>
        <p:spPr>
          <a:xfrm>
            <a:off x="755651" y="1066800"/>
            <a:ext cx="5232400" cy="4953000"/>
          </a:xfrm>
        </p:spPr>
        <p:txBody>
          <a:bodyPr/>
          <a:lstStyle/>
          <a:p>
            <a:pPr marL="0" indent="0">
              <a:buNone/>
            </a:pPr>
            <a:r>
              <a:rPr lang="en-US" sz="1800" dirty="0"/>
              <a:t>Teacher forcing is a training technique that is applicable to RNNs that have connections from their output to their hidden states at the next time step. </a:t>
            </a:r>
          </a:p>
          <a:p>
            <a:pPr marL="0" indent="0">
              <a:buNone/>
            </a:pPr>
            <a:r>
              <a:rPr lang="en-US" sz="1800" dirty="0"/>
              <a:t>(Left)At train time, we feed the correct </a:t>
            </a:r>
            <a:r>
              <a:rPr lang="en-US" sz="1800" dirty="0" err="1"/>
              <a:t>outputy</a:t>
            </a:r>
            <a:r>
              <a:rPr lang="en-US" sz="1800" dirty="0"/>
              <a:t> (t) drawn from the train set as input to h(t+1) . </a:t>
            </a:r>
          </a:p>
          <a:p>
            <a:pPr marL="0" indent="0">
              <a:buNone/>
            </a:pPr>
            <a:r>
              <a:rPr lang="en-US" sz="1800" dirty="0"/>
              <a:t>(Right)When the model is deployed, the true output is generally not known. In this case, we approximate the correct output y(t) with the model’s output o(t) , and feed the output back into the model.</a:t>
            </a:r>
            <a:endParaRPr lang="en-IN" sz="1800" dirty="0"/>
          </a:p>
        </p:txBody>
      </p:sp>
      <p:sp>
        <p:nvSpPr>
          <p:cNvPr id="9" name="Content Placeholder 8">
            <a:extLst>
              <a:ext uri="{FF2B5EF4-FFF2-40B4-BE49-F238E27FC236}">
                <a16:creationId xmlns:a16="http://schemas.microsoft.com/office/drawing/2014/main" id="{D3D84414-D470-E686-8375-408FF370BA71}"/>
              </a:ext>
            </a:extLst>
          </p:cNvPr>
          <p:cNvSpPr>
            <a:spLocks noGrp="1"/>
          </p:cNvSpPr>
          <p:nvPr>
            <p:ph sz="half" idx="2"/>
          </p:nvPr>
        </p:nvSpPr>
        <p:spPr/>
        <p:txBody>
          <a:bodyPr/>
          <a:lstStyle/>
          <a:p>
            <a:endParaRPr lang="en-IN" dirty="0"/>
          </a:p>
        </p:txBody>
      </p:sp>
      <p:sp>
        <p:nvSpPr>
          <p:cNvPr id="4" name="Slide Number Placeholder 3">
            <a:extLst>
              <a:ext uri="{FF2B5EF4-FFF2-40B4-BE49-F238E27FC236}">
                <a16:creationId xmlns:a16="http://schemas.microsoft.com/office/drawing/2014/main" id="{DC6CB7E3-D49F-7C66-EAEC-4961EAFBE34A}"/>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1261CAAD-9143-7009-748B-7D560B6B49F9}"/>
              </a:ext>
            </a:extLst>
          </p:cNvPr>
          <p:cNvPicPr>
            <a:picLocks noChangeAspect="1"/>
          </p:cNvPicPr>
          <p:nvPr/>
        </p:nvPicPr>
        <p:blipFill>
          <a:blip r:embed="rId3"/>
          <a:stretch>
            <a:fillRect/>
          </a:stretch>
        </p:blipFill>
        <p:spPr>
          <a:xfrm>
            <a:off x="6324600" y="1066800"/>
            <a:ext cx="4164420" cy="4096485"/>
          </a:xfrm>
          <a:prstGeom prst="rect">
            <a:avLst/>
          </a:prstGeom>
        </p:spPr>
      </p:pic>
      <p:sp>
        <p:nvSpPr>
          <p:cNvPr id="10" name="TextBox 9">
            <a:extLst>
              <a:ext uri="{FF2B5EF4-FFF2-40B4-BE49-F238E27FC236}">
                <a16:creationId xmlns:a16="http://schemas.microsoft.com/office/drawing/2014/main" id="{439455CA-3489-B536-F3A0-8263BEA55BB5}"/>
              </a:ext>
            </a:extLst>
          </p:cNvPr>
          <p:cNvSpPr txBox="1"/>
          <p:nvPr/>
        </p:nvSpPr>
        <p:spPr>
          <a:xfrm>
            <a:off x="6390794" y="5315685"/>
            <a:ext cx="4075924" cy="369332"/>
          </a:xfrm>
          <a:prstGeom prst="rect">
            <a:avLst/>
          </a:prstGeom>
          <a:noFill/>
        </p:spPr>
        <p:txBody>
          <a:bodyPr wrap="none" rtlCol="0">
            <a:spAutoFit/>
          </a:bodyPr>
          <a:lstStyle/>
          <a:p>
            <a:r>
              <a:rPr lang="en-IN" dirty="0"/>
              <a:t>Fig. Illustration of teacher forcing</a:t>
            </a:r>
          </a:p>
        </p:txBody>
      </p:sp>
    </p:spTree>
    <p:extLst>
      <p:ext uri="{BB962C8B-B14F-4D97-AF65-F5344CB8AC3E}">
        <p14:creationId xmlns:p14="http://schemas.microsoft.com/office/powerpoint/2010/main" val="31996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BF57E4-EC1B-640C-D18D-C9E7F3A7BAFE}"/>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7" name="Content Placeholder 6">
            <a:extLst>
              <a:ext uri="{FF2B5EF4-FFF2-40B4-BE49-F238E27FC236}">
                <a16:creationId xmlns:a16="http://schemas.microsoft.com/office/drawing/2014/main" id="{999D87D8-B562-A724-30A5-F6BD6F70898D}"/>
              </a:ext>
            </a:extLst>
          </p:cNvPr>
          <p:cNvSpPr>
            <a:spLocks noGrp="1"/>
          </p:cNvSpPr>
          <p:nvPr>
            <p:ph idx="1"/>
          </p:nvPr>
        </p:nvSpPr>
        <p:spPr/>
        <p:txBody>
          <a:bodyPr/>
          <a:lstStyle/>
          <a:p>
            <a:pPr marL="0" indent="0" algn="just">
              <a:buNone/>
            </a:pPr>
            <a:r>
              <a:rPr lang="en-US" sz="1600" dirty="0"/>
              <a:t>Teacher forcing is a procedure that emerges from the maximum likelihood criterion, in which during training the model receives the ground truth output y(t) as input at time t + 1. We can see this by examining a sequence with two time steps. The conditional maximum </a:t>
            </a:r>
            <a:r>
              <a:rPr lang="en-IN" sz="1600" dirty="0"/>
              <a:t>likelihood criterion is</a:t>
            </a:r>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r>
              <a:rPr lang="en-US" sz="1600" dirty="0"/>
              <a:t>In this example, we see that at time t = 2, the model is trained to maximize the conditional probability of y(2) given both the x sequence so far and the previous y value from the training set. Maximum likelihood thus specifies that during training, rather than feeding the model’s own output back into itself, these connections should be fed with the target values specifying what the correct output should be. This is illustrated in figure </a:t>
            </a:r>
            <a:endParaRPr lang="en-IN" sz="1600" dirty="0"/>
          </a:p>
        </p:txBody>
      </p:sp>
      <p:sp>
        <p:nvSpPr>
          <p:cNvPr id="5" name="Slide Number Placeholder 4">
            <a:extLst>
              <a:ext uri="{FF2B5EF4-FFF2-40B4-BE49-F238E27FC236}">
                <a16:creationId xmlns:a16="http://schemas.microsoft.com/office/drawing/2014/main" id="{192DF384-2FBC-BD34-A466-CD4B12848A27}"/>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9" name="Picture 8">
            <a:extLst>
              <a:ext uri="{FF2B5EF4-FFF2-40B4-BE49-F238E27FC236}">
                <a16:creationId xmlns:a16="http://schemas.microsoft.com/office/drawing/2014/main" id="{BB53CBE9-26B9-56DF-9420-0F6F4FF90D84}"/>
              </a:ext>
            </a:extLst>
          </p:cNvPr>
          <p:cNvPicPr>
            <a:picLocks noChangeAspect="1"/>
          </p:cNvPicPr>
          <p:nvPr/>
        </p:nvPicPr>
        <p:blipFill>
          <a:blip r:embed="rId2"/>
          <a:stretch>
            <a:fillRect/>
          </a:stretch>
        </p:blipFill>
        <p:spPr>
          <a:xfrm>
            <a:off x="2382147" y="2240068"/>
            <a:ext cx="6335009" cy="1190791"/>
          </a:xfrm>
          <a:prstGeom prst="rect">
            <a:avLst/>
          </a:prstGeom>
        </p:spPr>
      </p:pic>
      <p:pic>
        <p:nvPicPr>
          <p:cNvPr id="11" name="Picture 10">
            <a:extLst>
              <a:ext uri="{FF2B5EF4-FFF2-40B4-BE49-F238E27FC236}">
                <a16:creationId xmlns:a16="http://schemas.microsoft.com/office/drawing/2014/main" id="{10A8CB7D-3FCB-D499-2777-1EADF17DB94D}"/>
              </a:ext>
            </a:extLst>
          </p:cNvPr>
          <p:cNvPicPr>
            <a:picLocks noChangeAspect="1"/>
          </p:cNvPicPr>
          <p:nvPr/>
        </p:nvPicPr>
        <p:blipFill>
          <a:blip r:embed="rId3"/>
          <a:stretch>
            <a:fillRect/>
          </a:stretch>
        </p:blipFill>
        <p:spPr>
          <a:xfrm>
            <a:off x="6089651" y="4602733"/>
            <a:ext cx="2444749" cy="2255267"/>
          </a:xfrm>
          <a:prstGeom prst="rect">
            <a:avLst/>
          </a:prstGeom>
        </p:spPr>
      </p:pic>
    </p:spTree>
    <p:extLst>
      <p:ext uri="{BB962C8B-B14F-4D97-AF65-F5344CB8AC3E}">
        <p14:creationId xmlns:p14="http://schemas.microsoft.com/office/powerpoint/2010/main" val="3464021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E913-266A-E843-AC30-5774CB893D0A}"/>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377C4C31-F72C-E8CC-F366-844EAC39A2FB}"/>
              </a:ext>
            </a:extLst>
          </p:cNvPr>
          <p:cNvSpPr>
            <a:spLocks noGrp="1"/>
          </p:cNvSpPr>
          <p:nvPr>
            <p:ph idx="1"/>
          </p:nvPr>
        </p:nvSpPr>
        <p:spPr/>
        <p:txBody>
          <a:bodyPr/>
          <a:lstStyle/>
          <a:p>
            <a:pPr marL="0" indent="0">
              <a:buNone/>
            </a:pPr>
            <a:r>
              <a:rPr lang="en-US" sz="2000" b="1" i="1" dirty="0"/>
              <a:t>Advantages of Teacher-forcing method:</a:t>
            </a:r>
            <a:endParaRPr lang="en-US" sz="2000" dirty="0"/>
          </a:p>
          <a:p>
            <a:pPr marL="0" indent="0">
              <a:buNone/>
            </a:pPr>
            <a:r>
              <a:rPr lang="en-US" sz="2000" dirty="0"/>
              <a:t>	faster convergence of model towards global optima</a:t>
            </a:r>
          </a:p>
          <a:p>
            <a:pPr marL="0" indent="0">
              <a:buNone/>
            </a:pPr>
            <a:r>
              <a:rPr lang="en-US" sz="2000" dirty="0"/>
              <a:t>	stable model training</a:t>
            </a:r>
          </a:p>
          <a:p>
            <a:pPr marL="0" indent="0">
              <a:buNone/>
            </a:pPr>
            <a:r>
              <a:rPr lang="en-US" sz="2000" dirty="0"/>
              <a:t>	lesser training time is required for model training</a:t>
            </a:r>
          </a:p>
          <a:p>
            <a:pPr marL="0" indent="0">
              <a:buNone/>
            </a:pPr>
            <a:endParaRPr lang="en-US" sz="2000" b="1" i="1" dirty="0"/>
          </a:p>
          <a:p>
            <a:pPr marL="0" indent="0">
              <a:buNone/>
            </a:pPr>
            <a:endParaRPr lang="en-US" sz="2000" b="1" i="1" dirty="0"/>
          </a:p>
          <a:p>
            <a:pPr marL="0" indent="0">
              <a:buNone/>
            </a:pPr>
            <a:r>
              <a:rPr lang="en-US" sz="2000" b="1" i="1" dirty="0"/>
              <a:t>Disadvantage of the teacher forcing method:</a:t>
            </a:r>
            <a:endParaRPr lang="en-US" sz="2000" dirty="0"/>
          </a:p>
          <a:p>
            <a:pPr marL="0" indent="0">
              <a:buNone/>
            </a:pPr>
            <a:r>
              <a:rPr lang="en-US" sz="1600" dirty="0"/>
              <a:t>During the training of the model with the teacher forcing method, we use ground-truth outputs from the dataset as input sequence but during the inference time, we won’t be having ground-truth outputs. Instead, the output generated at the previous time-step is passed as input at the current time-step. As separate approaches are used during the model training and inference part which may lead to model poor performance and instability.</a:t>
            </a:r>
          </a:p>
        </p:txBody>
      </p:sp>
      <p:sp>
        <p:nvSpPr>
          <p:cNvPr id="4" name="Slide Number Placeholder 3">
            <a:extLst>
              <a:ext uri="{FF2B5EF4-FFF2-40B4-BE49-F238E27FC236}">
                <a16:creationId xmlns:a16="http://schemas.microsoft.com/office/drawing/2014/main" id="{9172C71F-4B00-77A7-4EFA-02746595E26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5B6F360C-660E-CCFD-A567-AFB77D1ED29D}"/>
              </a:ext>
            </a:extLst>
          </p:cNvPr>
          <p:cNvPicPr>
            <a:picLocks noChangeAspect="1"/>
          </p:cNvPicPr>
          <p:nvPr/>
        </p:nvPicPr>
        <p:blipFill>
          <a:blip r:embed="rId2"/>
          <a:stretch>
            <a:fillRect/>
          </a:stretch>
        </p:blipFill>
        <p:spPr>
          <a:xfrm>
            <a:off x="8610600" y="101212"/>
            <a:ext cx="3408402" cy="3352800"/>
          </a:xfrm>
          <a:prstGeom prst="rect">
            <a:avLst/>
          </a:prstGeom>
        </p:spPr>
      </p:pic>
    </p:spTree>
    <p:extLst>
      <p:ext uri="{BB962C8B-B14F-4D97-AF65-F5344CB8AC3E}">
        <p14:creationId xmlns:p14="http://schemas.microsoft.com/office/powerpoint/2010/main" val="347524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8D6B-C7F7-E6E0-155B-335CE4F228EB}"/>
              </a:ext>
            </a:extLst>
          </p:cNvPr>
          <p:cNvSpPr>
            <a:spLocks noGrp="1"/>
          </p:cNvSpPr>
          <p:nvPr>
            <p:ph type="title"/>
          </p:nvPr>
        </p:nvSpPr>
        <p:spPr/>
        <p:txBody>
          <a:bodyPr/>
          <a:lstStyle/>
          <a:p>
            <a:r>
              <a:rPr lang="en-IN" sz="2400" dirty="0"/>
              <a:t>RNN: </a:t>
            </a:r>
            <a:r>
              <a:rPr lang="en-US" sz="2400" dirty="0"/>
              <a:t>Computing the Gradient in a Recurrent Neural Network</a:t>
            </a:r>
            <a:endParaRPr lang="en-IN" sz="2400" dirty="0"/>
          </a:p>
        </p:txBody>
      </p:sp>
      <p:sp>
        <p:nvSpPr>
          <p:cNvPr id="3" name="Content Placeholder 2">
            <a:extLst>
              <a:ext uri="{FF2B5EF4-FFF2-40B4-BE49-F238E27FC236}">
                <a16:creationId xmlns:a16="http://schemas.microsoft.com/office/drawing/2014/main" id="{52A8818C-24A8-B776-4198-B7B2035722BA}"/>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A74DC765-DEF3-2A20-0D5B-122B33E40DA4}"/>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6" name="Picture 5">
            <a:extLst>
              <a:ext uri="{FF2B5EF4-FFF2-40B4-BE49-F238E27FC236}">
                <a16:creationId xmlns:a16="http://schemas.microsoft.com/office/drawing/2014/main" id="{9763ECAC-449D-8B6B-0247-80BC9A42FE0A}"/>
              </a:ext>
            </a:extLst>
          </p:cNvPr>
          <p:cNvPicPr>
            <a:picLocks noChangeAspect="1"/>
          </p:cNvPicPr>
          <p:nvPr/>
        </p:nvPicPr>
        <p:blipFill>
          <a:blip r:embed="rId2"/>
          <a:stretch>
            <a:fillRect/>
          </a:stretch>
        </p:blipFill>
        <p:spPr>
          <a:xfrm>
            <a:off x="1371600" y="1524000"/>
            <a:ext cx="6573167" cy="485843"/>
          </a:xfrm>
          <a:prstGeom prst="rect">
            <a:avLst/>
          </a:prstGeom>
        </p:spPr>
      </p:pic>
      <p:pic>
        <p:nvPicPr>
          <p:cNvPr id="8" name="Picture 7">
            <a:extLst>
              <a:ext uri="{FF2B5EF4-FFF2-40B4-BE49-F238E27FC236}">
                <a16:creationId xmlns:a16="http://schemas.microsoft.com/office/drawing/2014/main" id="{84ADAAAC-B652-6A19-153D-2AE29259D0D8}"/>
              </a:ext>
            </a:extLst>
          </p:cNvPr>
          <p:cNvPicPr>
            <a:picLocks noChangeAspect="1"/>
          </p:cNvPicPr>
          <p:nvPr/>
        </p:nvPicPr>
        <p:blipFill>
          <a:blip r:embed="rId3"/>
          <a:stretch>
            <a:fillRect/>
          </a:stretch>
        </p:blipFill>
        <p:spPr>
          <a:xfrm>
            <a:off x="1377176" y="2314643"/>
            <a:ext cx="6839905" cy="1638529"/>
          </a:xfrm>
          <a:prstGeom prst="rect">
            <a:avLst/>
          </a:prstGeom>
        </p:spPr>
      </p:pic>
    </p:spTree>
    <p:extLst>
      <p:ext uri="{BB962C8B-B14F-4D97-AF65-F5344CB8AC3E}">
        <p14:creationId xmlns:p14="http://schemas.microsoft.com/office/powerpoint/2010/main" val="425192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A1C0-0596-8E72-FAE4-B73B3BCED2E7}"/>
              </a:ext>
            </a:extLst>
          </p:cNvPr>
          <p:cNvSpPr>
            <a:spLocks noGrp="1"/>
          </p:cNvSpPr>
          <p:nvPr>
            <p:ph type="title"/>
          </p:nvPr>
        </p:nvSpPr>
        <p:spPr/>
        <p:txBody>
          <a:bodyPr/>
          <a:lstStyle/>
          <a:p>
            <a:r>
              <a:rPr lang="en-IN" sz="2400" dirty="0"/>
              <a:t>RNN: </a:t>
            </a:r>
            <a:r>
              <a:rPr lang="en-US" sz="2400" dirty="0"/>
              <a:t>Recurrent Networks as Directed Graphical Models</a:t>
            </a:r>
            <a:endParaRPr lang="en-IN" sz="2400" dirty="0"/>
          </a:p>
        </p:txBody>
      </p:sp>
      <p:sp>
        <p:nvSpPr>
          <p:cNvPr id="3" name="Content Placeholder 2">
            <a:extLst>
              <a:ext uri="{FF2B5EF4-FFF2-40B4-BE49-F238E27FC236}">
                <a16:creationId xmlns:a16="http://schemas.microsoft.com/office/drawing/2014/main" id="{0D2D5F1B-9949-5860-3E9B-96602F868B3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0EC9FBE-3102-88EC-52F4-0335A16525BE}"/>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821091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6044-790A-986C-3A50-5F7CFB00E615}"/>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31FFFAC3-23AB-D155-AD2F-409B2A09AA7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CE8DB34-6CBB-219E-95C2-F6E5E1B087A8}"/>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3244107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8AA-4843-8346-4DA8-6A8C805DD408}"/>
              </a:ext>
            </a:extLst>
          </p:cNvPr>
          <p:cNvSpPr>
            <a:spLocks noGrp="1"/>
          </p:cNvSpPr>
          <p:nvPr>
            <p:ph type="title"/>
          </p:nvPr>
        </p:nvSpPr>
        <p:spPr/>
        <p:txBody>
          <a:bodyPr/>
          <a:lstStyle/>
          <a:p>
            <a:r>
              <a:rPr lang="en-IN" sz="2800" dirty="0"/>
              <a:t>Encoder-Decoder Sequence-to-Sequence Architectures</a:t>
            </a:r>
          </a:p>
        </p:txBody>
      </p:sp>
      <p:sp>
        <p:nvSpPr>
          <p:cNvPr id="3" name="Content Placeholder 2">
            <a:extLst>
              <a:ext uri="{FF2B5EF4-FFF2-40B4-BE49-F238E27FC236}">
                <a16:creationId xmlns:a16="http://schemas.microsoft.com/office/drawing/2014/main" id="{9FCAC3BB-D62D-97A1-D9D0-215D2069EADB}"/>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6211476-B9C8-DCE5-74C6-0BD4497B508C}"/>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2744345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F799-763D-98EA-2843-E5AD9175943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F4F51AA9-17A7-3DD2-3B10-CC839CB59A8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A01B270C-9E7F-1141-FB03-8A6488BFEDEC}"/>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1613450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754D-A039-9DE3-F855-B13C28DED807}"/>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7378F7DC-1694-A778-D55C-BF72C70E6EE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5622302-36CE-6A28-A798-E8D2A228E0AD}"/>
              </a:ext>
            </a:extLst>
          </p:cNvPr>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266555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374E-E33D-4CBF-A522-82C43B3B55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6A840A-E0C3-40A9-8618-3928219B78C4}"/>
              </a:ext>
            </a:extLst>
          </p:cNvPr>
          <p:cNvSpPr>
            <a:spLocks noGrp="1"/>
          </p:cNvSpPr>
          <p:nvPr>
            <p:ph idx="1"/>
          </p:nvPr>
        </p:nvSpPr>
        <p:spPr/>
        <p:txBody>
          <a:bodyPr/>
          <a:lstStyle/>
          <a:p>
            <a:pPr marL="0" indent="0">
              <a:buNone/>
            </a:pPr>
            <a:r>
              <a:rPr lang="en-US" sz="1800" dirty="0"/>
              <a:t>Discuss the vanishing gradient in RNN and how they can be solved.</a:t>
            </a:r>
          </a:p>
          <a:p>
            <a:pPr marL="0" indent="0">
              <a:buNone/>
            </a:pPr>
            <a:r>
              <a:rPr lang="en-US" sz="1800" dirty="0"/>
              <a:t>Draw and explain the architecture of Recurrent Neural Network Architecture.</a:t>
            </a:r>
          </a:p>
          <a:p>
            <a:pPr marL="0" indent="0">
              <a:buNone/>
            </a:pPr>
            <a:r>
              <a:rPr lang="en-US" sz="1800" dirty="0"/>
              <a:t>How the Sequence to Sequence Model works?</a:t>
            </a:r>
          </a:p>
          <a:p>
            <a:pPr marL="0" indent="0">
              <a:buNone/>
            </a:pPr>
            <a:r>
              <a:rPr lang="en-US" sz="1800" dirty="0"/>
              <a:t>Differentiate between recurrent neural networks and recursive neural networks.</a:t>
            </a:r>
          </a:p>
          <a:p>
            <a:pPr marL="0" indent="0">
              <a:buNone/>
            </a:pPr>
            <a:r>
              <a:rPr lang="en-US" sz="1800" dirty="0"/>
              <a:t>What is Gradient Clipping? Why is it essential in training RNNs?</a:t>
            </a:r>
            <a:endParaRPr lang="en-IN" sz="1800" dirty="0"/>
          </a:p>
        </p:txBody>
      </p:sp>
      <p:sp>
        <p:nvSpPr>
          <p:cNvPr id="4" name="Slide Number Placeholder 3">
            <a:extLst>
              <a:ext uri="{FF2B5EF4-FFF2-40B4-BE49-F238E27FC236}">
                <a16:creationId xmlns:a16="http://schemas.microsoft.com/office/drawing/2014/main" id="{CDD5DA8A-5374-4853-9596-53420091CF20}"/>
              </a:ext>
            </a:extLst>
          </p:cNvPr>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3890632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1A58-E66F-4B73-91FE-E8BF7236AEF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6C3705D-2EE3-4726-92EA-523997618175}"/>
              </a:ext>
            </a:extLst>
          </p:cNvPr>
          <p:cNvSpPr>
            <a:spLocks noGrp="1"/>
          </p:cNvSpPr>
          <p:nvPr>
            <p:ph idx="1"/>
          </p:nvPr>
        </p:nvSpPr>
        <p:spPr/>
        <p:txBody>
          <a:bodyPr/>
          <a:lstStyle/>
          <a:p>
            <a:pPr marL="0" indent="0">
              <a:buNone/>
            </a:pPr>
            <a:endParaRPr lang="en-US" sz="1400" dirty="0"/>
          </a:p>
          <a:p>
            <a:pPr marL="0" indent="0">
              <a:buNone/>
            </a:pPr>
            <a:r>
              <a:rPr lang="en-US" sz="1400" dirty="0"/>
              <a:t>Design a recurrent neural network that can map the input sequence to an output sequence that are of different lengths. Describe the process of the mapping using the architecture and mention the limitations of using the architecture.</a:t>
            </a:r>
          </a:p>
          <a:p>
            <a:pPr marL="0" indent="0">
              <a:buNone/>
            </a:pPr>
            <a:endParaRPr lang="en-US" sz="1400" dirty="0"/>
          </a:p>
          <a:p>
            <a:pPr marL="0" indent="0">
              <a:buNone/>
            </a:pPr>
            <a:r>
              <a:rPr lang="en-US" sz="1400" dirty="0"/>
              <a:t>Discuss how the computation in most recurrent neural networks can be decomposed. Analyze how the blocks of parameters are treated as shallow transformations. How a deeper RNN can be implemented?</a:t>
            </a:r>
          </a:p>
          <a:p>
            <a:pPr marL="0" indent="0">
              <a:buNone/>
            </a:pPr>
            <a:endParaRPr lang="en-US" sz="1400" dirty="0"/>
          </a:p>
          <a:p>
            <a:pPr marL="0" indent="0">
              <a:buNone/>
            </a:pPr>
            <a:r>
              <a:rPr lang="en-US" sz="1400" dirty="0"/>
              <a:t>Examine the techniques for unfolding a computational graph of a Recursive Network. List its advantages over Recurrent Nets. Also write the variants of Recursive Net idea. </a:t>
            </a:r>
            <a:endParaRPr lang="en-IN" sz="1400" dirty="0"/>
          </a:p>
        </p:txBody>
      </p:sp>
      <p:sp>
        <p:nvSpPr>
          <p:cNvPr id="4" name="Slide Number Placeholder 3">
            <a:extLst>
              <a:ext uri="{FF2B5EF4-FFF2-40B4-BE49-F238E27FC236}">
                <a16:creationId xmlns:a16="http://schemas.microsoft.com/office/drawing/2014/main" id="{42B8572F-20DD-4666-AA98-37EC1F42AAC8}"/>
              </a:ext>
            </a:extLst>
          </p:cNvPr>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2577509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E0EFA-A9D1-45C3-98EF-57B4D39918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4D7CB1-A147-4156-9F2F-6BD6629510CC}"/>
              </a:ext>
            </a:extLst>
          </p:cNvPr>
          <p:cNvSpPr>
            <a:spLocks noGrp="1"/>
          </p:cNvSpPr>
          <p:nvPr>
            <p:ph idx="1"/>
          </p:nvPr>
        </p:nvSpPr>
        <p:spPr/>
        <p:txBody>
          <a:bodyPr/>
          <a:lstStyle/>
          <a:p>
            <a:pPr marL="0" indent="0">
              <a:buNone/>
            </a:pPr>
            <a:r>
              <a:rPr lang="en-US" sz="14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400" dirty="0"/>
          </a:p>
          <a:p>
            <a:pPr marL="0" indent="0">
              <a:buNone/>
            </a:pPr>
            <a:r>
              <a:rPr lang="en-US" sz="1400" dirty="0"/>
              <a:t>Any model representing a variable P (y; θ) can be reinterpreted as a model representing a conditional distribution P (</a:t>
            </a:r>
            <a:r>
              <a:rPr lang="en-US" sz="1400" dirty="0" err="1"/>
              <a:t>y|ω</a:t>
            </a:r>
            <a:r>
              <a:rPr lang="en-US" sz="1400" dirty="0"/>
              <a:t>) with ω = θ. We can extend such a model to represent a distribution P(y | x) by using the same P(y | ω) as before, Design the different types of RNNs that generates the y sequence by considering extra input.</a:t>
            </a:r>
          </a:p>
          <a:p>
            <a:pPr marL="0" indent="0">
              <a:buNone/>
            </a:pPr>
            <a:endParaRPr lang="en-US" sz="1400" dirty="0"/>
          </a:p>
          <a:p>
            <a:pPr marL="0" indent="0">
              <a:buNone/>
            </a:pPr>
            <a:r>
              <a:rPr lang="en-US" sz="1400" dirty="0"/>
              <a:t>Design the gradient term for the output o(t) and hidden layer h(t) using the Back Propagation through time (BPTT)</a:t>
            </a:r>
          </a:p>
          <a:p>
            <a:pPr marL="0" indent="0">
              <a:buNone/>
            </a:pPr>
            <a:r>
              <a:rPr lang="en-US" sz="1400" dirty="0"/>
              <a:t>algorithm in the Recurrent Neural Network. </a:t>
            </a:r>
          </a:p>
          <a:p>
            <a:pPr marL="0" indent="0">
              <a:buNone/>
            </a:pPr>
            <a:endParaRPr lang="en-US" sz="1400" dirty="0"/>
          </a:p>
          <a:p>
            <a:pPr marL="0" indent="0">
              <a:buNone/>
            </a:pPr>
            <a:r>
              <a:rPr lang="en-US" sz="1400" dirty="0" err="1"/>
              <a:t>i</a:t>
            </a:r>
            <a:r>
              <a:rPr lang="en-US" sz="1400" dirty="0"/>
              <a:t>) Obtain the gradients on the parameters bias vectors b and c, weight matrix U (input -to -hidden),V (hidden- to- output), W (hidden-to-hidden) of the computational graph.</a:t>
            </a:r>
          </a:p>
          <a:p>
            <a:pPr marL="0" indent="0">
              <a:buNone/>
            </a:pPr>
            <a:r>
              <a:rPr lang="en-US" sz="1400" dirty="0"/>
              <a:t>ii) Design an encoder- decoder sequence architecture that can map the input sequence to an output sequence that are of different lengths. Also describe the process of the mapping using the architecture.</a:t>
            </a:r>
            <a:endParaRPr lang="en-IN" sz="1400" dirty="0"/>
          </a:p>
        </p:txBody>
      </p:sp>
      <p:sp>
        <p:nvSpPr>
          <p:cNvPr id="4" name="Slide Number Placeholder 3">
            <a:extLst>
              <a:ext uri="{FF2B5EF4-FFF2-40B4-BE49-F238E27FC236}">
                <a16:creationId xmlns:a16="http://schemas.microsoft.com/office/drawing/2014/main" id="{8C427626-EB99-4E11-BA8C-D9B53A2E92FA}"/>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509427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E97F-57C6-47B6-A211-4B6A0B9A6E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CB9A0D-852A-4E77-9D64-CCA47324F158}"/>
              </a:ext>
            </a:extLst>
          </p:cNvPr>
          <p:cNvSpPr>
            <a:spLocks noGrp="1"/>
          </p:cNvSpPr>
          <p:nvPr>
            <p:ph idx="1"/>
          </p:nvPr>
        </p:nvSpPr>
        <p:spPr/>
        <p:txBody>
          <a:bodyPr/>
          <a:lstStyle/>
          <a:p>
            <a:pPr marL="0" indent="0">
              <a:buNone/>
            </a:pPr>
            <a:r>
              <a:rPr lang="en-US" sz="1600" dirty="0"/>
              <a:t>Explain the need for recursive models in NLP.</a:t>
            </a:r>
          </a:p>
          <a:p>
            <a:pPr marL="0" indent="0">
              <a:buNone/>
            </a:pPr>
            <a:endParaRPr lang="en-US" sz="1600" dirty="0"/>
          </a:p>
          <a:p>
            <a:pPr marL="0" indent="0">
              <a:buNone/>
            </a:pPr>
            <a:r>
              <a:rPr lang="en-US" sz="1600" dirty="0"/>
              <a:t>Design an encoder- decoder sequence architecture that can map the input sequence to an output sequence that are of different lengths. Also describe the process of the mapping using the</a:t>
            </a:r>
          </a:p>
          <a:p>
            <a:pPr marL="0" indent="0">
              <a:buNone/>
            </a:pPr>
            <a:r>
              <a:rPr lang="en-US" sz="1600" dirty="0"/>
              <a:t>architecture.</a:t>
            </a:r>
          </a:p>
          <a:p>
            <a:pPr marL="0" indent="0">
              <a:buNone/>
            </a:pPr>
            <a:endParaRPr lang="en-US" sz="1600" dirty="0"/>
          </a:p>
          <a:p>
            <a:pPr marL="0" indent="0">
              <a:buNone/>
            </a:pPr>
            <a:r>
              <a:rPr lang="en-US" sz="1600" dirty="0"/>
              <a:t>Explain the contribution of the process of unfolding the recurrence in the computational graph.</a:t>
            </a:r>
          </a:p>
          <a:p>
            <a:pPr marL="0" indent="0">
              <a:buNone/>
            </a:pPr>
            <a:endParaRPr lang="en-US" sz="1600" dirty="0"/>
          </a:p>
          <a:p>
            <a:pPr marL="0" indent="0">
              <a:buNone/>
            </a:pPr>
            <a:r>
              <a:rPr lang="en-US" sz="16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600" dirty="0"/>
          </a:p>
          <a:p>
            <a:pPr marL="0" indent="0">
              <a:buNone/>
            </a:pPr>
            <a:r>
              <a:rPr lang="en-US" sz="1600" dirty="0"/>
              <a:t>Illustrate the method of training an RNN to estimate the conditional distribution of the next sequence element y(t) to maximize the log- likelihood with an example.</a:t>
            </a:r>
          </a:p>
          <a:p>
            <a:pPr marL="0" indent="0">
              <a:buNone/>
            </a:pPr>
            <a:endParaRPr lang="en-US" sz="1600" dirty="0"/>
          </a:p>
          <a:p>
            <a:pPr marL="0" indent="0">
              <a:buNone/>
            </a:pPr>
            <a:r>
              <a:rPr lang="en-US" sz="1600" dirty="0" err="1"/>
              <a:t>Analyse</a:t>
            </a:r>
            <a:r>
              <a:rPr lang="en-US" sz="1600" dirty="0"/>
              <a:t> the influence of teacher forcing in the training dynamics of recurrent networks, and what are the trade-offs between faster convergence during training and potential exposure bias during inference.</a:t>
            </a:r>
            <a:endParaRPr lang="en-IN" sz="1600" dirty="0"/>
          </a:p>
        </p:txBody>
      </p:sp>
      <p:sp>
        <p:nvSpPr>
          <p:cNvPr id="4" name="Slide Number Placeholder 3">
            <a:extLst>
              <a:ext uri="{FF2B5EF4-FFF2-40B4-BE49-F238E27FC236}">
                <a16:creationId xmlns:a16="http://schemas.microsoft.com/office/drawing/2014/main" id="{90306519-3E45-44DC-BC33-56BF2026C8A8}"/>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53078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678513518"/>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4841</TotalTime>
  <Words>4159</Words>
  <Application>Microsoft Office PowerPoint</Application>
  <PresentationFormat>Widescreen</PresentationFormat>
  <Paragraphs>311</Paragraphs>
  <Slides>41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Inter</vt:lpstr>
      <vt:lpstr>Verdana</vt:lpstr>
      <vt:lpstr>Wingdings</vt:lpstr>
      <vt:lpstr>Work Sans</vt:lpstr>
      <vt:lpstr>Theme1</vt:lpstr>
      <vt:lpstr>Neural Network and Deep Learning 23CS8PENDL/23CS7PENDL</vt:lpstr>
      <vt:lpstr>Unit-5</vt:lpstr>
      <vt:lpstr>Sequence Modeling</vt:lpstr>
      <vt:lpstr>Recurrent Neural Networks (RNNs)</vt:lpstr>
      <vt:lpstr>Recurrent Neural Networks process sequential data</vt:lpstr>
      <vt:lpstr>RNNs share same weights across Time Steps</vt:lpstr>
      <vt:lpstr>Computational Graphs</vt:lpstr>
      <vt:lpstr>Unfolding Computational Graphs</vt:lpstr>
      <vt:lpstr>Unfolding Computational Graphs</vt:lpstr>
      <vt:lpstr>Unfolding Computational Graphs</vt:lpstr>
      <vt:lpstr>Unfolding Computational Graphs</vt:lpstr>
      <vt:lpstr>Unfolding Computational Graphs</vt:lpstr>
      <vt:lpstr>Question</vt:lpstr>
      <vt:lpstr>Recurrent Neural Networks</vt:lpstr>
      <vt:lpstr>Recurrent Neural Networks</vt:lpstr>
      <vt:lpstr>Recurrent Neural Networks</vt:lpstr>
      <vt:lpstr>Recurrent Neural Networks</vt:lpstr>
      <vt:lpstr>Variation 1 of RNN (basic form): hidden2hidden connections, sequence output. Recurrent Hidden Units</vt:lpstr>
      <vt:lpstr>Variation 1 of RNN (basic form): hidden2hidden connections, sequence output.</vt:lpstr>
      <vt:lpstr>Variation 1 of RNN (basic form): hidden2hidden connections, sequence output.</vt:lpstr>
      <vt:lpstr>Variation 2 of RNN output2hidden, sequence output.  Recurrence through only the Output </vt:lpstr>
      <vt:lpstr>Variation 3 of RNN hidden2hidden, single output. Sequence Input, Single Output </vt:lpstr>
      <vt:lpstr>RNN: Teacher Forcing and  Networks with Output Recurrence</vt:lpstr>
      <vt:lpstr>RNN: Teacher Forcing</vt:lpstr>
      <vt:lpstr>RNN: Teacher Forcing</vt:lpstr>
      <vt:lpstr>RNN: Teacher Forcing</vt:lpstr>
      <vt:lpstr>RNN: Teacher forcing</vt:lpstr>
      <vt:lpstr>RNN: Teacher Forcing</vt:lpstr>
      <vt:lpstr>RNN: Teacher Forcing</vt:lpstr>
      <vt:lpstr>RNN: Teacher Forcing</vt:lpstr>
      <vt:lpstr>RNN: Computing the Gradient in a Recurrent Neural Network</vt:lpstr>
      <vt:lpstr>RNN: Recurrent Networks as Directed Graphical Models</vt:lpstr>
      <vt:lpstr>RNN: Modeling Sequences Conditioned on Context with RNNs</vt:lpstr>
      <vt:lpstr>Encoder-Decoder Sequence-to-Sequence Architectures</vt:lpstr>
      <vt:lpstr>Deep Recurrent Networks</vt:lpstr>
      <vt:lpstr>Recursive Neural Networks</vt:lpstr>
      <vt:lpstr>PowerPoint Presentation</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385</cp:revision>
  <cp:lastPrinted>2014-08-07T03:39:40Z</cp:lastPrinted>
  <dcterms:created xsi:type="dcterms:W3CDTF">2014-08-06T04:28:49Z</dcterms:created>
  <dcterms:modified xsi:type="dcterms:W3CDTF">2026-04-19T05:25:26Z</dcterms:modified>
</cp:coreProperties>
</file>