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256" r:id="rId2"/>
    <p:sldId id="270" r:id="rId3"/>
    <p:sldId id="271" r:id="rId4"/>
    <p:sldId id="277" r:id="rId5"/>
    <p:sldId id="278" r:id="rId6"/>
    <p:sldId id="279" r:id="rId7"/>
    <p:sldId id="257" r:id="rId8"/>
    <p:sldId id="258" r:id="rId9"/>
    <p:sldId id="259" r:id="rId10"/>
    <p:sldId id="260" r:id="rId11"/>
    <p:sldId id="261" r:id="rId12"/>
    <p:sldId id="269" r:id="rId13"/>
    <p:sldId id="272" r:id="rId14"/>
    <p:sldId id="273" r:id="rId15"/>
    <p:sldId id="274" r:id="rId16"/>
    <p:sldId id="275" r:id="rId17"/>
    <p:sldId id="281" r:id="rId18"/>
    <p:sldId id="280" r:id="rId19"/>
    <p:sldId id="282" r:id="rId20"/>
    <p:sldId id="283" r:id="rId21"/>
    <p:sldId id="284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1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287DB59-3FBF-4B01-9DAD-98196E277DE7}" type="datetimeFigureOut">
              <a:rPr lang="en-IN" smtClean="0"/>
              <a:t>17-02-2026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7006932-8488-4118-9146-84062A7ABD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42757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006932-8488-4118-9146-84062A7ABD23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502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006932-8488-4118-9146-84062A7ABD23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471149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006932-8488-4118-9146-84062A7ABD23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82360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0"/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006932-8488-4118-9146-84062A7ABD23}" type="slidenum">
              <a:rPr lang="en-IN" smtClean="0"/>
              <a:t>19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90216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A46F85-6369-BB9C-8C59-99BABE9DE4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492E4E0-1A25-60DF-895F-69DA1FAECC3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AB4266-B48B-4760-2A0A-1CCCCAA8E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761D28-1B35-4F38-9E1E-1EC16A87DF8F}" type="datetimeFigureOut">
              <a:rPr lang="en-IN" smtClean="0"/>
              <a:t>17-02-2026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2F1E67-271C-6E56-3B6F-654720EB29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A18DA9-B1DA-B065-5CEF-E2BCEC6A77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36CE9D-B461-4179-A8B3-4193CA0D1F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14018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6F64CC-B000-A3A2-FC8A-3B4E7335F0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8C4785-6A45-0927-C9C1-2EF136D813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0669DB-1CAB-3884-CA6B-38C4077B3B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761D28-1B35-4F38-9E1E-1EC16A87DF8F}" type="datetimeFigureOut">
              <a:rPr lang="en-IN" smtClean="0"/>
              <a:t>17-02-2026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55E87A-6895-0675-EDCF-07D0A48350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3BA38A-79C3-E353-BFB0-52FB7AD8C5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36CE9D-B461-4179-A8B3-4193CA0D1F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53045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11E734-7373-52C9-2BE5-FEEDD1FC43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5D9007-F638-AB76-C9A6-72CE99087D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058D55-19E5-081D-2177-BA802E2D1C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761D28-1B35-4F38-9E1E-1EC16A87DF8F}" type="datetimeFigureOut">
              <a:rPr lang="en-IN" smtClean="0"/>
              <a:t>17-02-2026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63FBA4-E000-C8A6-F7C0-BC2232E7A0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9A9DAA-B842-9EE4-C3C7-0EE9E7F9E6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36CE9D-B461-4179-A8B3-4193CA0D1F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25048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F23EC3-23EB-BE96-342A-E4E292E174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785620-E413-B818-72F7-7C852E4ED96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11F6E7A-2EE1-38E8-75DE-694A2E5367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021A2D-DED7-059E-BB2D-69C668FF69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761D28-1B35-4F38-9E1E-1EC16A87DF8F}" type="datetimeFigureOut">
              <a:rPr lang="en-IN" smtClean="0"/>
              <a:t>17-02-2026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B2EB42-5736-F71A-05E9-74850DE3E4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840BA1-3F4A-242B-A4A1-367D4D70DB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36CE9D-B461-4179-A8B3-4193CA0D1F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57256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EC202C-4451-C847-D3FB-91FF7D41E9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CE27C2-4118-F547-4539-9378C86744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D66EBE-D261-8945-C4FE-05FA5F8623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4D327C7-0662-29B7-DF76-5F1D13FD054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67CE28B-74E5-BFA8-11AC-D785C49C4E5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FE02524-BAFF-F554-9B1A-25AD2A0B28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761D28-1B35-4F38-9E1E-1EC16A87DF8F}" type="datetimeFigureOut">
              <a:rPr lang="en-IN" smtClean="0"/>
              <a:t>17-02-2026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CA55B42-6C15-653C-9C01-A53505C867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0C12363-BD92-90A1-F5E6-401D28065A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36CE9D-B461-4179-A8B3-4193CA0D1F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47689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18D372-1B92-E4BC-F4E7-103905848B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1F110E5-1151-6001-C293-84CAF0A9AC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761D28-1B35-4F38-9E1E-1EC16A87DF8F}" type="datetimeFigureOut">
              <a:rPr lang="en-IN" smtClean="0"/>
              <a:t>17-02-2026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A54893-6615-3849-C58F-BC5A325B33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66D3FB4-8530-39E0-F324-8A5BA666D3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36CE9D-B461-4179-A8B3-4193CA0D1F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27843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F918A5F-4C81-D52A-1B59-8AFBE8689A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761D28-1B35-4F38-9E1E-1EC16A87DF8F}" type="datetimeFigureOut">
              <a:rPr lang="en-IN" smtClean="0"/>
              <a:t>17-02-2026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473B3E0-9149-4A2E-1641-8E4EC47094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5C376B-D99A-3726-349C-B2C5F3B14D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36CE9D-B461-4179-A8B3-4193CA0D1F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36399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DF7B33-5B5C-DADB-2E2C-4DD3F0C326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79D790-9BCF-3A4D-56AC-922B2B90ED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E302FD-573B-D254-164E-4368FE2E0D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F45313-1C1C-AC13-F86C-899F7A13F9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761D28-1B35-4F38-9E1E-1EC16A87DF8F}" type="datetimeFigureOut">
              <a:rPr lang="en-IN" smtClean="0"/>
              <a:t>17-02-2026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C55DE8-3B9F-D18F-DB50-60D6196091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B6C2EF-DE2B-E7DA-3E31-B07FAA38F4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36CE9D-B461-4179-A8B3-4193CA0D1F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93323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5594D8-5CD6-06E2-7ED5-EE2D803E97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4875352-3F2E-0CBE-4D18-FABA97D5FC5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FE642FB-E824-C9E9-C5F7-BD042BA2A5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8A8001-0412-88AE-3EC2-BDF42F33E2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761D28-1B35-4F38-9E1E-1EC16A87DF8F}" type="datetimeFigureOut">
              <a:rPr lang="en-IN" smtClean="0"/>
              <a:t>17-02-2026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98C020-56DF-7DAD-E056-E5EE6597C8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C88306-63B7-C794-C139-B9C0BA6D95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36CE9D-B461-4179-A8B3-4193CA0D1F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48498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778306-2235-2438-A2EC-8A6159D43B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BDC5666-2158-0610-1F58-63F9D20743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A9A8A7-8F52-3EA7-744B-00073CA2F5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761D28-1B35-4F38-9E1E-1EC16A87DF8F}" type="datetimeFigureOut">
              <a:rPr lang="en-IN" smtClean="0"/>
              <a:t>17-02-2026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D64E8B-ED2D-FDB1-7FA3-AB6249D7C3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655A18-8635-FFA2-1974-A58C59B07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36CE9D-B461-4179-A8B3-4193CA0D1F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15364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4BF53DA-355D-0C9D-3A7E-1A4DDAF3924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E835BC1-755B-B09B-1B3A-999C05B114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BC5739-5DFF-B847-01F2-213290F047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761D28-1B35-4F38-9E1E-1EC16A87DF8F}" type="datetimeFigureOut">
              <a:rPr lang="en-IN" smtClean="0"/>
              <a:t>17-02-2026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5C1355-4895-444E-0D4C-F971231735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0699EF-3F58-393E-78C4-41144AF8F3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36CE9D-B461-4179-A8B3-4193CA0D1F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34476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5027793-3D4C-4B8F-E088-6244E30882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1D9B5A-E638-05EE-0995-CD3AD85CF4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4BCEC7-C8F8-7AB6-8D03-0B124E93B1E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761D28-1B35-4F38-9E1E-1EC16A87DF8F}" type="datetimeFigureOut">
              <a:rPr lang="en-IN" smtClean="0"/>
              <a:t>17-02-2026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CD9B6B-B1C7-E59A-1CC6-4A41D1EF510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7388A6-405C-C3C9-FA67-A802457548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36CE9D-B461-4179-A8B3-4193CA0D1F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29275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6E62DE-9269-5959-1AB7-01762473C62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THE HESSIAN AND ITS ROLE IN ON-LINE LEARNING</a:t>
            </a:r>
            <a:endParaRPr lang="en-IN" sz="32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52C432C-2862-8198-8D58-34F5F37EE95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Background </a:t>
            </a:r>
            <a:r>
              <a:rPr lang="en-US" dirty="0" err="1"/>
              <a:t>Informations</a:t>
            </a:r>
            <a:endParaRPr lang="en-US" dirty="0"/>
          </a:p>
          <a:p>
            <a:r>
              <a:rPr lang="en-US" dirty="0"/>
              <a:t>Non-Zero mean Inputs ; Eigen Values &amp; Eigne Vector ; Hessian Matrix ;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637363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37E69F-1C24-4B37-A463-A969A50947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Nonzero-mean inputs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30AD8F-6E03-42EF-B222-E5F84B0245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"Nonzero-mean inputs" refer to data, signals, or forces whose average value over time or across a dataset is not zero</a:t>
            </a:r>
            <a:r>
              <a:rPr lang="en-US" b="0" i="0" dirty="0">
                <a:solidFill>
                  <a:srgbClr val="0A0A0A"/>
                </a:solidFill>
                <a:effectLst/>
                <a:latin typeface="Google Sans"/>
              </a:rPr>
              <a:t>.</a:t>
            </a:r>
          </a:p>
          <a:p>
            <a:pPr algn="l"/>
            <a:r>
              <a:rPr lang="en-US" b="1" i="0" dirty="0">
                <a:solidFill>
                  <a:srgbClr val="001D35"/>
                </a:solidFill>
                <a:effectLst/>
                <a:latin typeface="Google Sans"/>
              </a:rPr>
              <a:t>Impact of Nonzero-Mean Inputs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A0A0A"/>
                </a:solidFill>
                <a:effectLst/>
                <a:latin typeface="Google Sans"/>
              </a:rPr>
              <a:t>Learning Dynamics:</a:t>
            </a:r>
            <a:r>
              <a:rPr lang="en-US" b="0" i="0" dirty="0">
                <a:solidFill>
                  <a:srgbClr val="0A0A0A"/>
                </a:solidFill>
                <a:effectLst/>
                <a:latin typeface="Google Sans"/>
              </a:rPr>
              <a:t> If inputs are not zero-centered, the inputs to deeper layers might become unbalanced, potentially causing slower learning or convergence issues.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A0A0A"/>
                </a:solidFill>
                <a:effectLst/>
                <a:latin typeface="Google Sans"/>
              </a:rPr>
              <a:t>Weight Updates:</a:t>
            </a:r>
            <a:r>
              <a:rPr lang="en-US" b="0" i="0" dirty="0">
                <a:solidFill>
                  <a:srgbClr val="0A0A0A"/>
                </a:solidFill>
                <a:effectLst/>
                <a:latin typeface="Google Sans"/>
              </a:rPr>
              <a:t> Nonzero-mean inputs can make the optimization landscape more complex, requiring more careful initialization of weights and learning rates.</a:t>
            </a:r>
          </a:p>
          <a:p>
            <a:endParaRPr lang="en-IN" dirty="0"/>
          </a:p>
          <a:p>
            <a:pPr marL="0" indent="0">
              <a:buNone/>
            </a:pPr>
            <a:endParaRPr lang="en-US" b="0" i="0" dirty="0">
              <a:solidFill>
                <a:srgbClr val="0A0A0A"/>
              </a:solidFill>
              <a:effectLst/>
              <a:latin typeface="Google Sans"/>
            </a:endParaRPr>
          </a:p>
          <a:p>
            <a:pPr marL="0" indent="0">
              <a:buNone/>
            </a:pPr>
            <a:endParaRPr lang="en-US" dirty="0">
              <a:solidFill>
                <a:srgbClr val="0A0A0A"/>
              </a:solidFill>
              <a:latin typeface="Google Sans"/>
            </a:endParaRP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699605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7933EB-E227-4FAD-B5C8-FCB7D30C94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Nonzero-mean inputs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40102C-C239-46F9-83BE-26BA5D3D1C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algn="l"/>
            <a:r>
              <a:rPr lang="en-US" b="1" i="0" dirty="0">
                <a:solidFill>
                  <a:srgbClr val="001D35"/>
                </a:solidFill>
                <a:effectLst/>
                <a:latin typeface="Google Sans"/>
              </a:rPr>
              <a:t>Solutions and Best Practices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A0A0A"/>
                </a:solidFill>
                <a:effectLst/>
                <a:latin typeface="Google Sans"/>
              </a:rPr>
              <a:t>Data Normalization/Standardization:</a:t>
            </a:r>
            <a:r>
              <a:rPr lang="en-US" b="0" i="0" dirty="0">
                <a:solidFill>
                  <a:srgbClr val="0A0A0A"/>
                </a:solidFill>
                <a:effectLst/>
                <a:latin typeface="Google Sans"/>
              </a:rPr>
              <a:t> The most common solution is to preprocess the input data to have a mean of zero and a standard deviation of one (z-score normalization) or to scale it between -1 and 1.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A0A0A"/>
                </a:solidFill>
                <a:effectLst/>
                <a:latin typeface="Google Sans"/>
              </a:rPr>
              <a:t>Batch Normalization:</a:t>
            </a:r>
            <a:r>
              <a:rPr lang="en-US" b="0" i="0" dirty="0">
                <a:solidFill>
                  <a:srgbClr val="0A0A0A"/>
                </a:solidFill>
                <a:effectLst/>
                <a:latin typeface="Google Sans"/>
              </a:rPr>
              <a:t> This technique can be applied to hidden layers to actively maintain a mean activation closer to zero, mitigating the issues caused by non-zero inputs.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A0A0A"/>
                </a:solidFill>
                <a:effectLst/>
                <a:latin typeface="Google Sans"/>
              </a:rPr>
              <a:t>Zero-Centered Activations:</a:t>
            </a:r>
            <a:r>
              <a:rPr lang="en-US" b="0" i="0" dirty="0">
                <a:solidFill>
                  <a:srgbClr val="0A0A0A"/>
                </a:solidFill>
                <a:effectLst/>
                <a:latin typeface="Google Sans"/>
              </a:rPr>
              <a:t> Using activation functions that are zero-centered, such as tanh or specially designed functions (e.g., Ant), can improve the gradient flow and learning efficiency in deep networks.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A0A0A"/>
                </a:solidFill>
                <a:effectLst/>
                <a:latin typeface="Google Sans"/>
              </a:rPr>
              <a:t>Biases:</a:t>
            </a:r>
            <a:r>
              <a:rPr lang="en-US" b="0" i="0" dirty="0">
                <a:solidFill>
                  <a:srgbClr val="0A0A0A"/>
                </a:solidFill>
                <a:effectLst/>
                <a:latin typeface="Google Sans"/>
              </a:rPr>
              <a:t> Including bias terms in each neuron allows the network to shift the activation function, allowing it to adapt to data that is not centered around zero. </a:t>
            </a:r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932111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4C2618-72E2-4519-B3D7-BB56561C18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Eigen values and Eigen Vectors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CCE94B-4962-4E70-80A7-3D5EBA3509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0E4CAA8-C776-4AC5-B210-CC43DF2AA5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2043" y="1690688"/>
            <a:ext cx="6099063" cy="4918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5593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4C2618-72E2-4519-B3D7-BB56561C18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Eigen values and Eigen Vectors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CCE94B-4962-4E70-80A7-3D5EBA3509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0E4CAA8-C776-4AC5-B210-CC43DF2AA5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2043" y="1690688"/>
            <a:ext cx="6099063" cy="491816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76AB272-67EF-4DAB-9D9C-DB5EEF8AA5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7263" y="2404401"/>
            <a:ext cx="3705742" cy="1457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79110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4C2618-72E2-4519-B3D7-BB56561C18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Eigen values and Eigen Vectors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CCE94B-4962-4E70-80A7-3D5EBA3509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0E4CAA8-C776-4AC5-B210-CC43DF2AA5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2043" y="1690688"/>
            <a:ext cx="6099063" cy="491816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76AB272-67EF-4DAB-9D9C-DB5EEF8AA5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7263" y="2404401"/>
            <a:ext cx="3705742" cy="145752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F626B2A-BC6C-4C33-8045-ECE3EBB083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5638" y="3861929"/>
            <a:ext cx="1428033" cy="152838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5D74B8CA-DD3F-4785-8795-F1FB4BEA17C7}"/>
              </a:ext>
            </a:extLst>
          </p:cNvPr>
          <p:cNvSpPr txBox="1"/>
          <p:nvPr/>
        </p:nvSpPr>
        <p:spPr>
          <a:xfrm>
            <a:off x="7879976" y="5530632"/>
            <a:ext cx="74892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Ax=5x</a:t>
            </a:r>
          </a:p>
          <a:p>
            <a:r>
              <a:rPr lang="en-US" dirty="0"/>
              <a:t>Ax=</a:t>
            </a:r>
            <a:r>
              <a:rPr lang="el-GR" dirty="0"/>
              <a:t>λ</a:t>
            </a:r>
            <a:r>
              <a:rPr lang="en-US" dirty="0"/>
              <a:t>x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904578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BCCD14-7E4E-D728-5ED5-48289FC10F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D6A180-1353-823F-FAB3-8FFFD6230D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"Hessian matrix" of a multivariable function  f(x, y, z, ....],  organizes all second partial derivatives into a matrix: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183596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BEDC9C-5F62-C0B9-67BD-D9FBDC8E99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Computing a Hessian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5417B7-90B1-1B28-92C5-79CED96DB7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E9BB247-A02C-E89E-C05B-ECEE8F46D1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25625"/>
            <a:ext cx="4843910" cy="4264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05024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C9C6EC-F445-31DB-7546-674529BFF7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Example: Computing a Hessian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26DB310-F66B-2B37-A16A-4ACE625E33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884" y="1880971"/>
            <a:ext cx="6163535" cy="3096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63260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E49941-5AEA-C769-C533-7C01039E56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FE4719-4AC3-3F4D-5147-9D44AB74F5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Example: Computing a Hessian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BB448A5-DB73-D390-638E-94C1E82B4F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884" y="1880971"/>
            <a:ext cx="6163535" cy="309605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23793E4-D458-E8D6-91E3-9CCD5265DB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2225" y="1742922"/>
            <a:ext cx="5504891" cy="41416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3150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222D2E-F143-7C4E-1B44-6E9AABB413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Example: Computing a Hessian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69EF702-26AB-396B-C030-7548C209259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46108"/>
          <a:stretch>
            <a:fillRect/>
          </a:stretch>
        </p:blipFill>
        <p:spPr>
          <a:xfrm>
            <a:off x="5741966" y="2155564"/>
            <a:ext cx="6106377" cy="182254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FD8C384-30F0-1244-3812-4F1ED5C1B1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3657" y="1690688"/>
            <a:ext cx="5020196" cy="3777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96327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166CF2-AD66-6AE5-F5A4-32EF5035F7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290DF3-C68F-427B-56F1-05ED9E31CE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B7B852D-D126-0928-7A3B-737447353E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63725"/>
            <a:ext cx="7296150" cy="4629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49068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1ADEE-6191-4B98-B470-199805834B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2315C1-E12B-4036-AB2C-16BD26454D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1530CB8-F846-4A3E-9FCB-48B1181244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65125"/>
            <a:ext cx="8845785" cy="54684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80375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69D998-8B9C-47B0-B669-137761E624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39D536-2102-4B65-9852-A24A86705D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D7E4275-29DA-4499-AF1B-C543D7CC40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65125"/>
            <a:ext cx="9526329" cy="4791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59467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1EE1A6-CD60-4AD0-A9FA-3F90CC35F0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631DE2-6532-43BE-898A-1B5A431151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F34D0A4-8D41-4B49-8F3E-B56612406B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992" y="113837"/>
            <a:ext cx="11222016" cy="6630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302330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423B76-9A5A-4CD1-BC50-69580D9399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08FDE3-4430-496D-B7C7-2585C79275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F537E5B-F8DF-44AE-A231-D6FCF55B19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570" y="142416"/>
            <a:ext cx="11888859" cy="6573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264800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646299-F979-4B94-840A-0CA8E66D2C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ED64E9-6E9D-4C5C-BE0C-95CB1A0633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FBA173D-F8E7-4E43-8E9E-0555EA6172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251" y="279967"/>
            <a:ext cx="11093498" cy="6298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643920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B5FAA8-C7A5-453E-B954-E6494625A9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96115-7174-446F-A082-71FE6A520F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8D855F9-E2B2-4851-B1EC-726D564089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059" y="365125"/>
            <a:ext cx="10972800" cy="61121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352330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CC647A-C19B-4FB2-9AC1-29D8FFD2C7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C498F0-EA77-4390-A1FA-34DAA10A49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l" rtl="0">
              <a:buNone/>
            </a:pPr>
            <a:r>
              <a:rPr lang="en-US" dirty="0"/>
              <a:t>In neural networks, training involves minimizing an error function </a:t>
            </a:r>
            <a:r>
              <a:rPr lang="en-US" b="0" i="0" dirty="0">
                <a:solidFill>
                  <a:srgbClr val="0A0A0A"/>
                </a:solidFill>
                <a:effectLst/>
                <a:latin typeface="Google Sans"/>
              </a:rPr>
              <a:t>with respect to the network weights. The </a:t>
            </a:r>
            <a:r>
              <a:rPr lang="en-US" b="1" i="0" dirty="0">
                <a:solidFill>
                  <a:srgbClr val="0A0A0A"/>
                </a:solidFill>
                <a:effectLst/>
                <a:latin typeface="Google Sans"/>
              </a:rPr>
              <a:t>derivative of the error function w.r.t weights (gradient)</a:t>
            </a:r>
            <a:r>
              <a:rPr lang="en-US" b="0" i="0" dirty="0">
                <a:solidFill>
                  <a:srgbClr val="0A0A0A"/>
                </a:solidFill>
                <a:effectLst/>
                <a:latin typeface="Google Sans"/>
              </a:rPr>
              <a:t> dictates the direction to update weights to reduce error, while the </a:t>
            </a:r>
            <a:r>
              <a:rPr lang="en-US" b="1" i="0" dirty="0" err="1">
                <a:solidFill>
                  <a:srgbClr val="0A0A0A"/>
                </a:solidFill>
                <a:effectLst/>
                <a:latin typeface="Google Sans"/>
              </a:rPr>
              <a:t>eigenstructure</a:t>
            </a:r>
            <a:r>
              <a:rPr lang="en-US" b="1" i="0" dirty="0">
                <a:solidFill>
                  <a:srgbClr val="0A0A0A"/>
                </a:solidFill>
                <a:effectLst/>
                <a:latin typeface="Google Sans"/>
              </a:rPr>
              <a:t> of the Hessian matrix</a:t>
            </a:r>
            <a:r>
              <a:rPr lang="en-US" b="0" i="0" dirty="0">
                <a:solidFill>
                  <a:srgbClr val="0A0A0A"/>
                </a:solidFill>
                <a:effectLst/>
                <a:latin typeface="Google Sans"/>
              </a:rPr>
              <a:t> </a:t>
            </a:r>
            <a:r>
              <a:rPr lang="en-US" dirty="0"/>
              <a:t>reveals the geometry (curvature) of the loss surface, guiding how quickly or slowly optimization converges</a:t>
            </a:r>
            <a:r>
              <a:rPr lang="en-US" b="0" i="0" dirty="0">
                <a:solidFill>
                  <a:srgbClr val="0A0A0A"/>
                </a:solidFill>
                <a:effectLst/>
                <a:latin typeface="Google Sans"/>
              </a:rPr>
              <a:t>. </a:t>
            </a: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1671666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9F7ED2-90D4-47D5-9155-7E4052E538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64DA3B1-4AFD-4444-860D-5102EED17B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910" y="212306"/>
            <a:ext cx="5908090" cy="435133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47881A9-2D07-4C19-82C0-94569F3CFD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212306"/>
            <a:ext cx="5908090" cy="4942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660887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945084-A86D-4990-A29F-78DA831F06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BE01E-9FEA-4A4A-AA58-AAA6550D7A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3E7C5F2-0C47-417C-8024-E602D3C636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65125"/>
            <a:ext cx="6306430" cy="4820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90702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167</TotalTime>
  <Words>384</Words>
  <Application>Microsoft Office PowerPoint</Application>
  <PresentationFormat>Widescreen</PresentationFormat>
  <Paragraphs>31</Paragraphs>
  <Slides>21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Arial</vt:lpstr>
      <vt:lpstr>Calibri</vt:lpstr>
      <vt:lpstr>Calibri Light</vt:lpstr>
      <vt:lpstr>Google Sans</vt:lpstr>
      <vt:lpstr>Office Theme</vt:lpstr>
      <vt:lpstr>THE HESSIAN AND ITS ROLE IN ON-LINE LEARNING</vt:lpstr>
      <vt:lpstr>Nonzero-mean inputs</vt:lpstr>
      <vt:lpstr>Nonzero-mean inputs</vt:lpstr>
      <vt:lpstr>Eigen values and Eigen Vectors</vt:lpstr>
      <vt:lpstr>Eigen values and Eigen Vectors</vt:lpstr>
      <vt:lpstr>Eigen values and Eigen Vectors</vt:lpstr>
      <vt:lpstr>PowerPoint Presentation</vt:lpstr>
      <vt:lpstr>Computing a Hessian</vt:lpstr>
      <vt:lpstr>Example: Computing a Hessian</vt:lpstr>
      <vt:lpstr>Example: Computing a Hessian</vt:lpstr>
      <vt:lpstr>Example: Computing a Hessian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Hessian Matrix</dc:title>
  <dc:creator>Uma Devi</dc:creator>
  <cp:lastModifiedBy>Umadevi</cp:lastModifiedBy>
  <cp:revision>23</cp:revision>
  <dcterms:created xsi:type="dcterms:W3CDTF">2026-02-15T13:59:29Z</dcterms:created>
  <dcterms:modified xsi:type="dcterms:W3CDTF">2026-02-17T10:00:05Z</dcterms:modified>
</cp:coreProperties>
</file>