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handoutMasterIdLst>
    <p:handoutMasterId r:id="rId67"/>
  </p:handoutMasterIdLst>
  <p:sldIdLst>
    <p:sldId id="256" r:id="rId2"/>
    <p:sldId id="349" r:id="rId3"/>
    <p:sldId id="696" r:id="rId4"/>
    <p:sldId id="700" r:id="rId5"/>
    <p:sldId id="745" r:id="rId6"/>
    <p:sldId id="796" r:id="rId7"/>
    <p:sldId id="746" r:id="rId8"/>
    <p:sldId id="747" r:id="rId9"/>
    <p:sldId id="797" r:id="rId10"/>
    <p:sldId id="798" r:id="rId11"/>
    <p:sldId id="799" r:id="rId12"/>
    <p:sldId id="748" r:id="rId13"/>
    <p:sldId id="751" r:id="rId14"/>
    <p:sldId id="752" r:id="rId15"/>
    <p:sldId id="749" r:id="rId16"/>
    <p:sldId id="753" r:id="rId17"/>
    <p:sldId id="755" r:id="rId18"/>
    <p:sldId id="754" r:id="rId19"/>
    <p:sldId id="756" r:id="rId20"/>
    <p:sldId id="757" r:id="rId21"/>
    <p:sldId id="758" r:id="rId22"/>
    <p:sldId id="759" r:id="rId23"/>
    <p:sldId id="760" r:id="rId24"/>
    <p:sldId id="765" r:id="rId25"/>
    <p:sldId id="767" r:id="rId26"/>
    <p:sldId id="773" r:id="rId27"/>
    <p:sldId id="775" r:id="rId28"/>
    <p:sldId id="800" r:id="rId29"/>
    <p:sldId id="776" r:id="rId30"/>
    <p:sldId id="768" r:id="rId31"/>
    <p:sldId id="774" r:id="rId32"/>
    <p:sldId id="778" r:id="rId33"/>
    <p:sldId id="779" r:id="rId34"/>
    <p:sldId id="777" r:id="rId35"/>
    <p:sldId id="781" r:id="rId36"/>
    <p:sldId id="784" r:id="rId37"/>
    <p:sldId id="785" r:id="rId38"/>
    <p:sldId id="782" r:id="rId39"/>
    <p:sldId id="786" r:id="rId40"/>
    <p:sldId id="787" r:id="rId41"/>
    <p:sldId id="783" r:id="rId42"/>
    <p:sldId id="788" r:id="rId43"/>
    <p:sldId id="789" r:id="rId44"/>
    <p:sldId id="792" r:id="rId45"/>
    <p:sldId id="790" r:id="rId46"/>
    <p:sldId id="791" r:id="rId47"/>
    <p:sldId id="793" r:id="rId48"/>
    <p:sldId id="794" r:id="rId49"/>
    <p:sldId id="795" r:id="rId50"/>
    <p:sldId id="769" r:id="rId51"/>
    <p:sldId id="764" r:id="rId52"/>
    <p:sldId id="761" r:id="rId53"/>
    <p:sldId id="762" r:id="rId54"/>
    <p:sldId id="763" r:id="rId55"/>
    <p:sldId id="351" r:id="rId56"/>
    <p:sldId id="352" r:id="rId57"/>
    <p:sldId id="353" r:id="rId58"/>
    <p:sldId id="354" r:id="rId59"/>
    <p:sldId id="355" r:id="rId60"/>
    <p:sldId id="356" r:id="rId61"/>
    <p:sldId id="350" r:id="rId62"/>
    <p:sldId id="357" r:id="rId63"/>
    <p:sldId id="358" r:id="rId64"/>
    <p:sldId id="305"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3366"/>
    <a:srgbClr val="0000FF"/>
    <a:srgbClr val="FF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613" autoAdjust="0"/>
  </p:normalViewPr>
  <p:slideViewPr>
    <p:cSldViewPr>
      <p:cViewPr varScale="1">
        <p:scale>
          <a:sx n="68" d="100"/>
          <a:sy n="68" d="100"/>
        </p:scale>
        <p:origin x="1234" y="53"/>
      </p:cViewPr>
      <p:guideLst>
        <p:guide orient="horz" pos="2160"/>
        <p:guide pos="3840"/>
      </p:guideLst>
    </p:cSldViewPr>
  </p:slideViewPr>
  <p:notesTextViewPr>
    <p:cViewPr>
      <p:scale>
        <a:sx n="1" d="1"/>
        <a:sy n="1" d="1"/>
      </p:scale>
      <p:origin x="0" y="0"/>
    </p:cViewPr>
  </p:notesTextViewPr>
  <p:sorterViewPr>
    <p:cViewPr>
      <p:scale>
        <a:sx n="100" d="100"/>
        <a:sy n="100" d="100"/>
      </p:scale>
      <p:origin x="0" y="-1164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3/21/2026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3/21/2026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38D3E4-A11F-4202-B7F2-F7B0418B84A9}" type="slidenum">
              <a:rPr lang="en-US" smtClean="0"/>
              <a:t>3</a:t>
            </a:fld>
            <a:endParaRPr lang="en-US"/>
          </a:p>
        </p:txBody>
      </p:sp>
    </p:spTree>
    <p:extLst>
      <p:ext uri="{BB962C8B-B14F-4D97-AF65-F5344CB8AC3E}">
        <p14:creationId xmlns:p14="http://schemas.microsoft.com/office/powerpoint/2010/main" val="2673540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4</a:t>
            </a:fld>
            <a:endParaRPr lang="en-US">
              <a:solidFill>
                <a:prstClr val="black"/>
              </a:solidFill>
            </a:endParaRPr>
          </a:p>
        </p:txBody>
      </p:sp>
    </p:spTree>
    <p:extLst>
      <p:ext uri="{BB962C8B-B14F-4D97-AF65-F5344CB8AC3E}">
        <p14:creationId xmlns:p14="http://schemas.microsoft.com/office/powerpoint/2010/main" val="52468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6E9DA-9BB0-81EF-06B1-D882FE169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94C73-BE5E-0157-DC3C-4CC7ABC6F7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FECFFC4-946A-CF51-EAF4-071C07A2B4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BDA97-3418-7F57-90FC-35AEA3A6DD95}"/>
              </a:ext>
            </a:extLst>
          </p:cNvPr>
          <p:cNvSpPr>
            <a:spLocks noGrp="1"/>
          </p:cNvSpPr>
          <p:nvPr>
            <p:ph type="sldNum" sz="quarter" idx="10"/>
          </p:nvPr>
        </p:nvSpPr>
        <p:spPr/>
        <p:txBody>
          <a:bodyPr/>
          <a:lstStyle/>
          <a:p>
            <a:fld id="{C74CF1EF-08E9-4CAE-8B3C-D98EE6374704}" type="slidenum">
              <a:rPr lang="en-US" smtClean="0"/>
              <a:t>6</a:t>
            </a:fld>
            <a:endParaRPr lang="en-US"/>
          </a:p>
        </p:txBody>
      </p:sp>
    </p:spTree>
    <p:extLst>
      <p:ext uri="{BB962C8B-B14F-4D97-AF65-F5344CB8AC3E}">
        <p14:creationId xmlns:p14="http://schemas.microsoft.com/office/powerpoint/2010/main" val="152083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modeling the data, a low bias and high variance scenario is referred to as overfitting. To handle this, regularization techniques trade more bias for less variance. Effective regularization is one that strikes the optimal balance between bias and variation, with the final result being a notable decrease in variance at the least possible cost to bias. This would imply low variation without significantly raising the bias value, to put it another way.</a:t>
            </a:r>
          </a:p>
          <a:p>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Additionally, Regularization orders possible models from weakest overfit to biggest and adds penalties to more complicated models. Regularization makes the assumption that the least weights could result in simpler models and help prevent overfitting.</a:t>
            </a:r>
          </a:p>
          <a:p>
            <a:r>
              <a:rPr lang="en-US" sz="1200" b="0" i="0" kern="1200" dirty="0">
                <a:solidFill>
                  <a:schemeClr val="tx1"/>
                </a:solidFill>
                <a:effectLst/>
                <a:latin typeface="+mn-lt"/>
                <a:ea typeface="+mn-ea"/>
                <a:cs typeface="+mn-cs"/>
              </a:rPr>
              <a:t>‍</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3404418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rtl="0"/>
            <a:r>
              <a:rPr lang="en-US" b="0" i="0" dirty="0">
                <a:solidFill>
                  <a:srgbClr val="0A0A0A"/>
                </a:solidFill>
                <a:effectLst/>
                <a:latin typeface="Google Sans"/>
              </a:rPr>
              <a:t>where </a:t>
            </a:r>
          </a:p>
          <a:p>
            <a:r>
              <a:rPr lang="en-US" b="0" i="0" dirty="0">
                <a:solidFill>
                  <a:srgbClr val="0A0A0A"/>
                </a:solidFill>
                <a:effectLst/>
                <a:latin typeface="Google Sans"/>
              </a:rPr>
              <a:t> (lambda or alpha) controls the strength of the regularization.</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20</a:t>
            </a:fld>
            <a:endParaRPr lang="en-US"/>
          </a:p>
        </p:txBody>
      </p:sp>
    </p:spTree>
    <p:extLst>
      <p:ext uri="{BB962C8B-B14F-4D97-AF65-F5344CB8AC3E}">
        <p14:creationId xmlns:p14="http://schemas.microsoft.com/office/powerpoint/2010/main" val="267910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21</a:t>
            </a:fld>
            <a:endParaRPr lang="en-US"/>
          </a:p>
        </p:txBody>
      </p:sp>
    </p:spTree>
    <p:extLst>
      <p:ext uri="{BB962C8B-B14F-4D97-AF65-F5344CB8AC3E}">
        <p14:creationId xmlns:p14="http://schemas.microsoft.com/office/powerpoint/2010/main" val="3963317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lgn="l">
              <a:buNone/>
            </a:pP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22</a:t>
            </a:fld>
            <a:endParaRPr lang="en-US"/>
          </a:p>
        </p:txBody>
      </p:sp>
    </p:spTree>
    <p:extLst>
      <p:ext uri="{BB962C8B-B14F-4D97-AF65-F5344CB8AC3E}">
        <p14:creationId xmlns:p14="http://schemas.microsoft.com/office/powerpoint/2010/main" val="800199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https://medium.com/the-ml-intuition/l1-vs-l2-regularization-vs-weight-decay-key-differences-every-ml-engineer-must-know-5f13625301cf</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23</a:t>
            </a:fld>
            <a:endParaRPr lang="en-US"/>
          </a:p>
        </p:txBody>
      </p:sp>
    </p:spTree>
    <p:extLst>
      <p:ext uri="{BB962C8B-B14F-4D97-AF65-F5344CB8AC3E}">
        <p14:creationId xmlns:p14="http://schemas.microsoft.com/office/powerpoint/2010/main" val="686855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91F9-9C66-56A2-045C-A7FB4C44B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A1463-171A-8EA3-B800-8CD6757C3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2F2276-AA2D-CEC9-B7FF-C4B7D04679E5}"/>
              </a:ext>
            </a:extLst>
          </p:cNvPr>
          <p:cNvSpPr>
            <a:spLocks noGrp="1"/>
          </p:cNvSpPr>
          <p:nvPr>
            <p:ph type="body" idx="1"/>
          </p:nvPr>
        </p:nvSpPr>
        <p:spPr/>
        <p:txBody>
          <a:bodyPr/>
          <a:lstStyle/>
          <a:p>
            <a:r>
              <a:rPr lang="en-US" dirty="0"/>
              <a:t>We can see that the addition of the weight decay term has modified the learning rule to multiplicatively shrink the weight vector by a constant factor on each step, just before performing the usual gradient update. This describes what happens in a single step</a:t>
            </a:r>
            <a:endParaRPr lang="en-IN" dirty="0"/>
          </a:p>
        </p:txBody>
      </p:sp>
      <p:sp>
        <p:nvSpPr>
          <p:cNvPr id="4" name="Slide Number Placeholder 3">
            <a:extLst>
              <a:ext uri="{FF2B5EF4-FFF2-40B4-BE49-F238E27FC236}">
                <a16:creationId xmlns:a16="http://schemas.microsoft.com/office/drawing/2014/main" id="{19D31EC1-6038-657B-2FAF-F2D9308CE76E}"/>
              </a:ext>
            </a:extLst>
          </p:cNvPr>
          <p:cNvSpPr>
            <a:spLocks noGrp="1"/>
          </p:cNvSpPr>
          <p:nvPr>
            <p:ph type="sldNum" sz="quarter" idx="5"/>
          </p:nvPr>
        </p:nvSpPr>
        <p:spPr/>
        <p:txBody>
          <a:bodyPr/>
          <a:lstStyle/>
          <a:p>
            <a:fld id="{C1EDAD17-33F0-4D65-82A5-1BBB03DED615}" type="slidenum">
              <a:rPr lang="en-US" smtClean="0"/>
              <a:t>28</a:t>
            </a:fld>
            <a:endParaRPr lang="en-US"/>
          </a:p>
        </p:txBody>
      </p:sp>
    </p:spTree>
    <p:extLst>
      <p:ext uri="{BB962C8B-B14F-4D97-AF65-F5344CB8AC3E}">
        <p14:creationId xmlns:p14="http://schemas.microsoft.com/office/powerpoint/2010/main" val="3268911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29</a:t>
            </a:fld>
            <a:endParaRPr lang="en-US"/>
          </a:p>
        </p:txBody>
      </p:sp>
    </p:spTree>
    <p:extLst>
      <p:ext uri="{BB962C8B-B14F-4D97-AF65-F5344CB8AC3E}">
        <p14:creationId xmlns:p14="http://schemas.microsoft.com/office/powerpoint/2010/main" val="1548702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w∗ → </a:t>
                </a:r>
                <a:r>
                  <a:rPr lang="en-IN" dirty="0" err="1"/>
                  <a:t>center</a:t>
                </a:r>
                <a:r>
                  <a:rPr lang="en-IN" dirty="0"/>
                  <a:t> (minimum point)</a:t>
                </a:r>
              </a:p>
              <a:p>
                <a14:m>
                  <m:oMath xmlns:m="http://schemas.openxmlformats.org/officeDocument/2006/math">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𝑤</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oMath>
                </a14:m>
                <a:r>
                  <a:rPr lang="ar-AE" dirty="0"/>
                  <a:t>→ </a:t>
                </a:r>
                <a:r>
                  <a:rPr lang="en-IN" dirty="0"/>
                  <a:t>displacement vector</a:t>
                </a:r>
              </a:p>
              <a:p>
                <a14:m>
                  <m:oMath xmlns:m="http://schemas.openxmlformats.org/officeDocument/2006/math">
                    <m:sSup>
                      <m:sSupPr>
                        <m:ctrlPr>
                          <a:rPr lang="ar-AE" sz="1200" i="1" kern="1200" smtClean="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oMath>
                </a14:m>
                <a:r>
                  <a:rPr lang="ar-AE" dirty="0"/>
                  <a:t>= </a:t>
                </a:r>
                <a:r>
                  <a:rPr lang="en-IN" dirty="0" err="1"/>
                  <a:t>center</a:t>
                </a:r>
                <a:r>
                  <a:rPr lang="en-IN" dirty="0"/>
                  <a:t> of a bowl</a:t>
                </a:r>
              </a:p>
              <a:p>
                <a14:m>
                  <m:oMath xmlns:m="http://schemas.openxmlformats.org/officeDocument/2006/math">
                    <m:r>
                      <a:rPr lang="en-IN" sz="1200" i="1" kern="1200">
                        <a:solidFill>
                          <a:schemeClr val="tx1"/>
                        </a:solidFill>
                        <a:latin typeface="Cambria Math" panose="02040503050406030204" pitchFamily="18" charset="0"/>
                        <a:ea typeface="+mn-ea"/>
                        <a:cs typeface="+mn-cs"/>
                      </a:rPr>
                      <m:t>𝑤</m:t>
                    </m:r>
                  </m:oMath>
                </a14:m>
                <a:r>
                  <a:rPr lang="en-IN" dirty="0"/>
                  <a:t>= your current position</a:t>
                </a:r>
              </a:p>
              <a:p>
                <a:endParaRPr lang="en-IN" dirty="0"/>
              </a:p>
            </p:txBody>
          </p:sp>
        </mc:Choice>
        <mc:Fallback xmlns="">
          <p:sp>
            <p:nvSpPr>
              <p:cNvPr id="3" name="Notes Placeholder 2"/>
              <p:cNvSpPr>
                <a:spLocks noGrp="1"/>
              </p:cNvSpPr>
              <p:nvPr>
                <p:ph type="body" idx="1"/>
              </p:nvPr>
            </p:nvSpPr>
            <p:spPr/>
            <p:txBody>
              <a:bodyPr/>
              <a:lstStyle/>
              <a:p>
                <a:r>
                  <a:rPr lang="en-IN" dirty="0"/>
                  <a:t>w∗ → </a:t>
                </a:r>
                <a:r>
                  <a:rPr lang="en-IN" dirty="0" err="1"/>
                  <a:t>center</a:t>
                </a:r>
                <a:r>
                  <a:rPr lang="en-IN" dirty="0"/>
                  <a:t> (minimum point)</a:t>
                </a:r>
              </a:p>
              <a:p>
                <a:r>
                  <a:rPr lang="ar-AE" sz="1200" i="0" kern="1200">
                    <a:solidFill>
                      <a:schemeClr val="tx1"/>
                    </a:solidFill>
                    <a:latin typeface="+mn-lt"/>
                    <a:ea typeface="+mn-ea"/>
                    <a:cs typeface="+mn-cs"/>
                  </a:rPr>
                  <a:t>(𝑤−𝑤^∗ )</a:t>
                </a:r>
                <a:r>
                  <a:rPr lang="ar-AE" dirty="0"/>
                  <a:t>→ </a:t>
                </a:r>
                <a:r>
                  <a:rPr lang="en-IN" dirty="0"/>
                  <a:t>displacement vector</a:t>
                </a:r>
              </a:p>
              <a:p>
                <a:r>
                  <a:rPr lang="ar-AE" sz="1200" i="0" kern="1200">
                    <a:solidFill>
                      <a:schemeClr val="tx1"/>
                    </a:solidFill>
                    <a:latin typeface="+mn-lt"/>
                    <a:ea typeface="+mn-ea"/>
                    <a:cs typeface="+mn-cs"/>
                  </a:rPr>
                  <a:t>𝑤^∗</a:t>
                </a:r>
                <a:r>
                  <a:rPr lang="ar-AE" dirty="0"/>
                  <a:t>= </a:t>
                </a:r>
                <a:r>
                  <a:rPr lang="en-IN" dirty="0" err="1"/>
                  <a:t>center</a:t>
                </a:r>
                <a:r>
                  <a:rPr lang="en-IN" dirty="0"/>
                  <a:t> of a bowl</a:t>
                </a:r>
              </a:p>
              <a:p>
                <a:r>
                  <a:rPr lang="en-IN" sz="1200" i="0" kern="1200">
                    <a:solidFill>
                      <a:schemeClr val="tx1"/>
                    </a:solidFill>
                    <a:latin typeface="+mn-lt"/>
                    <a:ea typeface="+mn-ea"/>
                    <a:cs typeface="+mn-cs"/>
                  </a:rPr>
                  <a:t>𝑤</a:t>
                </a:r>
                <a:r>
                  <a:rPr lang="en-IN" dirty="0"/>
                  <a:t>= your current position</a:t>
                </a:r>
              </a:p>
              <a:p>
                <a:endParaRPr lang="en-IN" dirty="0"/>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31</a:t>
            </a:fld>
            <a:endParaRPr lang="en-US"/>
          </a:p>
        </p:txBody>
      </p:sp>
    </p:spTree>
    <p:extLst>
      <p:ext uri="{BB962C8B-B14F-4D97-AF65-F5344CB8AC3E}">
        <p14:creationId xmlns:p14="http://schemas.microsoft.com/office/powerpoint/2010/main" val="977010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At minimum: </a:t>
                </a:r>
                <a14:m>
                  <m:oMath xmlns:m="http://schemas.openxmlformats.org/officeDocument/2006/math">
                    <m:r>
                      <a:rPr lang="en-IN" sz="1200" b="0" i="0" kern="1200" smtClean="0">
                        <a:solidFill>
                          <a:schemeClr val="tx1"/>
                        </a:solidFill>
                        <a:latin typeface="Cambria Math" panose="02040503050406030204" pitchFamily="18" charset="0"/>
                        <a:ea typeface="+mn-ea"/>
                        <a:cs typeface="+mn-cs"/>
                      </a:rPr>
                      <m:t> </m:t>
                    </m:r>
                    <m:r>
                      <m:rPr>
                        <m:sty m:val="p"/>
                      </m:rP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𝐽</m:t>
                    </m:r>
                    <m:d>
                      <m:dPr>
                        <m:ctrlPr>
                          <a:rPr lang="ar-AE" sz="1200" i="1" kern="1200">
                            <a:solidFill>
                              <a:schemeClr val="tx1"/>
                            </a:solidFill>
                            <a:latin typeface="Cambria Math" panose="02040503050406030204" pitchFamily="18" charset="0"/>
                            <a:ea typeface="+mn-ea"/>
                            <a:cs typeface="+mn-cs"/>
                          </a:rPr>
                        </m:ctrlPr>
                      </m:dPr>
                      <m:e>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a14:m>
                <a:endParaRPr lang="ar-AE" dirty="0"/>
              </a:p>
              <a:p>
                <a:endParaRPr lang="en-IN" dirty="0"/>
              </a:p>
            </p:txBody>
          </p:sp>
        </mc:Choice>
        <mc:Fallback xmlns="">
          <p:sp>
            <p:nvSpPr>
              <p:cNvPr id="3" name="Notes Placeholder 2"/>
              <p:cNvSpPr>
                <a:spLocks noGrp="1"/>
              </p:cNvSpPr>
              <p:nvPr>
                <p:ph type="body" idx="1"/>
              </p:nvPr>
            </p:nvSpPr>
            <p:spPr/>
            <p:txBody>
              <a:bodyPr/>
              <a:lstStyle/>
              <a:p>
                <a:r>
                  <a:rPr lang="en-IN" dirty="0"/>
                  <a:t>At minimum: </a:t>
                </a:r>
                <a:r>
                  <a:rPr lang="en-IN" sz="1200" b="0" i="0" kern="1200">
                    <a:solidFill>
                      <a:schemeClr val="tx1"/>
                    </a:solidFill>
                    <a:latin typeface="Cambria Math" panose="02040503050406030204" pitchFamily="18" charset="0"/>
                    <a:ea typeface="+mn-ea"/>
                    <a:cs typeface="+mn-cs"/>
                  </a:rPr>
                  <a:t> </a:t>
                </a:r>
                <a:r>
                  <a:rPr lang="en-IN" sz="1200" i="0" kern="1200">
                    <a:solidFill>
                      <a:schemeClr val="tx1"/>
                    </a:solidFill>
                    <a:latin typeface="+mn-lt"/>
                    <a:ea typeface="+mn-ea"/>
                    <a:cs typeface="+mn-cs"/>
                  </a:rPr>
                  <a:t>∇𝐽</a:t>
                </a:r>
                <a:r>
                  <a:rPr lang="ar-AE" sz="1200" i="0" kern="1200">
                    <a:solidFill>
                      <a:schemeClr val="tx1"/>
                    </a:solidFill>
                    <a:latin typeface="+mn-lt"/>
                    <a:ea typeface="+mn-ea"/>
                    <a:cs typeface="+mn-cs"/>
                  </a:rPr>
                  <a:t>(𝑤^∗ )=0</a:t>
                </a:r>
                <a:endParaRPr lang="ar-AE" dirty="0"/>
              </a:p>
              <a:p>
                <a:endParaRPr lang="en-IN" dirty="0"/>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32</a:t>
            </a:fld>
            <a:endParaRPr lang="en-US"/>
          </a:p>
        </p:txBody>
      </p:sp>
    </p:spTree>
    <p:extLst>
      <p:ext uri="{BB962C8B-B14F-4D97-AF65-F5344CB8AC3E}">
        <p14:creationId xmlns:p14="http://schemas.microsoft.com/office/powerpoint/2010/main" val="2295923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463E-7E9D-0BFA-8A04-BF710087C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D35A8-F27E-F02D-F042-0DE50FC59CEC}"/>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38F657C-7835-1CB8-8200-65B08D6BF189}"/>
                  </a:ext>
                </a:extLst>
              </p:cNvPr>
              <p:cNvSpPr>
                <a:spLocks noGrp="1"/>
              </p:cNvSpPr>
              <p:nvPr>
                <p:ph type="body" idx="1"/>
              </p:nvPr>
            </p:nvSpPr>
            <p:spPr/>
            <p:txBody>
              <a:bodyPr/>
              <a:lstStyle/>
              <a:p>
                <a:r>
                  <a:rPr lang="en-IN" dirty="0"/>
                  <a:t>At minimum: </a:t>
                </a:r>
                <a14:m>
                  <m:oMath xmlns:m="http://schemas.openxmlformats.org/officeDocument/2006/math">
                    <m:r>
                      <a:rPr lang="en-IN" sz="1200" b="0" i="0" kern="1200" smtClean="0">
                        <a:solidFill>
                          <a:schemeClr val="tx1"/>
                        </a:solidFill>
                        <a:latin typeface="Cambria Math" panose="02040503050406030204" pitchFamily="18" charset="0"/>
                        <a:ea typeface="+mn-ea"/>
                        <a:cs typeface="+mn-cs"/>
                      </a:rPr>
                      <m:t> </m:t>
                    </m:r>
                    <m:r>
                      <m:rPr>
                        <m:sty m:val="p"/>
                      </m:rP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𝐽</m:t>
                    </m:r>
                    <m:d>
                      <m:dPr>
                        <m:ctrlPr>
                          <a:rPr lang="ar-AE" sz="1200" i="1" kern="1200">
                            <a:solidFill>
                              <a:schemeClr val="tx1"/>
                            </a:solidFill>
                            <a:latin typeface="Cambria Math" panose="02040503050406030204" pitchFamily="18" charset="0"/>
                            <a:ea typeface="+mn-ea"/>
                            <a:cs typeface="+mn-cs"/>
                          </a:rPr>
                        </m:ctrlPr>
                      </m:dPr>
                      <m:e>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a14:m>
                <a:endParaRPr lang="ar-AE" dirty="0"/>
              </a:p>
              <a:p>
                <a:endParaRPr lang="en-IN" dirty="0"/>
              </a:p>
            </p:txBody>
          </p:sp>
        </mc:Choice>
        <mc:Fallback xmlns="">
          <p:sp>
            <p:nvSpPr>
              <p:cNvPr id="3" name="Notes Placeholder 2">
                <a:extLst>
                  <a:ext uri="{FF2B5EF4-FFF2-40B4-BE49-F238E27FC236}">
                    <a16:creationId xmlns:a16="http://schemas.microsoft.com/office/drawing/2014/main" id="{D38F657C-7835-1CB8-8200-65B08D6BF189}"/>
                  </a:ext>
                </a:extLst>
              </p:cNvPr>
              <p:cNvSpPr>
                <a:spLocks noGrp="1"/>
              </p:cNvSpPr>
              <p:nvPr>
                <p:ph type="body" idx="1"/>
              </p:nvPr>
            </p:nvSpPr>
            <p:spPr/>
            <p:txBody>
              <a:bodyPr/>
              <a:lstStyle/>
              <a:p>
                <a:r>
                  <a:rPr lang="en-IN" dirty="0"/>
                  <a:t>At minimum: </a:t>
                </a:r>
                <a:r>
                  <a:rPr lang="en-IN" sz="1200" b="0" i="0" kern="1200">
                    <a:solidFill>
                      <a:schemeClr val="tx1"/>
                    </a:solidFill>
                    <a:latin typeface="Cambria Math" panose="02040503050406030204" pitchFamily="18" charset="0"/>
                    <a:ea typeface="+mn-ea"/>
                    <a:cs typeface="+mn-cs"/>
                  </a:rPr>
                  <a:t> </a:t>
                </a:r>
                <a:r>
                  <a:rPr lang="en-IN" sz="1200" i="0" kern="1200">
                    <a:solidFill>
                      <a:schemeClr val="tx1"/>
                    </a:solidFill>
                    <a:latin typeface="+mn-lt"/>
                    <a:ea typeface="+mn-ea"/>
                    <a:cs typeface="+mn-cs"/>
                  </a:rPr>
                  <a:t>∇𝐽</a:t>
                </a:r>
                <a:r>
                  <a:rPr lang="ar-AE" sz="1200" i="0" kern="1200">
                    <a:solidFill>
                      <a:schemeClr val="tx1"/>
                    </a:solidFill>
                    <a:latin typeface="+mn-lt"/>
                    <a:ea typeface="+mn-ea"/>
                    <a:cs typeface="+mn-cs"/>
                  </a:rPr>
                  <a:t>(𝑤^∗ )=0</a:t>
                </a:r>
                <a:endParaRPr lang="ar-AE" dirty="0"/>
              </a:p>
              <a:p>
                <a:endParaRPr lang="en-IN" dirty="0"/>
              </a:p>
            </p:txBody>
          </p:sp>
        </mc:Fallback>
      </mc:AlternateContent>
      <p:sp>
        <p:nvSpPr>
          <p:cNvPr id="4" name="Slide Number Placeholder 3">
            <a:extLst>
              <a:ext uri="{FF2B5EF4-FFF2-40B4-BE49-F238E27FC236}">
                <a16:creationId xmlns:a16="http://schemas.microsoft.com/office/drawing/2014/main" id="{3CA60E0F-FE1B-850A-4BF7-5C5B68DB8DB3}"/>
              </a:ext>
            </a:extLst>
          </p:cNvPr>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28591921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34</a:t>
            </a:fld>
            <a:endParaRPr lang="en-US"/>
          </a:p>
        </p:txBody>
      </p:sp>
    </p:spTree>
    <p:extLst>
      <p:ext uri="{BB962C8B-B14F-4D97-AF65-F5344CB8AC3E}">
        <p14:creationId xmlns:p14="http://schemas.microsoft.com/office/powerpoint/2010/main" val="2492474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42</a:t>
            </a:fld>
            <a:endParaRPr lang="en-US"/>
          </a:p>
        </p:txBody>
      </p:sp>
    </p:spTree>
    <p:extLst>
      <p:ext uri="{BB962C8B-B14F-4D97-AF65-F5344CB8AC3E}">
        <p14:creationId xmlns:p14="http://schemas.microsoft.com/office/powerpoint/2010/main" val="3928243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45</a:t>
            </a:fld>
            <a:endParaRPr lang="en-US"/>
          </a:p>
        </p:txBody>
      </p:sp>
    </p:spTree>
    <p:extLst>
      <p:ext uri="{BB962C8B-B14F-4D97-AF65-F5344CB8AC3E}">
        <p14:creationId xmlns:p14="http://schemas.microsoft.com/office/powerpoint/2010/main" val="18502830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46</a:t>
            </a:fld>
            <a:endParaRPr lang="en-US"/>
          </a:p>
        </p:txBody>
      </p:sp>
    </p:spTree>
    <p:extLst>
      <p:ext uri="{BB962C8B-B14F-4D97-AF65-F5344CB8AC3E}">
        <p14:creationId xmlns:p14="http://schemas.microsoft.com/office/powerpoint/2010/main" val="19203278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73189-8536-E1F0-718B-4AFFC347D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67FD5-52CE-86C7-F73F-ED78FA09BE4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EBBE311-1604-9694-3090-E8391CBDEF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D44944-D30D-049F-36AE-1EB9A7C34C1A}"/>
              </a:ext>
            </a:extLst>
          </p:cNvPr>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2569947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70B9C-E89A-AA93-EA1A-5E2E5034B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E830A-058F-16F1-7FF9-53747C8F4DD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6E8F1C-ACFE-CEC6-C425-F5203930BB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F9A08E-763E-58DF-506D-F6C5E84E2927}"/>
              </a:ext>
            </a:extLst>
          </p:cNvPr>
          <p:cNvSpPr>
            <a:spLocks noGrp="1"/>
          </p:cNvSpPr>
          <p:nvPr>
            <p:ph type="sldNum" sz="quarter" idx="5"/>
          </p:nvPr>
        </p:nvSpPr>
        <p:spPr/>
        <p:txBody>
          <a:bodyPr/>
          <a:lstStyle/>
          <a:p>
            <a:fld id="{C1EDAD17-33F0-4D65-82A5-1BBB03DED615}" type="slidenum">
              <a:rPr lang="en-US" smtClean="0"/>
              <a:t>48</a:t>
            </a:fld>
            <a:endParaRPr lang="en-US"/>
          </a:p>
        </p:txBody>
      </p:sp>
    </p:spTree>
    <p:extLst>
      <p:ext uri="{BB962C8B-B14F-4D97-AF65-F5344CB8AC3E}">
        <p14:creationId xmlns:p14="http://schemas.microsoft.com/office/powerpoint/2010/main" val="32917492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49</a:t>
            </a:fld>
            <a:endParaRPr lang="en-US"/>
          </a:p>
        </p:txBody>
      </p:sp>
    </p:spTree>
    <p:extLst>
      <p:ext uri="{BB962C8B-B14F-4D97-AF65-F5344CB8AC3E}">
        <p14:creationId xmlns:p14="http://schemas.microsoft.com/office/powerpoint/2010/main" val="3677075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CA0D6-0A5B-808C-4A3A-FD203430B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F9FD6-2418-120C-B09D-53CDF82CC30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8DE5F4-4A6C-F5B0-8BAC-08F43E39FB1B}"/>
              </a:ext>
            </a:extLst>
          </p:cNvPr>
          <p:cNvSpPr>
            <a:spLocks noGrp="1"/>
          </p:cNvSpPr>
          <p:nvPr>
            <p:ph type="body" idx="1"/>
          </p:nvPr>
        </p:nvSpPr>
        <p:spPr/>
        <p:txBody>
          <a:bodyPr/>
          <a:lstStyle/>
          <a:p>
            <a:r>
              <a:rPr lang="en-IN" dirty="0"/>
              <a:t>https://medium.com/the-ml-intuition/l1-vs-l2-regularization-vs-weight-decay-key-differences-every-ml-engineer-must-know-5f13625301cf</a:t>
            </a:r>
          </a:p>
        </p:txBody>
      </p:sp>
      <p:sp>
        <p:nvSpPr>
          <p:cNvPr id="4" name="Slide Number Placeholder 3">
            <a:extLst>
              <a:ext uri="{FF2B5EF4-FFF2-40B4-BE49-F238E27FC236}">
                <a16:creationId xmlns:a16="http://schemas.microsoft.com/office/drawing/2014/main" id="{42D1E1F8-CEC9-36DE-D357-F754F9E1CE91}"/>
              </a:ext>
            </a:extLst>
          </p:cNvPr>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35794710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https://www.youtube.com/watch?v=aBgMRXSqd04</a:t>
            </a:r>
          </a:p>
        </p:txBody>
      </p:sp>
      <p:sp>
        <p:nvSpPr>
          <p:cNvPr id="4" name="Slide Number Placeholder 3"/>
          <p:cNvSpPr>
            <a:spLocks noGrp="1"/>
          </p:cNvSpPr>
          <p:nvPr>
            <p:ph type="sldNum" sz="quarter" idx="5"/>
          </p:nvPr>
        </p:nvSpPr>
        <p:spPr/>
        <p:txBody>
          <a:bodyPr/>
          <a:lstStyle/>
          <a:p>
            <a:fld id="{C1EDAD17-33F0-4D65-82A5-1BBB03DED615}" type="slidenum">
              <a:rPr lang="en-US" smtClean="0"/>
              <a:t>52</a:t>
            </a:fld>
            <a:endParaRPr lang="en-US"/>
          </a:p>
        </p:txBody>
      </p:sp>
    </p:spTree>
    <p:extLst>
      <p:ext uri="{BB962C8B-B14F-4D97-AF65-F5344CB8AC3E}">
        <p14:creationId xmlns:p14="http://schemas.microsoft.com/office/powerpoint/2010/main" val="434160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In </a:t>
                </a:r>
                <a14:m>
                  <m:oMath xmlns:m="http://schemas.openxmlformats.org/officeDocument/2006/math">
                    <m: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𝑤</m:t>
                    </m:r>
                    <m:sSubSup>
                      <m:sSubSupPr>
                        <m:ctrlPr>
                          <a:rPr lang="ar-AE" sz="1200" i="1" kern="1200">
                            <a:solidFill>
                              <a:schemeClr val="tx1"/>
                            </a:solidFill>
                            <a:latin typeface="Cambria Math" panose="02040503050406030204" pitchFamily="18" charset="0"/>
                            <a:ea typeface="+mn-ea"/>
                            <a:cs typeface="+mn-cs"/>
                          </a:rPr>
                        </m:ctrlPr>
                      </m:sSubSupPr>
                      <m:e>
                        <m:r>
                          <a:rPr lang="ar-AE" sz="1200" i="0" kern="1200">
                            <a:solidFill>
                              <a:schemeClr val="tx1"/>
                            </a:solidFill>
                            <a:latin typeface="Cambria Math" panose="02040503050406030204" pitchFamily="18" charset="0"/>
                            <a:ea typeface="+mn-ea"/>
                            <a:cs typeface="+mn-cs"/>
                          </a:rPr>
                          <m:t>∥</m:t>
                        </m:r>
                      </m:e>
                      <m:sub>
                        <m:r>
                          <a:rPr lang="ar-AE" sz="1200" i="0" kern="1200">
                            <a:solidFill>
                              <a:schemeClr val="tx1"/>
                            </a:solidFill>
                            <a:latin typeface="Cambria Math" panose="02040503050406030204" pitchFamily="18" charset="0"/>
                            <a:ea typeface="+mn-ea"/>
                            <a:cs typeface="+mn-cs"/>
                          </a:rPr>
                          <m:t>2</m:t>
                        </m:r>
                      </m:sub>
                      <m:sup>
                        <m:r>
                          <a:rPr lang="ar-AE" sz="1200" i="0" kern="1200">
                            <a:solidFill>
                              <a:schemeClr val="tx1"/>
                            </a:solidFill>
                            <a:latin typeface="Cambria Math" panose="02040503050406030204" pitchFamily="18" charset="0"/>
                            <a:ea typeface="+mn-ea"/>
                            <a:cs typeface="+mn-cs"/>
                          </a:rPr>
                          <m:t>2</m:t>
                        </m:r>
                      </m:sup>
                    </m:sSubSup>
                  </m:oMath>
                </a14:m>
                <a:r>
                  <a:rPr lang="ar-AE" dirty="0"/>
                  <a:t>, </a:t>
                </a:r>
                <a:r>
                  <a:rPr lang="en-IN" dirty="0"/>
                  <a:t>the subscript 2 denotes the L2 norm, and the exponent 2 means squaring it, resulting in the sum of squared weights.</a:t>
                </a:r>
              </a:p>
            </p:txBody>
          </p:sp>
        </mc:Choice>
        <mc:Fallback xmlns="">
          <p:sp>
            <p:nvSpPr>
              <p:cNvPr id="3" name="Notes Placeholder 2"/>
              <p:cNvSpPr>
                <a:spLocks noGrp="1"/>
              </p:cNvSpPr>
              <p:nvPr>
                <p:ph type="body" idx="1"/>
              </p:nvPr>
            </p:nvSpPr>
            <p:spPr/>
            <p:txBody>
              <a:bodyPr/>
              <a:lstStyle/>
              <a:p>
                <a:r>
                  <a:rPr lang="en-IN" dirty="0"/>
                  <a:t>In </a:t>
                </a:r>
                <a:r>
                  <a:rPr lang="en-IN" sz="1200" i="0" kern="1200">
                    <a:solidFill>
                      <a:schemeClr val="tx1"/>
                    </a:solidFill>
                    <a:latin typeface="+mn-lt"/>
                    <a:ea typeface="+mn-ea"/>
                    <a:cs typeface="+mn-cs"/>
                  </a:rPr>
                  <a:t>∥𝑤</a:t>
                </a:r>
                <a:r>
                  <a:rPr lang="ar-AE" sz="1200" i="0" kern="1200">
                    <a:solidFill>
                      <a:schemeClr val="tx1"/>
                    </a:solidFill>
                    <a:latin typeface="+mn-lt"/>
                    <a:ea typeface="+mn-ea"/>
                    <a:cs typeface="+mn-cs"/>
                  </a:rPr>
                  <a:t>∥_2^2</a:t>
                </a:r>
                <a:r>
                  <a:rPr lang="ar-AE" dirty="0"/>
                  <a:t>, </a:t>
                </a:r>
                <a:r>
                  <a:rPr lang="en-IN" dirty="0"/>
                  <a:t>the subscript 2 denotes the L2 norm, and the exponent 2 means squaring it, resulting in the sum of squared weights.</a:t>
                </a:r>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382147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a:t>https://medium.com/analytics-vidhya/regularization-understanding-l1-and-l2-regularization-for-deep-learning-a7b9e4a409bf</a:t>
            </a:r>
          </a:p>
        </p:txBody>
      </p:sp>
      <p:sp>
        <p:nvSpPr>
          <p:cNvPr id="4" name="Slide Number Placeholder 3"/>
          <p:cNvSpPr>
            <a:spLocks noGrp="1"/>
          </p:cNvSpPr>
          <p:nvPr>
            <p:ph type="sldNum" sz="quarter" idx="5"/>
          </p:nvPr>
        </p:nvSpPr>
        <p:spPr/>
        <p:txBody>
          <a:bodyPr/>
          <a:lstStyle/>
          <a:p>
            <a:fld id="{C1EDAD17-33F0-4D65-82A5-1BBB03DED615}" type="slidenum">
              <a:rPr lang="en-US" smtClean="0"/>
              <a:t>54</a:t>
            </a:fld>
            <a:endParaRPr lang="en-US"/>
          </a:p>
        </p:txBody>
      </p:sp>
    </p:spTree>
    <p:extLst>
      <p:ext uri="{BB962C8B-B14F-4D97-AF65-F5344CB8AC3E}">
        <p14:creationId xmlns:p14="http://schemas.microsoft.com/office/powerpoint/2010/main" val="11728926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62</a:t>
            </a:fld>
            <a:endParaRPr lang="en-US"/>
          </a:p>
        </p:txBody>
      </p:sp>
    </p:spTree>
    <p:extLst>
      <p:ext uri="{BB962C8B-B14F-4D97-AF65-F5344CB8AC3E}">
        <p14:creationId xmlns:p14="http://schemas.microsoft.com/office/powerpoint/2010/main" val="18551009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64</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21 March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21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21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21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21 March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21 March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21 March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21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21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21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21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21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21 March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1.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6.png"/><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4.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5.png"/><Relationship Id="rId7"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6.png"/><Relationship Id="rId9" Type="http://schemas.openxmlformats.org/officeDocument/2006/relationships/image" Target="../media/image53.png"/></Relationships>
</file>

<file path=ppt/slides/_rels/slide3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5.png"/><Relationship Id="rId7"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61.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9.png"/><Relationship Id="rId7" Type="http://schemas.openxmlformats.org/officeDocument/2006/relationships/image" Target="../media/image61.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7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44.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2.png"/><Relationship Id="rId7" Type="http://schemas.openxmlformats.org/officeDocument/2006/relationships/image" Target="../media/image85.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1.png"/><Relationship Id="rId9" Type="http://schemas.openxmlformats.org/officeDocument/2006/relationships/image" Target="../media/image87.png"/></Relationships>
</file>

<file path=ppt/slides/_rels/slide45.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4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2.png"/><Relationship Id="rId7" Type="http://schemas.openxmlformats.org/officeDocument/2006/relationships/image" Target="../media/image9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9" Type="http://schemas.openxmlformats.org/officeDocument/2006/relationships/image" Target="../media/image99.png"/></Relationships>
</file>

<file path=ppt/slides/_rels/slide48.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4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5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Unit-3</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Deep Learning: </a:t>
            </a:r>
            <a:r>
              <a:rPr lang="en-US" sz="2000" dirty="0">
                <a:solidFill>
                  <a:srgbClr val="262626"/>
                </a:solidFill>
                <a:latin typeface="Inter"/>
              </a:rPr>
              <a:t>Introduction, Parameter Norm Penalties - L2 Parameter Regularization, Dataset Augmentation, Semi-Supervised Learning, Multi-Task Learning, Early Stopping, Parameter Tying and Parameter Sharing, Sparse Representations, Dropout</a:t>
            </a:r>
            <a:endParaRPr lang="en-IN" sz="3600" dirty="0"/>
          </a:p>
          <a:p>
            <a:pPr algn="just"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Deep Learning ?</a:t>
            </a:r>
            <a:endParaRPr lang="en-US" dirty="0"/>
          </a:p>
        </p:txBody>
      </p:sp>
      <p:pic>
        <p:nvPicPr>
          <p:cNvPr id="7" name="Image1"/>
          <p:cNvPicPr/>
          <p:nvPr/>
        </p:nvPicPr>
        <p:blipFill>
          <a:blip r:embed="rId3">
            <a:lum/>
            <a:alphaModFix/>
          </a:blip>
          <a:srcRect/>
          <a:stretch>
            <a:fillRect/>
          </a:stretch>
        </p:blipFill>
        <p:spPr>
          <a:xfrm>
            <a:off x="2514600" y="1236094"/>
            <a:ext cx="6869748" cy="3699510"/>
          </a:xfrm>
          <a:prstGeom prst="rect">
            <a:avLst/>
          </a:prstGeom>
        </p:spPr>
      </p:pic>
      <p:sp>
        <p:nvSpPr>
          <p:cNvPr id="3" name="TextBox 2"/>
          <p:cNvSpPr txBox="1"/>
          <p:nvPr/>
        </p:nvSpPr>
        <p:spPr>
          <a:xfrm>
            <a:off x="2209801" y="3471295"/>
            <a:ext cx="1640193" cy="646331"/>
          </a:xfrm>
          <a:prstGeom prst="rect">
            <a:avLst/>
          </a:prstGeom>
          <a:noFill/>
        </p:spPr>
        <p:txBody>
          <a:bodyPr wrap="none" rtlCol="0">
            <a:spAutoFit/>
          </a:bodyPr>
          <a:lstStyle/>
          <a:p>
            <a:r>
              <a:rPr lang="en-US" dirty="0"/>
              <a:t>(Artificial </a:t>
            </a:r>
          </a:p>
          <a:p>
            <a:r>
              <a:rPr lang="en-US" dirty="0"/>
              <a:t>Intelligence)</a:t>
            </a:r>
          </a:p>
        </p:txBody>
      </p:sp>
      <p:sp>
        <p:nvSpPr>
          <p:cNvPr id="9" name="TextBox 8"/>
          <p:cNvSpPr txBox="1"/>
          <p:nvPr/>
        </p:nvSpPr>
        <p:spPr>
          <a:xfrm>
            <a:off x="5725622" y="4944070"/>
            <a:ext cx="4942379" cy="923330"/>
          </a:xfrm>
          <a:prstGeom prst="rect">
            <a:avLst/>
          </a:prstGeom>
          <a:noFill/>
        </p:spPr>
        <p:txBody>
          <a:bodyPr wrap="none" rtlCol="0">
            <a:spAutoFit/>
          </a:bodyPr>
          <a:lstStyle/>
          <a:p>
            <a:r>
              <a:rPr lang="en-IN" b="1" dirty="0"/>
              <a:t>Deep Learning </a:t>
            </a:r>
            <a:r>
              <a:rPr lang="en-IN" dirty="0"/>
              <a:t>is a category of</a:t>
            </a:r>
          </a:p>
          <a:p>
            <a:r>
              <a:rPr lang="en-IN" dirty="0"/>
              <a:t>machine learning models (=algorithms)</a:t>
            </a:r>
          </a:p>
          <a:p>
            <a:r>
              <a:rPr lang="en-IN" dirty="0"/>
              <a:t>that use </a:t>
            </a:r>
            <a:r>
              <a:rPr lang="en-IN" b="1" dirty="0">
                <a:solidFill>
                  <a:srgbClr val="0000FF"/>
                </a:solidFill>
              </a:rPr>
              <a:t>multi-layer neural networks</a:t>
            </a:r>
            <a:r>
              <a:rPr lang="en-IN" dirty="0"/>
              <a:t>.</a:t>
            </a:r>
            <a:endParaRPr lang="en-US" dirty="0"/>
          </a:p>
        </p:txBody>
      </p:sp>
      <p:sp>
        <p:nvSpPr>
          <p:cNvPr id="8" name="Slide Number Placeholder 7">
            <a:extLst>
              <a:ext uri="{FF2B5EF4-FFF2-40B4-BE49-F238E27FC236}">
                <a16:creationId xmlns:a16="http://schemas.microsoft.com/office/drawing/2014/main" id="{75FCF6DB-BF13-2B27-9767-61A4A00AE48B}"/>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810116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Difference between</a:t>
            </a:r>
          </a:p>
        </p:txBody>
      </p:sp>
      <p:sp>
        <p:nvSpPr>
          <p:cNvPr id="9219" name="Rectangle 3"/>
          <p:cNvSpPr>
            <a:spLocks noGrp="1" noChangeArrowheads="1"/>
          </p:cNvSpPr>
          <p:nvPr>
            <p:ph type="subTitle" idx="1"/>
          </p:nvPr>
        </p:nvSpPr>
        <p:spPr>
          <a:xfrm>
            <a:off x="1981200" y="3200400"/>
            <a:ext cx="8382000" cy="1600200"/>
          </a:xfrm>
        </p:spPr>
        <p:txBody>
          <a:bodyPr/>
          <a:lstStyle/>
          <a:p>
            <a:pPr algn="ctr">
              <a:lnSpc>
                <a:spcPct val="80000"/>
              </a:lnSpc>
            </a:pPr>
            <a:r>
              <a:rPr lang="en-US" altLang="en-US" dirty="0"/>
              <a:t>Traditional Machine Learning (ML)</a:t>
            </a:r>
          </a:p>
          <a:p>
            <a:pPr algn="ctr">
              <a:lnSpc>
                <a:spcPct val="80000"/>
              </a:lnSpc>
            </a:pPr>
            <a:r>
              <a:rPr lang="en-US" altLang="en-US" dirty="0"/>
              <a:t>And</a:t>
            </a:r>
          </a:p>
          <a:p>
            <a:pPr algn="ctr">
              <a:lnSpc>
                <a:spcPct val="80000"/>
              </a:lnSpc>
            </a:pPr>
            <a:r>
              <a:rPr lang="en-US" altLang="en-US" dirty="0"/>
              <a:t>Deep Learning (DL)</a:t>
            </a:r>
          </a:p>
        </p:txBody>
      </p:sp>
      <p:sp>
        <p:nvSpPr>
          <p:cNvPr id="5" name="AutoShape 2" descr="Image result for active learning classroom strategies"/>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Slide Number Placeholder 6">
            <a:extLst>
              <a:ext uri="{FF2B5EF4-FFF2-40B4-BE49-F238E27FC236}">
                <a16:creationId xmlns:a16="http://schemas.microsoft.com/office/drawing/2014/main" id="{13740D88-6618-16F2-2A6D-EE3CD1E7300D}"/>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429130209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Difference between Traditional ML and DL</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0"/>
            <a:ext cx="7957766"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Content Placeholder 6"/>
          <p:cNvGraphicFramePr>
            <a:graphicFrameLocks/>
          </p:cNvGraphicFramePr>
          <p:nvPr/>
        </p:nvGraphicFramePr>
        <p:xfrm>
          <a:off x="2057400" y="4704080"/>
          <a:ext cx="8001000" cy="101092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370840">
                <a:tc>
                  <a:txBody>
                    <a:bodyPr/>
                    <a:lstStyle/>
                    <a:p>
                      <a:pPr algn="ctr"/>
                      <a:r>
                        <a:rPr lang="en-US" b="1" dirty="0">
                          <a:solidFill>
                            <a:schemeClr val="tx1"/>
                          </a:solidFill>
                        </a:rPr>
                        <a:t>Traditional Machine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chemeClr val="tx1"/>
                          </a:solidFill>
                        </a:rPr>
                        <a:t>Deep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1800" b="0" i="0" kern="1200" dirty="0">
                          <a:solidFill>
                            <a:schemeClr val="dk1"/>
                          </a:solidFill>
                          <a:effectLst/>
                          <a:latin typeface="+mn-lt"/>
                          <a:ea typeface="+mn-ea"/>
                          <a:cs typeface="+mn-cs"/>
                        </a:rPr>
                        <a:t>We</a:t>
                      </a:r>
                      <a:r>
                        <a:rPr lang="en-US" sz="1800" b="0" i="0" kern="1200" baseline="0" dirty="0">
                          <a:solidFill>
                            <a:schemeClr val="dk1"/>
                          </a:solidFill>
                          <a:effectLst/>
                          <a:latin typeface="+mn-lt"/>
                          <a:ea typeface="+mn-ea"/>
                          <a:cs typeface="+mn-cs"/>
                        </a:rPr>
                        <a:t> need to </a:t>
                      </a:r>
                      <a:r>
                        <a:rPr lang="en-US" sz="1800" b="0" i="0" kern="1200" dirty="0">
                          <a:solidFill>
                            <a:schemeClr val="dk1"/>
                          </a:solidFill>
                          <a:effectLst/>
                          <a:latin typeface="+mn-lt"/>
                          <a:ea typeface="+mn-ea"/>
                          <a:cs typeface="+mn-cs"/>
                        </a:rPr>
                        <a:t>hand-craft the features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i="0" kern="1200" dirty="0">
                          <a:solidFill>
                            <a:schemeClr val="dk1"/>
                          </a:solidFill>
                          <a:effectLst/>
                          <a:latin typeface="+mn-lt"/>
                          <a:ea typeface="+mn-ea"/>
                          <a:cs typeface="+mn-cs"/>
                        </a:rPr>
                        <a:t>Feature engineering is done automatically </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3" name="Slide Number Placeholder 2">
            <a:extLst>
              <a:ext uri="{FF2B5EF4-FFF2-40B4-BE49-F238E27FC236}">
                <a16:creationId xmlns:a16="http://schemas.microsoft.com/office/drawing/2014/main" id="{02651765-A4EF-5F4F-5E29-9063D8F22473}"/>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546369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C3BF-C39D-F5B3-37B6-8C0B2F6238DF}"/>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B6D4E1-2078-6FEC-4414-089982403147}"/>
              </a:ext>
            </a:extLst>
          </p:cNvPr>
          <p:cNvSpPr>
            <a:spLocks noGrp="1" noChangeArrowheads="1"/>
          </p:cNvSpPr>
          <p:nvPr>
            <p:ph type="ctrTitle"/>
          </p:nvPr>
        </p:nvSpPr>
        <p:spPr/>
        <p:txBody>
          <a:bodyPr/>
          <a:lstStyle/>
          <a:p>
            <a:pPr eaLnBrk="1" hangingPunct="1"/>
            <a:r>
              <a:rPr lang="en-US" altLang="en-US" sz="2800" dirty="0"/>
              <a:t>Unit-3</a:t>
            </a:r>
          </a:p>
        </p:txBody>
      </p:sp>
      <p:sp>
        <p:nvSpPr>
          <p:cNvPr id="9219" name="Rectangle 3">
            <a:extLst>
              <a:ext uri="{FF2B5EF4-FFF2-40B4-BE49-F238E27FC236}">
                <a16:creationId xmlns:a16="http://schemas.microsoft.com/office/drawing/2014/main" id="{63B29DCA-83F1-8950-3AEA-F649B71B3583}"/>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Deep Learning: </a:t>
            </a:r>
            <a:r>
              <a:rPr lang="en-US" sz="2000" dirty="0">
                <a:solidFill>
                  <a:srgbClr val="0000CC"/>
                </a:solidFill>
                <a:latin typeface="Inter"/>
              </a:rPr>
              <a:t>Introduction, Parameter Norm Penalties - L2 Parameter Regularization, </a:t>
            </a:r>
            <a:r>
              <a:rPr lang="en-US" sz="2000" dirty="0">
                <a:solidFill>
                  <a:srgbClr val="262626"/>
                </a:solidFill>
                <a:latin typeface="Inter"/>
              </a:rPr>
              <a:t>Dataset Augmentation, Semi-Supervised Learning, Multi-Task Learning, Early Stopping, Parameter Tying and Parameter Sharing, Sparse Representations, Dropout</a:t>
            </a:r>
            <a:endParaRPr lang="en-IN" sz="3600" dirty="0"/>
          </a:p>
          <a:p>
            <a:pPr algn="just"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7D79AE95-A7B8-64EB-8F97-8514F4A89D87}"/>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181866072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6B642-0001-4440-A963-D67A2151F1AE}"/>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CDC5F708-A330-4811-BA47-01573B7A6F82}"/>
              </a:ext>
            </a:extLst>
          </p:cNvPr>
          <p:cNvSpPr>
            <a:spLocks noGrp="1"/>
          </p:cNvSpPr>
          <p:nvPr>
            <p:ph idx="1"/>
          </p:nvPr>
        </p:nvSpPr>
        <p:spPr/>
        <p:txBody>
          <a:bodyPr/>
          <a:lstStyle/>
          <a:p>
            <a:pPr marL="0" indent="0">
              <a:buNone/>
            </a:pPr>
            <a:r>
              <a:rPr lang="en-US" dirty="0"/>
              <a:t>Bias, Variance, Overfitting, Underfitting</a:t>
            </a:r>
            <a:endParaRPr lang="en-IN" dirty="0"/>
          </a:p>
        </p:txBody>
      </p:sp>
      <p:sp>
        <p:nvSpPr>
          <p:cNvPr id="5" name="Slide Number Placeholder 4">
            <a:extLst>
              <a:ext uri="{FF2B5EF4-FFF2-40B4-BE49-F238E27FC236}">
                <a16:creationId xmlns:a16="http://schemas.microsoft.com/office/drawing/2014/main" id="{0980CAFF-715F-4FE4-FBA1-D5E9A5016EDA}"/>
              </a:ext>
            </a:extLst>
          </p:cNvPr>
          <p:cNvSpPr>
            <a:spLocks noGrp="1"/>
          </p:cNvSpPr>
          <p:nvPr>
            <p:ph type="sldNum" sz="quarter" idx="12"/>
          </p:nvPr>
        </p:nvSpPr>
        <p:spPr/>
        <p:txBody>
          <a:bodyPr/>
          <a:lstStyle/>
          <a:p>
            <a:fld id="{BB2CE0DE-867F-455F-B20B-96D381B4AB71}" type="slidenum">
              <a:rPr lang="en-US" smtClean="0"/>
              <a:t>7</a:t>
            </a:fld>
            <a:endParaRPr lang="en-US"/>
          </a:p>
        </p:txBody>
      </p:sp>
    </p:spTree>
    <p:extLst>
      <p:ext uri="{BB962C8B-B14F-4D97-AF65-F5344CB8AC3E}">
        <p14:creationId xmlns:p14="http://schemas.microsoft.com/office/powerpoint/2010/main" val="1513346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D8BD76F7-E86F-4D40-8210-ED4EFD52AF9A}"/>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4E756512-6007-4253-B778-6C054702CD69}"/>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4D3CF752-D9C2-D2BF-BDB4-86E849D8D379}"/>
              </a:ext>
            </a:extLst>
          </p:cNvPr>
          <p:cNvSpPr txBox="1"/>
          <p:nvPr/>
        </p:nvSpPr>
        <p:spPr>
          <a:xfrm>
            <a:off x="247768" y="4731870"/>
            <a:ext cx="11878188" cy="369332"/>
          </a:xfrm>
          <a:prstGeom prst="rect">
            <a:avLst/>
          </a:prstGeom>
          <a:noFill/>
        </p:spPr>
        <p:txBody>
          <a:bodyPr wrap="none" rtlCol="0">
            <a:spAutoFit/>
          </a:bodyPr>
          <a:lstStyle/>
          <a:p>
            <a:r>
              <a:rPr lang="en-US" b="1" dirty="0"/>
              <a:t>Bias: </a:t>
            </a:r>
            <a:r>
              <a:rPr lang="en-US" dirty="0"/>
              <a:t>Inability of machine Learning (ML) model to truly capture the relationship of the training data.</a:t>
            </a:r>
          </a:p>
        </p:txBody>
      </p:sp>
      <p:sp>
        <p:nvSpPr>
          <p:cNvPr id="3" name="Slide Number Placeholder 2">
            <a:extLst>
              <a:ext uri="{FF2B5EF4-FFF2-40B4-BE49-F238E27FC236}">
                <a16:creationId xmlns:a16="http://schemas.microsoft.com/office/drawing/2014/main" id="{76F35898-F3D3-6EE9-7174-20278CCEEDFC}"/>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3857759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C2F67-7B7D-A64C-D6D1-26051AD9B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4FA0D-FD80-CCAD-7710-5E128F99EDED}"/>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F349CC5A-84FF-9273-F587-D6B7D7E39638}"/>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A770EBB0-D964-892D-66C4-8065E1600F6F}"/>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29E4A273-D6C9-391C-8678-3EA0C6A9A9CE}"/>
              </a:ext>
            </a:extLst>
          </p:cNvPr>
          <p:cNvSpPr txBox="1"/>
          <p:nvPr/>
        </p:nvSpPr>
        <p:spPr>
          <a:xfrm>
            <a:off x="247768" y="4731870"/>
            <a:ext cx="11218520" cy="584775"/>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p:txBody>
      </p:sp>
      <p:sp>
        <p:nvSpPr>
          <p:cNvPr id="3" name="TextBox 2">
            <a:extLst>
              <a:ext uri="{FF2B5EF4-FFF2-40B4-BE49-F238E27FC236}">
                <a16:creationId xmlns:a16="http://schemas.microsoft.com/office/drawing/2014/main" id="{EBB12844-DB09-3DF4-3808-E0DBECFDE1EA}"/>
              </a:ext>
            </a:extLst>
          </p:cNvPr>
          <p:cNvSpPr txBox="1"/>
          <p:nvPr/>
        </p:nvSpPr>
        <p:spPr>
          <a:xfrm>
            <a:off x="1600200" y="3288269"/>
            <a:ext cx="1274708" cy="369332"/>
          </a:xfrm>
          <a:prstGeom prst="rect">
            <a:avLst/>
          </a:prstGeom>
          <a:noFill/>
        </p:spPr>
        <p:txBody>
          <a:bodyPr wrap="none" rtlCol="0">
            <a:spAutoFit/>
          </a:bodyPr>
          <a:lstStyle/>
          <a:p>
            <a:r>
              <a:rPr lang="en-IN" dirty="0"/>
              <a:t>High Bias</a:t>
            </a:r>
          </a:p>
        </p:txBody>
      </p:sp>
      <p:sp>
        <p:nvSpPr>
          <p:cNvPr id="7" name="TextBox 6">
            <a:extLst>
              <a:ext uri="{FF2B5EF4-FFF2-40B4-BE49-F238E27FC236}">
                <a16:creationId xmlns:a16="http://schemas.microsoft.com/office/drawing/2014/main" id="{91D3E388-A625-1F0F-3D43-13AF6D85355F}"/>
              </a:ext>
            </a:extLst>
          </p:cNvPr>
          <p:cNvSpPr txBox="1"/>
          <p:nvPr/>
        </p:nvSpPr>
        <p:spPr>
          <a:xfrm>
            <a:off x="8783692" y="3288269"/>
            <a:ext cx="1204176" cy="369332"/>
          </a:xfrm>
          <a:prstGeom prst="rect">
            <a:avLst/>
          </a:prstGeom>
          <a:noFill/>
        </p:spPr>
        <p:txBody>
          <a:bodyPr wrap="none" rtlCol="0">
            <a:spAutoFit/>
          </a:bodyPr>
          <a:lstStyle/>
          <a:p>
            <a:r>
              <a:rPr lang="en-IN" dirty="0"/>
              <a:t>Low Bias</a:t>
            </a:r>
          </a:p>
        </p:txBody>
      </p:sp>
      <p:sp>
        <p:nvSpPr>
          <p:cNvPr id="8" name="Slide Number Placeholder 7">
            <a:extLst>
              <a:ext uri="{FF2B5EF4-FFF2-40B4-BE49-F238E27FC236}">
                <a16:creationId xmlns:a16="http://schemas.microsoft.com/office/drawing/2014/main" id="{5DA4ECAF-6DED-F7D7-0BEE-2CAD3C822CB4}"/>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99314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34BEB-A975-9625-C847-76067D527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6678C-0411-1996-B35C-5173F16C0678}"/>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FEB3F93B-15CA-83AA-3176-07E04699F8B7}"/>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6E533A09-3546-0FD6-154A-D71A36FA86A5}"/>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34E07AA9-E8F1-4676-0C38-EF54241BBA1F}"/>
              </a:ext>
            </a:extLst>
          </p:cNvPr>
          <p:cNvSpPr txBox="1"/>
          <p:nvPr/>
        </p:nvSpPr>
        <p:spPr>
          <a:xfrm>
            <a:off x="247768" y="4731870"/>
            <a:ext cx="11218520" cy="1077218"/>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a:p>
            <a:r>
              <a:rPr lang="en-US" sz="1600" b="1" dirty="0"/>
              <a:t>Overfitting: </a:t>
            </a:r>
            <a:r>
              <a:rPr lang="en-US" sz="1600" dirty="0"/>
              <a:t>ML model of training data is performing well but  on test data it is not doing well.</a:t>
            </a:r>
          </a:p>
          <a:p>
            <a:r>
              <a:rPr lang="en-US" sz="1600" b="1" dirty="0"/>
              <a:t>Underfitting:</a:t>
            </a:r>
            <a:r>
              <a:rPr lang="en-US" sz="1600" dirty="0"/>
              <a:t> ML model is not capturing the relationship in the training data.</a:t>
            </a:r>
            <a:endParaRPr lang="en-IN" sz="1600" dirty="0"/>
          </a:p>
        </p:txBody>
      </p:sp>
      <p:sp>
        <p:nvSpPr>
          <p:cNvPr id="3" name="TextBox 2">
            <a:extLst>
              <a:ext uri="{FF2B5EF4-FFF2-40B4-BE49-F238E27FC236}">
                <a16:creationId xmlns:a16="http://schemas.microsoft.com/office/drawing/2014/main" id="{637D6245-5053-6FCC-11E8-4C15B0EF2D3E}"/>
              </a:ext>
            </a:extLst>
          </p:cNvPr>
          <p:cNvSpPr txBox="1"/>
          <p:nvPr/>
        </p:nvSpPr>
        <p:spPr>
          <a:xfrm>
            <a:off x="1447800" y="3258234"/>
            <a:ext cx="1696618" cy="646331"/>
          </a:xfrm>
          <a:prstGeom prst="rect">
            <a:avLst/>
          </a:prstGeom>
          <a:noFill/>
        </p:spPr>
        <p:txBody>
          <a:bodyPr wrap="none" rtlCol="0">
            <a:spAutoFit/>
          </a:bodyPr>
          <a:lstStyle/>
          <a:p>
            <a:r>
              <a:rPr lang="en-IN" dirty="0"/>
              <a:t>High Bias</a:t>
            </a:r>
          </a:p>
          <a:p>
            <a:r>
              <a:rPr lang="en-IN" dirty="0"/>
              <a:t>Low variance</a:t>
            </a:r>
          </a:p>
        </p:txBody>
      </p:sp>
      <p:sp>
        <p:nvSpPr>
          <p:cNvPr id="7" name="TextBox 6">
            <a:extLst>
              <a:ext uri="{FF2B5EF4-FFF2-40B4-BE49-F238E27FC236}">
                <a16:creationId xmlns:a16="http://schemas.microsoft.com/office/drawing/2014/main" id="{1A2709E1-6794-43C3-20C5-C64B3AD581C5}"/>
              </a:ext>
            </a:extLst>
          </p:cNvPr>
          <p:cNvSpPr txBox="1"/>
          <p:nvPr/>
        </p:nvSpPr>
        <p:spPr>
          <a:xfrm>
            <a:off x="8783692" y="3288269"/>
            <a:ext cx="1781193" cy="646331"/>
          </a:xfrm>
          <a:prstGeom prst="rect">
            <a:avLst/>
          </a:prstGeom>
          <a:noFill/>
        </p:spPr>
        <p:txBody>
          <a:bodyPr wrap="none" rtlCol="0">
            <a:spAutoFit/>
          </a:bodyPr>
          <a:lstStyle/>
          <a:p>
            <a:r>
              <a:rPr lang="en-IN" dirty="0"/>
              <a:t>Low Bias</a:t>
            </a:r>
          </a:p>
          <a:p>
            <a:r>
              <a:rPr lang="en-IN" dirty="0"/>
              <a:t>High Variance</a:t>
            </a:r>
          </a:p>
        </p:txBody>
      </p:sp>
      <p:sp>
        <p:nvSpPr>
          <p:cNvPr id="8" name="Slide Number Placeholder 7">
            <a:extLst>
              <a:ext uri="{FF2B5EF4-FFF2-40B4-BE49-F238E27FC236}">
                <a16:creationId xmlns:a16="http://schemas.microsoft.com/office/drawing/2014/main" id="{D962CDC1-B69F-D13B-312A-F0DA74CC93A2}"/>
              </a:ext>
            </a:extLst>
          </p:cNvPr>
          <p:cNvSpPr>
            <a:spLocks noGrp="1"/>
          </p:cNvSpPr>
          <p:nvPr>
            <p:ph type="sldNum" sz="quarter" idx="12"/>
          </p:nvPr>
        </p:nvSpPr>
        <p:spPr/>
        <p:txBody>
          <a:bodyPr/>
          <a:lstStyle/>
          <a:p>
            <a:fld id="{BB2CE0DE-867F-455F-B20B-96D381B4AB71}" type="slidenum">
              <a:rPr lang="en-US" smtClean="0"/>
              <a:t>10</a:t>
            </a:fld>
            <a:endParaRPr lang="en-US"/>
          </a:p>
        </p:txBody>
      </p:sp>
    </p:spTree>
    <p:extLst>
      <p:ext uri="{BB962C8B-B14F-4D97-AF65-F5344CB8AC3E}">
        <p14:creationId xmlns:p14="http://schemas.microsoft.com/office/powerpoint/2010/main" val="179397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D7A30-D0FE-D72D-95EF-7CD898E58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9E928-60E4-8F7C-908F-0C9940C1A45F}"/>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9BC7F31F-1D23-3043-5C3E-965ADFDDC3BB}"/>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0BAAC968-A325-F897-B373-55306F419277}"/>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93A535C1-7660-6B48-4EBC-155A166D0E8C}"/>
              </a:ext>
            </a:extLst>
          </p:cNvPr>
          <p:cNvSpPr txBox="1"/>
          <p:nvPr/>
        </p:nvSpPr>
        <p:spPr>
          <a:xfrm>
            <a:off x="247768" y="4731870"/>
            <a:ext cx="11218520" cy="1077218"/>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a:p>
            <a:r>
              <a:rPr lang="en-US" sz="1600" b="1" dirty="0"/>
              <a:t>Overfitting: </a:t>
            </a:r>
            <a:r>
              <a:rPr lang="en-US" sz="1600" dirty="0"/>
              <a:t>ML model of training data is performing well but  on test data it is not doing well.</a:t>
            </a:r>
          </a:p>
          <a:p>
            <a:r>
              <a:rPr lang="en-US" sz="1600" b="1" dirty="0"/>
              <a:t>Underfitting:</a:t>
            </a:r>
            <a:r>
              <a:rPr lang="en-US" sz="1600" dirty="0"/>
              <a:t> ML model is not capturing the relationship in the training data.</a:t>
            </a:r>
            <a:endParaRPr lang="en-IN" sz="1600" dirty="0"/>
          </a:p>
        </p:txBody>
      </p:sp>
      <p:sp>
        <p:nvSpPr>
          <p:cNvPr id="3" name="TextBox 2">
            <a:extLst>
              <a:ext uri="{FF2B5EF4-FFF2-40B4-BE49-F238E27FC236}">
                <a16:creationId xmlns:a16="http://schemas.microsoft.com/office/drawing/2014/main" id="{DF609F42-C345-5C8C-BA90-D64874F4DCF9}"/>
              </a:ext>
            </a:extLst>
          </p:cNvPr>
          <p:cNvSpPr txBox="1"/>
          <p:nvPr/>
        </p:nvSpPr>
        <p:spPr>
          <a:xfrm>
            <a:off x="1447800" y="3258234"/>
            <a:ext cx="1696618" cy="646331"/>
          </a:xfrm>
          <a:prstGeom prst="rect">
            <a:avLst/>
          </a:prstGeom>
          <a:noFill/>
        </p:spPr>
        <p:txBody>
          <a:bodyPr wrap="none" rtlCol="0">
            <a:spAutoFit/>
          </a:bodyPr>
          <a:lstStyle/>
          <a:p>
            <a:r>
              <a:rPr lang="en-IN" dirty="0"/>
              <a:t>High Bias</a:t>
            </a:r>
          </a:p>
          <a:p>
            <a:r>
              <a:rPr lang="en-IN" dirty="0"/>
              <a:t>Low variance</a:t>
            </a:r>
          </a:p>
        </p:txBody>
      </p:sp>
      <p:sp>
        <p:nvSpPr>
          <p:cNvPr id="7" name="TextBox 6">
            <a:extLst>
              <a:ext uri="{FF2B5EF4-FFF2-40B4-BE49-F238E27FC236}">
                <a16:creationId xmlns:a16="http://schemas.microsoft.com/office/drawing/2014/main" id="{B2DA8BE1-7900-63AE-88E6-A92F455739F6}"/>
              </a:ext>
            </a:extLst>
          </p:cNvPr>
          <p:cNvSpPr txBox="1"/>
          <p:nvPr/>
        </p:nvSpPr>
        <p:spPr>
          <a:xfrm>
            <a:off x="8783692" y="3288269"/>
            <a:ext cx="1781193" cy="646331"/>
          </a:xfrm>
          <a:prstGeom prst="rect">
            <a:avLst/>
          </a:prstGeom>
          <a:noFill/>
        </p:spPr>
        <p:txBody>
          <a:bodyPr wrap="none" rtlCol="0">
            <a:spAutoFit/>
          </a:bodyPr>
          <a:lstStyle/>
          <a:p>
            <a:r>
              <a:rPr lang="en-IN" dirty="0"/>
              <a:t>Low Bias</a:t>
            </a:r>
          </a:p>
          <a:p>
            <a:r>
              <a:rPr lang="en-IN" dirty="0"/>
              <a:t>High Variance</a:t>
            </a:r>
          </a:p>
        </p:txBody>
      </p:sp>
      <p:sp>
        <p:nvSpPr>
          <p:cNvPr id="8" name="TextBox 7">
            <a:extLst>
              <a:ext uri="{FF2B5EF4-FFF2-40B4-BE49-F238E27FC236}">
                <a16:creationId xmlns:a16="http://schemas.microsoft.com/office/drawing/2014/main" id="{8F45BE9F-C189-EC84-8844-6EB781068C6F}"/>
              </a:ext>
            </a:extLst>
          </p:cNvPr>
          <p:cNvSpPr txBox="1"/>
          <p:nvPr/>
        </p:nvSpPr>
        <p:spPr>
          <a:xfrm>
            <a:off x="5172882" y="3241301"/>
            <a:ext cx="1696618" cy="646331"/>
          </a:xfrm>
          <a:prstGeom prst="rect">
            <a:avLst/>
          </a:prstGeom>
          <a:noFill/>
        </p:spPr>
        <p:txBody>
          <a:bodyPr wrap="none" rtlCol="0">
            <a:spAutoFit/>
          </a:bodyPr>
          <a:lstStyle/>
          <a:p>
            <a:r>
              <a:rPr lang="en-IN" dirty="0"/>
              <a:t>Low Bias</a:t>
            </a:r>
          </a:p>
          <a:p>
            <a:r>
              <a:rPr lang="en-IN" dirty="0"/>
              <a:t>Low variance</a:t>
            </a:r>
          </a:p>
        </p:txBody>
      </p:sp>
      <p:sp>
        <p:nvSpPr>
          <p:cNvPr id="10" name="TextBox 9">
            <a:extLst>
              <a:ext uri="{FF2B5EF4-FFF2-40B4-BE49-F238E27FC236}">
                <a16:creationId xmlns:a16="http://schemas.microsoft.com/office/drawing/2014/main" id="{12EAAAF9-000F-F7E6-1FE4-B28A80EACA7B}"/>
              </a:ext>
            </a:extLst>
          </p:cNvPr>
          <p:cNvSpPr txBox="1"/>
          <p:nvPr/>
        </p:nvSpPr>
        <p:spPr>
          <a:xfrm>
            <a:off x="1425222" y="3984711"/>
            <a:ext cx="1561646" cy="369332"/>
          </a:xfrm>
          <a:prstGeom prst="rect">
            <a:avLst/>
          </a:prstGeom>
          <a:noFill/>
        </p:spPr>
        <p:txBody>
          <a:bodyPr wrap="none" rtlCol="0">
            <a:spAutoFit/>
          </a:bodyPr>
          <a:lstStyle/>
          <a:p>
            <a:r>
              <a:rPr lang="en-IN" dirty="0"/>
              <a:t>Underfitting</a:t>
            </a:r>
          </a:p>
        </p:txBody>
      </p:sp>
      <p:sp>
        <p:nvSpPr>
          <p:cNvPr id="11" name="TextBox 10">
            <a:extLst>
              <a:ext uri="{FF2B5EF4-FFF2-40B4-BE49-F238E27FC236}">
                <a16:creationId xmlns:a16="http://schemas.microsoft.com/office/drawing/2014/main" id="{0A1F579D-C1DD-27E1-17E0-1ABFB159937C}"/>
              </a:ext>
            </a:extLst>
          </p:cNvPr>
          <p:cNvSpPr txBox="1"/>
          <p:nvPr/>
        </p:nvSpPr>
        <p:spPr>
          <a:xfrm>
            <a:off x="8811914" y="3929378"/>
            <a:ext cx="1418530" cy="369332"/>
          </a:xfrm>
          <a:prstGeom prst="rect">
            <a:avLst/>
          </a:prstGeom>
          <a:noFill/>
        </p:spPr>
        <p:txBody>
          <a:bodyPr wrap="none" rtlCol="0">
            <a:spAutoFit/>
          </a:bodyPr>
          <a:lstStyle/>
          <a:p>
            <a:r>
              <a:rPr lang="en-IN" dirty="0"/>
              <a:t>Overfitting</a:t>
            </a:r>
          </a:p>
        </p:txBody>
      </p:sp>
      <p:sp>
        <p:nvSpPr>
          <p:cNvPr id="12" name="Slide Number Placeholder 11">
            <a:extLst>
              <a:ext uri="{FF2B5EF4-FFF2-40B4-BE49-F238E27FC236}">
                <a16:creationId xmlns:a16="http://schemas.microsoft.com/office/drawing/2014/main" id="{15278D22-2C4F-C531-2E98-DFB3CF8BE7F5}"/>
              </a:ext>
            </a:extLst>
          </p:cNvPr>
          <p:cNvSpPr>
            <a:spLocks noGrp="1"/>
          </p:cNvSpPr>
          <p:nvPr>
            <p:ph type="sldNum" sz="quarter" idx="12"/>
          </p:nvPr>
        </p:nvSpPr>
        <p:spPr/>
        <p:txBody>
          <a:bodyPr/>
          <a:lstStyle/>
          <a:p>
            <a:fld id="{BB2CE0DE-867F-455F-B20B-96D381B4AB71}" type="slidenum">
              <a:rPr lang="en-US" smtClean="0"/>
              <a:t>11</a:t>
            </a:fld>
            <a:endParaRPr lang="en-US"/>
          </a:p>
        </p:txBody>
      </p:sp>
    </p:spTree>
    <p:extLst>
      <p:ext uri="{BB962C8B-B14F-4D97-AF65-F5344CB8AC3E}">
        <p14:creationId xmlns:p14="http://schemas.microsoft.com/office/powerpoint/2010/main" val="348653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800" dirty="0"/>
              <a:t>Bias, Variance, Overfitting, Underfitting</a:t>
            </a:r>
            <a:endParaRPr lang="en-IN" sz="2800" dirty="0"/>
          </a:p>
        </p:txBody>
      </p:sp>
      <p:sp>
        <p:nvSpPr>
          <p:cNvPr id="3" name="Content Placeholder 2">
            <a:extLst>
              <a:ext uri="{FF2B5EF4-FFF2-40B4-BE49-F238E27FC236}">
                <a16:creationId xmlns:a16="http://schemas.microsoft.com/office/drawing/2014/main" id="{4E331CA5-E4CA-47F6-A84E-EFF7A3C4DC32}"/>
              </a:ext>
            </a:extLst>
          </p:cNvPr>
          <p:cNvSpPr>
            <a:spLocks noGrp="1"/>
          </p:cNvSpPr>
          <p:nvPr>
            <p:ph idx="1"/>
          </p:nvPr>
        </p:nvSpPr>
        <p:spPr/>
        <p:txBody>
          <a:bodyPr/>
          <a:lstStyle/>
          <a:p>
            <a:pPr marL="0" indent="0">
              <a:buNone/>
            </a:pPr>
            <a:r>
              <a:rPr lang="en-US" sz="2000" b="1" dirty="0"/>
              <a:t>Bias: </a:t>
            </a:r>
            <a:r>
              <a:rPr lang="en-US" sz="2000" dirty="0"/>
              <a:t>Inability of machine Learning (ML) model to truly capture the relationship of the training data.</a:t>
            </a:r>
          </a:p>
          <a:p>
            <a:pPr marL="0" indent="0">
              <a:buNone/>
            </a:pPr>
            <a:r>
              <a:rPr lang="en-US" sz="2000" b="1" dirty="0"/>
              <a:t>Variance: </a:t>
            </a:r>
            <a:r>
              <a:rPr lang="en-US" sz="2000" dirty="0"/>
              <a:t>Variance of ML model is high when the difference between Training error and Test error is High.</a:t>
            </a:r>
          </a:p>
          <a:p>
            <a:pPr marL="0" indent="0">
              <a:buNone/>
            </a:pPr>
            <a:r>
              <a:rPr lang="en-US" sz="2000" b="1" dirty="0"/>
              <a:t>Overfitting: </a:t>
            </a:r>
            <a:r>
              <a:rPr lang="en-US" sz="2000" dirty="0"/>
              <a:t>ML model of training data is performing well but  on test data it is not doing well.</a:t>
            </a:r>
          </a:p>
          <a:p>
            <a:pPr marL="0" indent="0">
              <a:buNone/>
            </a:pPr>
            <a:r>
              <a:rPr lang="en-US" sz="2000" b="1" dirty="0"/>
              <a:t>Underfitting:</a:t>
            </a:r>
            <a:r>
              <a:rPr lang="en-US" sz="2000" dirty="0"/>
              <a:t> ML model is not capturing the relationship in the training data.</a:t>
            </a:r>
            <a:endParaRPr lang="en-IN" sz="2000" dirty="0"/>
          </a:p>
        </p:txBody>
      </p:sp>
      <p:sp>
        <p:nvSpPr>
          <p:cNvPr id="5" name="Slide Number Placeholder 4">
            <a:extLst>
              <a:ext uri="{FF2B5EF4-FFF2-40B4-BE49-F238E27FC236}">
                <a16:creationId xmlns:a16="http://schemas.microsoft.com/office/drawing/2014/main" id="{8492DE00-C084-B6B1-BED5-67BD3BC6F57A}"/>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102768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0E2F1-3A3E-4584-BF3C-B2791AF51C38}"/>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36441C2E-27D8-4B95-A0B7-CA6A742D2D2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ACF8801C-E6D8-4FD8-A3C2-7CA383A6ECDC}"/>
              </a:ext>
            </a:extLst>
          </p:cNvPr>
          <p:cNvPicPr>
            <a:picLocks noChangeAspect="1"/>
          </p:cNvPicPr>
          <p:nvPr/>
        </p:nvPicPr>
        <p:blipFill>
          <a:blip r:embed="rId2"/>
          <a:stretch>
            <a:fillRect/>
          </a:stretch>
        </p:blipFill>
        <p:spPr>
          <a:xfrm>
            <a:off x="1773576" y="895744"/>
            <a:ext cx="3395885" cy="2514600"/>
          </a:xfrm>
          <a:prstGeom prst="rect">
            <a:avLst/>
          </a:prstGeom>
        </p:spPr>
      </p:pic>
      <p:pic>
        <p:nvPicPr>
          <p:cNvPr id="6" name="Picture 5">
            <a:extLst>
              <a:ext uri="{FF2B5EF4-FFF2-40B4-BE49-F238E27FC236}">
                <a16:creationId xmlns:a16="http://schemas.microsoft.com/office/drawing/2014/main" id="{EC83AA16-AD67-49FA-BA5A-04F5EF7D07BA}"/>
              </a:ext>
            </a:extLst>
          </p:cNvPr>
          <p:cNvPicPr>
            <a:picLocks noChangeAspect="1"/>
          </p:cNvPicPr>
          <p:nvPr/>
        </p:nvPicPr>
        <p:blipFill>
          <a:blip r:embed="rId3"/>
          <a:stretch>
            <a:fillRect/>
          </a:stretch>
        </p:blipFill>
        <p:spPr>
          <a:xfrm>
            <a:off x="5257800" y="1005458"/>
            <a:ext cx="4876800" cy="1507713"/>
          </a:xfrm>
          <a:prstGeom prst="rect">
            <a:avLst/>
          </a:prstGeom>
        </p:spPr>
      </p:pic>
      <p:pic>
        <p:nvPicPr>
          <p:cNvPr id="7" name="Picture 6">
            <a:extLst>
              <a:ext uri="{FF2B5EF4-FFF2-40B4-BE49-F238E27FC236}">
                <a16:creationId xmlns:a16="http://schemas.microsoft.com/office/drawing/2014/main" id="{75777503-C464-4133-A77C-65EBE07B9402}"/>
              </a:ext>
            </a:extLst>
          </p:cNvPr>
          <p:cNvPicPr>
            <a:picLocks noChangeAspect="1"/>
          </p:cNvPicPr>
          <p:nvPr/>
        </p:nvPicPr>
        <p:blipFill>
          <a:blip r:embed="rId4"/>
          <a:stretch>
            <a:fillRect/>
          </a:stretch>
        </p:blipFill>
        <p:spPr>
          <a:xfrm>
            <a:off x="1143000" y="3453301"/>
            <a:ext cx="6549612" cy="2892400"/>
          </a:xfrm>
          <a:prstGeom prst="rect">
            <a:avLst/>
          </a:prstGeom>
        </p:spPr>
      </p:pic>
      <p:sp>
        <p:nvSpPr>
          <p:cNvPr id="8" name="TextBox 7">
            <a:extLst>
              <a:ext uri="{FF2B5EF4-FFF2-40B4-BE49-F238E27FC236}">
                <a16:creationId xmlns:a16="http://schemas.microsoft.com/office/drawing/2014/main" id="{5C8570EF-67C4-47F0-8C43-3C108936A4CF}"/>
              </a:ext>
            </a:extLst>
          </p:cNvPr>
          <p:cNvSpPr txBox="1"/>
          <p:nvPr/>
        </p:nvSpPr>
        <p:spPr>
          <a:xfrm>
            <a:off x="7797562" y="4715470"/>
            <a:ext cx="2373727" cy="923330"/>
          </a:xfrm>
          <a:prstGeom prst="rect">
            <a:avLst/>
          </a:prstGeom>
          <a:noFill/>
        </p:spPr>
        <p:txBody>
          <a:bodyPr wrap="none" rtlCol="0">
            <a:spAutoFit/>
          </a:bodyPr>
          <a:lstStyle/>
          <a:p>
            <a:r>
              <a:rPr lang="en-US" dirty="0">
                <a:solidFill>
                  <a:srgbClr val="242424"/>
                </a:solidFill>
                <a:latin typeface="source-serif-pro"/>
              </a:rPr>
              <a:t>We use regularization </a:t>
            </a:r>
          </a:p>
          <a:p>
            <a:r>
              <a:rPr lang="en-US" dirty="0">
                <a:solidFill>
                  <a:srgbClr val="242424"/>
                </a:solidFill>
                <a:latin typeface="source-serif-pro"/>
              </a:rPr>
              <a:t>like the to prevent the </a:t>
            </a:r>
          </a:p>
          <a:p>
            <a:r>
              <a:rPr lang="en-US" dirty="0">
                <a:solidFill>
                  <a:srgbClr val="242424"/>
                </a:solidFill>
                <a:latin typeface="source-serif-pro"/>
              </a:rPr>
              <a:t>model from overfitting.</a:t>
            </a:r>
            <a:endParaRPr lang="en-IN" dirty="0"/>
          </a:p>
        </p:txBody>
      </p:sp>
      <p:sp>
        <p:nvSpPr>
          <p:cNvPr id="9" name="TextBox 8">
            <a:extLst>
              <a:ext uri="{FF2B5EF4-FFF2-40B4-BE49-F238E27FC236}">
                <a16:creationId xmlns:a16="http://schemas.microsoft.com/office/drawing/2014/main" id="{856CE4DA-84B4-46D5-BDDB-A61DB5DBBA06}"/>
              </a:ext>
            </a:extLst>
          </p:cNvPr>
          <p:cNvSpPr txBox="1"/>
          <p:nvPr/>
        </p:nvSpPr>
        <p:spPr>
          <a:xfrm>
            <a:off x="1752601" y="6385082"/>
            <a:ext cx="6867586" cy="215444"/>
          </a:xfrm>
          <a:prstGeom prst="rect">
            <a:avLst/>
          </a:prstGeom>
          <a:noFill/>
        </p:spPr>
        <p:txBody>
          <a:bodyPr wrap="none" rtlCol="0">
            <a:spAutoFit/>
          </a:bodyPr>
          <a:lstStyle/>
          <a:p>
            <a:r>
              <a:rPr lang="en-US" sz="800" dirty="0"/>
              <a:t>Ref. https://medium.com/intuition/understanding-l1-and-l2-regularization-with-analytical-and-probabilistic-views-8386285210fc</a:t>
            </a:r>
            <a:endParaRPr lang="en-IN" sz="800" dirty="0"/>
          </a:p>
        </p:txBody>
      </p:sp>
      <p:sp>
        <p:nvSpPr>
          <p:cNvPr id="10" name="Slide Number Placeholder 9">
            <a:extLst>
              <a:ext uri="{FF2B5EF4-FFF2-40B4-BE49-F238E27FC236}">
                <a16:creationId xmlns:a16="http://schemas.microsoft.com/office/drawing/2014/main" id="{FF79E543-BEB2-B365-5F87-B9E55CE64EF6}"/>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2723532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45A34-AC31-475A-BEE3-C0D517D3296E}"/>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59188B5C-E6F3-4A16-8063-62FFC65A9F62}"/>
              </a:ext>
            </a:extLst>
          </p:cNvPr>
          <p:cNvSpPr>
            <a:spLocks noGrp="1"/>
          </p:cNvSpPr>
          <p:nvPr>
            <p:ph idx="1"/>
          </p:nvPr>
        </p:nvSpPr>
        <p:spPr/>
        <p:txBody>
          <a:bodyPr/>
          <a:lstStyle/>
          <a:p>
            <a:pPr marL="0" indent="0">
              <a:buNone/>
            </a:pPr>
            <a:r>
              <a:rPr lang="en-US" sz="2000" dirty="0">
                <a:solidFill>
                  <a:srgbClr val="242424"/>
                </a:solidFill>
                <a:latin typeface="source-serif-pro"/>
              </a:rPr>
              <a:t>How can we do regularization? Theoretically, we add the regularization term to the objective function and optimize the parameters based on it, as shown below.</a:t>
            </a:r>
            <a:endParaRPr lang="en-IN" sz="2000" dirty="0"/>
          </a:p>
        </p:txBody>
      </p:sp>
      <p:pic>
        <p:nvPicPr>
          <p:cNvPr id="5" name="Picture 4">
            <a:extLst>
              <a:ext uri="{FF2B5EF4-FFF2-40B4-BE49-F238E27FC236}">
                <a16:creationId xmlns:a16="http://schemas.microsoft.com/office/drawing/2014/main" id="{D2590251-D3E9-4EA6-ABA3-A9CB7D76FE99}"/>
              </a:ext>
            </a:extLst>
          </p:cNvPr>
          <p:cNvPicPr>
            <a:picLocks noChangeAspect="1"/>
          </p:cNvPicPr>
          <p:nvPr/>
        </p:nvPicPr>
        <p:blipFill>
          <a:blip r:embed="rId2"/>
          <a:stretch>
            <a:fillRect/>
          </a:stretch>
        </p:blipFill>
        <p:spPr>
          <a:xfrm>
            <a:off x="381000" y="1905001"/>
            <a:ext cx="7754029" cy="4419600"/>
          </a:xfrm>
          <a:prstGeom prst="rect">
            <a:avLst/>
          </a:prstGeom>
        </p:spPr>
      </p:pic>
      <p:sp>
        <p:nvSpPr>
          <p:cNvPr id="6" name="TextBox 5">
            <a:extLst>
              <a:ext uri="{FF2B5EF4-FFF2-40B4-BE49-F238E27FC236}">
                <a16:creationId xmlns:a16="http://schemas.microsoft.com/office/drawing/2014/main" id="{94771156-0C5A-41E8-8A84-4AD1FBBEA934}"/>
              </a:ext>
            </a:extLst>
          </p:cNvPr>
          <p:cNvSpPr txBox="1"/>
          <p:nvPr/>
        </p:nvSpPr>
        <p:spPr>
          <a:xfrm>
            <a:off x="1847436" y="6400801"/>
            <a:ext cx="6867586" cy="215444"/>
          </a:xfrm>
          <a:prstGeom prst="rect">
            <a:avLst/>
          </a:prstGeom>
          <a:noFill/>
        </p:spPr>
        <p:txBody>
          <a:bodyPr wrap="none" rtlCol="0">
            <a:spAutoFit/>
          </a:bodyPr>
          <a:lstStyle/>
          <a:p>
            <a:r>
              <a:rPr lang="en-US" sz="800" dirty="0"/>
              <a:t>Ref. https://medium.com/intuition/understanding-l1-and-l2-regularization-with-analytical-and-probabilistic-views-8386285210fc</a:t>
            </a:r>
            <a:endParaRPr lang="en-IN" sz="800" dirty="0"/>
          </a:p>
        </p:txBody>
      </p:sp>
      <p:pic>
        <p:nvPicPr>
          <p:cNvPr id="7" name="Picture 6">
            <a:extLst>
              <a:ext uri="{FF2B5EF4-FFF2-40B4-BE49-F238E27FC236}">
                <a16:creationId xmlns:a16="http://schemas.microsoft.com/office/drawing/2014/main" id="{4628D046-D913-A368-F52D-968CBCAB5550}"/>
              </a:ext>
            </a:extLst>
          </p:cNvPr>
          <p:cNvPicPr>
            <a:picLocks noChangeAspect="1"/>
          </p:cNvPicPr>
          <p:nvPr/>
        </p:nvPicPr>
        <p:blipFill>
          <a:blip r:embed="rId3"/>
          <a:stretch>
            <a:fillRect/>
          </a:stretch>
        </p:blipFill>
        <p:spPr>
          <a:xfrm>
            <a:off x="8247918" y="4089401"/>
            <a:ext cx="4011815" cy="1240294"/>
          </a:xfrm>
          <a:prstGeom prst="rect">
            <a:avLst/>
          </a:prstGeom>
        </p:spPr>
      </p:pic>
      <p:sp>
        <p:nvSpPr>
          <p:cNvPr id="8" name="Slide Number Placeholder 7">
            <a:extLst>
              <a:ext uri="{FF2B5EF4-FFF2-40B4-BE49-F238E27FC236}">
                <a16:creationId xmlns:a16="http://schemas.microsoft.com/office/drawing/2014/main" id="{5265FF78-23A3-025F-B031-86741BC40190}"/>
              </a:ext>
            </a:extLst>
          </p:cNvPr>
          <p:cNvSpPr>
            <a:spLocks noGrp="1"/>
          </p:cNvSpPr>
          <p:nvPr>
            <p:ph type="sldNum" sz="quarter" idx="12"/>
          </p:nvPr>
        </p:nvSpPr>
        <p:spPr/>
        <p:txBody>
          <a:bodyPr/>
          <a:lstStyle/>
          <a:p>
            <a:fld id="{BB2CE0DE-867F-455F-B20B-96D381B4AB71}" type="slidenum">
              <a:rPr lang="en-US" smtClean="0"/>
              <a:t>14</a:t>
            </a:fld>
            <a:endParaRPr lang="en-US"/>
          </a:p>
        </p:txBody>
      </p:sp>
    </p:spTree>
    <p:extLst>
      <p:ext uri="{BB962C8B-B14F-4D97-AF65-F5344CB8AC3E}">
        <p14:creationId xmlns:p14="http://schemas.microsoft.com/office/powerpoint/2010/main" val="1699436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F6383-49DE-4F8A-BED7-8807E9C3579C}"/>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194D7149-81B8-4868-B37A-CD67F3C8D7C0}"/>
              </a:ext>
            </a:extLst>
          </p:cNvPr>
          <p:cNvSpPr>
            <a:spLocks noGrp="1"/>
          </p:cNvSpPr>
          <p:nvPr>
            <p:ph idx="1"/>
          </p:nvPr>
        </p:nvSpPr>
        <p:spPr/>
        <p:txBody>
          <a:bodyPr/>
          <a:lstStyle/>
          <a:p>
            <a:pPr marL="0" indent="0">
              <a:buNone/>
            </a:pPr>
            <a:r>
              <a:rPr lang="en-US" sz="2000" dirty="0"/>
              <a:t>Generalization: Ability of the ML model to perform well on unseen data (or test data) is called Generalization. </a:t>
            </a:r>
          </a:p>
          <a:p>
            <a:pPr marL="0" indent="0">
              <a:buNone/>
            </a:pPr>
            <a:r>
              <a:rPr lang="en-US" sz="2000" dirty="0"/>
              <a:t>Generalization or Test error should be less.</a:t>
            </a:r>
            <a:endParaRPr lang="en-IN" sz="2000" dirty="0"/>
          </a:p>
        </p:txBody>
      </p:sp>
      <p:sp>
        <p:nvSpPr>
          <p:cNvPr id="5" name="Slide Number Placeholder 4">
            <a:extLst>
              <a:ext uri="{FF2B5EF4-FFF2-40B4-BE49-F238E27FC236}">
                <a16:creationId xmlns:a16="http://schemas.microsoft.com/office/drawing/2014/main" id="{B58BC32D-541E-36A6-B69B-39F32383289E}"/>
              </a:ext>
            </a:extLst>
          </p:cNvPr>
          <p:cNvSpPr>
            <a:spLocks noGrp="1"/>
          </p:cNvSpPr>
          <p:nvPr>
            <p:ph type="sldNum" sz="quarter" idx="12"/>
          </p:nvPr>
        </p:nvSpPr>
        <p:spPr/>
        <p:txBody>
          <a:bodyPr/>
          <a:lstStyle/>
          <a:p>
            <a:fld id="{BB2CE0DE-867F-455F-B20B-96D381B4AB71}" type="slidenum">
              <a:rPr lang="en-US" smtClean="0"/>
              <a:t>15</a:t>
            </a:fld>
            <a:endParaRPr lang="en-US"/>
          </a:p>
        </p:txBody>
      </p:sp>
    </p:spTree>
    <p:extLst>
      <p:ext uri="{BB962C8B-B14F-4D97-AF65-F5344CB8AC3E}">
        <p14:creationId xmlns:p14="http://schemas.microsoft.com/office/powerpoint/2010/main" val="1832451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98F1-1B01-48D5-80C7-55B2C84B110D}"/>
              </a:ext>
            </a:extLst>
          </p:cNvPr>
          <p:cNvSpPr>
            <a:spLocks noGrp="1"/>
          </p:cNvSpPr>
          <p:nvPr>
            <p:ph type="title"/>
          </p:nvPr>
        </p:nvSpPr>
        <p:spPr/>
        <p:txBody>
          <a:bodyPr/>
          <a:lstStyle/>
          <a:p>
            <a:r>
              <a:rPr lang="en-US" sz="2400" dirty="0"/>
              <a:t>Why Overfitting happens in Neural networks ?</a:t>
            </a:r>
            <a:endParaRPr lang="en-IN" sz="2400" dirty="0"/>
          </a:p>
        </p:txBody>
      </p:sp>
      <p:pic>
        <p:nvPicPr>
          <p:cNvPr id="6" name="Picture 5">
            <a:extLst>
              <a:ext uri="{FF2B5EF4-FFF2-40B4-BE49-F238E27FC236}">
                <a16:creationId xmlns:a16="http://schemas.microsoft.com/office/drawing/2014/main" id="{9C712B97-6459-49E5-97FA-E7FFE8B059AA}"/>
              </a:ext>
            </a:extLst>
          </p:cNvPr>
          <p:cNvPicPr>
            <a:picLocks noChangeAspect="1"/>
          </p:cNvPicPr>
          <p:nvPr/>
        </p:nvPicPr>
        <p:blipFill>
          <a:blip r:embed="rId2"/>
          <a:stretch>
            <a:fillRect/>
          </a:stretch>
        </p:blipFill>
        <p:spPr>
          <a:xfrm>
            <a:off x="1904564" y="1143001"/>
            <a:ext cx="3540125" cy="2484409"/>
          </a:xfrm>
          <a:prstGeom prst="rect">
            <a:avLst/>
          </a:prstGeom>
        </p:spPr>
      </p:pic>
      <p:sp>
        <p:nvSpPr>
          <p:cNvPr id="7" name="TextBox 6">
            <a:extLst>
              <a:ext uri="{FF2B5EF4-FFF2-40B4-BE49-F238E27FC236}">
                <a16:creationId xmlns:a16="http://schemas.microsoft.com/office/drawing/2014/main" id="{26554BD0-8A53-4FA6-8A85-3CE9B5CCADB5}"/>
              </a:ext>
            </a:extLst>
          </p:cNvPr>
          <p:cNvSpPr txBox="1"/>
          <p:nvPr/>
        </p:nvSpPr>
        <p:spPr>
          <a:xfrm>
            <a:off x="1524001" y="6541284"/>
            <a:ext cx="3395481" cy="230832"/>
          </a:xfrm>
          <a:prstGeom prst="rect">
            <a:avLst/>
          </a:prstGeom>
          <a:noFill/>
        </p:spPr>
        <p:txBody>
          <a:bodyPr wrap="none" rtlCol="0">
            <a:spAutoFit/>
          </a:bodyPr>
          <a:lstStyle/>
          <a:p>
            <a:r>
              <a:rPr lang="en-US" sz="900" dirty="0"/>
              <a:t>Ref.: https://www.youtube.com/watch?v=4xRonrhtkzc</a:t>
            </a:r>
            <a:endParaRPr lang="en-IN" sz="900" dirty="0"/>
          </a:p>
        </p:txBody>
      </p:sp>
      <p:pic>
        <p:nvPicPr>
          <p:cNvPr id="9" name="Picture 8">
            <a:extLst>
              <a:ext uri="{FF2B5EF4-FFF2-40B4-BE49-F238E27FC236}">
                <a16:creationId xmlns:a16="http://schemas.microsoft.com/office/drawing/2014/main" id="{C870FAEA-4E63-43D9-9A8E-6E3EB35FC260}"/>
              </a:ext>
            </a:extLst>
          </p:cNvPr>
          <p:cNvPicPr>
            <a:picLocks noChangeAspect="1"/>
          </p:cNvPicPr>
          <p:nvPr/>
        </p:nvPicPr>
        <p:blipFill>
          <a:blip r:embed="rId3"/>
          <a:stretch>
            <a:fillRect/>
          </a:stretch>
        </p:blipFill>
        <p:spPr>
          <a:xfrm>
            <a:off x="6277596" y="1143001"/>
            <a:ext cx="3599208" cy="2484409"/>
          </a:xfrm>
          <a:prstGeom prst="rect">
            <a:avLst/>
          </a:prstGeom>
        </p:spPr>
      </p:pic>
      <p:pic>
        <p:nvPicPr>
          <p:cNvPr id="11" name="Picture 10">
            <a:extLst>
              <a:ext uri="{FF2B5EF4-FFF2-40B4-BE49-F238E27FC236}">
                <a16:creationId xmlns:a16="http://schemas.microsoft.com/office/drawing/2014/main" id="{650C8D23-5ED8-4F00-865F-3C4BB125CEBC}"/>
              </a:ext>
            </a:extLst>
          </p:cNvPr>
          <p:cNvPicPr>
            <a:picLocks noChangeAspect="1"/>
          </p:cNvPicPr>
          <p:nvPr/>
        </p:nvPicPr>
        <p:blipFill>
          <a:blip r:embed="rId4"/>
          <a:stretch>
            <a:fillRect/>
          </a:stretch>
        </p:blipFill>
        <p:spPr>
          <a:xfrm>
            <a:off x="1548809" y="3824731"/>
            <a:ext cx="3088836" cy="2139691"/>
          </a:xfrm>
          <a:prstGeom prst="rect">
            <a:avLst/>
          </a:prstGeom>
        </p:spPr>
      </p:pic>
      <p:pic>
        <p:nvPicPr>
          <p:cNvPr id="13" name="Picture 12">
            <a:extLst>
              <a:ext uri="{FF2B5EF4-FFF2-40B4-BE49-F238E27FC236}">
                <a16:creationId xmlns:a16="http://schemas.microsoft.com/office/drawing/2014/main" id="{D73CC2E8-1120-4597-A704-8FDDA79AD388}"/>
              </a:ext>
            </a:extLst>
          </p:cNvPr>
          <p:cNvPicPr>
            <a:picLocks noChangeAspect="1"/>
          </p:cNvPicPr>
          <p:nvPr/>
        </p:nvPicPr>
        <p:blipFill>
          <a:blip r:embed="rId5"/>
          <a:stretch>
            <a:fillRect/>
          </a:stretch>
        </p:blipFill>
        <p:spPr>
          <a:xfrm>
            <a:off x="4733178" y="3814839"/>
            <a:ext cx="3088836" cy="2156670"/>
          </a:xfrm>
          <a:prstGeom prst="rect">
            <a:avLst/>
          </a:prstGeom>
        </p:spPr>
      </p:pic>
      <p:pic>
        <p:nvPicPr>
          <p:cNvPr id="15" name="Picture 14">
            <a:extLst>
              <a:ext uri="{FF2B5EF4-FFF2-40B4-BE49-F238E27FC236}">
                <a16:creationId xmlns:a16="http://schemas.microsoft.com/office/drawing/2014/main" id="{CE8B7BA2-BE96-4E46-BA78-CC82CEC23344}"/>
              </a:ext>
            </a:extLst>
          </p:cNvPr>
          <p:cNvPicPr>
            <a:picLocks noChangeAspect="1"/>
          </p:cNvPicPr>
          <p:nvPr/>
        </p:nvPicPr>
        <p:blipFill>
          <a:blip r:embed="rId6"/>
          <a:stretch>
            <a:fillRect/>
          </a:stretch>
        </p:blipFill>
        <p:spPr>
          <a:xfrm>
            <a:off x="7895805" y="3856009"/>
            <a:ext cx="2747387" cy="2156670"/>
          </a:xfrm>
          <a:prstGeom prst="rect">
            <a:avLst/>
          </a:prstGeom>
        </p:spPr>
      </p:pic>
      <p:sp>
        <p:nvSpPr>
          <p:cNvPr id="3" name="Slide Number Placeholder 2">
            <a:extLst>
              <a:ext uri="{FF2B5EF4-FFF2-40B4-BE49-F238E27FC236}">
                <a16:creationId xmlns:a16="http://schemas.microsoft.com/office/drawing/2014/main" id="{2F03727A-19F4-82DB-7136-45047FA48144}"/>
              </a:ext>
            </a:extLst>
          </p:cNvPr>
          <p:cNvSpPr>
            <a:spLocks noGrp="1"/>
          </p:cNvSpPr>
          <p:nvPr>
            <p:ph type="sldNum" sz="quarter" idx="12"/>
          </p:nvPr>
        </p:nvSpPr>
        <p:spPr/>
        <p:txBody>
          <a:bodyPr/>
          <a:lstStyle/>
          <a:p>
            <a:fld id="{BB2CE0DE-867F-455F-B20B-96D381B4AB71}" type="slidenum">
              <a:rPr lang="en-US" smtClean="0"/>
              <a:t>16</a:t>
            </a:fld>
            <a:endParaRPr lang="en-US"/>
          </a:p>
        </p:txBody>
      </p:sp>
    </p:spTree>
    <p:extLst>
      <p:ext uri="{BB962C8B-B14F-4D97-AF65-F5344CB8AC3E}">
        <p14:creationId xmlns:p14="http://schemas.microsoft.com/office/powerpoint/2010/main" val="2188191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9184-2179-4625-80F7-7B2435CE0ECA}"/>
              </a:ext>
            </a:extLst>
          </p:cNvPr>
          <p:cNvSpPr>
            <a:spLocks noGrp="1"/>
          </p:cNvSpPr>
          <p:nvPr>
            <p:ph type="title"/>
          </p:nvPr>
        </p:nvSpPr>
        <p:spPr/>
        <p:txBody>
          <a:bodyPr/>
          <a:lstStyle/>
          <a:p>
            <a:r>
              <a:rPr lang="en-US" dirty="0"/>
              <a:t>Background: For Regularization</a:t>
            </a:r>
            <a:endParaRPr lang="en-IN" dirty="0"/>
          </a:p>
        </p:txBody>
      </p:sp>
      <p:pic>
        <p:nvPicPr>
          <p:cNvPr id="5" name="Picture 4">
            <a:extLst>
              <a:ext uri="{FF2B5EF4-FFF2-40B4-BE49-F238E27FC236}">
                <a16:creationId xmlns:a16="http://schemas.microsoft.com/office/drawing/2014/main" id="{34E82C9A-5C42-4930-9CCD-13EFD264B129}"/>
              </a:ext>
            </a:extLst>
          </p:cNvPr>
          <p:cNvPicPr>
            <a:picLocks noChangeAspect="1"/>
          </p:cNvPicPr>
          <p:nvPr/>
        </p:nvPicPr>
        <p:blipFill>
          <a:blip r:embed="rId2"/>
          <a:stretch>
            <a:fillRect/>
          </a:stretch>
        </p:blipFill>
        <p:spPr>
          <a:xfrm>
            <a:off x="2046288" y="1490330"/>
            <a:ext cx="3648075" cy="2400300"/>
          </a:xfrm>
          <a:prstGeom prst="rect">
            <a:avLst/>
          </a:prstGeom>
        </p:spPr>
      </p:pic>
      <p:pic>
        <p:nvPicPr>
          <p:cNvPr id="6" name="Picture 5">
            <a:extLst>
              <a:ext uri="{FF2B5EF4-FFF2-40B4-BE49-F238E27FC236}">
                <a16:creationId xmlns:a16="http://schemas.microsoft.com/office/drawing/2014/main" id="{7C54A61C-B515-451B-94FC-7338A9AA6EDE}"/>
              </a:ext>
            </a:extLst>
          </p:cNvPr>
          <p:cNvPicPr>
            <a:picLocks noChangeAspect="1"/>
          </p:cNvPicPr>
          <p:nvPr/>
        </p:nvPicPr>
        <p:blipFill>
          <a:blip r:embed="rId3"/>
          <a:stretch>
            <a:fillRect/>
          </a:stretch>
        </p:blipFill>
        <p:spPr>
          <a:xfrm>
            <a:off x="2098675" y="4154016"/>
            <a:ext cx="3543300" cy="2362200"/>
          </a:xfrm>
          <a:prstGeom prst="rect">
            <a:avLst/>
          </a:prstGeom>
        </p:spPr>
      </p:pic>
      <p:pic>
        <p:nvPicPr>
          <p:cNvPr id="7" name="Picture 6">
            <a:extLst>
              <a:ext uri="{FF2B5EF4-FFF2-40B4-BE49-F238E27FC236}">
                <a16:creationId xmlns:a16="http://schemas.microsoft.com/office/drawing/2014/main" id="{B09F5867-518E-453D-AF54-F75AB3E21228}"/>
              </a:ext>
            </a:extLst>
          </p:cNvPr>
          <p:cNvPicPr>
            <a:picLocks noChangeAspect="1"/>
          </p:cNvPicPr>
          <p:nvPr/>
        </p:nvPicPr>
        <p:blipFill>
          <a:blip r:embed="rId4"/>
          <a:stretch>
            <a:fillRect/>
          </a:stretch>
        </p:blipFill>
        <p:spPr>
          <a:xfrm>
            <a:off x="6406782" y="1490330"/>
            <a:ext cx="3648075" cy="2400300"/>
          </a:xfrm>
          <a:prstGeom prst="rect">
            <a:avLst/>
          </a:prstGeom>
        </p:spPr>
      </p:pic>
      <p:pic>
        <p:nvPicPr>
          <p:cNvPr id="8" name="Picture 7">
            <a:extLst>
              <a:ext uri="{FF2B5EF4-FFF2-40B4-BE49-F238E27FC236}">
                <a16:creationId xmlns:a16="http://schemas.microsoft.com/office/drawing/2014/main" id="{FAA033F5-3ADC-41F4-BA9B-30E41DBE42D1}"/>
              </a:ext>
            </a:extLst>
          </p:cNvPr>
          <p:cNvPicPr>
            <a:picLocks noChangeAspect="1"/>
          </p:cNvPicPr>
          <p:nvPr/>
        </p:nvPicPr>
        <p:blipFill>
          <a:blip r:embed="rId5"/>
          <a:stretch>
            <a:fillRect/>
          </a:stretch>
        </p:blipFill>
        <p:spPr>
          <a:xfrm>
            <a:off x="6454406" y="4136295"/>
            <a:ext cx="3600450" cy="2362200"/>
          </a:xfrm>
          <a:prstGeom prst="rect">
            <a:avLst/>
          </a:prstGeom>
        </p:spPr>
      </p:pic>
      <p:sp>
        <p:nvSpPr>
          <p:cNvPr id="9" name="TextBox 8">
            <a:extLst>
              <a:ext uri="{FF2B5EF4-FFF2-40B4-BE49-F238E27FC236}">
                <a16:creationId xmlns:a16="http://schemas.microsoft.com/office/drawing/2014/main" id="{4267F772-EE3C-42B4-8260-C1892EA3CF4D}"/>
              </a:ext>
            </a:extLst>
          </p:cNvPr>
          <p:cNvSpPr txBox="1"/>
          <p:nvPr/>
        </p:nvSpPr>
        <p:spPr>
          <a:xfrm>
            <a:off x="2046288" y="6529629"/>
            <a:ext cx="7572907" cy="230832"/>
          </a:xfrm>
          <a:prstGeom prst="rect">
            <a:avLst/>
          </a:prstGeom>
          <a:noFill/>
        </p:spPr>
        <p:txBody>
          <a:bodyPr wrap="none" rtlCol="0">
            <a:spAutoFit/>
          </a:bodyPr>
          <a:lstStyle/>
          <a:p>
            <a:r>
              <a:rPr lang="en-US" sz="900" dirty="0"/>
              <a:t>Ref.: https://colab.research.google.com/drive/1PObj5KrXLDDmHjoJ1x0bVmxAFbif5s7q?usp=sharing#scrollTo=njwsZuvWVyIT</a:t>
            </a:r>
            <a:endParaRPr lang="en-IN" sz="900" dirty="0"/>
          </a:p>
        </p:txBody>
      </p:sp>
      <p:sp>
        <p:nvSpPr>
          <p:cNvPr id="10" name="TextBox 9">
            <a:extLst>
              <a:ext uri="{FF2B5EF4-FFF2-40B4-BE49-F238E27FC236}">
                <a16:creationId xmlns:a16="http://schemas.microsoft.com/office/drawing/2014/main" id="{98BA7E0A-6D1F-402F-AD03-3D6CC5E6895C}"/>
              </a:ext>
            </a:extLst>
          </p:cNvPr>
          <p:cNvSpPr txBox="1"/>
          <p:nvPr/>
        </p:nvSpPr>
        <p:spPr>
          <a:xfrm>
            <a:off x="2536882" y="1120998"/>
            <a:ext cx="2666884" cy="369332"/>
          </a:xfrm>
          <a:prstGeom prst="rect">
            <a:avLst/>
          </a:prstGeom>
          <a:noFill/>
        </p:spPr>
        <p:txBody>
          <a:bodyPr wrap="none" rtlCol="0">
            <a:spAutoFit/>
          </a:bodyPr>
          <a:lstStyle/>
          <a:p>
            <a:r>
              <a:rPr lang="en-US" dirty="0"/>
              <a:t>Before Regularization</a:t>
            </a:r>
            <a:endParaRPr lang="en-IN" dirty="0"/>
          </a:p>
        </p:txBody>
      </p:sp>
      <p:sp>
        <p:nvSpPr>
          <p:cNvPr id="11" name="TextBox 10">
            <a:extLst>
              <a:ext uri="{FF2B5EF4-FFF2-40B4-BE49-F238E27FC236}">
                <a16:creationId xmlns:a16="http://schemas.microsoft.com/office/drawing/2014/main" id="{86B8C936-978D-47E0-9148-FB2CC5EE4244}"/>
              </a:ext>
            </a:extLst>
          </p:cNvPr>
          <p:cNvSpPr txBox="1"/>
          <p:nvPr/>
        </p:nvSpPr>
        <p:spPr>
          <a:xfrm>
            <a:off x="6743759" y="1120998"/>
            <a:ext cx="2479333" cy="369332"/>
          </a:xfrm>
          <a:prstGeom prst="rect">
            <a:avLst/>
          </a:prstGeom>
          <a:noFill/>
        </p:spPr>
        <p:txBody>
          <a:bodyPr wrap="none" rtlCol="0">
            <a:spAutoFit/>
          </a:bodyPr>
          <a:lstStyle/>
          <a:p>
            <a:r>
              <a:rPr lang="en-US" dirty="0"/>
              <a:t>After Regularization</a:t>
            </a:r>
            <a:endParaRPr lang="en-IN" dirty="0"/>
          </a:p>
        </p:txBody>
      </p:sp>
      <p:sp>
        <p:nvSpPr>
          <p:cNvPr id="12" name="TextBox 11">
            <a:extLst>
              <a:ext uri="{FF2B5EF4-FFF2-40B4-BE49-F238E27FC236}">
                <a16:creationId xmlns:a16="http://schemas.microsoft.com/office/drawing/2014/main" id="{9B90A589-8603-46C0-B295-F18FCB32140E}"/>
              </a:ext>
            </a:extLst>
          </p:cNvPr>
          <p:cNvSpPr txBox="1"/>
          <p:nvPr/>
        </p:nvSpPr>
        <p:spPr>
          <a:xfrm>
            <a:off x="2743200" y="3890630"/>
            <a:ext cx="2571538" cy="261610"/>
          </a:xfrm>
          <a:prstGeom prst="rect">
            <a:avLst/>
          </a:prstGeom>
          <a:noFill/>
        </p:spPr>
        <p:txBody>
          <a:bodyPr wrap="none" rtlCol="0">
            <a:spAutoFit/>
          </a:bodyPr>
          <a:lstStyle/>
          <a:p>
            <a:r>
              <a:rPr lang="en-US" sz="1100" dirty="0"/>
              <a:t>Training vs. Validation Loss curve</a:t>
            </a:r>
            <a:endParaRPr lang="en-IN" sz="1100" dirty="0"/>
          </a:p>
        </p:txBody>
      </p:sp>
      <p:sp>
        <p:nvSpPr>
          <p:cNvPr id="13" name="TextBox 12">
            <a:extLst>
              <a:ext uri="{FF2B5EF4-FFF2-40B4-BE49-F238E27FC236}">
                <a16:creationId xmlns:a16="http://schemas.microsoft.com/office/drawing/2014/main" id="{7837608D-CF07-4D0C-9F9C-BF859FB13BA4}"/>
              </a:ext>
            </a:extLst>
          </p:cNvPr>
          <p:cNvSpPr txBox="1"/>
          <p:nvPr/>
        </p:nvSpPr>
        <p:spPr>
          <a:xfrm>
            <a:off x="6994974" y="3913315"/>
            <a:ext cx="2571538" cy="261610"/>
          </a:xfrm>
          <a:prstGeom prst="rect">
            <a:avLst/>
          </a:prstGeom>
          <a:noFill/>
        </p:spPr>
        <p:txBody>
          <a:bodyPr wrap="none" rtlCol="0">
            <a:spAutoFit/>
          </a:bodyPr>
          <a:lstStyle/>
          <a:p>
            <a:r>
              <a:rPr lang="en-US" sz="1100" dirty="0"/>
              <a:t>Training vs. Validation Loss curve</a:t>
            </a:r>
            <a:endParaRPr lang="en-IN" sz="1100" dirty="0"/>
          </a:p>
        </p:txBody>
      </p:sp>
      <p:sp>
        <p:nvSpPr>
          <p:cNvPr id="3" name="Slide Number Placeholder 2">
            <a:extLst>
              <a:ext uri="{FF2B5EF4-FFF2-40B4-BE49-F238E27FC236}">
                <a16:creationId xmlns:a16="http://schemas.microsoft.com/office/drawing/2014/main" id="{E724AB64-A9AA-AAC3-F89C-D70A1AC4932D}"/>
              </a:ext>
            </a:extLst>
          </p:cNvPr>
          <p:cNvSpPr>
            <a:spLocks noGrp="1"/>
          </p:cNvSpPr>
          <p:nvPr>
            <p:ph type="sldNum" sz="quarter" idx="12"/>
          </p:nvPr>
        </p:nvSpPr>
        <p:spPr/>
        <p:txBody>
          <a:bodyPr/>
          <a:lstStyle/>
          <a:p>
            <a:fld id="{BB2CE0DE-867F-455F-B20B-96D381B4AB71}" type="slidenum">
              <a:rPr lang="en-US" smtClean="0"/>
              <a:t>17</a:t>
            </a:fld>
            <a:endParaRPr lang="en-US"/>
          </a:p>
        </p:txBody>
      </p:sp>
    </p:spTree>
    <p:extLst>
      <p:ext uri="{BB962C8B-B14F-4D97-AF65-F5344CB8AC3E}">
        <p14:creationId xmlns:p14="http://schemas.microsoft.com/office/powerpoint/2010/main" val="1733764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A9107-09FC-4185-95F1-CB0BA105D84C}"/>
              </a:ext>
            </a:extLst>
          </p:cNvPr>
          <p:cNvSpPr>
            <a:spLocks noGrp="1"/>
          </p:cNvSpPr>
          <p:nvPr>
            <p:ph type="title"/>
          </p:nvPr>
        </p:nvSpPr>
        <p:spPr/>
        <p:txBody>
          <a:bodyPr/>
          <a:lstStyle/>
          <a:p>
            <a:r>
              <a:rPr lang="en-US" dirty="0"/>
              <a:t>Methods to avoid Overfitting</a:t>
            </a:r>
            <a:endParaRPr lang="en-IN" dirty="0"/>
          </a:p>
        </p:txBody>
      </p:sp>
      <p:sp>
        <p:nvSpPr>
          <p:cNvPr id="3" name="Content Placeholder 2">
            <a:extLst>
              <a:ext uri="{FF2B5EF4-FFF2-40B4-BE49-F238E27FC236}">
                <a16:creationId xmlns:a16="http://schemas.microsoft.com/office/drawing/2014/main" id="{D4F23F2C-BBC7-4E71-9274-02A0F817E172}"/>
              </a:ext>
            </a:extLst>
          </p:cNvPr>
          <p:cNvSpPr>
            <a:spLocks noGrp="1"/>
          </p:cNvSpPr>
          <p:nvPr>
            <p:ph idx="1"/>
          </p:nvPr>
        </p:nvSpPr>
        <p:spPr/>
        <p:txBody>
          <a:bodyPr/>
          <a:lstStyle/>
          <a:p>
            <a:pPr marL="0" indent="0">
              <a:buNone/>
            </a:pPr>
            <a:r>
              <a:rPr lang="en-US" sz="2400" dirty="0"/>
              <a:t>1. Adding More data: Data Augmentation</a:t>
            </a:r>
          </a:p>
          <a:p>
            <a:pPr marL="0" indent="0">
              <a:buNone/>
            </a:pPr>
            <a:r>
              <a:rPr lang="en-US" sz="2400" dirty="0"/>
              <a:t>2. Reducing Complexity of the Model</a:t>
            </a:r>
          </a:p>
          <a:p>
            <a:pPr marL="438150" lvl="1" indent="0">
              <a:buNone/>
            </a:pPr>
            <a:r>
              <a:rPr lang="en-US" sz="2000" dirty="0"/>
              <a:t>2.1: Drop out</a:t>
            </a:r>
          </a:p>
          <a:p>
            <a:pPr marL="438150" lvl="1" indent="0">
              <a:buNone/>
            </a:pPr>
            <a:r>
              <a:rPr lang="en-US" sz="2000" dirty="0"/>
              <a:t>2.2. Early Stopping</a:t>
            </a:r>
          </a:p>
          <a:p>
            <a:pPr marL="835025" lvl="2" indent="0">
              <a:buNone/>
            </a:pPr>
            <a:r>
              <a:rPr lang="en-US" sz="1700" dirty="0"/>
              <a:t>2.2.1. L1 Regularization </a:t>
            </a:r>
          </a:p>
          <a:p>
            <a:pPr marL="835025" lvl="2" indent="0">
              <a:buNone/>
            </a:pPr>
            <a:r>
              <a:rPr lang="en-US" sz="1700" dirty="0"/>
              <a:t>2.2.2. L2 Regularization </a:t>
            </a:r>
          </a:p>
          <a:p>
            <a:pPr marL="835025" lvl="2" indent="0">
              <a:buNone/>
            </a:pPr>
            <a:r>
              <a:rPr lang="en-US" sz="1700" dirty="0"/>
              <a:t>2.2.3. L1+L2 Regularization </a:t>
            </a:r>
          </a:p>
          <a:p>
            <a:pPr marL="0" indent="0">
              <a:buNone/>
            </a:pPr>
            <a:endParaRPr lang="en-US" sz="2400" dirty="0"/>
          </a:p>
          <a:p>
            <a:pPr marL="0" indent="0">
              <a:buNone/>
            </a:pPr>
            <a:endParaRPr lang="en-US" sz="2400" dirty="0"/>
          </a:p>
          <a:p>
            <a:pPr marL="0" indent="0">
              <a:buNone/>
            </a:pPr>
            <a:r>
              <a:rPr lang="en-US" sz="2400" dirty="0"/>
              <a:t> </a:t>
            </a:r>
          </a:p>
          <a:p>
            <a:pPr marL="0" indent="0">
              <a:buNone/>
            </a:pPr>
            <a:endParaRPr lang="en-IN" sz="2400" dirty="0"/>
          </a:p>
        </p:txBody>
      </p:sp>
      <p:sp>
        <p:nvSpPr>
          <p:cNvPr id="5" name="Slide Number Placeholder 4">
            <a:extLst>
              <a:ext uri="{FF2B5EF4-FFF2-40B4-BE49-F238E27FC236}">
                <a16:creationId xmlns:a16="http://schemas.microsoft.com/office/drawing/2014/main" id="{758F0994-CB8E-8317-ECC1-2309A425DC13}"/>
              </a:ext>
            </a:extLst>
          </p:cNvPr>
          <p:cNvSpPr>
            <a:spLocks noGrp="1"/>
          </p:cNvSpPr>
          <p:nvPr>
            <p:ph type="sldNum" sz="quarter" idx="12"/>
          </p:nvPr>
        </p:nvSpPr>
        <p:spPr/>
        <p:txBody>
          <a:bodyPr/>
          <a:lstStyle/>
          <a:p>
            <a:fld id="{BB2CE0DE-867F-455F-B20B-96D381B4AB71}" type="slidenum">
              <a:rPr lang="en-US" smtClean="0"/>
              <a:t>18</a:t>
            </a:fld>
            <a:endParaRPr lang="en-US"/>
          </a:p>
        </p:txBody>
      </p:sp>
    </p:spTree>
    <p:extLst>
      <p:ext uri="{BB962C8B-B14F-4D97-AF65-F5344CB8AC3E}">
        <p14:creationId xmlns:p14="http://schemas.microsoft.com/office/powerpoint/2010/main" val="3025931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E130-02AA-4D6B-A4C1-DBB00D50D69A}"/>
              </a:ext>
            </a:extLst>
          </p:cNvPr>
          <p:cNvSpPr>
            <a:spLocks noGrp="1"/>
          </p:cNvSpPr>
          <p:nvPr>
            <p:ph type="title"/>
          </p:nvPr>
        </p:nvSpPr>
        <p:spPr/>
        <p:txBody>
          <a:bodyPr/>
          <a:lstStyle/>
          <a:p>
            <a:r>
              <a:rPr lang="en-US" dirty="0"/>
              <a:t>Regularization</a:t>
            </a:r>
            <a:endParaRPr lang="en-IN" dirty="0"/>
          </a:p>
        </p:txBody>
      </p:sp>
      <p:sp>
        <p:nvSpPr>
          <p:cNvPr id="3" name="Content Placeholder 2">
            <a:extLst>
              <a:ext uri="{FF2B5EF4-FFF2-40B4-BE49-F238E27FC236}">
                <a16:creationId xmlns:a16="http://schemas.microsoft.com/office/drawing/2014/main" id="{2B5C2C8F-0432-4416-AF5E-FF328D4FBB3D}"/>
              </a:ext>
            </a:extLst>
          </p:cNvPr>
          <p:cNvSpPr>
            <a:spLocks noGrp="1"/>
          </p:cNvSpPr>
          <p:nvPr>
            <p:ph idx="1"/>
          </p:nvPr>
        </p:nvSpPr>
        <p:spPr/>
        <p:txBody>
          <a:bodyPr/>
          <a:lstStyle/>
          <a:p>
            <a:endParaRPr lang="en-US" dirty="0"/>
          </a:p>
          <a:p>
            <a:endParaRPr lang="en-IN" dirty="0"/>
          </a:p>
          <a:p>
            <a:endParaRPr lang="en-IN" dirty="0"/>
          </a:p>
          <a:p>
            <a:endParaRPr lang="en-IN" dirty="0"/>
          </a:p>
          <a:p>
            <a:endParaRPr lang="en-IN" dirty="0"/>
          </a:p>
          <a:p>
            <a:endParaRPr lang="en-IN" dirty="0"/>
          </a:p>
          <a:p>
            <a:pPr marL="0" indent="0" algn="just">
              <a:buNone/>
            </a:pPr>
            <a:r>
              <a:rPr lang="en-US" sz="2000" kern="1200" dirty="0">
                <a:solidFill>
                  <a:schemeClr val="tx1"/>
                </a:solidFill>
              </a:rPr>
              <a:t>Regularization is a collection of strategies that can assist prevent overfitting in neural networks and improve their accuracy by modifying the learning procedure slightly such that the model generalizes more successfully. The model then performs better on the unobserved data as a result.</a:t>
            </a:r>
            <a:endParaRPr lang="en-IN" sz="2000" dirty="0"/>
          </a:p>
          <a:p>
            <a:endParaRPr lang="en-IN" dirty="0"/>
          </a:p>
          <a:p>
            <a:endParaRPr lang="en-IN" dirty="0"/>
          </a:p>
          <a:p>
            <a:endParaRPr lang="en-IN" dirty="0"/>
          </a:p>
          <a:p>
            <a:endParaRPr lang="en-IN" dirty="0"/>
          </a:p>
          <a:p>
            <a:endParaRPr lang="en-IN" dirty="0"/>
          </a:p>
        </p:txBody>
      </p:sp>
      <p:pic>
        <p:nvPicPr>
          <p:cNvPr id="6" name="Picture 5">
            <a:extLst>
              <a:ext uri="{FF2B5EF4-FFF2-40B4-BE49-F238E27FC236}">
                <a16:creationId xmlns:a16="http://schemas.microsoft.com/office/drawing/2014/main" id="{EAB563F8-77E9-4C26-96CE-9665766A6F8F}"/>
              </a:ext>
            </a:extLst>
          </p:cNvPr>
          <p:cNvPicPr>
            <a:picLocks noChangeAspect="1"/>
          </p:cNvPicPr>
          <p:nvPr/>
        </p:nvPicPr>
        <p:blipFill>
          <a:blip r:embed="rId3"/>
          <a:stretch>
            <a:fillRect/>
          </a:stretch>
        </p:blipFill>
        <p:spPr>
          <a:xfrm>
            <a:off x="769055" y="1219200"/>
            <a:ext cx="9213145" cy="2972215"/>
          </a:xfrm>
          <a:prstGeom prst="rect">
            <a:avLst/>
          </a:prstGeom>
        </p:spPr>
      </p:pic>
      <p:sp>
        <p:nvSpPr>
          <p:cNvPr id="5" name="TextBox 4">
            <a:extLst>
              <a:ext uri="{FF2B5EF4-FFF2-40B4-BE49-F238E27FC236}">
                <a16:creationId xmlns:a16="http://schemas.microsoft.com/office/drawing/2014/main" id="{F4437835-FA46-5FD3-DAA4-964837A55876}"/>
              </a:ext>
            </a:extLst>
          </p:cNvPr>
          <p:cNvSpPr txBox="1"/>
          <p:nvPr/>
        </p:nvSpPr>
        <p:spPr>
          <a:xfrm>
            <a:off x="1752600" y="5105400"/>
            <a:ext cx="76200" cy="369332"/>
          </a:xfrm>
          <a:prstGeom prst="rect">
            <a:avLst/>
          </a:prstGeom>
          <a:noFill/>
        </p:spPr>
        <p:txBody>
          <a:bodyPr wrap="square" rtlCol="0">
            <a:spAutoFit/>
          </a:bodyPr>
          <a:lstStyle/>
          <a:p>
            <a:endParaRPr lang="en-IN" dirty="0"/>
          </a:p>
        </p:txBody>
      </p:sp>
      <p:sp>
        <p:nvSpPr>
          <p:cNvPr id="7" name="Slide Number Placeholder 6">
            <a:extLst>
              <a:ext uri="{FF2B5EF4-FFF2-40B4-BE49-F238E27FC236}">
                <a16:creationId xmlns:a16="http://schemas.microsoft.com/office/drawing/2014/main" id="{1977BFCD-09E1-CC74-B604-CECEBEDD86ED}"/>
              </a:ext>
            </a:extLst>
          </p:cNvPr>
          <p:cNvSpPr>
            <a:spLocks noGrp="1"/>
          </p:cNvSpPr>
          <p:nvPr>
            <p:ph type="sldNum" sz="quarter" idx="12"/>
          </p:nvPr>
        </p:nvSpPr>
        <p:spPr/>
        <p:txBody>
          <a:bodyPr/>
          <a:lstStyle/>
          <a:p>
            <a:fld id="{BB2CE0DE-867F-455F-B20B-96D381B4AB71}" type="slidenum">
              <a:rPr lang="en-US" smtClean="0"/>
              <a:t>19</a:t>
            </a:fld>
            <a:endParaRPr lang="en-US"/>
          </a:p>
        </p:txBody>
      </p:sp>
    </p:spTree>
    <p:extLst>
      <p:ext uri="{BB962C8B-B14F-4D97-AF65-F5344CB8AC3E}">
        <p14:creationId xmlns:p14="http://schemas.microsoft.com/office/powerpoint/2010/main" val="1725987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1A7A-4B8E-440F-9615-67D09E5E31D1}"/>
              </a:ext>
            </a:extLst>
          </p:cNvPr>
          <p:cNvSpPr>
            <a:spLocks noGrp="1"/>
          </p:cNvSpPr>
          <p:nvPr>
            <p:ph type="title"/>
          </p:nvPr>
        </p:nvSpPr>
        <p:spPr/>
        <p:txBody>
          <a:bodyPr/>
          <a:lstStyle/>
          <a:p>
            <a:r>
              <a:rPr lang="en-US" dirty="0"/>
              <a:t>Parameter Norm Penalties</a:t>
            </a:r>
            <a:endParaRPr lang="en-IN" dirty="0"/>
          </a:p>
        </p:txBody>
      </p:sp>
      <p:sp>
        <p:nvSpPr>
          <p:cNvPr id="3" name="Content Placeholder 2">
            <a:extLst>
              <a:ext uri="{FF2B5EF4-FFF2-40B4-BE49-F238E27FC236}">
                <a16:creationId xmlns:a16="http://schemas.microsoft.com/office/drawing/2014/main" id="{9BDE97D2-91DD-41CE-9263-EDAEBC75EB7E}"/>
              </a:ext>
            </a:extLst>
          </p:cNvPr>
          <p:cNvSpPr>
            <a:spLocks noGrp="1"/>
          </p:cNvSpPr>
          <p:nvPr>
            <p:ph idx="1"/>
          </p:nvPr>
        </p:nvSpPr>
        <p:spPr/>
        <p:txBody>
          <a:bodyPr/>
          <a:lstStyle/>
          <a:p>
            <a:pPr marL="0" indent="0" algn="just">
              <a:buNone/>
            </a:pPr>
            <a:r>
              <a:rPr lang="en-US" sz="2000" dirty="0">
                <a:solidFill>
                  <a:schemeClr val="tx1">
                    <a:lumMod val="95000"/>
                    <a:lumOff val="5000"/>
                  </a:schemeClr>
                </a:solidFill>
              </a:rPr>
              <a:t>Regularization is a set of techniques used in machine learning to prevent overfitting by adding a penalty term to the model's loss function, which discourages excessive model complexity. By penalizing large weight coefficients, regularization forces the model to learn smoother, more generalizable patterns rather than memorizing noise in the training data</a:t>
            </a:r>
            <a:endParaRPr lang="en-IN" sz="2000" dirty="0">
              <a:solidFill>
                <a:schemeClr val="tx1">
                  <a:lumMod val="95000"/>
                  <a:lumOff val="5000"/>
                </a:schemeClr>
              </a:solidFill>
            </a:endParaRPr>
          </a:p>
        </p:txBody>
      </p:sp>
      <p:pic>
        <p:nvPicPr>
          <p:cNvPr id="9" name="Picture 8">
            <a:extLst>
              <a:ext uri="{FF2B5EF4-FFF2-40B4-BE49-F238E27FC236}">
                <a16:creationId xmlns:a16="http://schemas.microsoft.com/office/drawing/2014/main" id="{BA27BCCD-AAB3-4E04-A6D5-A0B6D719B0CD}"/>
              </a:ext>
            </a:extLst>
          </p:cNvPr>
          <p:cNvPicPr>
            <a:picLocks noChangeAspect="1"/>
          </p:cNvPicPr>
          <p:nvPr/>
        </p:nvPicPr>
        <p:blipFill>
          <a:blip r:embed="rId3"/>
          <a:stretch>
            <a:fillRect/>
          </a:stretch>
        </p:blipFill>
        <p:spPr>
          <a:xfrm>
            <a:off x="1981200" y="3506447"/>
            <a:ext cx="6236674" cy="609600"/>
          </a:xfrm>
          <a:prstGeom prst="rect">
            <a:avLst/>
          </a:prstGeom>
        </p:spPr>
      </p:pic>
      <p:pic>
        <p:nvPicPr>
          <p:cNvPr id="14" name="Picture 13">
            <a:extLst>
              <a:ext uri="{FF2B5EF4-FFF2-40B4-BE49-F238E27FC236}">
                <a16:creationId xmlns:a16="http://schemas.microsoft.com/office/drawing/2014/main" id="{852AEF76-C33F-4BE9-941B-7A42C2A10AEB}"/>
              </a:ext>
            </a:extLst>
          </p:cNvPr>
          <p:cNvPicPr>
            <a:picLocks noChangeAspect="1"/>
          </p:cNvPicPr>
          <p:nvPr/>
        </p:nvPicPr>
        <p:blipFill>
          <a:blip r:embed="rId4"/>
          <a:stretch>
            <a:fillRect/>
          </a:stretch>
        </p:blipFill>
        <p:spPr>
          <a:xfrm>
            <a:off x="2514600" y="4389802"/>
            <a:ext cx="8153400" cy="303754"/>
          </a:xfrm>
          <a:prstGeom prst="rect">
            <a:avLst/>
          </a:prstGeom>
        </p:spPr>
      </p:pic>
      <p:sp>
        <p:nvSpPr>
          <p:cNvPr id="5" name="Slide Number Placeholder 4">
            <a:extLst>
              <a:ext uri="{FF2B5EF4-FFF2-40B4-BE49-F238E27FC236}">
                <a16:creationId xmlns:a16="http://schemas.microsoft.com/office/drawing/2014/main" id="{79C4A5E2-B50E-20E8-D007-43D37072E892}"/>
              </a:ext>
            </a:extLst>
          </p:cNvPr>
          <p:cNvSpPr>
            <a:spLocks noGrp="1"/>
          </p:cNvSpPr>
          <p:nvPr>
            <p:ph type="sldNum" sz="quarter" idx="12"/>
          </p:nvPr>
        </p:nvSpPr>
        <p:spPr/>
        <p:txBody>
          <a:bodyPr/>
          <a:lstStyle/>
          <a:p>
            <a:fld id="{BB2CE0DE-867F-455F-B20B-96D381B4AB71}" type="slidenum">
              <a:rPr lang="en-US" smtClean="0"/>
              <a:t>20</a:t>
            </a:fld>
            <a:endParaRPr lang="en-US"/>
          </a:p>
        </p:txBody>
      </p:sp>
    </p:spTree>
    <p:extLst>
      <p:ext uri="{BB962C8B-B14F-4D97-AF65-F5344CB8AC3E}">
        <p14:creationId xmlns:p14="http://schemas.microsoft.com/office/powerpoint/2010/main" val="1454763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1A7A-4B8E-440F-9615-67D09E5E31D1}"/>
              </a:ext>
            </a:extLst>
          </p:cNvPr>
          <p:cNvSpPr>
            <a:spLocks noGrp="1"/>
          </p:cNvSpPr>
          <p:nvPr>
            <p:ph type="title"/>
          </p:nvPr>
        </p:nvSpPr>
        <p:spPr/>
        <p:txBody>
          <a:bodyPr/>
          <a:lstStyle/>
          <a:p>
            <a:r>
              <a:rPr lang="en-US" dirty="0"/>
              <a:t>Parameter Norm Penalties</a:t>
            </a:r>
            <a:endParaRPr lang="en-IN" dirty="0"/>
          </a:p>
        </p:txBody>
      </p:sp>
      <p:sp>
        <p:nvSpPr>
          <p:cNvPr id="3" name="Content Placeholder 2">
            <a:extLst>
              <a:ext uri="{FF2B5EF4-FFF2-40B4-BE49-F238E27FC236}">
                <a16:creationId xmlns:a16="http://schemas.microsoft.com/office/drawing/2014/main" id="{9BDE97D2-91DD-41CE-9263-EDAEBC75EB7E}"/>
              </a:ext>
            </a:extLst>
          </p:cNvPr>
          <p:cNvSpPr>
            <a:spLocks noGrp="1"/>
          </p:cNvSpPr>
          <p:nvPr>
            <p:ph idx="1"/>
          </p:nvPr>
        </p:nvSpPr>
        <p:spPr/>
        <p:txBody>
          <a:bodyPr/>
          <a:lstStyle/>
          <a:p>
            <a:pPr marL="0" indent="0" algn="just">
              <a:buNone/>
            </a:pPr>
            <a:endParaRPr lang="en-IN" sz="1600" dirty="0">
              <a:solidFill>
                <a:schemeClr val="tx1">
                  <a:lumMod val="95000"/>
                  <a:lumOff val="5000"/>
                </a:schemeClr>
              </a:solidFill>
            </a:endParaRPr>
          </a:p>
        </p:txBody>
      </p:sp>
      <p:pic>
        <p:nvPicPr>
          <p:cNvPr id="6" name="Picture 5">
            <a:extLst>
              <a:ext uri="{FF2B5EF4-FFF2-40B4-BE49-F238E27FC236}">
                <a16:creationId xmlns:a16="http://schemas.microsoft.com/office/drawing/2014/main" id="{BC62CAB7-725E-4BDE-B86D-5EAF4AB4AACB}"/>
              </a:ext>
            </a:extLst>
          </p:cNvPr>
          <p:cNvPicPr>
            <a:picLocks noChangeAspect="1"/>
          </p:cNvPicPr>
          <p:nvPr/>
        </p:nvPicPr>
        <p:blipFill>
          <a:blip r:embed="rId3"/>
          <a:stretch>
            <a:fillRect/>
          </a:stretch>
        </p:blipFill>
        <p:spPr>
          <a:xfrm>
            <a:off x="779625" y="1219200"/>
            <a:ext cx="9278775" cy="3886200"/>
          </a:xfrm>
          <a:prstGeom prst="rect">
            <a:avLst/>
          </a:prstGeom>
        </p:spPr>
      </p:pic>
      <p:sp>
        <p:nvSpPr>
          <p:cNvPr id="5" name="Slide Number Placeholder 4">
            <a:extLst>
              <a:ext uri="{FF2B5EF4-FFF2-40B4-BE49-F238E27FC236}">
                <a16:creationId xmlns:a16="http://schemas.microsoft.com/office/drawing/2014/main" id="{BC50D06B-7C48-1A0F-7D92-45BE87C2D5BE}"/>
              </a:ext>
            </a:extLst>
          </p:cNvPr>
          <p:cNvSpPr>
            <a:spLocks noGrp="1"/>
          </p:cNvSpPr>
          <p:nvPr>
            <p:ph type="sldNum" sz="quarter" idx="12"/>
          </p:nvPr>
        </p:nvSpPr>
        <p:spPr/>
        <p:txBody>
          <a:bodyPr/>
          <a:lstStyle/>
          <a:p>
            <a:fld id="{BB2CE0DE-867F-455F-B20B-96D381B4AB71}" type="slidenum">
              <a:rPr lang="en-US" smtClean="0"/>
              <a:t>21</a:t>
            </a:fld>
            <a:endParaRPr lang="en-US"/>
          </a:p>
        </p:txBody>
      </p:sp>
    </p:spTree>
    <p:extLst>
      <p:ext uri="{BB962C8B-B14F-4D97-AF65-F5344CB8AC3E}">
        <p14:creationId xmlns:p14="http://schemas.microsoft.com/office/powerpoint/2010/main" val="403428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790DF-4AB1-4544-994B-BFC4206DFB76}"/>
              </a:ext>
            </a:extLst>
          </p:cNvPr>
          <p:cNvSpPr>
            <a:spLocks noGrp="1"/>
          </p:cNvSpPr>
          <p:nvPr>
            <p:ph type="title"/>
          </p:nvPr>
        </p:nvSpPr>
        <p:spPr/>
        <p:txBody>
          <a:bodyPr/>
          <a:lstStyle/>
          <a:p>
            <a:r>
              <a:rPr lang="en-US" sz="2800" b="1" dirty="0">
                <a:solidFill>
                  <a:srgbClr val="001D35"/>
                </a:solidFill>
                <a:latin typeface="Google Sans"/>
              </a:rPr>
              <a:t>Primary Types of Regularization Penalty Terms</a:t>
            </a:r>
            <a:endParaRPr lang="en-IN" sz="2800" dirty="0"/>
          </a:p>
        </p:txBody>
      </p:sp>
      <p:sp>
        <p:nvSpPr>
          <p:cNvPr id="3" name="Content Placeholder 2">
            <a:extLst>
              <a:ext uri="{FF2B5EF4-FFF2-40B4-BE49-F238E27FC236}">
                <a16:creationId xmlns:a16="http://schemas.microsoft.com/office/drawing/2014/main" id="{73C9A1D1-D113-450D-9C83-AC5BBD7AFA3E}"/>
              </a:ext>
            </a:extLst>
          </p:cNvPr>
          <p:cNvSpPr>
            <a:spLocks noGrp="1"/>
          </p:cNvSpPr>
          <p:nvPr>
            <p:ph idx="1"/>
          </p:nvPr>
        </p:nvSpPr>
        <p:spPr/>
        <p:txBody>
          <a:bodyPr/>
          <a:lstStyle/>
          <a:p>
            <a:pPr marL="0" indent="0">
              <a:buNone/>
            </a:pPr>
            <a:r>
              <a:rPr lang="en-US" i="0" dirty="0">
                <a:solidFill>
                  <a:srgbClr val="001D35"/>
                </a:solidFill>
                <a:effectLst/>
                <a:latin typeface="Google Sans"/>
              </a:rPr>
              <a:t>1. L2 Regularization (Ridge Regression)</a:t>
            </a:r>
          </a:p>
          <a:p>
            <a:pPr marL="0" indent="0">
              <a:buNone/>
            </a:pPr>
            <a:endParaRPr lang="en-IN" i="0" dirty="0">
              <a:solidFill>
                <a:srgbClr val="001D35"/>
              </a:solidFill>
              <a:effectLst/>
              <a:latin typeface="Google Sans"/>
            </a:endParaRPr>
          </a:p>
          <a:p>
            <a:pPr marL="0" indent="0">
              <a:buNone/>
            </a:pPr>
            <a:r>
              <a:rPr lang="en-IN" i="0" dirty="0">
                <a:solidFill>
                  <a:srgbClr val="001D35"/>
                </a:solidFill>
                <a:effectLst/>
                <a:latin typeface="Google Sans"/>
              </a:rPr>
              <a:t>2.  L1 Regularization (Lasso Regression)</a:t>
            </a:r>
          </a:p>
          <a:p>
            <a:pPr marL="0" indent="0">
              <a:buNone/>
            </a:pPr>
            <a:br>
              <a:rPr lang="en-IN" dirty="0"/>
            </a:br>
            <a:endParaRPr lang="en-IN" dirty="0"/>
          </a:p>
          <a:p>
            <a:endParaRPr lang="en-IN" dirty="0"/>
          </a:p>
        </p:txBody>
      </p:sp>
      <p:sp>
        <p:nvSpPr>
          <p:cNvPr id="5" name="Slide Number Placeholder 4">
            <a:extLst>
              <a:ext uri="{FF2B5EF4-FFF2-40B4-BE49-F238E27FC236}">
                <a16:creationId xmlns:a16="http://schemas.microsoft.com/office/drawing/2014/main" id="{E7227359-B40D-DE27-D1A1-DEBA33F5D368}"/>
              </a:ext>
            </a:extLst>
          </p:cNvPr>
          <p:cNvSpPr>
            <a:spLocks noGrp="1"/>
          </p:cNvSpPr>
          <p:nvPr>
            <p:ph type="sldNum" sz="quarter" idx="12"/>
          </p:nvPr>
        </p:nvSpPr>
        <p:spPr/>
        <p:txBody>
          <a:bodyPr/>
          <a:lstStyle/>
          <a:p>
            <a:fld id="{BB2CE0DE-867F-455F-B20B-96D381B4AB71}" type="slidenum">
              <a:rPr lang="en-US" smtClean="0"/>
              <a:t>22</a:t>
            </a:fld>
            <a:endParaRPr lang="en-US"/>
          </a:p>
        </p:txBody>
      </p:sp>
    </p:spTree>
    <p:extLst>
      <p:ext uri="{BB962C8B-B14F-4D97-AF65-F5344CB8AC3E}">
        <p14:creationId xmlns:p14="http://schemas.microsoft.com/office/powerpoint/2010/main" val="4012120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4CCED-7B26-12C9-E62F-3E39A44307FA}"/>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0B9A07F4-BE96-1983-9597-FFECE0C739B1}"/>
              </a:ext>
            </a:extLst>
          </p:cNvPr>
          <p:cNvPicPr>
            <a:picLocks noChangeAspect="1"/>
          </p:cNvPicPr>
          <p:nvPr/>
        </p:nvPicPr>
        <p:blipFill>
          <a:blip r:embed="rId3"/>
          <a:stretch>
            <a:fillRect/>
          </a:stretch>
        </p:blipFill>
        <p:spPr>
          <a:xfrm>
            <a:off x="1869724" y="2716489"/>
            <a:ext cx="3790950" cy="1034953"/>
          </a:xfrm>
          <a:prstGeom prst="rect">
            <a:avLst/>
          </a:prstGeom>
        </p:spPr>
      </p:pic>
      <p:sp>
        <p:nvSpPr>
          <p:cNvPr id="6" name="TextBox 5">
            <a:extLst>
              <a:ext uri="{FF2B5EF4-FFF2-40B4-BE49-F238E27FC236}">
                <a16:creationId xmlns:a16="http://schemas.microsoft.com/office/drawing/2014/main" id="{669CB3BD-E768-1A54-43D3-5CFCDAE78AF7}"/>
              </a:ext>
            </a:extLst>
          </p:cNvPr>
          <p:cNvSpPr txBox="1"/>
          <p:nvPr/>
        </p:nvSpPr>
        <p:spPr>
          <a:xfrm>
            <a:off x="3975203" y="3834770"/>
            <a:ext cx="2270943" cy="646331"/>
          </a:xfrm>
          <a:prstGeom prst="rect">
            <a:avLst/>
          </a:prstGeom>
          <a:noFill/>
        </p:spPr>
        <p:txBody>
          <a:bodyPr wrap="none" rtlCol="0">
            <a:spAutoFit/>
          </a:bodyPr>
          <a:lstStyle/>
          <a:p>
            <a:r>
              <a:rPr lang="en-US" dirty="0"/>
              <a:t>L1 Regularization </a:t>
            </a:r>
          </a:p>
          <a:p>
            <a:r>
              <a:rPr lang="en-US" dirty="0"/>
              <a:t>added to Loss</a:t>
            </a:r>
            <a:endParaRPr lang="en-IN" dirty="0"/>
          </a:p>
        </p:txBody>
      </p:sp>
      <p:pic>
        <p:nvPicPr>
          <p:cNvPr id="7" name="Picture 6">
            <a:extLst>
              <a:ext uri="{FF2B5EF4-FFF2-40B4-BE49-F238E27FC236}">
                <a16:creationId xmlns:a16="http://schemas.microsoft.com/office/drawing/2014/main" id="{7B69689A-34A6-167E-08B4-734CFAB4687E}"/>
              </a:ext>
            </a:extLst>
          </p:cNvPr>
          <p:cNvPicPr>
            <a:picLocks noChangeAspect="1"/>
          </p:cNvPicPr>
          <p:nvPr/>
        </p:nvPicPr>
        <p:blipFill>
          <a:blip r:embed="rId4"/>
          <a:stretch>
            <a:fillRect/>
          </a:stretch>
        </p:blipFill>
        <p:spPr>
          <a:xfrm>
            <a:off x="6539089" y="2681461"/>
            <a:ext cx="3790950" cy="1064336"/>
          </a:xfrm>
          <a:prstGeom prst="rect">
            <a:avLst/>
          </a:prstGeom>
        </p:spPr>
      </p:pic>
      <p:sp>
        <p:nvSpPr>
          <p:cNvPr id="8" name="TextBox 7">
            <a:extLst>
              <a:ext uri="{FF2B5EF4-FFF2-40B4-BE49-F238E27FC236}">
                <a16:creationId xmlns:a16="http://schemas.microsoft.com/office/drawing/2014/main" id="{F8810FCF-C064-A5BB-B996-3C48790FB3C4}"/>
              </a:ext>
            </a:extLst>
          </p:cNvPr>
          <p:cNvSpPr txBox="1"/>
          <p:nvPr/>
        </p:nvSpPr>
        <p:spPr>
          <a:xfrm>
            <a:off x="8922927" y="3694757"/>
            <a:ext cx="2270943" cy="646331"/>
          </a:xfrm>
          <a:prstGeom prst="rect">
            <a:avLst/>
          </a:prstGeom>
          <a:noFill/>
        </p:spPr>
        <p:txBody>
          <a:bodyPr wrap="none" rtlCol="0">
            <a:spAutoFit/>
          </a:bodyPr>
          <a:lstStyle/>
          <a:p>
            <a:r>
              <a:rPr lang="en-US" dirty="0"/>
              <a:t>L2 Regularization </a:t>
            </a:r>
          </a:p>
          <a:p>
            <a:r>
              <a:rPr lang="en-US" dirty="0"/>
              <a:t>added to Loss</a:t>
            </a:r>
            <a:endParaRPr lang="en-IN" dirty="0"/>
          </a:p>
        </p:txBody>
      </p:sp>
      <p:pic>
        <p:nvPicPr>
          <p:cNvPr id="10" name="Picture 9">
            <a:extLst>
              <a:ext uri="{FF2B5EF4-FFF2-40B4-BE49-F238E27FC236}">
                <a16:creationId xmlns:a16="http://schemas.microsoft.com/office/drawing/2014/main" id="{CFF16FCD-D884-5740-6DEB-C5361C0F3459}"/>
              </a:ext>
            </a:extLst>
          </p:cNvPr>
          <p:cNvPicPr>
            <a:picLocks noChangeAspect="1"/>
          </p:cNvPicPr>
          <p:nvPr/>
        </p:nvPicPr>
        <p:blipFill>
          <a:blip r:embed="rId5"/>
          <a:stretch>
            <a:fillRect/>
          </a:stretch>
        </p:blipFill>
        <p:spPr>
          <a:xfrm>
            <a:off x="3352800" y="1118816"/>
            <a:ext cx="4048690" cy="504895"/>
          </a:xfrm>
          <a:prstGeom prst="rect">
            <a:avLst/>
          </a:prstGeom>
        </p:spPr>
      </p:pic>
      <p:cxnSp>
        <p:nvCxnSpPr>
          <p:cNvPr id="12" name="Straight Arrow Connector 11">
            <a:extLst>
              <a:ext uri="{FF2B5EF4-FFF2-40B4-BE49-F238E27FC236}">
                <a16:creationId xmlns:a16="http://schemas.microsoft.com/office/drawing/2014/main" id="{71390464-B6BE-5A42-8D8C-DB396E92DCC7}"/>
              </a:ext>
            </a:extLst>
          </p:cNvPr>
          <p:cNvCxnSpPr/>
          <p:nvPr/>
        </p:nvCxnSpPr>
        <p:spPr bwMode="auto">
          <a:xfrm flipH="1">
            <a:off x="4648200" y="1676400"/>
            <a:ext cx="2209800"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5721CBF-DF39-4524-B888-CE442EFB5680}"/>
              </a:ext>
            </a:extLst>
          </p:cNvPr>
          <p:cNvCxnSpPr>
            <a:cxnSpLocks/>
          </p:cNvCxnSpPr>
          <p:nvPr/>
        </p:nvCxnSpPr>
        <p:spPr bwMode="auto">
          <a:xfrm>
            <a:off x="6934200" y="1676400"/>
            <a:ext cx="2743200"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TextBox 14">
            <a:extLst>
              <a:ext uri="{FF2B5EF4-FFF2-40B4-BE49-F238E27FC236}">
                <a16:creationId xmlns:a16="http://schemas.microsoft.com/office/drawing/2014/main" id="{4FDBC52A-82E1-1D95-16CF-276DA26D3920}"/>
              </a:ext>
            </a:extLst>
          </p:cNvPr>
          <p:cNvSpPr txBox="1"/>
          <p:nvPr/>
        </p:nvSpPr>
        <p:spPr>
          <a:xfrm>
            <a:off x="1685292" y="4747582"/>
            <a:ext cx="8998938" cy="338554"/>
          </a:xfrm>
          <a:prstGeom prst="rect">
            <a:avLst/>
          </a:prstGeom>
          <a:noFill/>
        </p:spPr>
        <p:txBody>
          <a:bodyPr wrap="none" rtlCol="0">
            <a:spAutoFit/>
          </a:bodyPr>
          <a:lstStyle/>
          <a:p>
            <a:r>
              <a:rPr lang="en-US" sz="1600" dirty="0"/>
              <a:t>Norm penalty Ω penalizes only weights at each layer and leaves biases unregularized</a:t>
            </a:r>
            <a:endParaRPr lang="en-IN" sz="1600" dirty="0"/>
          </a:p>
        </p:txBody>
      </p:sp>
      <p:sp>
        <p:nvSpPr>
          <p:cNvPr id="16" name="TextBox 15">
            <a:extLst>
              <a:ext uri="{FF2B5EF4-FFF2-40B4-BE49-F238E27FC236}">
                <a16:creationId xmlns:a16="http://schemas.microsoft.com/office/drawing/2014/main" id="{8C7B8402-716D-9FC9-CDB8-F2673E6D1069}"/>
              </a:ext>
            </a:extLst>
          </p:cNvPr>
          <p:cNvSpPr txBox="1"/>
          <p:nvPr/>
        </p:nvSpPr>
        <p:spPr>
          <a:xfrm>
            <a:off x="1705048" y="5420303"/>
            <a:ext cx="5928098" cy="646331"/>
          </a:xfrm>
          <a:prstGeom prst="rect">
            <a:avLst/>
          </a:prstGeom>
          <a:noFill/>
        </p:spPr>
        <p:txBody>
          <a:bodyPr wrap="none" rtlCol="0">
            <a:spAutoFit/>
          </a:bodyPr>
          <a:lstStyle/>
          <a:p>
            <a:r>
              <a:rPr lang="en-US" dirty="0"/>
              <a:t>W indicates all weights affected by norm penalty </a:t>
            </a:r>
          </a:p>
          <a:p>
            <a:r>
              <a:rPr lang="en-US" dirty="0"/>
              <a:t>θ denotes both w and biases.</a:t>
            </a:r>
            <a:endParaRPr lang="en-IN" dirty="0"/>
          </a:p>
        </p:txBody>
      </p:sp>
      <p:sp>
        <p:nvSpPr>
          <p:cNvPr id="9" name="TextBox 8">
            <a:extLst>
              <a:ext uri="{FF2B5EF4-FFF2-40B4-BE49-F238E27FC236}">
                <a16:creationId xmlns:a16="http://schemas.microsoft.com/office/drawing/2014/main" id="{3A44F9EB-7F87-33B8-C3E7-077985A0AA8A}"/>
              </a:ext>
            </a:extLst>
          </p:cNvPr>
          <p:cNvSpPr txBox="1"/>
          <p:nvPr/>
        </p:nvSpPr>
        <p:spPr>
          <a:xfrm>
            <a:off x="8547633" y="1685748"/>
            <a:ext cx="3021533" cy="646331"/>
          </a:xfrm>
          <a:prstGeom prst="rect">
            <a:avLst/>
          </a:prstGeom>
          <a:noFill/>
        </p:spPr>
        <p:txBody>
          <a:bodyPr wrap="none" rtlCol="0">
            <a:spAutoFit/>
          </a:bodyPr>
          <a:lstStyle/>
          <a:p>
            <a:r>
              <a:rPr lang="en-IN" dirty="0"/>
              <a:t>Parameter Norm Penalty</a:t>
            </a:r>
          </a:p>
          <a:p>
            <a:endParaRPr lang="en-IN" dirty="0"/>
          </a:p>
        </p:txBody>
      </p:sp>
      <p:sp>
        <p:nvSpPr>
          <p:cNvPr id="3" name="Slide Number Placeholder 2">
            <a:extLst>
              <a:ext uri="{FF2B5EF4-FFF2-40B4-BE49-F238E27FC236}">
                <a16:creationId xmlns:a16="http://schemas.microsoft.com/office/drawing/2014/main" id="{CC146CA3-DD64-1622-BFA3-962AA9E8FBCD}"/>
              </a:ext>
            </a:extLst>
          </p:cNvPr>
          <p:cNvSpPr>
            <a:spLocks noGrp="1"/>
          </p:cNvSpPr>
          <p:nvPr>
            <p:ph type="sldNum" sz="quarter" idx="12"/>
          </p:nvPr>
        </p:nvSpPr>
        <p:spPr/>
        <p:txBody>
          <a:bodyPr/>
          <a:lstStyle/>
          <a:p>
            <a:fld id="{BB2CE0DE-867F-455F-B20B-96D381B4AB71}" type="slidenum">
              <a:rPr lang="en-US" smtClean="0"/>
              <a:t>23</a:t>
            </a:fld>
            <a:endParaRPr lang="en-US"/>
          </a:p>
        </p:txBody>
      </p:sp>
    </p:spTree>
    <p:extLst>
      <p:ext uri="{BB962C8B-B14F-4D97-AF65-F5344CB8AC3E}">
        <p14:creationId xmlns:p14="http://schemas.microsoft.com/office/powerpoint/2010/main" val="2152439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B91B-230F-C064-2C98-8315FA8FFF83}"/>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0F357406-1473-B9DD-1BAE-D19F6055AEF1}"/>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5E760482-F8FE-A00E-DED8-E021D0FB42C6}"/>
              </a:ext>
            </a:extLst>
          </p:cNvPr>
          <p:cNvPicPr>
            <a:picLocks noChangeAspect="1"/>
          </p:cNvPicPr>
          <p:nvPr/>
        </p:nvPicPr>
        <p:blipFill>
          <a:blip r:embed="rId2"/>
          <a:stretch>
            <a:fillRect/>
          </a:stretch>
        </p:blipFill>
        <p:spPr>
          <a:xfrm>
            <a:off x="771877" y="1207911"/>
            <a:ext cx="9144000" cy="4174803"/>
          </a:xfrm>
          <a:prstGeom prst="rect">
            <a:avLst/>
          </a:prstGeom>
        </p:spPr>
      </p:pic>
      <p:sp>
        <p:nvSpPr>
          <p:cNvPr id="5" name="Slide Number Placeholder 4">
            <a:extLst>
              <a:ext uri="{FF2B5EF4-FFF2-40B4-BE49-F238E27FC236}">
                <a16:creationId xmlns:a16="http://schemas.microsoft.com/office/drawing/2014/main" id="{56FBA5E2-F558-A4A8-E4AB-3FC5033BA864}"/>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1366803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90E95-DF92-99A9-210D-AF1968F11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77B50-748B-FF03-17DD-B358BE370771}"/>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F951B6B7-8163-0F32-A4BD-F395EA7C70F2}"/>
              </a:ext>
            </a:extLst>
          </p:cNvPr>
          <p:cNvSpPr>
            <a:spLocks noGrp="1"/>
          </p:cNvSpPr>
          <p:nvPr>
            <p:ph idx="1"/>
          </p:nvPr>
        </p:nvSpPr>
        <p:spPr/>
        <p:txBody>
          <a:bodyPr/>
          <a:lstStyle/>
          <a:p>
            <a:pPr marL="0" indent="0" algn="just">
              <a:buNone/>
            </a:pPr>
            <a:r>
              <a:rPr lang="en-US" sz="2000" dirty="0"/>
              <a:t>We can gain some insight into the behavior of weight decay regularization by studying the gradient of the regularized objective function. To simplify the presentation, we assume no bias parameter, so θ is just w. Such a model has the following total objective function:</a:t>
            </a:r>
            <a:endParaRPr lang="en-IN" sz="2000" dirty="0"/>
          </a:p>
        </p:txBody>
      </p:sp>
      <p:pic>
        <p:nvPicPr>
          <p:cNvPr id="7" name="Picture 6">
            <a:extLst>
              <a:ext uri="{FF2B5EF4-FFF2-40B4-BE49-F238E27FC236}">
                <a16:creationId xmlns:a16="http://schemas.microsoft.com/office/drawing/2014/main" id="{3B945963-C2F6-DDCB-A746-BFAAF51D58BA}"/>
              </a:ext>
            </a:extLst>
          </p:cNvPr>
          <p:cNvPicPr>
            <a:picLocks noChangeAspect="1"/>
          </p:cNvPicPr>
          <p:nvPr/>
        </p:nvPicPr>
        <p:blipFill>
          <a:blip r:embed="rId2"/>
          <a:stretch>
            <a:fillRect/>
          </a:stretch>
        </p:blipFill>
        <p:spPr>
          <a:xfrm>
            <a:off x="2971800" y="2902900"/>
            <a:ext cx="5764568" cy="1001996"/>
          </a:xfrm>
          <a:prstGeom prst="rect">
            <a:avLst/>
          </a:prstGeom>
        </p:spPr>
      </p:pic>
      <p:pic>
        <p:nvPicPr>
          <p:cNvPr id="9" name="Picture 8">
            <a:extLst>
              <a:ext uri="{FF2B5EF4-FFF2-40B4-BE49-F238E27FC236}">
                <a16:creationId xmlns:a16="http://schemas.microsoft.com/office/drawing/2014/main" id="{BBC67DEE-771A-5AA8-4220-7B7D047B0249}"/>
              </a:ext>
            </a:extLst>
          </p:cNvPr>
          <p:cNvPicPr>
            <a:picLocks noChangeAspect="1"/>
          </p:cNvPicPr>
          <p:nvPr/>
        </p:nvPicPr>
        <p:blipFill>
          <a:blip r:embed="rId3"/>
          <a:stretch>
            <a:fillRect/>
          </a:stretch>
        </p:blipFill>
        <p:spPr>
          <a:xfrm>
            <a:off x="1524001" y="4495800"/>
            <a:ext cx="3658111" cy="1552792"/>
          </a:xfrm>
          <a:prstGeom prst="rect">
            <a:avLst/>
          </a:prstGeom>
        </p:spPr>
      </p:pic>
      <p:pic>
        <p:nvPicPr>
          <p:cNvPr id="11" name="Picture 10">
            <a:extLst>
              <a:ext uri="{FF2B5EF4-FFF2-40B4-BE49-F238E27FC236}">
                <a16:creationId xmlns:a16="http://schemas.microsoft.com/office/drawing/2014/main" id="{9767BE4E-78FD-25F4-9D75-A814C88721F9}"/>
              </a:ext>
            </a:extLst>
          </p:cNvPr>
          <p:cNvPicPr>
            <a:picLocks noChangeAspect="1"/>
          </p:cNvPicPr>
          <p:nvPr/>
        </p:nvPicPr>
        <p:blipFill>
          <a:blip r:embed="rId4"/>
          <a:stretch>
            <a:fillRect/>
          </a:stretch>
        </p:blipFill>
        <p:spPr>
          <a:xfrm>
            <a:off x="5496236" y="5276960"/>
            <a:ext cx="2449322" cy="1001996"/>
          </a:xfrm>
          <a:prstGeom prst="rect">
            <a:avLst/>
          </a:prstGeom>
        </p:spPr>
      </p:pic>
      <p:sp>
        <p:nvSpPr>
          <p:cNvPr id="12" name="TextBox 11">
            <a:extLst>
              <a:ext uri="{FF2B5EF4-FFF2-40B4-BE49-F238E27FC236}">
                <a16:creationId xmlns:a16="http://schemas.microsoft.com/office/drawing/2014/main" id="{E351EAF1-83CD-17C9-0296-B7EA55A86EB4}"/>
              </a:ext>
            </a:extLst>
          </p:cNvPr>
          <p:cNvSpPr txBox="1"/>
          <p:nvPr/>
        </p:nvSpPr>
        <p:spPr>
          <a:xfrm>
            <a:off x="5315811" y="4368762"/>
            <a:ext cx="5259493" cy="707886"/>
          </a:xfrm>
          <a:prstGeom prst="rect">
            <a:avLst/>
          </a:prstGeom>
          <a:noFill/>
        </p:spPr>
        <p:txBody>
          <a:bodyPr wrap="square" rtlCol="0">
            <a:spAutoFit/>
          </a:bodyPr>
          <a:lstStyle/>
          <a:p>
            <a:r>
              <a:rPr lang="en-US" sz="2000" dirty="0"/>
              <a:t>L2 regularization always uses </a:t>
            </a:r>
          </a:p>
          <a:p>
            <a:r>
              <a:rPr lang="en-US" sz="2000" dirty="0"/>
              <a:t>squared weights</a:t>
            </a:r>
            <a:endParaRPr lang="en-IN" sz="2000" dirty="0"/>
          </a:p>
        </p:txBody>
      </p:sp>
      <p:sp>
        <p:nvSpPr>
          <p:cNvPr id="5" name="Slide Number Placeholder 4">
            <a:extLst>
              <a:ext uri="{FF2B5EF4-FFF2-40B4-BE49-F238E27FC236}">
                <a16:creationId xmlns:a16="http://schemas.microsoft.com/office/drawing/2014/main" id="{C1F100D5-2C1C-6B38-C049-EEA52820A367}"/>
              </a:ext>
            </a:extLst>
          </p:cNvPr>
          <p:cNvSpPr>
            <a:spLocks noGrp="1"/>
          </p:cNvSpPr>
          <p:nvPr>
            <p:ph type="sldNum" sz="quarter" idx="12"/>
          </p:nvPr>
        </p:nvSpPr>
        <p:spPr/>
        <p:txBody>
          <a:bodyPr/>
          <a:lstStyle/>
          <a:p>
            <a:fld id="{BB2CE0DE-867F-455F-B20B-96D381B4AB71}" type="slidenum">
              <a:rPr lang="en-US" smtClean="0"/>
              <a:t>25</a:t>
            </a:fld>
            <a:endParaRPr lang="en-US"/>
          </a:p>
        </p:txBody>
      </p:sp>
    </p:spTree>
    <p:extLst>
      <p:ext uri="{BB962C8B-B14F-4D97-AF65-F5344CB8AC3E}">
        <p14:creationId xmlns:p14="http://schemas.microsoft.com/office/powerpoint/2010/main" val="2017636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DFC31-DC96-85D3-6336-A88E8874F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75A0B-4E1C-05B2-141A-137AFD587F0C}"/>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EE9CD80C-39B2-8DCA-6FD4-8E9696C9FD72}"/>
              </a:ext>
            </a:extLst>
          </p:cNvPr>
          <p:cNvSpPr>
            <a:spLocks noGrp="1"/>
          </p:cNvSpPr>
          <p:nvPr>
            <p:ph idx="1"/>
          </p:nvPr>
        </p:nvSpPr>
        <p:spPr/>
        <p:txBody>
          <a:bodyPr/>
          <a:lstStyle/>
          <a:p>
            <a:pPr marL="0" indent="0" algn="just">
              <a:buNone/>
            </a:pPr>
            <a:endParaRPr lang="en-IN" sz="2000" dirty="0"/>
          </a:p>
        </p:txBody>
      </p:sp>
      <p:pic>
        <p:nvPicPr>
          <p:cNvPr id="7" name="Picture 6">
            <a:extLst>
              <a:ext uri="{FF2B5EF4-FFF2-40B4-BE49-F238E27FC236}">
                <a16:creationId xmlns:a16="http://schemas.microsoft.com/office/drawing/2014/main" id="{9B7BD72E-85A8-D1B7-B55A-D3FCA423C768}"/>
              </a:ext>
            </a:extLst>
          </p:cNvPr>
          <p:cNvPicPr>
            <a:picLocks noChangeAspect="1"/>
          </p:cNvPicPr>
          <p:nvPr/>
        </p:nvPicPr>
        <p:blipFill>
          <a:blip r:embed="rId2"/>
          <a:stretch>
            <a:fillRect/>
          </a:stretch>
        </p:blipFill>
        <p:spPr>
          <a:xfrm>
            <a:off x="2133600" y="1219200"/>
            <a:ext cx="8719916" cy="1515694"/>
          </a:xfrm>
          <a:prstGeom prst="rect">
            <a:avLst/>
          </a:prstGeom>
        </p:spPr>
      </p:pic>
      <p:pic>
        <p:nvPicPr>
          <p:cNvPr id="6" name="Picture 5">
            <a:extLst>
              <a:ext uri="{FF2B5EF4-FFF2-40B4-BE49-F238E27FC236}">
                <a16:creationId xmlns:a16="http://schemas.microsoft.com/office/drawing/2014/main" id="{19A84A28-BAD2-DB61-71D0-17CE9917EF3B}"/>
              </a:ext>
            </a:extLst>
          </p:cNvPr>
          <p:cNvPicPr>
            <a:picLocks noChangeAspect="1"/>
          </p:cNvPicPr>
          <p:nvPr/>
        </p:nvPicPr>
        <p:blipFill>
          <a:blip r:embed="rId3"/>
          <a:stretch>
            <a:fillRect/>
          </a:stretch>
        </p:blipFill>
        <p:spPr>
          <a:xfrm>
            <a:off x="1524000" y="3200400"/>
            <a:ext cx="9539956" cy="1515694"/>
          </a:xfrm>
          <a:prstGeom prst="rect">
            <a:avLst/>
          </a:prstGeom>
        </p:spPr>
      </p:pic>
      <p:sp>
        <p:nvSpPr>
          <p:cNvPr id="5" name="Slide Number Placeholder 4">
            <a:extLst>
              <a:ext uri="{FF2B5EF4-FFF2-40B4-BE49-F238E27FC236}">
                <a16:creationId xmlns:a16="http://schemas.microsoft.com/office/drawing/2014/main" id="{DC81A44C-DB75-AD4E-0909-11758E96EBA2}"/>
              </a:ext>
            </a:extLst>
          </p:cNvPr>
          <p:cNvSpPr>
            <a:spLocks noGrp="1"/>
          </p:cNvSpPr>
          <p:nvPr>
            <p:ph type="sldNum" sz="quarter" idx="12"/>
          </p:nvPr>
        </p:nvSpPr>
        <p:spPr/>
        <p:txBody>
          <a:bodyPr/>
          <a:lstStyle/>
          <a:p>
            <a:fld id="{BB2CE0DE-867F-455F-B20B-96D381B4AB71}" type="slidenum">
              <a:rPr lang="en-US" smtClean="0"/>
              <a:t>26</a:t>
            </a:fld>
            <a:endParaRPr lang="en-US"/>
          </a:p>
        </p:txBody>
      </p:sp>
    </p:spTree>
    <p:extLst>
      <p:ext uri="{BB962C8B-B14F-4D97-AF65-F5344CB8AC3E}">
        <p14:creationId xmlns:p14="http://schemas.microsoft.com/office/powerpoint/2010/main" val="1873001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E9CDB-4A06-2D54-209E-D505DC3DD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A854D-1BE4-E49E-94F3-926649AB62A3}"/>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C96D2504-A1B2-694F-3EF0-23AD2D933A67}"/>
              </a:ext>
            </a:extLst>
          </p:cNvPr>
          <p:cNvPicPr>
            <a:picLocks noChangeAspect="1"/>
          </p:cNvPicPr>
          <p:nvPr/>
        </p:nvPicPr>
        <p:blipFill>
          <a:blip r:embed="rId2"/>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0F596BE6-3E63-3F6D-D407-0E6B2B08B51F}"/>
              </a:ext>
            </a:extLst>
          </p:cNvPr>
          <p:cNvPicPr>
            <a:picLocks noChangeAspect="1"/>
          </p:cNvPicPr>
          <p:nvPr/>
        </p:nvPicPr>
        <p:blipFill>
          <a:blip r:embed="rId3"/>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7AFFC83E-E585-8FA6-0806-8BB6A4B0432C}"/>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520D1F14-30A0-8E4A-EC72-24B76A799B20}"/>
              </a:ext>
            </a:extLst>
          </p:cNvPr>
          <p:cNvPicPr>
            <a:picLocks noChangeAspect="1"/>
          </p:cNvPicPr>
          <p:nvPr/>
        </p:nvPicPr>
        <p:blipFill>
          <a:blip r:embed="rId4"/>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77FE2D68-E73D-9B41-97A2-769AD1771255}"/>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4C48D5A8-2FE8-10C2-B0EB-E2659AD8DE5F}"/>
              </a:ext>
            </a:extLst>
          </p:cNvPr>
          <p:cNvPicPr>
            <a:picLocks noChangeAspect="1"/>
          </p:cNvPicPr>
          <p:nvPr/>
        </p:nvPicPr>
        <p:blipFill>
          <a:blip r:embed="rId5"/>
          <a:stretch>
            <a:fillRect/>
          </a:stretch>
        </p:blipFill>
        <p:spPr>
          <a:xfrm>
            <a:off x="2024566" y="5555030"/>
            <a:ext cx="4833434" cy="517383"/>
          </a:xfrm>
          <a:prstGeom prst="rect">
            <a:avLst/>
          </a:prstGeom>
        </p:spPr>
      </p:pic>
      <p:sp>
        <p:nvSpPr>
          <p:cNvPr id="14" name="TextBox 13">
            <a:extLst>
              <a:ext uri="{FF2B5EF4-FFF2-40B4-BE49-F238E27FC236}">
                <a16:creationId xmlns:a16="http://schemas.microsoft.com/office/drawing/2014/main" id="{2A585167-00EF-C1D8-3209-BB82809F7E7E}"/>
              </a:ext>
            </a:extLst>
          </p:cNvPr>
          <p:cNvSpPr txBox="1"/>
          <p:nvPr/>
        </p:nvSpPr>
        <p:spPr>
          <a:xfrm>
            <a:off x="2021745" y="5033297"/>
            <a:ext cx="4325095" cy="369332"/>
          </a:xfrm>
          <a:prstGeom prst="rect">
            <a:avLst/>
          </a:prstGeom>
          <a:noFill/>
        </p:spPr>
        <p:txBody>
          <a:bodyPr wrap="none" rtlCol="0">
            <a:spAutoFit/>
          </a:bodyPr>
          <a:lstStyle/>
          <a:p>
            <a:r>
              <a:rPr lang="en-US" dirty="0"/>
              <a:t>Written another way, the update is:</a:t>
            </a:r>
            <a:endParaRPr lang="en-IN" dirty="0"/>
          </a:p>
        </p:txBody>
      </p:sp>
      <p:sp>
        <p:nvSpPr>
          <p:cNvPr id="3" name="Slide Number Placeholder 2">
            <a:extLst>
              <a:ext uri="{FF2B5EF4-FFF2-40B4-BE49-F238E27FC236}">
                <a16:creationId xmlns:a16="http://schemas.microsoft.com/office/drawing/2014/main" id="{E53615FB-A0B8-5617-5D71-4111E199A099}"/>
              </a:ext>
            </a:extLst>
          </p:cNvPr>
          <p:cNvSpPr>
            <a:spLocks noGrp="1"/>
          </p:cNvSpPr>
          <p:nvPr>
            <p:ph type="sldNum" sz="quarter" idx="12"/>
          </p:nvPr>
        </p:nvSpPr>
        <p:spPr/>
        <p:txBody>
          <a:bodyPr/>
          <a:lstStyle/>
          <a:p>
            <a:fld id="{BB2CE0DE-867F-455F-B20B-96D381B4AB71}" type="slidenum">
              <a:rPr lang="en-US" smtClean="0"/>
              <a:t>27</a:t>
            </a:fld>
            <a:endParaRPr lang="en-US"/>
          </a:p>
        </p:txBody>
      </p:sp>
    </p:spTree>
    <p:extLst>
      <p:ext uri="{BB962C8B-B14F-4D97-AF65-F5344CB8AC3E}">
        <p14:creationId xmlns:p14="http://schemas.microsoft.com/office/powerpoint/2010/main" val="3965977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451F2-450B-2E63-EB21-F81006494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97DB88-B385-8B4C-FA7C-D25D83239A7D}"/>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8273AC93-D140-FB83-536A-F45DC2BC52C2}"/>
              </a:ext>
            </a:extLst>
          </p:cNvPr>
          <p:cNvPicPr>
            <a:picLocks noChangeAspect="1"/>
          </p:cNvPicPr>
          <p:nvPr/>
        </p:nvPicPr>
        <p:blipFill>
          <a:blip r:embed="rId3"/>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91D5861E-8543-3DBC-8493-B8134C1D7175}"/>
              </a:ext>
            </a:extLst>
          </p:cNvPr>
          <p:cNvPicPr>
            <a:picLocks noChangeAspect="1"/>
          </p:cNvPicPr>
          <p:nvPr/>
        </p:nvPicPr>
        <p:blipFill>
          <a:blip r:embed="rId4"/>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324394F4-B8C1-9F2B-77F6-B3F57F5EE395}"/>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AA18946B-A16E-F621-39F9-B42262E5A53F}"/>
              </a:ext>
            </a:extLst>
          </p:cNvPr>
          <p:cNvPicPr>
            <a:picLocks noChangeAspect="1"/>
          </p:cNvPicPr>
          <p:nvPr/>
        </p:nvPicPr>
        <p:blipFill>
          <a:blip r:embed="rId5"/>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CAB76CDE-E9C8-1184-B0FB-99233ED8F330}"/>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7F806CA6-CA5F-00F3-D739-92384211C424}"/>
              </a:ext>
            </a:extLst>
          </p:cNvPr>
          <p:cNvPicPr>
            <a:picLocks noChangeAspect="1"/>
          </p:cNvPicPr>
          <p:nvPr/>
        </p:nvPicPr>
        <p:blipFill>
          <a:blip r:embed="rId6"/>
          <a:stretch>
            <a:fillRect/>
          </a:stretch>
        </p:blipFill>
        <p:spPr>
          <a:xfrm>
            <a:off x="1767574" y="5491649"/>
            <a:ext cx="4833434" cy="517383"/>
          </a:xfrm>
          <a:prstGeom prst="rect">
            <a:avLst/>
          </a:prstGeom>
        </p:spPr>
      </p:pic>
      <p:sp>
        <p:nvSpPr>
          <p:cNvPr id="14" name="TextBox 13">
            <a:extLst>
              <a:ext uri="{FF2B5EF4-FFF2-40B4-BE49-F238E27FC236}">
                <a16:creationId xmlns:a16="http://schemas.microsoft.com/office/drawing/2014/main" id="{6E75F3A7-AFE7-AE3A-405A-AB1DE3B8D1E4}"/>
              </a:ext>
            </a:extLst>
          </p:cNvPr>
          <p:cNvSpPr txBox="1"/>
          <p:nvPr/>
        </p:nvSpPr>
        <p:spPr>
          <a:xfrm>
            <a:off x="2021745" y="5033297"/>
            <a:ext cx="4325095" cy="369332"/>
          </a:xfrm>
          <a:prstGeom prst="rect">
            <a:avLst/>
          </a:prstGeom>
          <a:noFill/>
        </p:spPr>
        <p:txBody>
          <a:bodyPr wrap="none" rtlCol="0">
            <a:spAutoFit/>
          </a:bodyPr>
          <a:lstStyle/>
          <a:p>
            <a:r>
              <a:rPr lang="en-US" dirty="0"/>
              <a:t>Written another way, the update is:</a:t>
            </a:r>
            <a:endParaRPr lang="en-IN" dirty="0"/>
          </a:p>
        </p:txBody>
      </p:sp>
      <p:pic>
        <p:nvPicPr>
          <p:cNvPr id="9" name="Picture 8">
            <a:extLst>
              <a:ext uri="{FF2B5EF4-FFF2-40B4-BE49-F238E27FC236}">
                <a16:creationId xmlns:a16="http://schemas.microsoft.com/office/drawing/2014/main" id="{2156E4E0-ABCB-1619-1D43-68117F1447E4}"/>
              </a:ext>
            </a:extLst>
          </p:cNvPr>
          <p:cNvPicPr>
            <a:picLocks noChangeAspect="1"/>
          </p:cNvPicPr>
          <p:nvPr/>
        </p:nvPicPr>
        <p:blipFill>
          <a:blip r:embed="rId7"/>
          <a:stretch>
            <a:fillRect/>
          </a:stretch>
        </p:blipFill>
        <p:spPr>
          <a:xfrm>
            <a:off x="6892626" y="5301382"/>
            <a:ext cx="3553321" cy="947018"/>
          </a:xfrm>
          <a:prstGeom prst="rect">
            <a:avLst/>
          </a:prstGeom>
        </p:spPr>
      </p:pic>
      <p:sp>
        <p:nvSpPr>
          <p:cNvPr id="3" name="Slide Number Placeholder 2">
            <a:extLst>
              <a:ext uri="{FF2B5EF4-FFF2-40B4-BE49-F238E27FC236}">
                <a16:creationId xmlns:a16="http://schemas.microsoft.com/office/drawing/2014/main" id="{791A0941-CA6D-B625-C07A-3B81C51539F4}"/>
              </a:ext>
            </a:extLst>
          </p:cNvPr>
          <p:cNvSpPr>
            <a:spLocks noGrp="1"/>
          </p:cNvSpPr>
          <p:nvPr>
            <p:ph type="sldNum" sz="quarter" idx="12"/>
          </p:nvPr>
        </p:nvSpPr>
        <p:spPr/>
        <p:txBody>
          <a:bodyPr/>
          <a:lstStyle/>
          <a:p>
            <a:fld id="{BB2CE0DE-867F-455F-B20B-96D381B4AB71}" type="slidenum">
              <a:rPr lang="en-US" smtClean="0"/>
              <a:t>28</a:t>
            </a:fld>
            <a:endParaRPr lang="en-US"/>
          </a:p>
        </p:txBody>
      </p:sp>
    </p:spTree>
    <p:extLst>
      <p:ext uri="{BB962C8B-B14F-4D97-AF65-F5344CB8AC3E}">
        <p14:creationId xmlns:p14="http://schemas.microsoft.com/office/powerpoint/2010/main" val="2580897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7A2DF-76A8-FB94-2BB2-E5215B94B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4C92-9DEF-0209-B2AB-60EB54204C41}"/>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CE70B2FB-04F7-F614-E2E6-F65D69872EDB}"/>
              </a:ext>
            </a:extLst>
          </p:cNvPr>
          <p:cNvPicPr>
            <a:picLocks noChangeAspect="1"/>
          </p:cNvPicPr>
          <p:nvPr/>
        </p:nvPicPr>
        <p:blipFill>
          <a:blip r:embed="rId3"/>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646B6357-16D6-1AE2-4053-E3DD96D913AA}"/>
              </a:ext>
            </a:extLst>
          </p:cNvPr>
          <p:cNvPicPr>
            <a:picLocks noChangeAspect="1"/>
          </p:cNvPicPr>
          <p:nvPr/>
        </p:nvPicPr>
        <p:blipFill>
          <a:blip r:embed="rId4"/>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75243D75-74C0-AF94-CE11-593E6A915D20}"/>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4699308E-6ABA-AD24-DC8B-1895265F3BAD}"/>
              </a:ext>
            </a:extLst>
          </p:cNvPr>
          <p:cNvPicPr>
            <a:picLocks noChangeAspect="1"/>
          </p:cNvPicPr>
          <p:nvPr/>
        </p:nvPicPr>
        <p:blipFill>
          <a:blip r:embed="rId5"/>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5193614E-5F07-1026-C47B-19357DFA9C94}"/>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A5CEA3FC-D70D-564D-9818-B16C23DF220D}"/>
              </a:ext>
            </a:extLst>
          </p:cNvPr>
          <p:cNvPicPr>
            <a:picLocks noChangeAspect="1"/>
          </p:cNvPicPr>
          <p:nvPr/>
        </p:nvPicPr>
        <p:blipFill>
          <a:blip r:embed="rId6"/>
          <a:stretch>
            <a:fillRect/>
          </a:stretch>
        </p:blipFill>
        <p:spPr>
          <a:xfrm>
            <a:off x="1844505" y="5209285"/>
            <a:ext cx="4833434" cy="517383"/>
          </a:xfrm>
          <a:prstGeom prst="rect">
            <a:avLst/>
          </a:prstGeom>
        </p:spPr>
      </p:pic>
      <p:sp>
        <p:nvSpPr>
          <p:cNvPr id="14" name="TextBox 13">
            <a:extLst>
              <a:ext uri="{FF2B5EF4-FFF2-40B4-BE49-F238E27FC236}">
                <a16:creationId xmlns:a16="http://schemas.microsoft.com/office/drawing/2014/main" id="{82AD9FE8-6099-748F-8188-C6B8BAABAFE9}"/>
              </a:ext>
            </a:extLst>
          </p:cNvPr>
          <p:cNvSpPr txBox="1"/>
          <p:nvPr/>
        </p:nvSpPr>
        <p:spPr>
          <a:xfrm>
            <a:off x="2098675" y="4783326"/>
            <a:ext cx="4325095" cy="369332"/>
          </a:xfrm>
          <a:prstGeom prst="rect">
            <a:avLst/>
          </a:prstGeom>
          <a:noFill/>
        </p:spPr>
        <p:txBody>
          <a:bodyPr wrap="none" rtlCol="0">
            <a:spAutoFit/>
          </a:bodyPr>
          <a:lstStyle/>
          <a:p>
            <a:r>
              <a:rPr lang="en-US" dirty="0"/>
              <a:t>Written another way, the update is:</a:t>
            </a:r>
            <a:endParaRPr lang="en-IN" dirty="0"/>
          </a:p>
        </p:txBody>
      </p:sp>
      <p:pic>
        <p:nvPicPr>
          <p:cNvPr id="9" name="Picture 8">
            <a:extLst>
              <a:ext uri="{FF2B5EF4-FFF2-40B4-BE49-F238E27FC236}">
                <a16:creationId xmlns:a16="http://schemas.microsoft.com/office/drawing/2014/main" id="{5E792801-C785-D022-8DB3-72C3D215B813}"/>
              </a:ext>
            </a:extLst>
          </p:cNvPr>
          <p:cNvPicPr>
            <a:picLocks noChangeAspect="1"/>
          </p:cNvPicPr>
          <p:nvPr/>
        </p:nvPicPr>
        <p:blipFill>
          <a:blip r:embed="rId7"/>
          <a:stretch>
            <a:fillRect/>
          </a:stretch>
        </p:blipFill>
        <p:spPr>
          <a:xfrm>
            <a:off x="8458200" y="4559788"/>
            <a:ext cx="3553321" cy="947018"/>
          </a:xfrm>
          <a:prstGeom prst="rect">
            <a:avLst/>
          </a:prstGeom>
        </p:spPr>
      </p:pic>
      <p:sp>
        <p:nvSpPr>
          <p:cNvPr id="3" name="TextBox 2">
            <a:extLst>
              <a:ext uri="{FF2B5EF4-FFF2-40B4-BE49-F238E27FC236}">
                <a16:creationId xmlns:a16="http://schemas.microsoft.com/office/drawing/2014/main" id="{9B18768B-11CD-049E-432A-8BBCABEA6321}"/>
              </a:ext>
            </a:extLst>
          </p:cNvPr>
          <p:cNvSpPr txBox="1"/>
          <p:nvPr/>
        </p:nvSpPr>
        <p:spPr>
          <a:xfrm>
            <a:off x="1066800" y="5666556"/>
            <a:ext cx="8767208" cy="954107"/>
          </a:xfrm>
          <a:prstGeom prst="rect">
            <a:avLst/>
          </a:prstGeom>
          <a:noFill/>
        </p:spPr>
        <p:txBody>
          <a:bodyPr wrap="none" rtlCol="0">
            <a:spAutoFit/>
          </a:bodyPr>
          <a:lstStyle/>
          <a:p>
            <a:r>
              <a:rPr lang="en-US" sz="1400" dirty="0"/>
              <a:t>We can see that the addition of the weight decay term has modified the learning rule to </a:t>
            </a:r>
          </a:p>
          <a:p>
            <a:r>
              <a:rPr lang="en-US" sz="1400" dirty="0"/>
              <a:t>multiplicatively shrink the weight vector by a constant factor on each step, </a:t>
            </a:r>
          </a:p>
          <a:p>
            <a:r>
              <a:rPr lang="en-US" sz="1400" dirty="0"/>
              <a:t>just before performing the usual gradient update. This describes what happens in a single step.</a:t>
            </a:r>
            <a:endParaRPr lang="en-IN" sz="1400" dirty="0"/>
          </a:p>
          <a:p>
            <a:endParaRPr lang="en-IN" sz="1400" dirty="0"/>
          </a:p>
        </p:txBody>
      </p:sp>
      <p:sp>
        <p:nvSpPr>
          <p:cNvPr id="5" name="Slide Number Placeholder 4">
            <a:extLst>
              <a:ext uri="{FF2B5EF4-FFF2-40B4-BE49-F238E27FC236}">
                <a16:creationId xmlns:a16="http://schemas.microsoft.com/office/drawing/2014/main" id="{548BDDE4-679E-36CD-691A-7B1DF64E0E16}"/>
              </a:ext>
            </a:extLst>
          </p:cNvPr>
          <p:cNvSpPr>
            <a:spLocks noGrp="1"/>
          </p:cNvSpPr>
          <p:nvPr>
            <p:ph type="sldNum" sz="quarter" idx="12"/>
          </p:nvPr>
        </p:nvSpPr>
        <p:spPr/>
        <p:txBody>
          <a:bodyPr/>
          <a:lstStyle/>
          <a:p>
            <a:fld id="{BB2CE0DE-867F-455F-B20B-96D381B4AB71}" type="slidenum">
              <a:rPr lang="en-US" smtClean="0"/>
              <a:t>29</a:t>
            </a:fld>
            <a:endParaRPr lang="en-US"/>
          </a:p>
        </p:txBody>
      </p:sp>
    </p:spTree>
    <p:extLst>
      <p:ext uri="{BB962C8B-B14F-4D97-AF65-F5344CB8AC3E}">
        <p14:creationId xmlns:p14="http://schemas.microsoft.com/office/powerpoint/2010/main" val="2284345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B9B79-A2C1-5245-6F24-248EBA7C4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55744-1916-6523-696C-A9E6CD12BC57}"/>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F54CBE35-0BAE-72BF-B0A9-012D58D59656}"/>
              </a:ext>
            </a:extLst>
          </p:cNvPr>
          <p:cNvPicPr>
            <a:picLocks noChangeAspect="1"/>
          </p:cNvPicPr>
          <p:nvPr/>
        </p:nvPicPr>
        <p:blipFill>
          <a:blip r:embed="rId2"/>
          <a:stretch>
            <a:fillRect/>
          </a:stretch>
        </p:blipFill>
        <p:spPr>
          <a:xfrm>
            <a:off x="1953406" y="2428943"/>
            <a:ext cx="5042278" cy="673665"/>
          </a:xfrm>
          <a:prstGeom prst="rect">
            <a:avLst/>
          </a:prstGeom>
        </p:spPr>
      </p:pic>
      <p:pic>
        <p:nvPicPr>
          <p:cNvPr id="7" name="Picture 6">
            <a:extLst>
              <a:ext uri="{FF2B5EF4-FFF2-40B4-BE49-F238E27FC236}">
                <a16:creationId xmlns:a16="http://schemas.microsoft.com/office/drawing/2014/main" id="{8ACA1485-AE21-5583-F58F-52C0D10B35C9}"/>
              </a:ext>
            </a:extLst>
          </p:cNvPr>
          <p:cNvPicPr>
            <a:picLocks noChangeAspect="1"/>
          </p:cNvPicPr>
          <p:nvPr/>
        </p:nvPicPr>
        <p:blipFill>
          <a:blip r:embed="rId3"/>
          <a:stretch>
            <a:fillRect/>
          </a:stretch>
        </p:blipFill>
        <p:spPr>
          <a:xfrm>
            <a:off x="1776012" y="1219200"/>
            <a:ext cx="5764568" cy="1001996"/>
          </a:xfrm>
          <a:prstGeom prst="rect">
            <a:avLst/>
          </a:prstGeom>
        </p:spPr>
      </p:pic>
      <p:pic>
        <p:nvPicPr>
          <p:cNvPr id="10" name="Picture 9">
            <a:extLst>
              <a:ext uri="{FF2B5EF4-FFF2-40B4-BE49-F238E27FC236}">
                <a16:creationId xmlns:a16="http://schemas.microsoft.com/office/drawing/2014/main" id="{6DDA336E-835B-8BEB-8D63-87A4A49317CB}"/>
              </a:ext>
            </a:extLst>
          </p:cNvPr>
          <p:cNvPicPr>
            <a:picLocks noChangeAspect="1"/>
          </p:cNvPicPr>
          <p:nvPr/>
        </p:nvPicPr>
        <p:blipFill>
          <a:blip r:embed="rId4"/>
          <a:stretch>
            <a:fillRect/>
          </a:stretch>
        </p:blipFill>
        <p:spPr>
          <a:xfrm>
            <a:off x="2048727" y="3181316"/>
            <a:ext cx="4010585" cy="495369"/>
          </a:xfrm>
          <a:prstGeom prst="rect">
            <a:avLst/>
          </a:prstGeom>
        </p:spPr>
      </p:pic>
      <p:pic>
        <p:nvPicPr>
          <p:cNvPr id="13" name="Picture 12">
            <a:extLst>
              <a:ext uri="{FF2B5EF4-FFF2-40B4-BE49-F238E27FC236}">
                <a16:creationId xmlns:a16="http://schemas.microsoft.com/office/drawing/2014/main" id="{F8DEF3DA-C12E-F426-5F8E-23F61E79E455}"/>
              </a:ext>
            </a:extLst>
          </p:cNvPr>
          <p:cNvPicPr>
            <a:picLocks noChangeAspect="1"/>
          </p:cNvPicPr>
          <p:nvPr/>
        </p:nvPicPr>
        <p:blipFill>
          <a:blip r:embed="rId5"/>
          <a:stretch>
            <a:fillRect/>
          </a:stretch>
        </p:blipFill>
        <p:spPr>
          <a:xfrm>
            <a:off x="2098675" y="3846072"/>
            <a:ext cx="4833434" cy="517383"/>
          </a:xfrm>
          <a:prstGeom prst="rect">
            <a:avLst/>
          </a:prstGeom>
        </p:spPr>
      </p:pic>
      <p:sp>
        <p:nvSpPr>
          <p:cNvPr id="5" name="Right Brace 4">
            <a:extLst>
              <a:ext uri="{FF2B5EF4-FFF2-40B4-BE49-F238E27FC236}">
                <a16:creationId xmlns:a16="http://schemas.microsoft.com/office/drawing/2014/main" id="{C0DD4028-D8C0-DB5B-1706-0C23A8624F3D}"/>
              </a:ext>
            </a:extLst>
          </p:cNvPr>
          <p:cNvSpPr/>
          <p:nvPr/>
        </p:nvSpPr>
        <p:spPr bwMode="auto">
          <a:xfrm>
            <a:off x="7520675" y="1177628"/>
            <a:ext cx="323343" cy="3185826"/>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IN">
              <a:latin typeface="Verdana" pitchFamily="34" charset="0"/>
            </a:endParaRPr>
          </a:p>
        </p:txBody>
      </p:sp>
      <p:sp>
        <p:nvSpPr>
          <p:cNvPr id="9" name="TextBox 8">
            <a:extLst>
              <a:ext uri="{FF2B5EF4-FFF2-40B4-BE49-F238E27FC236}">
                <a16:creationId xmlns:a16="http://schemas.microsoft.com/office/drawing/2014/main" id="{403FEB0B-F2BB-6C28-381A-E5465421649A}"/>
              </a:ext>
            </a:extLst>
          </p:cNvPr>
          <p:cNvSpPr txBox="1"/>
          <p:nvPr/>
        </p:nvSpPr>
        <p:spPr>
          <a:xfrm>
            <a:off x="7844017" y="2162964"/>
            <a:ext cx="2198038" cy="646331"/>
          </a:xfrm>
          <a:prstGeom prst="rect">
            <a:avLst/>
          </a:prstGeom>
          <a:noFill/>
        </p:spPr>
        <p:txBody>
          <a:bodyPr wrap="none" rtlCol="0">
            <a:spAutoFit/>
          </a:bodyPr>
          <a:lstStyle/>
          <a:p>
            <a:r>
              <a:rPr lang="en-IN" dirty="0"/>
              <a:t>How weights are </a:t>
            </a:r>
          </a:p>
          <a:p>
            <a:r>
              <a:rPr lang="en-IN" dirty="0"/>
              <a:t>updated ?</a:t>
            </a:r>
          </a:p>
        </p:txBody>
      </p:sp>
      <p:sp>
        <p:nvSpPr>
          <p:cNvPr id="12" name="TextBox 11">
            <a:extLst>
              <a:ext uri="{FF2B5EF4-FFF2-40B4-BE49-F238E27FC236}">
                <a16:creationId xmlns:a16="http://schemas.microsoft.com/office/drawing/2014/main" id="{D5BF49F1-2AB8-3112-7A82-085C0148815B}"/>
              </a:ext>
            </a:extLst>
          </p:cNvPr>
          <p:cNvSpPr txBox="1"/>
          <p:nvPr/>
        </p:nvSpPr>
        <p:spPr>
          <a:xfrm>
            <a:off x="1770369" y="4737586"/>
            <a:ext cx="4880823" cy="369332"/>
          </a:xfrm>
          <a:prstGeom prst="rect">
            <a:avLst/>
          </a:prstGeom>
          <a:noFill/>
        </p:spPr>
        <p:txBody>
          <a:bodyPr wrap="none" rtlCol="0">
            <a:spAutoFit/>
          </a:bodyPr>
          <a:lstStyle/>
          <a:p>
            <a:r>
              <a:rPr lang="en-IN" dirty="0"/>
              <a:t>Next: </a:t>
            </a:r>
            <a:r>
              <a:rPr lang="en-US" dirty="0">
                <a:solidFill>
                  <a:srgbClr val="0000CC"/>
                </a:solidFill>
              </a:rPr>
              <a:t>How loss behaves </a:t>
            </a:r>
            <a:r>
              <a:rPr lang="en-US" b="1" dirty="0">
                <a:solidFill>
                  <a:srgbClr val="0000CC"/>
                </a:solidFill>
              </a:rPr>
              <a:t>near optimum</a:t>
            </a:r>
          </a:p>
        </p:txBody>
      </p:sp>
      <p:pic>
        <p:nvPicPr>
          <p:cNvPr id="16" name="Picture 15">
            <a:extLst>
              <a:ext uri="{FF2B5EF4-FFF2-40B4-BE49-F238E27FC236}">
                <a16:creationId xmlns:a16="http://schemas.microsoft.com/office/drawing/2014/main" id="{422C3645-F1AB-590A-9403-673DEA0C727F}"/>
              </a:ext>
            </a:extLst>
          </p:cNvPr>
          <p:cNvPicPr>
            <a:picLocks noChangeAspect="1"/>
          </p:cNvPicPr>
          <p:nvPr/>
        </p:nvPicPr>
        <p:blipFill>
          <a:blip r:embed="rId6"/>
          <a:stretch>
            <a:fillRect/>
          </a:stretch>
        </p:blipFill>
        <p:spPr>
          <a:xfrm>
            <a:off x="1776012" y="5224560"/>
            <a:ext cx="5596730" cy="719967"/>
          </a:xfrm>
          <a:prstGeom prst="rect">
            <a:avLst/>
          </a:prstGeom>
        </p:spPr>
      </p:pic>
      <p:pic>
        <p:nvPicPr>
          <p:cNvPr id="18" name="Picture 17">
            <a:extLst>
              <a:ext uri="{FF2B5EF4-FFF2-40B4-BE49-F238E27FC236}">
                <a16:creationId xmlns:a16="http://schemas.microsoft.com/office/drawing/2014/main" id="{967E38FC-9BAE-F5A8-8A7D-0607C1B736CB}"/>
              </a:ext>
            </a:extLst>
          </p:cNvPr>
          <p:cNvPicPr>
            <a:picLocks noChangeAspect="1"/>
          </p:cNvPicPr>
          <p:nvPr/>
        </p:nvPicPr>
        <p:blipFill>
          <a:blip r:embed="rId7"/>
          <a:stretch>
            <a:fillRect/>
          </a:stretch>
        </p:blipFill>
        <p:spPr>
          <a:xfrm>
            <a:off x="7682346" y="4773085"/>
            <a:ext cx="2333951" cy="800212"/>
          </a:xfrm>
          <a:prstGeom prst="rect">
            <a:avLst/>
          </a:prstGeom>
        </p:spPr>
      </p:pic>
      <p:sp>
        <p:nvSpPr>
          <p:cNvPr id="19" name="TextBox 18">
            <a:extLst>
              <a:ext uri="{FF2B5EF4-FFF2-40B4-BE49-F238E27FC236}">
                <a16:creationId xmlns:a16="http://schemas.microsoft.com/office/drawing/2014/main" id="{4D1F4887-13BA-B880-819B-AE861F8051D7}"/>
              </a:ext>
            </a:extLst>
          </p:cNvPr>
          <p:cNvSpPr txBox="1"/>
          <p:nvPr/>
        </p:nvSpPr>
        <p:spPr>
          <a:xfrm>
            <a:off x="7584446" y="5571551"/>
            <a:ext cx="2549096" cy="830997"/>
          </a:xfrm>
          <a:prstGeom prst="rect">
            <a:avLst/>
          </a:prstGeom>
          <a:noFill/>
        </p:spPr>
        <p:txBody>
          <a:bodyPr wrap="none" rtlCol="0">
            <a:spAutoFit/>
          </a:bodyPr>
          <a:lstStyle/>
          <a:p>
            <a:r>
              <a:rPr lang="en-US" sz="1600" dirty="0"/>
              <a:t>The </a:t>
            </a:r>
            <a:r>
              <a:rPr lang="en-US" sz="1600" b="1" dirty="0"/>
              <a:t>best weight</a:t>
            </a:r>
            <a:r>
              <a:rPr lang="en-US" sz="1600" dirty="0"/>
              <a:t> that </a:t>
            </a:r>
          </a:p>
          <a:p>
            <a:r>
              <a:rPr lang="en-US" sz="1600" dirty="0"/>
              <a:t>minimizes the original </a:t>
            </a:r>
          </a:p>
          <a:p>
            <a:r>
              <a:rPr lang="en-US" sz="1600" dirty="0"/>
              <a:t>(unregularized) loss</a:t>
            </a:r>
            <a:endParaRPr lang="en-IN" sz="1600" dirty="0"/>
          </a:p>
        </p:txBody>
      </p:sp>
      <p:sp>
        <p:nvSpPr>
          <p:cNvPr id="22" name="TextBox 21">
            <a:extLst>
              <a:ext uri="{FF2B5EF4-FFF2-40B4-BE49-F238E27FC236}">
                <a16:creationId xmlns:a16="http://schemas.microsoft.com/office/drawing/2014/main" id="{16D382F5-05BF-4787-220B-1A20259D7ECD}"/>
              </a:ext>
            </a:extLst>
          </p:cNvPr>
          <p:cNvSpPr txBox="1"/>
          <p:nvPr/>
        </p:nvSpPr>
        <p:spPr>
          <a:xfrm>
            <a:off x="500764" y="6075145"/>
            <a:ext cx="3970959" cy="646331"/>
          </a:xfrm>
          <a:prstGeom prst="rect">
            <a:avLst/>
          </a:prstGeom>
          <a:noFill/>
        </p:spPr>
        <p:txBody>
          <a:bodyPr wrap="none" rtlCol="0">
            <a:spAutoFit/>
          </a:bodyPr>
          <a:lstStyle/>
          <a:p>
            <a:r>
              <a:rPr lang="en-US" dirty="0"/>
              <a:t>How does L2 regularization </a:t>
            </a:r>
          </a:p>
          <a:p>
            <a:r>
              <a:rPr lang="en-US" dirty="0"/>
              <a:t>change the final optimal weights</a:t>
            </a:r>
            <a:endParaRPr lang="en-IN" dirty="0"/>
          </a:p>
        </p:txBody>
      </p:sp>
      <p:sp>
        <p:nvSpPr>
          <p:cNvPr id="3" name="Slide Number Placeholder 2">
            <a:extLst>
              <a:ext uri="{FF2B5EF4-FFF2-40B4-BE49-F238E27FC236}">
                <a16:creationId xmlns:a16="http://schemas.microsoft.com/office/drawing/2014/main" id="{2C7FDE5C-1735-BB82-AC55-FFFEED72CE1A}"/>
              </a:ext>
            </a:extLst>
          </p:cNvPr>
          <p:cNvSpPr>
            <a:spLocks noGrp="1"/>
          </p:cNvSpPr>
          <p:nvPr>
            <p:ph type="sldNum" sz="quarter" idx="12"/>
          </p:nvPr>
        </p:nvSpPr>
        <p:spPr/>
        <p:txBody>
          <a:bodyPr/>
          <a:lstStyle/>
          <a:p>
            <a:fld id="{BB2CE0DE-867F-455F-B20B-96D381B4AB71}" type="slidenum">
              <a:rPr lang="en-US" smtClean="0"/>
              <a:t>30</a:t>
            </a:fld>
            <a:endParaRPr lang="en-US"/>
          </a:p>
        </p:txBody>
      </p:sp>
    </p:spTree>
    <p:extLst>
      <p:ext uri="{BB962C8B-B14F-4D97-AF65-F5344CB8AC3E}">
        <p14:creationId xmlns:p14="http://schemas.microsoft.com/office/powerpoint/2010/main" val="3456574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E4137-C219-A797-4E89-CEB4D900E2AC}"/>
              </a:ext>
            </a:extLst>
          </p:cNvPr>
          <p:cNvSpPr>
            <a:spLocks noGrp="1"/>
          </p:cNvSpPr>
          <p:nvPr>
            <p:ph type="title"/>
          </p:nvPr>
        </p:nvSpPr>
        <p:spPr/>
        <p:txBody>
          <a:bodyPr/>
          <a:lstStyle/>
          <a:p>
            <a:r>
              <a:rPr lang="en-IN" dirty="0"/>
              <a:t>Background</a:t>
            </a:r>
          </a:p>
        </p:txBody>
      </p:sp>
      <p:sp>
        <p:nvSpPr>
          <p:cNvPr id="3" name="Content Placeholder 2">
            <a:extLst>
              <a:ext uri="{FF2B5EF4-FFF2-40B4-BE49-F238E27FC236}">
                <a16:creationId xmlns:a16="http://schemas.microsoft.com/office/drawing/2014/main" id="{6CAF75F9-EDDE-7446-AAE0-997D8F292412}"/>
              </a:ext>
            </a:extLst>
          </p:cNvPr>
          <p:cNvSpPr>
            <a:spLocks noGrp="1"/>
          </p:cNvSpPr>
          <p:nvPr>
            <p:ph idx="1"/>
          </p:nvPr>
        </p:nvSpPr>
        <p:spPr/>
        <p:txBody>
          <a:bodyPr/>
          <a:lstStyle/>
          <a:p>
            <a:pPr marL="0" indent="0">
              <a:buNone/>
            </a:pPr>
            <a:r>
              <a:rPr lang="en-IN" sz="2400" dirty="0"/>
              <a:t>1D Taylor Expansion </a:t>
            </a:r>
          </a:p>
        </p:txBody>
      </p:sp>
      <p:pic>
        <p:nvPicPr>
          <p:cNvPr id="6" name="Picture 5">
            <a:extLst>
              <a:ext uri="{FF2B5EF4-FFF2-40B4-BE49-F238E27FC236}">
                <a16:creationId xmlns:a16="http://schemas.microsoft.com/office/drawing/2014/main" id="{2FDBBCA0-EB3A-7DAC-974F-76FE08585D2C}"/>
              </a:ext>
            </a:extLst>
          </p:cNvPr>
          <p:cNvPicPr>
            <a:picLocks noChangeAspect="1"/>
          </p:cNvPicPr>
          <p:nvPr/>
        </p:nvPicPr>
        <p:blipFill>
          <a:blip r:embed="rId3"/>
          <a:stretch>
            <a:fillRect/>
          </a:stretch>
        </p:blipFill>
        <p:spPr>
          <a:xfrm>
            <a:off x="2065339" y="1771478"/>
            <a:ext cx="7954485" cy="1238423"/>
          </a:xfrm>
          <a:prstGeom prst="rect">
            <a:avLst/>
          </a:prstGeom>
        </p:spPr>
      </p:pic>
      <p:pic>
        <p:nvPicPr>
          <p:cNvPr id="8" name="Picture 7">
            <a:extLst>
              <a:ext uri="{FF2B5EF4-FFF2-40B4-BE49-F238E27FC236}">
                <a16:creationId xmlns:a16="http://schemas.microsoft.com/office/drawing/2014/main" id="{F5D8D25F-9109-92CB-68AE-449C3A5CCAA5}"/>
              </a:ext>
            </a:extLst>
          </p:cNvPr>
          <p:cNvPicPr>
            <a:picLocks noChangeAspect="1"/>
          </p:cNvPicPr>
          <p:nvPr/>
        </p:nvPicPr>
        <p:blipFill>
          <a:blip r:embed="rId4"/>
          <a:stretch>
            <a:fillRect/>
          </a:stretch>
        </p:blipFill>
        <p:spPr>
          <a:xfrm>
            <a:off x="1847818" y="4262375"/>
            <a:ext cx="8659433" cy="128605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EBCB67A-0284-814F-250C-7E9D9DEADFD2}"/>
                  </a:ext>
                </a:extLst>
              </p:cNvPr>
              <p:cNvSpPr txBox="1"/>
              <p:nvPr/>
            </p:nvSpPr>
            <p:spPr>
              <a:xfrm>
                <a:off x="2098676" y="5548429"/>
                <a:ext cx="8436797" cy="369332"/>
              </a:xfrm>
              <a:prstGeom prst="rect">
                <a:avLst/>
              </a:prstGeom>
              <a:noFill/>
            </p:spPr>
            <p:txBody>
              <a:bodyPr wrap="none" rtlCol="0">
                <a:spAutoFit/>
              </a:bodyPr>
              <a:lstStyle/>
              <a:p>
                <a:r>
                  <a:rPr lang="en-IN" dirty="0"/>
                  <a:t>(w−w∗) means: How far current weights </a:t>
                </a:r>
                <a14:m>
                  <m:oMath xmlns:m="http://schemas.openxmlformats.org/officeDocument/2006/math">
                    <m:r>
                      <a:rPr lang="en-IN" i="1">
                        <a:latin typeface="Cambria Math" panose="02040503050406030204" pitchFamily="18" charset="0"/>
                      </a:rPr>
                      <m:t>𝑤</m:t>
                    </m:r>
                  </m:oMath>
                </a14:m>
                <a:r>
                  <a:rPr lang="en-IN" dirty="0"/>
                  <a:t> are from optimal weights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𝑤</m:t>
                        </m:r>
                      </m:e>
                      <m:sup>
                        <m:r>
                          <a:rPr lang="ar-AE">
                            <a:latin typeface="Cambria Math" panose="02040503050406030204" pitchFamily="18" charset="0"/>
                          </a:rPr>
                          <m:t>∗</m:t>
                        </m:r>
                      </m:sup>
                    </m:sSup>
                  </m:oMath>
                </a14:m>
                <a:endParaRPr lang="en-IN" dirty="0"/>
              </a:p>
            </p:txBody>
          </p:sp>
        </mc:Choice>
        <mc:Fallback xmlns="">
          <p:sp>
            <p:nvSpPr>
              <p:cNvPr id="9" name="TextBox 8">
                <a:extLst>
                  <a:ext uri="{FF2B5EF4-FFF2-40B4-BE49-F238E27FC236}">
                    <a16:creationId xmlns:a16="http://schemas.microsoft.com/office/drawing/2014/main" id="{1EBCB67A-0284-814F-250C-7E9D9DEADFD2}"/>
                  </a:ext>
                </a:extLst>
              </p:cNvPr>
              <p:cNvSpPr txBox="1">
                <a:spLocks noRot="1" noChangeAspect="1" noMove="1" noResize="1" noEditPoints="1" noAdjustHandles="1" noChangeArrowheads="1" noChangeShapeType="1" noTextEdit="1"/>
              </p:cNvSpPr>
              <p:nvPr/>
            </p:nvSpPr>
            <p:spPr>
              <a:xfrm>
                <a:off x="2098676" y="5548429"/>
                <a:ext cx="8436797" cy="369332"/>
              </a:xfrm>
              <a:prstGeom prst="rect">
                <a:avLst/>
              </a:prstGeom>
              <a:blipFill>
                <a:blip r:embed="rId5"/>
                <a:stretch>
                  <a:fillRect l="-578" t="-8197" b="-24590"/>
                </a:stretch>
              </a:blipFill>
            </p:spPr>
            <p:txBody>
              <a:bodyPr/>
              <a:lstStyle/>
              <a:p>
                <a:r>
                  <a:rPr lang="en-IN">
                    <a:noFill/>
                  </a:rPr>
                  <a:t> </a:t>
                </a:r>
              </a:p>
            </p:txBody>
          </p:sp>
        </mc:Fallback>
      </mc:AlternateContent>
      <p:sp>
        <p:nvSpPr>
          <p:cNvPr id="5" name="Slide Number Placeholder 4">
            <a:extLst>
              <a:ext uri="{FF2B5EF4-FFF2-40B4-BE49-F238E27FC236}">
                <a16:creationId xmlns:a16="http://schemas.microsoft.com/office/drawing/2014/main" id="{2F302BD2-9EEB-3F42-8219-989C4396435D}"/>
              </a:ext>
            </a:extLst>
          </p:cNvPr>
          <p:cNvSpPr>
            <a:spLocks noGrp="1"/>
          </p:cNvSpPr>
          <p:nvPr>
            <p:ph type="sldNum" sz="quarter" idx="12"/>
          </p:nvPr>
        </p:nvSpPr>
        <p:spPr/>
        <p:txBody>
          <a:bodyPr/>
          <a:lstStyle/>
          <a:p>
            <a:fld id="{BB2CE0DE-867F-455F-B20B-96D381B4AB71}" type="slidenum">
              <a:rPr lang="en-US" smtClean="0"/>
              <a:t>31</a:t>
            </a:fld>
            <a:endParaRPr lang="en-US"/>
          </a:p>
        </p:txBody>
      </p:sp>
    </p:spTree>
    <p:extLst>
      <p:ext uri="{BB962C8B-B14F-4D97-AF65-F5344CB8AC3E}">
        <p14:creationId xmlns:p14="http://schemas.microsoft.com/office/powerpoint/2010/main" val="2594681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281FE-9415-30B1-C464-68DAF5A742A1}"/>
              </a:ext>
            </a:extLst>
          </p:cNvPr>
          <p:cNvSpPr>
            <a:spLocks noGrp="1"/>
          </p:cNvSpPr>
          <p:nvPr>
            <p:ph type="title"/>
          </p:nvPr>
        </p:nvSpPr>
        <p:spPr/>
        <p:txBody>
          <a:bodyPr/>
          <a:lstStyle/>
          <a:p>
            <a:r>
              <a:rPr lang="en-IN" dirty="0"/>
              <a:t>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63D7CA-7AF6-F520-2D6D-988E4E5EEE4F}"/>
                  </a:ext>
                </a:extLst>
              </p:cNvPr>
              <p:cNvSpPr>
                <a:spLocks noGrp="1"/>
              </p:cNvSpPr>
              <p:nvPr>
                <p:ph idx="1"/>
              </p:nvPr>
            </p:nvSpPr>
            <p:spPr/>
            <p:txBody>
              <a:bodyPr/>
              <a:lstStyle/>
              <a:p>
                <a:endParaRPr lang="en-IN" dirty="0"/>
              </a:p>
              <a:p>
                <a:endParaRPr lang="en-IN" dirty="0"/>
              </a:p>
              <a:p>
                <a:endParaRPr lang="en-IN" sz="2400" dirty="0"/>
              </a:p>
              <a:p>
                <a:r>
                  <a:rPr lang="en-IN" sz="2400" dirty="0"/>
                  <a:t>At minimum: </a:t>
                </a:r>
                <a14:m>
                  <m:oMath xmlns:m="http://schemas.openxmlformats.org/officeDocument/2006/math">
                    <m:r>
                      <a:rPr lang="en-IN" sz="2400" kern="1200">
                        <a:solidFill>
                          <a:schemeClr val="tx1"/>
                        </a:solidFill>
                        <a:latin typeface="Cambria Math" panose="02040503050406030204" pitchFamily="18" charset="0"/>
                      </a:rPr>
                      <m:t> </m:t>
                    </m:r>
                    <m:r>
                      <m:rPr>
                        <m:sty m:val="p"/>
                      </m:rPr>
                      <a:rPr lang="en-IN" sz="2400" kern="1200">
                        <a:solidFill>
                          <a:schemeClr val="tx1"/>
                        </a:solidFill>
                        <a:latin typeface="Cambria Math" panose="02040503050406030204" pitchFamily="18" charset="0"/>
                      </a:rPr>
                      <m:t>∇</m:t>
                    </m:r>
                    <m:r>
                      <a:rPr lang="en-IN" sz="2400" i="1" kern="1200">
                        <a:solidFill>
                          <a:schemeClr val="tx1"/>
                        </a:solidFill>
                        <a:latin typeface="Cambria Math" panose="02040503050406030204" pitchFamily="18" charset="0"/>
                      </a:rPr>
                      <m:t>𝐽</m:t>
                    </m:r>
                    <m:d>
                      <m:dPr>
                        <m:ctrlPr>
                          <a:rPr lang="ar-AE" sz="2400" i="1" kern="1200">
                            <a:solidFill>
                              <a:schemeClr val="tx1"/>
                            </a:solidFill>
                            <a:latin typeface="Cambria Math" panose="02040503050406030204" pitchFamily="18" charset="0"/>
                          </a:rPr>
                        </m:ctrlPr>
                      </m:dPr>
                      <m:e>
                        <m:sSup>
                          <m:sSupPr>
                            <m:ctrlPr>
                              <a:rPr lang="ar-AE" sz="2400" i="1" kern="1200">
                                <a:solidFill>
                                  <a:schemeClr val="tx1"/>
                                </a:solidFill>
                                <a:latin typeface="Cambria Math" panose="02040503050406030204" pitchFamily="18" charset="0"/>
                              </a:rPr>
                            </m:ctrlPr>
                          </m:sSupPr>
                          <m:e>
                            <m:r>
                              <a:rPr lang="ar-AE" sz="2400" i="1" kern="1200">
                                <a:solidFill>
                                  <a:schemeClr val="tx1"/>
                                </a:solidFill>
                                <a:latin typeface="Cambria Math" panose="02040503050406030204" pitchFamily="18" charset="0"/>
                              </a:rPr>
                              <m:t>𝑤</m:t>
                            </m:r>
                          </m:e>
                          <m:sup>
                            <m:r>
                              <a:rPr lang="ar-AE" sz="2400" kern="1200">
                                <a:solidFill>
                                  <a:schemeClr val="tx1"/>
                                </a:solidFill>
                                <a:latin typeface="Cambria Math" panose="02040503050406030204" pitchFamily="18" charset="0"/>
                              </a:rPr>
                              <m:t>∗</m:t>
                            </m:r>
                          </m:sup>
                        </m:sSup>
                      </m:e>
                    </m:d>
                    <m:r>
                      <a:rPr lang="ar-AE" sz="2400" kern="1200">
                        <a:solidFill>
                          <a:schemeClr val="tx1"/>
                        </a:solidFill>
                        <a:latin typeface="Cambria Math" panose="02040503050406030204" pitchFamily="18" charset="0"/>
                      </a:rPr>
                      <m:t>=</m:t>
                    </m:r>
                    <m:r>
                      <a:rPr lang="ar-AE" sz="2400" kern="1200">
                        <a:solidFill>
                          <a:schemeClr val="tx1"/>
                        </a:solidFill>
                        <a:latin typeface="Cambria Math" panose="02040503050406030204" pitchFamily="18" charset="0"/>
                      </a:rPr>
                      <m:t>0</m:t>
                    </m:r>
                  </m:oMath>
                </a14:m>
                <a:endParaRPr lang="ar-AE" sz="2400"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EA63D7CA-7AF6-F520-2D6D-988E4E5EEE4F}"/>
                  </a:ext>
                </a:extLst>
              </p:cNvPr>
              <p:cNvSpPr>
                <a:spLocks noGrp="1" noRot="1" noChangeAspect="1" noMove="1" noResize="1" noEditPoints="1" noAdjustHandles="1" noChangeArrowheads="1" noChangeShapeType="1" noTextEdit="1"/>
              </p:cNvSpPr>
              <p:nvPr>
                <p:ph idx="1"/>
              </p:nvPr>
            </p:nvSpPr>
            <p:spPr>
              <a:blipFill>
                <a:blip r:embed="rId3"/>
                <a:stretch>
                  <a:fillRect l="-1067"/>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62EA0E3A-8C05-D554-F7CF-91BBFC4A6B6D}"/>
              </a:ext>
            </a:extLst>
          </p:cNvPr>
          <p:cNvPicPr>
            <a:picLocks noChangeAspect="1"/>
          </p:cNvPicPr>
          <p:nvPr/>
        </p:nvPicPr>
        <p:blipFill>
          <a:blip r:embed="rId4"/>
          <a:stretch>
            <a:fillRect/>
          </a:stretch>
        </p:blipFill>
        <p:spPr>
          <a:xfrm>
            <a:off x="2054049" y="3304850"/>
            <a:ext cx="7506748" cy="2333951"/>
          </a:xfrm>
          <a:prstGeom prst="rect">
            <a:avLst/>
          </a:prstGeom>
        </p:spPr>
      </p:pic>
      <p:pic>
        <p:nvPicPr>
          <p:cNvPr id="9" name="Picture 8">
            <a:extLst>
              <a:ext uri="{FF2B5EF4-FFF2-40B4-BE49-F238E27FC236}">
                <a16:creationId xmlns:a16="http://schemas.microsoft.com/office/drawing/2014/main" id="{1D382928-D978-604F-C72B-E6824137B674}"/>
              </a:ext>
            </a:extLst>
          </p:cNvPr>
          <p:cNvPicPr>
            <a:picLocks noChangeAspect="1"/>
          </p:cNvPicPr>
          <p:nvPr/>
        </p:nvPicPr>
        <p:blipFill>
          <a:blip r:embed="rId5"/>
          <a:stretch>
            <a:fillRect/>
          </a:stretch>
        </p:blipFill>
        <p:spPr>
          <a:xfrm>
            <a:off x="1676401" y="1219200"/>
            <a:ext cx="8659433" cy="1286054"/>
          </a:xfrm>
          <a:prstGeom prst="rect">
            <a:avLst/>
          </a:prstGeom>
        </p:spPr>
      </p:pic>
      <p:sp>
        <p:nvSpPr>
          <p:cNvPr id="5" name="Slide Number Placeholder 4">
            <a:extLst>
              <a:ext uri="{FF2B5EF4-FFF2-40B4-BE49-F238E27FC236}">
                <a16:creationId xmlns:a16="http://schemas.microsoft.com/office/drawing/2014/main" id="{149B430D-DB70-8D7A-19C8-0DCD5A9BFEEC}"/>
              </a:ext>
            </a:extLst>
          </p:cNvPr>
          <p:cNvSpPr>
            <a:spLocks noGrp="1"/>
          </p:cNvSpPr>
          <p:nvPr>
            <p:ph type="sldNum" sz="quarter" idx="12"/>
          </p:nvPr>
        </p:nvSpPr>
        <p:spPr/>
        <p:txBody>
          <a:bodyPr/>
          <a:lstStyle/>
          <a:p>
            <a:fld id="{BB2CE0DE-867F-455F-B20B-96D381B4AB71}" type="slidenum">
              <a:rPr lang="en-US" smtClean="0"/>
              <a:t>32</a:t>
            </a:fld>
            <a:endParaRPr lang="en-US"/>
          </a:p>
        </p:txBody>
      </p:sp>
    </p:spTree>
    <p:extLst>
      <p:ext uri="{BB962C8B-B14F-4D97-AF65-F5344CB8AC3E}">
        <p14:creationId xmlns:p14="http://schemas.microsoft.com/office/powerpoint/2010/main" val="2774874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5DE8-9351-6A1A-3ED7-8D30C868F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C64C3-F4E2-99F7-5465-8F87B29D24EC}"/>
              </a:ext>
            </a:extLst>
          </p:cNvPr>
          <p:cNvSpPr>
            <a:spLocks noGrp="1"/>
          </p:cNvSpPr>
          <p:nvPr>
            <p:ph type="title"/>
          </p:nvPr>
        </p:nvSpPr>
        <p:spPr/>
        <p:txBody>
          <a:bodyPr/>
          <a:lstStyle/>
          <a:p>
            <a:r>
              <a:rPr lang="en-IN" dirty="0"/>
              <a:t>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243170-11EB-2205-DB78-31D09F5022FA}"/>
                  </a:ext>
                </a:extLst>
              </p:cNvPr>
              <p:cNvSpPr>
                <a:spLocks noGrp="1"/>
              </p:cNvSpPr>
              <p:nvPr>
                <p:ph idx="1"/>
              </p:nvPr>
            </p:nvSpPr>
            <p:spPr/>
            <p:txBody>
              <a:bodyPr/>
              <a:lstStyle/>
              <a:p>
                <a:endParaRPr lang="en-IN" dirty="0"/>
              </a:p>
              <a:p>
                <a:endParaRPr lang="en-IN" dirty="0"/>
              </a:p>
              <a:p>
                <a:endParaRPr lang="en-IN" sz="2400" dirty="0"/>
              </a:p>
              <a:p>
                <a:r>
                  <a:rPr lang="en-IN" sz="2400" dirty="0"/>
                  <a:t>At minimum: </a:t>
                </a:r>
                <a14:m>
                  <m:oMath xmlns:m="http://schemas.openxmlformats.org/officeDocument/2006/math">
                    <m:r>
                      <a:rPr lang="en-IN" sz="2400" kern="1200">
                        <a:solidFill>
                          <a:schemeClr val="tx1"/>
                        </a:solidFill>
                        <a:latin typeface="Cambria Math" panose="02040503050406030204" pitchFamily="18" charset="0"/>
                      </a:rPr>
                      <m:t> </m:t>
                    </m:r>
                    <m:r>
                      <m:rPr>
                        <m:sty m:val="p"/>
                      </m:rPr>
                      <a:rPr lang="en-IN" sz="2400" kern="1200">
                        <a:solidFill>
                          <a:schemeClr val="tx1"/>
                        </a:solidFill>
                        <a:latin typeface="Cambria Math" panose="02040503050406030204" pitchFamily="18" charset="0"/>
                      </a:rPr>
                      <m:t>∇</m:t>
                    </m:r>
                    <m:r>
                      <a:rPr lang="en-IN" sz="2400" i="1" kern="1200">
                        <a:solidFill>
                          <a:schemeClr val="tx1"/>
                        </a:solidFill>
                        <a:latin typeface="Cambria Math" panose="02040503050406030204" pitchFamily="18" charset="0"/>
                      </a:rPr>
                      <m:t>𝐽</m:t>
                    </m:r>
                    <m:d>
                      <m:dPr>
                        <m:ctrlPr>
                          <a:rPr lang="ar-AE" sz="2400" i="1" kern="1200">
                            <a:solidFill>
                              <a:schemeClr val="tx1"/>
                            </a:solidFill>
                            <a:latin typeface="Cambria Math" panose="02040503050406030204" pitchFamily="18" charset="0"/>
                          </a:rPr>
                        </m:ctrlPr>
                      </m:dPr>
                      <m:e>
                        <m:sSup>
                          <m:sSupPr>
                            <m:ctrlPr>
                              <a:rPr lang="ar-AE" sz="2400" i="1" kern="1200">
                                <a:solidFill>
                                  <a:schemeClr val="tx1"/>
                                </a:solidFill>
                                <a:latin typeface="Cambria Math" panose="02040503050406030204" pitchFamily="18" charset="0"/>
                              </a:rPr>
                            </m:ctrlPr>
                          </m:sSupPr>
                          <m:e>
                            <m:r>
                              <a:rPr lang="ar-AE" sz="2400" i="1" kern="1200">
                                <a:solidFill>
                                  <a:schemeClr val="tx1"/>
                                </a:solidFill>
                                <a:latin typeface="Cambria Math" panose="02040503050406030204" pitchFamily="18" charset="0"/>
                              </a:rPr>
                              <m:t>𝑤</m:t>
                            </m:r>
                          </m:e>
                          <m:sup>
                            <m:r>
                              <a:rPr lang="ar-AE" sz="2400" kern="1200">
                                <a:solidFill>
                                  <a:schemeClr val="tx1"/>
                                </a:solidFill>
                                <a:latin typeface="Cambria Math" panose="02040503050406030204" pitchFamily="18" charset="0"/>
                              </a:rPr>
                              <m:t>∗</m:t>
                            </m:r>
                          </m:sup>
                        </m:sSup>
                      </m:e>
                    </m:d>
                    <m:r>
                      <a:rPr lang="ar-AE" sz="2400" kern="1200">
                        <a:solidFill>
                          <a:schemeClr val="tx1"/>
                        </a:solidFill>
                        <a:latin typeface="Cambria Math" panose="02040503050406030204" pitchFamily="18" charset="0"/>
                      </a:rPr>
                      <m:t>=</m:t>
                    </m:r>
                    <m:r>
                      <a:rPr lang="ar-AE" sz="2400" kern="1200">
                        <a:solidFill>
                          <a:schemeClr val="tx1"/>
                        </a:solidFill>
                        <a:latin typeface="Cambria Math" panose="02040503050406030204" pitchFamily="18" charset="0"/>
                      </a:rPr>
                      <m:t>0</m:t>
                    </m:r>
                  </m:oMath>
                </a14:m>
                <a:endParaRPr lang="ar-AE" sz="2400"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A1243170-11EB-2205-DB78-31D09F5022FA}"/>
                  </a:ext>
                </a:extLst>
              </p:cNvPr>
              <p:cNvSpPr>
                <a:spLocks noGrp="1" noRot="1" noChangeAspect="1" noMove="1" noResize="1" noEditPoints="1" noAdjustHandles="1" noChangeArrowheads="1" noChangeShapeType="1" noTextEdit="1"/>
              </p:cNvSpPr>
              <p:nvPr>
                <p:ph idx="1"/>
              </p:nvPr>
            </p:nvSpPr>
            <p:spPr>
              <a:blipFill>
                <a:blip r:embed="rId3"/>
                <a:stretch>
                  <a:fillRect l="-1067"/>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82D4408D-5390-6F26-945E-B50DEE4453C0}"/>
              </a:ext>
            </a:extLst>
          </p:cNvPr>
          <p:cNvPicPr>
            <a:picLocks noChangeAspect="1"/>
          </p:cNvPicPr>
          <p:nvPr/>
        </p:nvPicPr>
        <p:blipFill>
          <a:blip r:embed="rId4"/>
          <a:stretch>
            <a:fillRect/>
          </a:stretch>
        </p:blipFill>
        <p:spPr>
          <a:xfrm>
            <a:off x="2054049" y="3304850"/>
            <a:ext cx="7506748" cy="2333951"/>
          </a:xfrm>
          <a:prstGeom prst="rect">
            <a:avLst/>
          </a:prstGeom>
        </p:spPr>
      </p:pic>
      <p:pic>
        <p:nvPicPr>
          <p:cNvPr id="9" name="Picture 8">
            <a:extLst>
              <a:ext uri="{FF2B5EF4-FFF2-40B4-BE49-F238E27FC236}">
                <a16:creationId xmlns:a16="http://schemas.microsoft.com/office/drawing/2014/main" id="{47128868-6ACE-61DC-CA45-45396F096174}"/>
              </a:ext>
            </a:extLst>
          </p:cNvPr>
          <p:cNvPicPr>
            <a:picLocks noChangeAspect="1"/>
          </p:cNvPicPr>
          <p:nvPr/>
        </p:nvPicPr>
        <p:blipFill>
          <a:blip r:embed="rId5"/>
          <a:stretch>
            <a:fillRect/>
          </a:stretch>
        </p:blipFill>
        <p:spPr>
          <a:xfrm>
            <a:off x="1676401" y="1219200"/>
            <a:ext cx="8659433" cy="1286054"/>
          </a:xfrm>
          <a:prstGeom prst="rect">
            <a:avLst/>
          </a:prstGeom>
        </p:spPr>
      </p:pic>
      <p:pic>
        <p:nvPicPr>
          <p:cNvPr id="10" name="Picture 9">
            <a:extLst>
              <a:ext uri="{FF2B5EF4-FFF2-40B4-BE49-F238E27FC236}">
                <a16:creationId xmlns:a16="http://schemas.microsoft.com/office/drawing/2014/main" id="{F60246C6-C6C2-5A65-5107-B2D21C545F30}"/>
              </a:ext>
            </a:extLst>
          </p:cNvPr>
          <p:cNvPicPr>
            <a:picLocks noChangeAspect="1"/>
          </p:cNvPicPr>
          <p:nvPr/>
        </p:nvPicPr>
        <p:blipFill>
          <a:blip r:embed="rId6"/>
          <a:stretch>
            <a:fillRect/>
          </a:stretch>
        </p:blipFill>
        <p:spPr>
          <a:xfrm>
            <a:off x="4343875" y="5689600"/>
            <a:ext cx="5991958" cy="913060"/>
          </a:xfrm>
          <a:prstGeom prst="rect">
            <a:avLst/>
          </a:prstGeom>
        </p:spPr>
      </p:pic>
      <p:sp>
        <p:nvSpPr>
          <p:cNvPr id="5" name="Slide Number Placeholder 4">
            <a:extLst>
              <a:ext uri="{FF2B5EF4-FFF2-40B4-BE49-F238E27FC236}">
                <a16:creationId xmlns:a16="http://schemas.microsoft.com/office/drawing/2014/main" id="{AECC226F-E3D0-481C-DEFE-5416E8754A1D}"/>
              </a:ext>
            </a:extLst>
          </p:cNvPr>
          <p:cNvSpPr>
            <a:spLocks noGrp="1"/>
          </p:cNvSpPr>
          <p:nvPr>
            <p:ph type="sldNum" sz="quarter" idx="12"/>
          </p:nvPr>
        </p:nvSpPr>
        <p:spPr/>
        <p:txBody>
          <a:bodyPr/>
          <a:lstStyle/>
          <a:p>
            <a:fld id="{BB2CE0DE-867F-455F-B20B-96D381B4AB71}" type="slidenum">
              <a:rPr lang="en-US" smtClean="0"/>
              <a:t>33</a:t>
            </a:fld>
            <a:endParaRPr lang="en-US"/>
          </a:p>
        </p:txBody>
      </p:sp>
    </p:spTree>
    <p:extLst>
      <p:ext uri="{BB962C8B-B14F-4D97-AF65-F5344CB8AC3E}">
        <p14:creationId xmlns:p14="http://schemas.microsoft.com/office/powerpoint/2010/main" val="33384375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CB41-B54C-C482-0645-D6F7DDCF6821}"/>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sp>
        <p:nvSpPr>
          <p:cNvPr id="3" name="Content Placeholder 2">
            <a:extLst>
              <a:ext uri="{FF2B5EF4-FFF2-40B4-BE49-F238E27FC236}">
                <a16:creationId xmlns:a16="http://schemas.microsoft.com/office/drawing/2014/main" id="{FB1B2272-833C-FD8A-A71E-711B6F53E4D8}"/>
              </a:ext>
            </a:extLst>
          </p:cNvPr>
          <p:cNvSpPr>
            <a:spLocks noGrp="1"/>
          </p:cNvSpPr>
          <p:nvPr>
            <p:ph idx="1"/>
          </p:nvPr>
        </p:nvSpPr>
        <p:spPr/>
        <p:txBody>
          <a:bodyPr/>
          <a:lstStyle/>
          <a:p>
            <a:pPr marL="0" indent="0">
              <a:buNone/>
            </a:pPr>
            <a:r>
              <a:rPr lang="en-US" sz="2000" dirty="0"/>
              <a:t>What the loss looks like near the minimum.</a:t>
            </a:r>
            <a:endParaRPr lang="en-IN" sz="2000" dirty="0">
              <a:solidFill>
                <a:srgbClr val="0000CC"/>
              </a:solidFill>
            </a:endParaRPr>
          </a:p>
          <a:p>
            <a:endParaRPr lang="en-IN" sz="2000" dirty="0"/>
          </a:p>
        </p:txBody>
      </p:sp>
      <p:pic>
        <p:nvPicPr>
          <p:cNvPr id="6" name="Picture 5">
            <a:extLst>
              <a:ext uri="{FF2B5EF4-FFF2-40B4-BE49-F238E27FC236}">
                <a16:creationId xmlns:a16="http://schemas.microsoft.com/office/drawing/2014/main" id="{078EBBB1-24C8-D260-664D-3E3E732D8F5B}"/>
              </a:ext>
            </a:extLst>
          </p:cNvPr>
          <p:cNvPicPr>
            <a:picLocks noChangeAspect="1"/>
          </p:cNvPicPr>
          <p:nvPr/>
        </p:nvPicPr>
        <p:blipFill>
          <a:blip r:embed="rId3"/>
          <a:stretch>
            <a:fillRect/>
          </a:stretch>
        </p:blipFill>
        <p:spPr>
          <a:xfrm>
            <a:off x="1882680" y="1676895"/>
            <a:ext cx="6500813" cy="9906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FA8D2B-0F44-A915-DABF-A5042A8F7FF5}"/>
                  </a:ext>
                </a:extLst>
              </p:cNvPr>
              <p:cNvSpPr txBox="1"/>
              <p:nvPr/>
            </p:nvSpPr>
            <p:spPr>
              <a:xfrm>
                <a:off x="1863277" y="2877262"/>
                <a:ext cx="7153561" cy="707886"/>
              </a:xfrm>
              <a:prstGeom prst="rect">
                <a:avLst/>
              </a:prstGeom>
              <a:noFill/>
            </p:spPr>
            <p:txBody>
              <a:bodyPr wrap="none" rtlCol="0">
                <a:spAutoFit/>
              </a:bodyPr>
              <a:lstStyle/>
              <a:p>
                <a:r>
                  <a:rPr lang="en-US" sz="2000" dirty="0"/>
                  <a:t>θ → could include: weights </a:t>
                </a:r>
                <a14:m>
                  <m:oMath xmlns:m="http://schemas.openxmlformats.org/officeDocument/2006/math">
                    <m:r>
                      <a:rPr lang="en-US" sz="2000" i="1">
                        <a:latin typeface="Cambria Math" panose="02040503050406030204" pitchFamily="18" charset="0"/>
                      </a:rPr>
                      <m:t>𝑤</m:t>
                    </m:r>
                    <m:r>
                      <a:rPr lang="en-IN" sz="2000" i="1">
                        <a:latin typeface="Cambria Math" panose="02040503050406030204" pitchFamily="18" charset="0"/>
                      </a:rPr>
                      <m:t>, </m:t>
                    </m:r>
                  </m:oMath>
                </a14:m>
                <a:r>
                  <a:rPr lang="en-US" sz="2000" dirty="0"/>
                  <a:t>bias </a:t>
                </a:r>
                <a14:m>
                  <m:oMath xmlns:m="http://schemas.openxmlformats.org/officeDocument/2006/math">
                    <m:r>
                      <a:rPr lang="en-US" sz="2000" i="1">
                        <a:latin typeface="Cambria Math" panose="02040503050406030204" pitchFamily="18" charset="0"/>
                      </a:rPr>
                      <m:t>𝑏</m:t>
                    </m:r>
                    <m:r>
                      <a:rPr lang="en-IN" sz="2000" i="1">
                        <a:latin typeface="Cambria Math" panose="02040503050406030204" pitchFamily="18" charset="0"/>
                      </a:rPr>
                      <m:t>, </m:t>
                    </m:r>
                  </m:oMath>
                </a14:m>
                <a:r>
                  <a:rPr lang="en-US" sz="2000" dirty="0"/>
                  <a:t>other parameters</a:t>
                </a:r>
              </a:p>
              <a:p>
                <a:r>
                  <a:rPr lang="en-IN" sz="2000" dirty="0"/>
                  <a:t>To simplify let us consider </a:t>
                </a:r>
                <a:r>
                  <a:rPr lang="en-US" sz="2000" dirty="0"/>
                  <a:t>θ includes only weights </a:t>
                </a:r>
                <a14:m>
                  <m:oMath xmlns:m="http://schemas.openxmlformats.org/officeDocument/2006/math">
                    <m:r>
                      <a:rPr lang="en-US" sz="2000" i="1">
                        <a:latin typeface="Cambria Math" panose="02040503050406030204" pitchFamily="18" charset="0"/>
                      </a:rPr>
                      <m:t>𝑤</m:t>
                    </m:r>
                  </m:oMath>
                </a14:m>
                <a:endParaRPr lang="en-IN" sz="2000" dirty="0"/>
              </a:p>
            </p:txBody>
          </p:sp>
        </mc:Choice>
        <mc:Fallback xmlns="">
          <p:sp>
            <p:nvSpPr>
              <p:cNvPr id="7" name="TextBox 6">
                <a:extLst>
                  <a:ext uri="{FF2B5EF4-FFF2-40B4-BE49-F238E27FC236}">
                    <a16:creationId xmlns:a16="http://schemas.microsoft.com/office/drawing/2014/main" id="{27FA8D2B-0F44-A915-DABF-A5042A8F7FF5}"/>
                  </a:ext>
                </a:extLst>
              </p:cNvPr>
              <p:cNvSpPr txBox="1">
                <a:spLocks noRot="1" noChangeAspect="1" noMove="1" noResize="1" noEditPoints="1" noAdjustHandles="1" noChangeArrowheads="1" noChangeShapeType="1" noTextEdit="1"/>
              </p:cNvSpPr>
              <p:nvPr/>
            </p:nvSpPr>
            <p:spPr>
              <a:xfrm>
                <a:off x="1863277" y="2877262"/>
                <a:ext cx="7153561" cy="707886"/>
              </a:xfrm>
              <a:prstGeom prst="rect">
                <a:avLst/>
              </a:prstGeom>
              <a:blipFill>
                <a:blip r:embed="rId4"/>
                <a:stretch>
                  <a:fillRect l="-938" t="-5172" r="-171" b="-14655"/>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16275C1D-2C29-DE8C-896D-ACCDF2CC75C2}"/>
              </a:ext>
            </a:extLst>
          </p:cNvPr>
          <p:cNvPicPr>
            <a:picLocks noChangeAspect="1"/>
          </p:cNvPicPr>
          <p:nvPr/>
        </p:nvPicPr>
        <p:blipFill>
          <a:blip r:embed="rId5"/>
          <a:stretch>
            <a:fillRect/>
          </a:stretch>
        </p:blipFill>
        <p:spPr>
          <a:xfrm>
            <a:off x="7707299" y="3776748"/>
            <a:ext cx="2333951" cy="800212"/>
          </a:xfrm>
          <a:prstGeom prst="rect">
            <a:avLst/>
          </a:prstGeom>
        </p:spPr>
      </p:pic>
      <p:sp>
        <p:nvSpPr>
          <p:cNvPr id="9" name="TextBox 8">
            <a:extLst>
              <a:ext uri="{FF2B5EF4-FFF2-40B4-BE49-F238E27FC236}">
                <a16:creationId xmlns:a16="http://schemas.microsoft.com/office/drawing/2014/main" id="{5DBCAC2C-376D-FDE4-F87C-8D6259D0E8E1}"/>
              </a:ext>
            </a:extLst>
          </p:cNvPr>
          <p:cNvSpPr txBox="1"/>
          <p:nvPr/>
        </p:nvSpPr>
        <p:spPr>
          <a:xfrm>
            <a:off x="7750701" y="4653161"/>
            <a:ext cx="2549096" cy="830997"/>
          </a:xfrm>
          <a:prstGeom prst="rect">
            <a:avLst/>
          </a:prstGeom>
          <a:noFill/>
        </p:spPr>
        <p:txBody>
          <a:bodyPr wrap="none" rtlCol="0">
            <a:spAutoFit/>
          </a:bodyPr>
          <a:lstStyle/>
          <a:p>
            <a:r>
              <a:rPr lang="en-US" sz="1600" dirty="0"/>
              <a:t>The </a:t>
            </a:r>
            <a:r>
              <a:rPr lang="en-US" sz="1600" b="1" dirty="0"/>
              <a:t>best weight</a:t>
            </a:r>
            <a:r>
              <a:rPr lang="en-US" sz="1600" dirty="0"/>
              <a:t> that </a:t>
            </a:r>
          </a:p>
          <a:p>
            <a:r>
              <a:rPr lang="en-US" sz="1600" dirty="0"/>
              <a:t>minimizes the original </a:t>
            </a:r>
          </a:p>
          <a:p>
            <a:r>
              <a:rPr lang="en-US" sz="1600" dirty="0"/>
              <a:t>(unregularized) loss</a:t>
            </a:r>
            <a:endParaRPr lang="en-IN" sz="16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0B2B9C5-8A18-8855-8878-1831ACAC7E3F}"/>
                  </a:ext>
                </a:extLst>
              </p:cNvPr>
              <p:cNvSpPr txBox="1"/>
              <p:nvPr/>
            </p:nvSpPr>
            <p:spPr>
              <a:xfrm>
                <a:off x="8569430" y="1543493"/>
                <a:ext cx="4572000" cy="923330"/>
              </a:xfrm>
              <a:prstGeom prst="rect">
                <a:avLst/>
              </a:prstGeom>
              <a:noFill/>
            </p:spPr>
            <p:txBody>
              <a:bodyPr wrap="square">
                <a:spAutoFit/>
              </a:bodyPr>
              <a:lstStyle/>
              <a:p>
                <a:r>
                  <a:rPr lang="en-IN" dirty="0"/>
                  <a:t>quadratic </a:t>
                </a:r>
              </a:p>
              <a:p>
                <a:r>
                  <a:rPr lang="en-IN" dirty="0"/>
                  <a:t>approximation </a:t>
                </a:r>
              </a:p>
              <a:p>
                <a:r>
                  <a:rPr lang="en-IN" dirty="0"/>
                  <a:t>of </a:t>
                </a:r>
                <a14:m>
                  <m:oMath xmlns:m="http://schemas.openxmlformats.org/officeDocument/2006/math">
                    <m:r>
                      <a:rPr lang="en-IN" i="1">
                        <a:latin typeface="Cambria Math" panose="02040503050406030204" pitchFamily="18" charset="0"/>
                      </a:rPr>
                      <m:t>𝐽</m:t>
                    </m:r>
                    <m:d>
                      <m:dPr>
                        <m:ctrlPr>
                          <a:rPr lang="ar-AE" i="1">
                            <a:latin typeface="Cambria Math" panose="02040503050406030204" pitchFamily="18" charset="0"/>
                          </a:rPr>
                        </m:ctrlPr>
                      </m:dPr>
                      <m:e>
                        <m:r>
                          <a:rPr lang="ar-AE" i="1">
                            <a:latin typeface="Cambria Math" panose="02040503050406030204" pitchFamily="18" charset="0"/>
                          </a:rPr>
                          <m:t>𝑤</m:t>
                        </m:r>
                      </m:e>
                    </m:d>
                  </m:oMath>
                </a14:m>
                <a:endParaRPr lang="en-IN" dirty="0"/>
              </a:p>
            </p:txBody>
          </p:sp>
        </mc:Choice>
        <mc:Fallback xmlns="">
          <p:sp>
            <p:nvSpPr>
              <p:cNvPr id="11" name="TextBox 10">
                <a:extLst>
                  <a:ext uri="{FF2B5EF4-FFF2-40B4-BE49-F238E27FC236}">
                    <a16:creationId xmlns:a16="http://schemas.microsoft.com/office/drawing/2014/main" id="{30B2B9C5-8A18-8855-8878-1831ACAC7E3F}"/>
                  </a:ext>
                </a:extLst>
              </p:cNvPr>
              <p:cNvSpPr txBox="1">
                <a:spLocks noRot="1" noChangeAspect="1" noMove="1" noResize="1" noEditPoints="1" noAdjustHandles="1" noChangeArrowheads="1" noChangeShapeType="1" noTextEdit="1"/>
              </p:cNvSpPr>
              <p:nvPr/>
            </p:nvSpPr>
            <p:spPr>
              <a:xfrm>
                <a:off x="8569430" y="1543493"/>
                <a:ext cx="4572000" cy="923330"/>
              </a:xfrm>
              <a:prstGeom prst="rect">
                <a:avLst/>
              </a:prstGeom>
              <a:blipFill>
                <a:blip r:embed="rId6"/>
                <a:stretch>
                  <a:fillRect l="-1200" t="-3289" b="-9211"/>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81475D43-8046-F9AD-49D1-443D0BE4F001}"/>
              </a:ext>
            </a:extLst>
          </p:cNvPr>
          <p:cNvPicPr>
            <a:picLocks noChangeAspect="1"/>
          </p:cNvPicPr>
          <p:nvPr/>
        </p:nvPicPr>
        <p:blipFill>
          <a:blip r:embed="rId7"/>
          <a:stretch>
            <a:fillRect/>
          </a:stretch>
        </p:blipFill>
        <p:spPr>
          <a:xfrm>
            <a:off x="8569431" y="990967"/>
            <a:ext cx="609685" cy="552527"/>
          </a:xfrm>
          <a:prstGeom prst="rect">
            <a:avLst/>
          </a:prstGeom>
        </p:spPr>
      </p:pic>
      <p:pic>
        <p:nvPicPr>
          <p:cNvPr id="15" name="Picture 14">
            <a:extLst>
              <a:ext uri="{FF2B5EF4-FFF2-40B4-BE49-F238E27FC236}">
                <a16:creationId xmlns:a16="http://schemas.microsoft.com/office/drawing/2014/main" id="{57EF654B-E7CC-1360-B3CD-E35670B9800C}"/>
              </a:ext>
            </a:extLst>
          </p:cNvPr>
          <p:cNvPicPr>
            <a:picLocks noChangeAspect="1"/>
          </p:cNvPicPr>
          <p:nvPr/>
        </p:nvPicPr>
        <p:blipFill>
          <a:blip r:embed="rId8"/>
          <a:stretch>
            <a:fillRect/>
          </a:stretch>
        </p:blipFill>
        <p:spPr>
          <a:xfrm>
            <a:off x="1981201" y="3951748"/>
            <a:ext cx="1714739" cy="647790"/>
          </a:xfrm>
          <a:prstGeom prst="rect">
            <a:avLst/>
          </a:prstGeom>
        </p:spPr>
      </p:pic>
      <p:sp>
        <p:nvSpPr>
          <p:cNvPr id="16" name="TextBox 15">
            <a:extLst>
              <a:ext uri="{FF2B5EF4-FFF2-40B4-BE49-F238E27FC236}">
                <a16:creationId xmlns:a16="http://schemas.microsoft.com/office/drawing/2014/main" id="{AE5EFF46-6BBA-04CA-4AF2-15196AC536B2}"/>
              </a:ext>
            </a:extLst>
          </p:cNvPr>
          <p:cNvSpPr txBox="1"/>
          <p:nvPr/>
        </p:nvSpPr>
        <p:spPr>
          <a:xfrm>
            <a:off x="1892204" y="4628118"/>
            <a:ext cx="3424207" cy="1200329"/>
          </a:xfrm>
          <a:prstGeom prst="rect">
            <a:avLst/>
          </a:prstGeom>
          <a:noFill/>
        </p:spPr>
        <p:txBody>
          <a:bodyPr wrap="none" rtlCol="0">
            <a:spAutoFit/>
          </a:bodyPr>
          <a:lstStyle/>
          <a:p>
            <a:r>
              <a:rPr lang="en-IN" dirty="0"/>
              <a:t>Hessian matrix:</a:t>
            </a:r>
          </a:p>
          <a:p>
            <a:r>
              <a:rPr lang="en-IN" dirty="0"/>
              <a:t>Contains second derivatives</a:t>
            </a:r>
          </a:p>
          <a:p>
            <a:r>
              <a:rPr lang="en-IN" dirty="0"/>
              <a:t>Measures curvature</a:t>
            </a:r>
          </a:p>
          <a:p>
            <a:endParaRPr lang="en-IN" dirty="0"/>
          </a:p>
        </p:txBody>
      </p:sp>
      <p:sp>
        <p:nvSpPr>
          <p:cNvPr id="5" name="Slide Number Placeholder 4">
            <a:extLst>
              <a:ext uri="{FF2B5EF4-FFF2-40B4-BE49-F238E27FC236}">
                <a16:creationId xmlns:a16="http://schemas.microsoft.com/office/drawing/2014/main" id="{C6EEB77F-24CC-AADF-1256-F436B99EBD6E}"/>
              </a:ext>
            </a:extLst>
          </p:cNvPr>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780943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3891-8377-9928-C1CB-A1B1B6840B17}"/>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3AFAEB0A-A6C6-227F-4F18-AC64DC1A2715}"/>
              </a:ext>
            </a:extLst>
          </p:cNvPr>
          <p:cNvPicPr>
            <a:picLocks noChangeAspect="1"/>
          </p:cNvPicPr>
          <p:nvPr/>
        </p:nvPicPr>
        <p:blipFill>
          <a:blip r:embed="rId2"/>
          <a:stretch>
            <a:fillRect/>
          </a:stretch>
        </p:blipFill>
        <p:spPr>
          <a:xfrm>
            <a:off x="2090739" y="1295400"/>
            <a:ext cx="6500813" cy="990600"/>
          </a:xfrm>
          <a:prstGeom prst="rect">
            <a:avLst/>
          </a:prstGeom>
        </p:spPr>
      </p:pic>
      <p:pic>
        <p:nvPicPr>
          <p:cNvPr id="7" name="Picture 6">
            <a:extLst>
              <a:ext uri="{FF2B5EF4-FFF2-40B4-BE49-F238E27FC236}">
                <a16:creationId xmlns:a16="http://schemas.microsoft.com/office/drawing/2014/main" id="{E6C703A2-3F64-E09D-C3EC-4E720E806E3E}"/>
              </a:ext>
            </a:extLst>
          </p:cNvPr>
          <p:cNvPicPr>
            <a:picLocks noChangeAspect="1"/>
          </p:cNvPicPr>
          <p:nvPr/>
        </p:nvPicPr>
        <p:blipFill>
          <a:blip r:embed="rId3"/>
          <a:stretch>
            <a:fillRect/>
          </a:stretch>
        </p:blipFill>
        <p:spPr>
          <a:xfrm>
            <a:off x="2090738" y="2385984"/>
            <a:ext cx="809738" cy="409632"/>
          </a:xfrm>
          <a:prstGeom prst="rect">
            <a:avLst/>
          </a:prstGeom>
        </p:spPr>
      </p:pic>
      <p:pic>
        <p:nvPicPr>
          <p:cNvPr id="9" name="Picture 8">
            <a:extLst>
              <a:ext uri="{FF2B5EF4-FFF2-40B4-BE49-F238E27FC236}">
                <a16:creationId xmlns:a16="http://schemas.microsoft.com/office/drawing/2014/main" id="{68F4FE71-6B33-49E4-683F-3962259E5F70}"/>
              </a:ext>
            </a:extLst>
          </p:cNvPr>
          <p:cNvPicPr>
            <a:picLocks noChangeAspect="1"/>
          </p:cNvPicPr>
          <p:nvPr/>
        </p:nvPicPr>
        <p:blipFill>
          <a:blip r:embed="rId4"/>
          <a:stretch>
            <a:fillRect/>
          </a:stretch>
        </p:blipFill>
        <p:spPr>
          <a:xfrm>
            <a:off x="3352801" y="2795617"/>
            <a:ext cx="1190791" cy="733527"/>
          </a:xfrm>
          <a:prstGeom prst="rect">
            <a:avLst/>
          </a:prstGeom>
        </p:spPr>
      </p:pic>
      <p:sp>
        <p:nvSpPr>
          <p:cNvPr id="10" name="TextBox 9">
            <a:extLst>
              <a:ext uri="{FF2B5EF4-FFF2-40B4-BE49-F238E27FC236}">
                <a16:creationId xmlns:a16="http://schemas.microsoft.com/office/drawing/2014/main" id="{38F6F010-C83A-1C92-58FA-FC6C3B6C35B9}"/>
              </a:ext>
            </a:extLst>
          </p:cNvPr>
          <p:cNvSpPr txBox="1"/>
          <p:nvPr/>
        </p:nvSpPr>
        <p:spPr>
          <a:xfrm>
            <a:off x="1800577" y="2932289"/>
            <a:ext cx="1705852" cy="369332"/>
          </a:xfrm>
          <a:prstGeom prst="rect">
            <a:avLst/>
          </a:prstGeom>
          <a:noFill/>
        </p:spPr>
        <p:txBody>
          <a:bodyPr wrap="none" rtlCol="0">
            <a:spAutoFit/>
          </a:bodyPr>
          <a:lstStyle/>
          <a:p>
            <a:r>
              <a:rPr lang="en-IN" dirty="0"/>
              <a:t>We compute </a:t>
            </a:r>
          </a:p>
        </p:txBody>
      </p:sp>
      <p:pic>
        <p:nvPicPr>
          <p:cNvPr id="12" name="Picture 11">
            <a:extLst>
              <a:ext uri="{FF2B5EF4-FFF2-40B4-BE49-F238E27FC236}">
                <a16:creationId xmlns:a16="http://schemas.microsoft.com/office/drawing/2014/main" id="{E75DE695-5D74-8BF7-885E-E295319B165B}"/>
              </a:ext>
            </a:extLst>
          </p:cNvPr>
          <p:cNvPicPr>
            <a:picLocks noChangeAspect="1"/>
          </p:cNvPicPr>
          <p:nvPr/>
        </p:nvPicPr>
        <p:blipFill>
          <a:blip r:embed="rId5"/>
          <a:stretch>
            <a:fillRect/>
          </a:stretch>
        </p:blipFill>
        <p:spPr>
          <a:xfrm>
            <a:off x="2098675" y="4161321"/>
            <a:ext cx="2213703" cy="677417"/>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7DECFEC-3A5B-8E87-E88F-B6FE4DE63891}"/>
                  </a:ext>
                </a:extLst>
              </p:cNvPr>
              <p:cNvSpPr txBox="1"/>
              <p:nvPr/>
            </p:nvSpPr>
            <p:spPr>
              <a:xfrm>
                <a:off x="1635437" y="4838739"/>
                <a:ext cx="4766113"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a:latin typeface="Cambria Math" panose="02040503050406030204" pitchFamily="18" charset="0"/>
                        </a:rPr>
                        <m:t>Because</m:t>
                      </m:r>
                    </m:oMath>
                  </m:oMathPara>
                </a14:m>
                <a:endParaRPr lang="en-IN" dirty="0">
                  <a:latin typeface="Cambria Math" panose="02040503050406030204" pitchFamily="18" charset="0"/>
                </a:endParaRPr>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𝑤</m:t>
                        </m:r>
                      </m:e>
                      <m:sup>
                        <m:r>
                          <a:rPr lang="ar-AE">
                            <a:latin typeface="Cambria Math" panose="02040503050406030204" pitchFamily="18" charset="0"/>
                          </a:rPr>
                          <m:t>∗</m:t>
                        </m:r>
                      </m:sup>
                    </m:sSup>
                  </m:oMath>
                </a14:m>
                <a:r>
                  <a:rPr lang="en-IN" dirty="0"/>
                  <a:t>is a </a:t>
                </a:r>
                <a:r>
                  <a:rPr lang="en-IN" b="1" dirty="0"/>
                  <a:t>constant</a:t>
                </a:r>
                <a:r>
                  <a:rPr lang="en-IN" dirty="0"/>
                  <a:t> (fixed minimum point)</a:t>
                </a:r>
              </a:p>
              <a:p>
                <a:r>
                  <a:rPr lang="en-IN" dirty="0"/>
                  <a:t>No dependence on </a:t>
                </a:r>
                <a14:m>
                  <m:oMath xmlns:m="http://schemas.openxmlformats.org/officeDocument/2006/math">
                    <m:r>
                      <a:rPr lang="en-IN" i="1">
                        <a:latin typeface="Cambria Math" panose="02040503050406030204" pitchFamily="18" charset="0"/>
                      </a:rPr>
                      <m:t>𝑤</m:t>
                    </m:r>
                  </m:oMath>
                </a14:m>
                <a:endParaRPr lang="en-IN" dirty="0"/>
              </a:p>
              <a:p>
                <a:endParaRPr lang="en-IN" dirty="0"/>
              </a:p>
            </p:txBody>
          </p:sp>
        </mc:Choice>
        <mc:Fallback xmlns="">
          <p:sp>
            <p:nvSpPr>
              <p:cNvPr id="13" name="TextBox 12">
                <a:extLst>
                  <a:ext uri="{FF2B5EF4-FFF2-40B4-BE49-F238E27FC236}">
                    <a16:creationId xmlns:a16="http://schemas.microsoft.com/office/drawing/2014/main" id="{F7DECFEC-3A5B-8E87-E88F-B6FE4DE63891}"/>
                  </a:ext>
                </a:extLst>
              </p:cNvPr>
              <p:cNvSpPr txBox="1">
                <a:spLocks noRot="1" noChangeAspect="1" noMove="1" noResize="1" noEditPoints="1" noAdjustHandles="1" noChangeArrowheads="1" noChangeShapeType="1" noTextEdit="1"/>
              </p:cNvSpPr>
              <p:nvPr/>
            </p:nvSpPr>
            <p:spPr>
              <a:xfrm>
                <a:off x="1635437" y="4838739"/>
                <a:ext cx="4766113" cy="1200329"/>
              </a:xfrm>
              <a:prstGeom prst="rect">
                <a:avLst/>
              </a:prstGeom>
              <a:blipFill>
                <a:blip r:embed="rId6"/>
                <a:stretch>
                  <a:fillRect l="-1023" r="-384"/>
                </a:stretch>
              </a:blipFill>
            </p:spPr>
            <p:txBody>
              <a:bodyPr/>
              <a:lstStyle/>
              <a:p>
                <a:r>
                  <a:rPr lang="en-IN">
                    <a:noFill/>
                  </a:rPr>
                  <a:t> </a:t>
                </a:r>
              </a:p>
            </p:txBody>
          </p:sp>
        </mc:Fallback>
      </mc:AlternateContent>
      <p:sp>
        <p:nvSpPr>
          <p:cNvPr id="3" name="Slide Number Placeholder 2">
            <a:extLst>
              <a:ext uri="{FF2B5EF4-FFF2-40B4-BE49-F238E27FC236}">
                <a16:creationId xmlns:a16="http://schemas.microsoft.com/office/drawing/2014/main" id="{FF518BBE-C542-A021-1986-BAA2C2A7CDEA}"/>
              </a:ext>
            </a:extLst>
          </p:cNvPr>
          <p:cNvSpPr>
            <a:spLocks noGrp="1"/>
          </p:cNvSpPr>
          <p:nvPr>
            <p:ph type="sldNum" sz="quarter" idx="12"/>
          </p:nvPr>
        </p:nvSpPr>
        <p:spPr/>
        <p:txBody>
          <a:bodyPr/>
          <a:lstStyle/>
          <a:p>
            <a:fld id="{BB2CE0DE-867F-455F-B20B-96D381B4AB71}" type="slidenum">
              <a:rPr lang="en-US" smtClean="0"/>
              <a:t>35</a:t>
            </a:fld>
            <a:endParaRPr lang="en-US"/>
          </a:p>
        </p:txBody>
      </p:sp>
    </p:spTree>
    <p:extLst>
      <p:ext uri="{BB962C8B-B14F-4D97-AF65-F5344CB8AC3E}">
        <p14:creationId xmlns:p14="http://schemas.microsoft.com/office/powerpoint/2010/main" val="14841104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A3756-F826-2BBC-4A26-71F79999C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86D70-7253-2436-AF86-BAA811A93F2B}"/>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E7236809-5DB4-1E99-525A-044969059773}"/>
              </a:ext>
            </a:extLst>
          </p:cNvPr>
          <p:cNvPicPr>
            <a:picLocks noChangeAspect="1"/>
          </p:cNvPicPr>
          <p:nvPr/>
        </p:nvPicPr>
        <p:blipFill>
          <a:blip r:embed="rId2"/>
          <a:stretch>
            <a:fillRect/>
          </a:stretch>
        </p:blipFill>
        <p:spPr>
          <a:xfrm>
            <a:off x="1596144" y="1103367"/>
            <a:ext cx="6500813" cy="990600"/>
          </a:xfrm>
          <a:prstGeom prst="rect">
            <a:avLst/>
          </a:prstGeom>
        </p:spPr>
      </p:pic>
      <p:pic>
        <p:nvPicPr>
          <p:cNvPr id="7" name="Picture 6">
            <a:extLst>
              <a:ext uri="{FF2B5EF4-FFF2-40B4-BE49-F238E27FC236}">
                <a16:creationId xmlns:a16="http://schemas.microsoft.com/office/drawing/2014/main" id="{FDF92DD0-F9CB-5DC4-835A-1C1AA90B9CF1}"/>
              </a:ext>
            </a:extLst>
          </p:cNvPr>
          <p:cNvPicPr>
            <a:picLocks noChangeAspect="1"/>
          </p:cNvPicPr>
          <p:nvPr/>
        </p:nvPicPr>
        <p:blipFill>
          <a:blip r:embed="rId3"/>
          <a:stretch>
            <a:fillRect/>
          </a:stretch>
        </p:blipFill>
        <p:spPr>
          <a:xfrm>
            <a:off x="2125230" y="2279705"/>
            <a:ext cx="809738" cy="409632"/>
          </a:xfrm>
          <a:prstGeom prst="rect">
            <a:avLst/>
          </a:prstGeom>
        </p:spPr>
      </p:pic>
      <p:pic>
        <p:nvPicPr>
          <p:cNvPr id="9" name="Picture 8">
            <a:extLst>
              <a:ext uri="{FF2B5EF4-FFF2-40B4-BE49-F238E27FC236}">
                <a16:creationId xmlns:a16="http://schemas.microsoft.com/office/drawing/2014/main" id="{5A437BC6-6918-BDC1-EC08-C6E064B33B2A}"/>
              </a:ext>
            </a:extLst>
          </p:cNvPr>
          <p:cNvPicPr>
            <a:picLocks noChangeAspect="1"/>
          </p:cNvPicPr>
          <p:nvPr/>
        </p:nvPicPr>
        <p:blipFill>
          <a:blip r:embed="rId4"/>
          <a:stretch>
            <a:fillRect/>
          </a:stretch>
        </p:blipFill>
        <p:spPr>
          <a:xfrm>
            <a:off x="3387293" y="2689338"/>
            <a:ext cx="1190791" cy="733527"/>
          </a:xfrm>
          <a:prstGeom prst="rect">
            <a:avLst/>
          </a:prstGeom>
        </p:spPr>
      </p:pic>
      <p:sp>
        <p:nvSpPr>
          <p:cNvPr id="10" name="TextBox 9">
            <a:extLst>
              <a:ext uri="{FF2B5EF4-FFF2-40B4-BE49-F238E27FC236}">
                <a16:creationId xmlns:a16="http://schemas.microsoft.com/office/drawing/2014/main" id="{C7E70D18-6E2B-C771-F6ED-C4086B359AB1}"/>
              </a:ext>
            </a:extLst>
          </p:cNvPr>
          <p:cNvSpPr txBox="1"/>
          <p:nvPr/>
        </p:nvSpPr>
        <p:spPr>
          <a:xfrm>
            <a:off x="1835069" y="2826010"/>
            <a:ext cx="1705852" cy="369332"/>
          </a:xfrm>
          <a:prstGeom prst="rect">
            <a:avLst/>
          </a:prstGeom>
          <a:noFill/>
        </p:spPr>
        <p:txBody>
          <a:bodyPr wrap="none" rtlCol="0">
            <a:spAutoFit/>
          </a:bodyPr>
          <a:lstStyle/>
          <a:p>
            <a:r>
              <a:rPr lang="en-IN" dirty="0"/>
              <a:t>We compute </a:t>
            </a:r>
          </a:p>
        </p:txBody>
      </p:sp>
      <p:pic>
        <p:nvPicPr>
          <p:cNvPr id="15" name="Picture 14">
            <a:extLst>
              <a:ext uri="{FF2B5EF4-FFF2-40B4-BE49-F238E27FC236}">
                <a16:creationId xmlns:a16="http://schemas.microsoft.com/office/drawing/2014/main" id="{1F76E6F4-3473-221A-41C5-5A25233C4C52}"/>
              </a:ext>
            </a:extLst>
          </p:cNvPr>
          <p:cNvPicPr>
            <a:picLocks noChangeAspect="1"/>
          </p:cNvPicPr>
          <p:nvPr/>
        </p:nvPicPr>
        <p:blipFill>
          <a:blip r:embed="rId5"/>
          <a:stretch>
            <a:fillRect/>
          </a:stretch>
        </p:blipFill>
        <p:spPr>
          <a:xfrm>
            <a:off x="8074378" y="1598668"/>
            <a:ext cx="2495898" cy="3324689"/>
          </a:xfrm>
          <a:prstGeom prst="rect">
            <a:avLst/>
          </a:prstGeom>
        </p:spPr>
      </p:pic>
      <p:pic>
        <p:nvPicPr>
          <p:cNvPr id="17" name="Picture 16">
            <a:extLst>
              <a:ext uri="{FF2B5EF4-FFF2-40B4-BE49-F238E27FC236}">
                <a16:creationId xmlns:a16="http://schemas.microsoft.com/office/drawing/2014/main" id="{204F4469-CA18-58DB-1476-D55F69E0F2FD}"/>
              </a:ext>
            </a:extLst>
          </p:cNvPr>
          <p:cNvPicPr>
            <a:picLocks noChangeAspect="1"/>
          </p:cNvPicPr>
          <p:nvPr/>
        </p:nvPicPr>
        <p:blipFill>
          <a:blip r:embed="rId6"/>
          <a:stretch>
            <a:fillRect/>
          </a:stretch>
        </p:blipFill>
        <p:spPr>
          <a:xfrm>
            <a:off x="7946073" y="5069910"/>
            <a:ext cx="2448267" cy="952633"/>
          </a:xfrm>
          <a:prstGeom prst="rect">
            <a:avLst/>
          </a:prstGeom>
        </p:spPr>
      </p:pic>
      <p:pic>
        <p:nvPicPr>
          <p:cNvPr id="19" name="Picture 18">
            <a:extLst>
              <a:ext uri="{FF2B5EF4-FFF2-40B4-BE49-F238E27FC236}">
                <a16:creationId xmlns:a16="http://schemas.microsoft.com/office/drawing/2014/main" id="{18FDA952-399B-B86C-882F-4DD24D3063AD}"/>
              </a:ext>
            </a:extLst>
          </p:cNvPr>
          <p:cNvPicPr>
            <a:picLocks noChangeAspect="1"/>
          </p:cNvPicPr>
          <p:nvPr/>
        </p:nvPicPr>
        <p:blipFill>
          <a:blip r:embed="rId7"/>
          <a:stretch>
            <a:fillRect/>
          </a:stretch>
        </p:blipFill>
        <p:spPr>
          <a:xfrm>
            <a:off x="2240717" y="5120630"/>
            <a:ext cx="5172797" cy="304843"/>
          </a:xfrm>
          <a:prstGeom prst="rect">
            <a:avLst/>
          </a:prstGeom>
        </p:spPr>
      </p:pic>
      <p:pic>
        <p:nvPicPr>
          <p:cNvPr id="21" name="Picture 20">
            <a:extLst>
              <a:ext uri="{FF2B5EF4-FFF2-40B4-BE49-F238E27FC236}">
                <a16:creationId xmlns:a16="http://schemas.microsoft.com/office/drawing/2014/main" id="{B5E17F0E-3074-F402-4915-21B91DAF8C41}"/>
              </a:ext>
            </a:extLst>
          </p:cNvPr>
          <p:cNvPicPr>
            <a:picLocks noChangeAspect="1"/>
          </p:cNvPicPr>
          <p:nvPr/>
        </p:nvPicPr>
        <p:blipFill>
          <a:blip r:embed="rId8"/>
          <a:stretch>
            <a:fillRect/>
          </a:stretch>
        </p:blipFill>
        <p:spPr>
          <a:xfrm>
            <a:off x="2988455" y="5456516"/>
            <a:ext cx="1257475" cy="466790"/>
          </a:xfrm>
          <a:prstGeom prst="rect">
            <a:avLst/>
          </a:prstGeom>
        </p:spPr>
      </p:pic>
      <p:pic>
        <p:nvPicPr>
          <p:cNvPr id="11" name="Picture 10">
            <a:extLst>
              <a:ext uri="{FF2B5EF4-FFF2-40B4-BE49-F238E27FC236}">
                <a16:creationId xmlns:a16="http://schemas.microsoft.com/office/drawing/2014/main" id="{5F1BF281-2D9C-7370-0D56-E61F3A886EE0}"/>
              </a:ext>
            </a:extLst>
          </p:cNvPr>
          <p:cNvPicPr>
            <a:picLocks noChangeAspect="1"/>
          </p:cNvPicPr>
          <p:nvPr/>
        </p:nvPicPr>
        <p:blipFill>
          <a:blip r:embed="rId9"/>
          <a:stretch>
            <a:fillRect/>
          </a:stretch>
        </p:blipFill>
        <p:spPr>
          <a:xfrm>
            <a:off x="9204072" y="6065769"/>
            <a:ext cx="1276528" cy="495369"/>
          </a:xfrm>
          <a:prstGeom prst="rect">
            <a:avLst/>
          </a:prstGeom>
        </p:spPr>
      </p:pic>
      <p:sp>
        <p:nvSpPr>
          <p:cNvPr id="3" name="Slide Number Placeholder 2">
            <a:extLst>
              <a:ext uri="{FF2B5EF4-FFF2-40B4-BE49-F238E27FC236}">
                <a16:creationId xmlns:a16="http://schemas.microsoft.com/office/drawing/2014/main" id="{513D890A-40CD-0E85-60EF-CEB2FD5D358E}"/>
              </a:ext>
            </a:extLst>
          </p:cNvPr>
          <p:cNvSpPr>
            <a:spLocks noGrp="1"/>
          </p:cNvSpPr>
          <p:nvPr>
            <p:ph type="sldNum" sz="quarter" idx="12"/>
          </p:nvPr>
        </p:nvSpPr>
        <p:spPr/>
        <p:txBody>
          <a:bodyPr/>
          <a:lstStyle/>
          <a:p>
            <a:fld id="{BB2CE0DE-867F-455F-B20B-96D381B4AB71}" type="slidenum">
              <a:rPr lang="en-US" smtClean="0"/>
              <a:t>36</a:t>
            </a:fld>
            <a:endParaRPr lang="en-US"/>
          </a:p>
        </p:txBody>
      </p:sp>
    </p:spTree>
    <p:extLst>
      <p:ext uri="{BB962C8B-B14F-4D97-AF65-F5344CB8AC3E}">
        <p14:creationId xmlns:p14="http://schemas.microsoft.com/office/powerpoint/2010/main" val="4181947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B04A-DDF5-85C4-24CC-BF1226ECE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E66DE-A0DA-A89C-2E18-ADF2CE1258BA}"/>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051909DB-1D7F-BFE9-FE75-B118B6C2D673}"/>
              </a:ext>
            </a:extLst>
          </p:cNvPr>
          <p:cNvPicPr>
            <a:picLocks noChangeAspect="1"/>
          </p:cNvPicPr>
          <p:nvPr/>
        </p:nvPicPr>
        <p:blipFill>
          <a:blip r:embed="rId2"/>
          <a:stretch>
            <a:fillRect/>
          </a:stretch>
        </p:blipFill>
        <p:spPr>
          <a:xfrm>
            <a:off x="1596144" y="1103367"/>
            <a:ext cx="6500813" cy="990600"/>
          </a:xfrm>
          <a:prstGeom prst="rect">
            <a:avLst/>
          </a:prstGeom>
        </p:spPr>
      </p:pic>
      <p:pic>
        <p:nvPicPr>
          <p:cNvPr id="7" name="Picture 6">
            <a:extLst>
              <a:ext uri="{FF2B5EF4-FFF2-40B4-BE49-F238E27FC236}">
                <a16:creationId xmlns:a16="http://schemas.microsoft.com/office/drawing/2014/main" id="{FB4CDB69-20EF-6031-EA1A-3A52FC6AB0DD}"/>
              </a:ext>
            </a:extLst>
          </p:cNvPr>
          <p:cNvPicPr>
            <a:picLocks noChangeAspect="1"/>
          </p:cNvPicPr>
          <p:nvPr/>
        </p:nvPicPr>
        <p:blipFill>
          <a:blip r:embed="rId3"/>
          <a:stretch>
            <a:fillRect/>
          </a:stretch>
        </p:blipFill>
        <p:spPr>
          <a:xfrm>
            <a:off x="2125230" y="2279705"/>
            <a:ext cx="809738" cy="409632"/>
          </a:xfrm>
          <a:prstGeom prst="rect">
            <a:avLst/>
          </a:prstGeom>
        </p:spPr>
      </p:pic>
      <p:pic>
        <p:nvPicPr>
          <p:cNvPr id="9" name="Picture 8">
            <a:extLst>
              <a:ext uri="{FF2B5EF4-FFF2-40B4-BE49-F238E27FC236}">
                <a16:creationId xmlns:a16="http://schemas.microsoft.com/office/drawing/2014/main" id="{9F1E478D-A66F-DAB4-BF41-595A0DA05DDE}"/>
              </a:ext>
            </a:extLst>
          </p:cNvPr>
          <p:cNvPicPr>
            <a:picLocks noChangeAspect="1"/>
          </p:cNvPicPr>
          <p:nvPr/>
        </p:nvPicPr>
        <p:blipFill>
          <a:blip r:embed="rId4"/>
          <a:stretch>
            <a:fillRect/>
          </a:stretch>
        </p:blipFill>
        <p:spPr>
          <a:xfrm>
            <a:off x="3387293" y="2689338"/>
            <a:ext cx="1190791" cy="733527"/>
          </a:xfrm>
          <a:prstGeom prst="rect">
            <a:avLst/>
          </a:prstGeom>
        </p:spPr>
      </p:pic>
      <p:sp>
        <p:nvSpPr>
          <p:cNvPr id="10" name="TextBox 9">
            <a:extLst>
              <a:ext uri="{FF2B5EF4-FFF2-40B4-BE49-F238E27FC236}">
                <a16:creationId xmlns:a16="http://schemas.microsoft.com/office/drawing/2014/main" id="{1E84BB60-B5BB-E111-0F19-E93057C0DA82}"/>
              </a:ext>
            </a:extLst>
          </p:cNvPr>
          <p:cNvSpPr txBox="1"/>
          <p:nvPr/>
        </p:nvSpPr>
        <p:spPr>
          <a:xfrm>
            <a:off x="1835069" y="2826010"/>
            <a:ext cx="1705852" cy="369332"/>
          </a:xfrm>
          <a:prstGeom prst="rect">
            <a:avLst/>
          </a:prstGeom>
          <a:noFill/>
        </p:spPr>
        <p:txBody>
          <a:bodyPr wrap="none" rtlCol="0">
            <a:spAutoFit/>
          </a:bodyPr>
          <a:lstStyle/>
          <a:p>
            <a:r>
              <a:rPr lang="en-IN" dirty="0"/>
              <a:t>We compute </a:t>
            </a:r>
          </a:p>
        </p:txBody>
      </p:sp>
      <p:pic>
        <p:nvPicPr>
          <p:cNvPr id="3" name="Picture 2">
            <a:extLst>
              <a:ext uri="{FF2B5EF4-FFF2-40B4-BE49-F238E27FC236}">
                <a16:creationId xmlns:a16="http://schemas.microsoft.com/office/drawing/2014/main" id="{F19BB72A-6FC3-3726-970F-F7C341A3BE7C}"/>
              </a:ext>
            </a:extLst>
          </p:cNvPr>
          <p:cNvPicPr>
            <a:picLocks noChangeAspect="1"/>
          </p:cNvPicPr>
          <p:nvPr/>
        </p:nvPicPr>
        <p:blipFill>
          <a:blip r:embed="rId5"/>
          <a:stretch>
            <a:fillRect/>
          </a:stretch>
        </p:blipFill>
        <p:spPr>
          <a:xfrm>
            <a:off x="2280441" y="3871987"/>
            <a:ext cx="2213703" cy="677417"/>
          </a:xfrm>
          <a:prstGeom prst="rect">
            <a:avLst/>
          </a:prstGeom>
        </p:spPr>
      </p:pic>
      <p:pic>
        <p:nvPicPr>
          <p:cNvPr id="8" name="Picture 7">
            <a:extLst>
              <a:ext uri="{FF2B5EF4-FFF2-40B4-BE49-F238E27FC236}">
                <a16:creationId xmlns:a16="http://schemas.microsoft.com/office/drawing/2014/main" id="{6D1BE61F-7D23-4269-1252-F449EB0BD27C}"/>
              </a:ext>
            </a:extLst>
          </p:cNvPr>
          <p:cNvPicPr>
            <a:picLocks noChangeAspect="1"/>
          </p:cNvPicPr>
          <p:nvPr/>
        </p:nvPicPr>
        <p:blipFill>
          <a:blip r:embed="rId6"/>
          <a:stretch>
            <a:fillRect/>
          </a:stretch>
        </p:blipFill>
        <p:spPr>
          <a:xfrm>
            <a:off x="8077200" y="1791550"/>
            <a:ext cx="2495898" cy="3324689"/>
          </a:xfrm>
          <a:prstGeom prst="rect">
            <a:avLst/>
          </a:prstGeom>
        </p:spPr>
      </p:pic>
      <p:pic>
        <p:nvPicPr>
          <p:cNvPr id="11" name="Picture 10">
            <a:extLst>
              <a:ext uri="{FF2B5EF4-FFF2-40B4-BE49-F238E27FC236}">
                <a16:creationId xmlns:a16="http://schemas.microsoft.com/office/drawing/2014/main" id="{34064765-D9B2-1832-88DB-900CFB2929D1}"/>
              </a:ext>
            </a:extLst>
          </p:cNvPr>
          <p:cNvPicPr>
            <a:picLocks noChangeAspect="1"/>
          </p:cNvPicPr>
          <p:nvPr/>
        </p:nvPicPr>
        <p:blipFill>
          <a:blip r:embed="rId7"/>
          <a:stretch>
            <a:fillRect/>
          </a:stretch>
        </p:blipFill>
        <p:spPr>
          <a:xfrm>
            <a:off x="7948895" y="5262792"/>
            <a:ext cx="2448267" cy="952633"/>
          </a:xfrm>
          <a:prstGeom prst="rect">
            <a:avLst/>
          </a:prstGeom>
        </p:spPr>
      </p:pic>
      <p:pic>
        <p:nvPicPr>
          <p:cNvPr id="12" name="Picture 11">
            <a:extLst>
              <a:ext uri="{FF2B5EF4-FFF2-40B4-BE49-F238E27FC236}">
                <a16:creationId xmlns:a16="http://schemas.microsoft.com/office/drawing/2014/main" id="{8F59C65B-213A-02CC-ADF0-26D78A759D6F}"/>
              </a:ext>
            </a:extLst>
          </p:cNvPr>
          <p:cNvPicPr>
            <a:picLocks noChangeAspect="1"/>
          </p:cNvPicPr>
          <p:nvPr/>
        </p:nvPicPr>
        <p:blipFill>
          <a:blip r:embed="rId8"/>
          <a:stretch>
            <a:fillRect/>
          </a:stretch>
        </p:blipFill>
        <p:spPr>
          <a:xfrm>
            <a:off x="9206894" y="6258651"/>
            <a:ext cx="1276528" cy="495369"/>
          </a:xfrm>
          <a:prstGeom prst="rect">
            <a:avLst/>
          </a:prstGeom>
        </p:spPr>
      </p:pic>
      <p:pic>
        <p:nvPicPr>
          <p:cNvPr id="14" name="Picture 13">
            <a:extLst>
              <a:ext uri="{FF2B5EF4-FFF2-40B4-BE49-F238E27FC236}">
                <a16:creationId xmlns:a16="http://schemas.microsoft.com/office/drawing/2014/main" id="{24821A23-FF1A-7673-B2C3-368B2666D1A8}"/>
              </a:ext>
            </a:extLst>
          </p:cNvPr>
          <p:cNvPicPr>
            <a:picLocks noChangeAspect="1"/>
          </p:cNvPicPr>
          <p:nvPr/>
        </p:nvPicPr>
        <p:blipFill>
          <a:blip r:embed="rId9"/>
          <a:stretch>
            <a:fillRect/>
          </a:stretch>
        </p:blipFill>
        <p:spPr>
          <a:xfrm>
            <a:off x="3733801" y="5362817"/>
            <a:ext cx="2791215" cy="752580"/>
          </a:xfrm>
          <a:prstGeom prst="rect">
            <a:avLst/>
          </a:prstGeom>
        </p:spPr>
      </p:pic>
      <p:sp>
        <p:nvSpPr>
          <p:cNvPr id="16" name="TextBox 15">
            <a:extLst>
              <a:ext uri="{FF2B5EF4-FFF2-40B4-BE49-F238E27FC236}">
                <a16:creationId xmlns:a16="http://schemas.microsoft.com/office/drawing/2014/main" id="{04153E50-E437-F362-C187-CA8235527311}"/>
              </a:ext>
            </a:extLst>
          </p:cNvPr>
          <p:cNvSpPr txBox="1"/>
          <p:nvPr/>
        </p:nvSpPr>
        <p:spPr>
          <a:xfrm>
            <a:off x="3623733" y="4885406"/>
            <a:ext cx="2824812" cy="461665"/>
          </a:xfrm>
          <a:prstGeom prst="rect">
            <a:avLst/>
          </a:prstGeom>
          <a:noFill/>
        </p:spPr>
        <p:txBody>
          <a:bodyPr wrap="none" rtlCol="0">
            <a:spAutoFit/>
          </a:bodyPr>
          <a:lstStyle/>
          <a:p>
            <a:r>
              <a:rPr lang="en-IN" sz="2400" dirty="0">
                <a:solidFill>
                  <a:srgbClr val="C00000"/>
                </a:solidFill>
              </a:rPr>
              <a:t>Therefore, finally</a:t>
            </a:r>
          </a:p>
        </p:txBody>
      </p:sp>
      <p:sp>
        <p:nvSpPr>
          <p:cNvPr id="6" name="Slide Number Placeholder 5">
            <a:extLst>
              <a:ext uri="{FF2B5EF4-FFF2-40B4-BE49-F238E27FC236}">
                <a16:creationId xmlns:a16="http://schemas.microsoft.com/office/drawing/2014/main" id="{861B7FE3-A52C-9AB1-297E-7A218E2505DF}"/>
              </a:ext>
            </a:extLst>
          </p:cNvPr>
          <p:cNvSpPr>
            <a:spLocks noGrp="1"/>
          </p:cNvSpPr>
          <p:nvPr>
            <p:ph type="sldNum" sz="quarter" idx="12"/>
          </p:nvPr>
        </p:nvSpPr>
        <p:spPr/>
        <p:txBody>
          <a:bodyPr/>
          <a:lstStyle/>
          <a:p>
            <a:fld id="{BB2CE0DE-867F-455F-B20B-96D381B4AB71}" type="slidenum">
              <a:rPr lang="en-US" smtClean="0"/>
              <a:t>37</a:t>
            </a:fld>
            <a:endParaRPr lang="en-US"/>
          </a:p>
        </p:txBody>
      </p:sp>
    </p:spTree>
    <p:extLst>
      <p:ext uri="{BB962C8B-B14F-4D97-AF65-F5344CB8AC3E}">
        <p14:creationId xmlns:p14="http://schemas.microsoft.com/office/powerpoint/2010/main" val="1054629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A5647-1C9D-67F9-3394-E0506758C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7E760-EAC6-62AA-545E-01F0EBCC0AF3}"/>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sp>
        <p:nvSpPr>
          <p:cNvPr id="5" name="TextBox 4">
            <a:extLst>
              <a:ext uri="{FF2B5EF4-FFF2-40B4-BE49-F238E27FC236}">
                <a16:creationId xmlns:a16="http://schemas.microsoft.com/office/drawing/2014/main" id="{0B47D8B5-27ED-E2EE-8150-F2CB985BBE5E}"/>
              </a:ext>
            </a:extLst>
          </p:cNvPr>
          <p:cNvSpPr txBox="1"/>
          <p:nvPr/>
        </p:nvSpPr>
        <p:spPr>
          <a:xfrm>
            <a:off x="2098676" y="1929966"/>
            <a:ext cx="7873437" cy="369332"/>
          </a:xfrm>
          <a:prstGeom prst="rect">
            <a:avLst/>
          </a:prstGeom>
          <a:noFill/>
        </p:spPr>
        <p:txBody>
          <a:bodyPr wrap="none" rtlCol="0">
            <a:spAutoFit/>
          </a:bodyPr>
          <a:lstStyle/>
          <a:p>
            <a:r>
              <a:rPr lang="en-US" dirty="0"/>
              <a:t>This is the gradient of the </a:t>
            </a:r>
            <a:r>
              <a:rPr lang="en-US" b="1" dirty="0"/>
              <a:t>unregularized (approximated) loss.</a:t>
            </a:r>
            <a:endParaRPr lang="en-IN" dirty="0"/>
          </a:p>
        </p:txBody>
      </p:sp>
      <p:pic>
        <p:nvPicPr>
          <p:cNvPr id="7" name="Picture 6">
            <a:extLst>
              <a:ext uri="{FF2B5EF4-FFF2-40B4-BE49-F238E27FC236}">
                <a16:creationId xmlns:a16="http://schemas.microsoft.com/office/drawing/2014/main" id="{54AA8679-78AF-7E91-CDB0-1E8A1E4C856D}"/>
              </a:ext>
            </a:extLst>
          </p:cNvPr>
          <p:cNvPicPr>
            <a:picLocks noChangeAspect="1"/>
          </p:cNvPicPr>
          <p:nvPr/>
        </p:nvPicPr>
        <p:blipFill>
          <a:blip r:embed="rId2"/>
          <a:stretch>
            <a:fillRect/>
          </a:stretch>
        </p:blipFill>
        <p:spPr>
          <a:xfrm>
            <a:off x="2098676" y="1219200"/>
            <a:ext cx="2629267" cy="590632"/>
          </a:xfrm>
          <a:prstGeom prst="rect">
            <a:avLst/>
          </a:prstGeom>
        </p:spPr>
      </p:pic>
      <p:sp>
        <p:nvSpPr>
          <p:cNvPr id="8" name="TextBox 7">
            <a:extLst>
              <a:ext uri="{FF2B5EF4-FFF2-40B4-BE49-F238E27FC236}">
                <a16:creationId xmlns:a16="http://schemas.microsoft.com/office/drawing/2014/main" id="{58DCE88D-5530-2B8B-B11B-7CEA675C8E21}"/>
              </a:ext>
            </a:extLst>
          </p:cNvPr>
          <p:cNvSpPr txBox="1"/>
          <p:nvPr/>
        </p:nvSpPr>
        <p:spPr>
          <a:xfrm>
            <a:off x="2098675" y="2640732"/>
            <a:ext cx="1710084" cy="369332"/>
          </a:xfrm>
          <a:prstGeom prst="rect">
            <a:avLst/>
          </a:prstGeom>
          <a:noFill/>
        </p:spPr>
        <p:txBody>
          <a:bodyPr wrap="none" rtlCol="0">
            <a:spAutoFit/>
          </a:bodyPr>
          <a:lstStyle/>
          <a:p>
            <a:r>
              <a:rPr lang="en-IN" dirty="0"/>
              <a:t>At minimum:</a:t>
            </a:r>
          </a:p>
        </p:txBody>
      </p:sp>
      <p:pic>
        <p:nvPicPr>
          <p:cNvPr id="10" name="Picture 9">
            <a:extLst>
              <a:ext uri="{FF2B5EF4-FFF2-40B4-BE49-F238E27FC236}">
                <a16:creationId xmlns:a16="http://schemas.microsoft.com/office/drawing/2014/main" id="{986D68E6-F820-7C5D-473B-48F278DAD14B}"/>
              </a:ext>
            </a:extLst>
          </p:cNvPr>
          <p:cNvPicPr>
            <a:picLocks noChangeAspect="1"/>
          </p:cNvPicPr>
          <p:nvPr/>
        </p:nvPicPr>
        <p:blipFill>
          <a:blip r:embed="rId3"/>
          <a:stretch>
            <a:fillRect/>
          </a:stretch>
        </p:blipFill>
        <p:spPr>
          <a:xfrm>
            <a:off x="4038601" y="2640733"/>
            <a:ext cx="3048425" cy="543001"/>
          </a:xfrm>
          <a:prstGeom prst="rect">
            <a:avLst/>
          </a:prstGeom>
        </p:spPr>
      </p:pic>
      <p:pic>
        <p:nvPicPr>
          <p:cNvPr id="12" name="Picture 11">
            <a:extLst>
              <a:ext uri="{FF2B5EF4-FFF2-40B4-BE49-F238E27FC236}">
                <a16:creationId xmlns:a16="http://schemas.microsoft.com/office/drawing/2014/main" id="{FBC0ABF6-3B96-DA67-1BFC-E64A7EFA14BB}"/>
              </a:ext>
            </a:extLst>
          </p:cNvPr>
          <p:cNvPicPr>
            <a:picLocks noChangeAspect="1"/>
          </p:cNvPicPr>
          <p:nvPr/>
        </p:nvPicPr>
        <p:blipFill>
          <a:blip r:embed="rId4"/>
          <a:stretch>
            <a:fillRect/>
          </a:stretch>
        </p:blipFill>
        <p:spPr>
          <a:xfrm>
            <a:off x="2098675" y="3314865"/>
            <a:ext cx="5334744" cy="1133633"/>
          </a:xfrm>
          <a:prstGeom prst="rect">
            <a:avLst/>
          </a:prstGeom>
        </p:spPr>
      </p:pic>
      <p:pic>
        <p:nvPicPr>
          <p:cNvPr id="13" name="Picture 12">
            <a:extLst>
              <a:ext uri="{FF2B5EF4-FFF2-40B4-BE49-F238E27FC236}">
                <a16:creationId xmlns:a16="http://schemas.microsoft.com/office/drawing/2014/main" id="{416048B6-6085-E29A-7325-883E5E2D794E}"/>
              </a:ext>
            </a:extLst>
          </p:cNvPr>
          <p:cNvPicPr>
            <a:picLocks noChangeAspect="1"/>
          </p:cNvPicPr>
          <p:nvPr/>
        </p:nvPicPr>
        <p:blipFill>
          <a:blip r:embed="rId5"/>
          <a:stretch>
            <a:fillRect/>
          </a:stretch>
        </p:blipFill>
        <p:spPr>
          <a:xfrm>
            <a:off x="2244908" y="5727136"/>
            <a:ext cx="5042278" cy="673665"/>
          </a:xfrm>
          <a:prstGeom prst="rect">
            <a:avLst/>
          </a:prstGeom>
        </p:spPr>
      </p:pic>
      <p:pic>
        <p:nvPicPr>
          <p:cNvPr id="14" name="Picture 13">
            <a:extLst>
              <a:ext uri="{FF2B5EF4-FFF2-40B4-BE49-F238E27FC236}">
                <a16:creationId xmlns:a16="http://schemas.microsoft.com/office/drawing/2014/main" id="{7844ABCC-3854-23E4-70E4-92AE5CA9449B}"/>
              </a:ext>
            </a:extLst>
          </p:cNvPr>
          <p:cNvPicPr>
            <a:picLocks noChangeAspect="1"/>
          </p:cNvPicPr>
          <p:nvPr/>
        </p:nvPicPr>
        <p:blipFill>
          <a:blip r:embed="rId6"/>
          <a:stretch>
            <a:fillRect/>
          </a:stretch>
        </p:blipFill>
        <p:spPr>
          <a:xfrm>
            <a:off x="1981200" y="4579628"/>
            <a:ext cx="5764568" cy="1001996"/>
          </a:xfrm>
          <a:prstGeom prst="rect">
            <a:avLst/>
          </a:prstGeom>
        </p:spPr>
      </p:pic>
      <p:sp>
        <p:nvSpPr>
          <p:cNvPr id="3" name="Slide Number Placeholder 2">
            <a:extLst>
              <a:ext uri="{FF2B5EF4-FFF2-40B4-BE49-F238E27FC236}">
                <a16:creationId xmlns:a16="http://schemas.microsoft.com/office/drawing/2014/main" id="{F7CD2B8F-C47A-CFFD-68D4-5B9818795E65}"/>
              </a:ext>
            </a:extLst>
          </p:cNvPr>
          <p:cNvSpPr>
            <a:spLocks noGrp="1"/>
          </p:cNvSpPr>
          <p:nvPr>
            <p:ph type="sldNum" sz="quarter" idx="12"/>
          </p:nvPr>
        </p:nvSpPr>
        <p:spPr/>
        <p:txBody>
          <a:bodyPr/>
          <a:lstStyle/>
          <a:p>
            <a:fld id="{BB2CE0DE-867F-455F-B20B-96D381B4AB71}" type="slidenum">
              <a:rPr lang="en-US" smtClean="0"/>
              <a:t>38</a:t>
            </a:fld>
            <a:endParaRPr lang="en-US"/>
          </a:p>
        </p:txBody>
      </p:sp>
    </p:spTree>
    <p:extLst>
      <p:ext uri="{BB962C8B-B14F-4D97-AF65-F5344CB8AC3E}">
        <p14:creationId xmlns:p14="http://schemas.microsoft.com/office/powerpoint/2010/main" val="3721710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95B1A-93E1-2F5F-71D2-679CFCBCB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F7439-C827-A195-C454-E2ACAF46FDEB}"/>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7" name="Picture 6">
            <a:extLst>
              <a:ext uri="{FF2B5EF4-FFF2-40B4-BE49-F238E27FC236}">
                <a16:creationId xmlns:a16="http://schemas.microsoft.com/office/drawing/2014/main" id="{B1753085-F999-6367-2524-D8C9831DA412}"/>
              </a:ext>
            </a:extLst>
          </p:cNvPr>
          <p:cNvPicPr>
            <a:picLocks noChangeAspect="1"/>
          </p:cNvPicPr>
          <p:nvPr/>
        </p:nvPicPr>
        <p:blipFill>
          <a:blip r:embed="rId2"/>
          <a:stretch>
            <a:fillRect/>
          </a:stretch>
        </p:blipFill>
        <p:spPr>
          <a:xfrm>
            <a:off x="2098676" y="1219200"/>
            <a:ext cx="2629267" cy="590632"/>
          </a:xfrm>
          <a:prstGeom prst="rect">
            <a:avLst/>
          </a:prstGeom>
        </p:spPr>
      </p:pic>
      <p:pic>
        <p:nvPicPr>
          <p:cNvPr id="13" name="Picture 12">
            <a:extLst>
              <a:ext uri="{FF2B5EF4-FFF2-40B4-BE49-F238E27FC236}">
                <a16:creationId xmlns:a16="http://schemas.microsoft.com/office/drawing/2014/main" id="{19EE1EC5-146E-7E4D-57E2-BC257F541461}"/>
              </a:ext>
            </a:extLst>
          </p:cNvPr>
          <p:cNvPicPr>
            <a:picLocks noChangeAspect="1"/>
          </p:cNvPicPr>
          <p:nvPr/>
        </p:nvPicPr>
        <p:blipFill>
          <a:blip r:embed="rId3"/>
          <a:stretch>
            <a:fillRect/>
          </a:stretch>
        </p:blipFill>
        <p:spPr>
          <a:xfrm>
            <a:off x="1828800" y="2362201"/>
            <a:ext cx="5042278" cy="673665"/>
          </a:xfrm>
          <a:prstGeom prst="rect">
            <a:avLst/>
          </a:prstGeom>
        </p:spPr>
      </p:pic>
      <p:pic>
        <p:nvPicPr>
          <p:cNvPr id="6" name="Picture 5">
            <a:extLst>
              <a:ext uri="{FF2B5EF4-FFF2-40B4-BE49-F238E27FC236}">
                <a16:creationId xmlns:a16="http://schemas.microsoft.com/office/drawing/2014/main" id="{19A7E8C8-05D2-CF3F-DEBB-440A553A1933}"/>
              </a:ext>
            </a:extLst>
          </p:cNvPr>
          <p:cNvPicPr>
            <a:picLocks noChangeAspect="1"/>
          </p:cNvPicPr>
          <p:nvPr/>
        </p:nvPicPr>
        <p:blipFill>
          <a:blip r:embed="rId4"/>
          <a:stretch>
            <a:fillRect/>
          </a:stretch>
        </p:blipFill>
        <p:spPr>
          <a:xfrm>
            <a:off x="4805183" y="3226233"/>
            <a:ext cx="2581635" cy="724001"/>
          </a:xfrm>
          <a:prstGeom prst="rect">
            <a:avLst/>
          </a:prstGeom>
        </p:spPr>
      </p:pic>
      <p:pic>
        <p:nvPicPr>
          <p:cNvPr id="11" name="Picture 10">
            <a:extLst>
              <a:ext uri="{FF2B5EF4-FFF2-40B4-BE49-F238E27FC236}">
                <a16:creationId xmlns:a16="http://schemas.microsoft.com/office/drawing/2014/main" id="{99007548-F399-F5E5-6740-BF08E593E170}"/>
              </a:ext>
            </a:extLst>
          </p:cNvPr>
          <p:cNvPicPr>
            <a:picLocks noChangeAspect="1"/>
          </p:cNvPicPr>
          <p:nvPr/>
        </p:nvPicPr>
        <p:blipFill>
          <a:blip r:embed="rId5"/>
          <a:stretch>
            <a:fillRect/>
          </a:stretch>
        </p:blipFill>
        <p:spPr>
          <a:xfrm>
            <a:off x="1828801" y="4343401"/>
            <a:ext cx="3391373" cy="600159"/>
          </a:xfrm>
          <a:prstGeom prst="rect">
            <a:avLst/>
          </a:prstGeom>
        </p:spPr>
      </p:pic>
      <p:sp>
        <p:nvSpPr>
          <p:cNvPr id="15" name="TextBox 14">
            <a:extLst>
              <a:ext uri="{FF2B5EF4-FFF2-40B4-BE49-F238E27FC236}">
                <a16:creationId xmlns:a16="http://schemas.microsoft.com/office/drawing/2014/main" id="{881A14E2-2B17-750F-A426-52ED8ABA0C24}"/>
              </a:ext>
            </a:extLst>
          </p:cNvPr>
          <p:cNvSpPr txBox="1"/>
          <p:nvPr/>
        </p:nvSpPr>
        <p:spPr>
          <a:xfrm>
            <a:off x="1828800" y="3949355"/>
            <a:ext cx="1303562" cy="369332"/>
          </a:xfrm>
          <a:prstGeom prst="rect">
            <a:avLst/>
          </a:prstGeom>
          <a:noFill/>
        </p:spPr>
        <p:txBody>
          <a:bodyPr wrap="none" rtlCol="0">
            <a:spAutoFit/>
          </a:bodyPr>
          <a:lstStyle/>
          <a:p>
            <a:r>
              <a:rPr lang="en-IN" dirty="0"/>
              <a:t>Therefore</a:t>
            </a:r>
          </a:p>
        </p:txBody>
      </p:sp>
      <p:pic>
        <p:nvPicPr>
          <p:cNvPr id="17" name="Picture 16">
            <a:extLst>
              <a:ext uri="{FF2B5EF4-FFF2-40B4-BE49-F238E27FC236}">
                <a16:creationId xmlns:a16="http://schemas.microsoft.com/office/drawing/2014/main" id="{67B4CFF7-207E-6EC4-DD2D-6111B2E55EBA}"/>
              </a:ext>
            </a:extLst>
          </p:cNvPr>
          <p:cNvPicPr>
            <a:picLocks noChangeAspect="1"/>
          </p:cNvPicPr>
          <p:nvPr/>
        </p:nvPicPr>
        <p:blipFill>
          <a:blip r:embed="rId6"/>
          <a:stretch>
            <a:fillRect/>
          </a:stretch>
        </p:blipFill>
        <p:spPr>
          <a:xfrm>
            <a:off x="3483831" y="5036647"/>
            <a:ext cx="1600423" cy="600159"/>
          </a:xfrm>
          <a:prstGeom prst="rect">
            <a:avLst/>
          </a:prstGeom>
        </p:spPr>
      </p:pic>
      <p:sp>
        <p:nvSpPr>
          <p:cNvPr id="18" name="TextBox 17">
            <a:extLst>
              <a:ext uri="{FF2B5EF4-FFF2-40B4-BE49-F238E27FC236}">
                <a16:creationId xmlns:a16="http://schemas.microsoft.com/office/drawing/2014/main" id="{ADF5938E-BF9B-53BD-5DE9-B70837479650}"/>
              </a:ext>
            </a:extLst>
          </p:cNvPr>
          <p:cNvSpPr txBox="1"/>
          <p:nvPr/>
        </p:nvSpPr>
        <p:spPr>
          <a:xfrm>
            <a:off x="1752600" y="5105400"/>
            <a:ext cx="1761380" cy="369332"/>
          </a:xfrm>
          <a:prstGeom prst="rect">
            <a:avLst/>
          </a:prstGeom>
          <a:noFill/>
        </p:spPr>
        <p:txBody>
          <a:bodyPr wrap="none" rtlCol="0">
            <a:spAutoFit/>
          </a:bodyPr>
          <a:lstStyle/>
          <a:p>
            <a:r>
              <a:rPr lang="en-IN" dirty="0"/>
              <a:t>At Minimum: </a:t>
            </a:r>
          </a:p>
        </p:txBody>
      </p:sp>
      <p:pic>
        <p:nvPicPr>
          <p:cNvPr id="20" name="Picture 19">
            <a:extLst>
              <a:ext uri="{FF2B5EF4-FFF2-40B4-BE49-F238E27FC236}">
                <a16:creationId xmlns:a16="http://schemas.microsoft.com/office/drawing/2014/main" id="{B534B6EC-940A-5F68-F12C-4EF1F7FEA158}"/>
              </a:ext>
            </a:extLst>
          </p:cNvPr>
          <p:cNvPicPr>
            <a:picLocks noChangeAspect="1"/>
          </p:cNvPicPr>
          <p:nvPr/>
        </p:nvPicPr>
        <p:blipFill>
          <a:blip r:embed="rId7"/>
          <a:stretch>
            <a:fillRect/>
          </a:stretch>
        </p:blipFill>
        <p:spPr>
          <a:xfrm>
            <a:off x="3433065" y="5787357"/>
            <a:ext cx="2619741" cy="590632"/>
          </a:xfrm>
          <a:prstGeom prst="rect">
            <a:avLst/>
          </a:prstGeom>
        </p:spPr>
      </p:pic>
      <p:sp>
        <p:nvSpPr>
          <p:cNvPr id="21" name="TextBox 20">
            <a:extLst>
              <a:ext uri="{FF2B5EF4-FFF2-40B4-BE49-F238E27FC236}">
                <a16:creationId xmlns:a16="http://schemas.microsoft.com/office/drawing/2014/main" id="{28C370FF-A3BE-75C2-78F4-9FC52FABCCB0}"/>
              </a:ext>
            </a:extLst>
          </p:cNvPr>
          <p:cNvSpPr txBox="1"/>
          <p:nvPr/>
        </p:nvSpPr>
        <p:spPr>
          <a:xfrm>
            <a:off x="2818263" y="5881762"/>
            <a:ext cx="561179" cy="369332"/>
          </a:xfrm>
          <a:prstGeom prst="rect">
            <a:avLst/>
          </a:prstGeom>
          <a:noFill/>
        </p:spPr>
        <p:txBody>
          <a:bodyPr wrap="none" rtlCol="0">
            <a:spAutoFit/>
          </a:bodyPr>
          <a:lstStyle/>
          <a:p>
            <a:r>
              <a:rPr lang="en-IN" dirty="0"/>
              <a:t>So,</a:t>
            </a:r>
          </a:p>
        </p:txBody>
      </p:sp>
      <p:sp>
        <p:nvSpPr>
          <p:cNvPr id="3" name="Slide Number Placeholder 2">
            <a:extLst>
              <a:ext uri="{FF2B5EF4-FFF2-40B4-BE49-F238E27FC236}">
                <a16:creationId xmlns:a16="http://schemas.microsoft.com/office/drawing/2014/main" id="{3B19F7D9-DB1B-65A8-A24C-11D5D2325F0E}"/>
              </a:ext>
            </a:extLst>
          </p:cNvPr>
          <p:cNvSpPr>
            <a:spLocks noGrp="1"/>
          </p:cNvSpPr>
          <p:nvPr>
            <p:ph type="sldNum" sz="quarter" idx="12"/>
          </p:nvPr>
        </p:nvSpPr>
        <p:spPr/>
        <p:txBody>
          <a:bodyPr/>
          <a:lstStyle/>
          <a:p>
            <a:fld id="{BB2CE0DE-867F-455F-B20B-96D381B4AB71}" type="slidenum">
              <a:rPr lang="en-US" smtClean="0"/>
              <a:t>39</a:t>
            </a:fld>
            <a:endParaRPr lang="en-US"/>
          </a:p>
        </p:txBody>
      </p:sp>
    </p:spTree>
    <p:extLst>
      <p:ext uri="{BB962C8B-B14F-4D97-AF65-F5344CB8AC3E}">
        <p14:creationId xmlns:p14="http://schemas.microsoft.com/office/powerpoint/2010/main" val="3613133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D814-EBD5-1711-28C0-959E00B33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0E3D0-ABE5-A456-BE40-37F9DFD0E1BA}"/>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7" name="Picture 6">
            <a:extLst>
              <a:ext uri="{FF2B5EF4-FFF2-40B4-BE49-F238E27FC236}">
                <a16:creationId xmlns:a16="http://schemas.microsoft.com/office/drawing/2014/main" id="{D988436E-8029-C6CE-D445-3BD6F2987465}"/>
              </a:ext>
            </a:extLst>
          </p:cNvPr>
          <p:cNvPicPr>
            <a:picLocks noChangeAspect="1"/>
          </p:cNvPicPr>
          <p:nvPr/>
        </p:nvPicPr>
        <p:blipFill>
          <a:blip r:embed="rId2"/>
          <a:stretch>
            <a:fillRect/>
          </a:stretch>
        </p:blipFill>
        <p:spPr>
          <a:xfrm>
            <a:off x="2098676" y="1219200"/>
            <a:ext cx="2629267" cy="590632"/>
          </a:xfrm>
          <a:prstGeom prst="rect">
            <a:avLst/>
          </a:prstGeom>
        </p:spPr>
      </p:pic>
      <p:pic>
        <p:nvPicPr>
          <p:cNvPr id="13" name="Picture 12">
            <a:extLst>
              <a:ext uri="{FF2B5EF4-FFF2-40B4-BE49-F238E27FC236}">
                <a16:creationId xmlns:a16="http://schemas.microsoft.com/office/drawing/2014/main" id="{5106E0BA-E941-0CB4-40F3-6A473C519400}"/>
              </a:ext>
            </a:extLst>
          </p:cNvPr>
          <p:cNvPicPr>
            <a:picLocks noChangeAspect="1"/>
          </p:cNvPicPr>
          <p:nvPr/>
        </p:nvPicPr>
        <p:blipFill>
          <a:blip r:embed="rId3"/>
          <a:stretch>
            <a:fillRect/>
          </a:stretch>
        </p:blipFill>
        <p:spPr>
          <a:xfrm>
            <a:off x="1828800" y="2362201"/>
            <a:ext cx="5042278" cy="673665"/>
          </a:xfrm>
          <a:prstGeom prst="rect">
            <a:avLst/>
          </a:prstGeom>
        </p:spPr>
      </p:pic>
      <p:pic>
        <p:nvPicPr>
          <p:cNvPr id="6" name="Picture 5">
            <a:extLst>
              <a:ext uri="{FF2B5EF4-FFF2-40B4-BE49-F238E27FC236}">
                <a16:creationId xmlns:a16="http://schemas.microsoft.com/office/drawing/2014/main" id="{0242AD9F-98EC-AEF9-D355-977EBEED634F}"/>
              </a:ext>
            </a:extLst>
          </p:cNvPr>
          <p:cNvPicPr>
            <a:picLocks noChangeAspect="1"/>
          </p:cNvPicPr>
          <p:nvPr/>
        </p:nvPicPr>
        <p:blipFill>
          <a:blip r:embed="rId4"/>
          <a:stretch>
            <a:fillRect/>
          </a:stretch>
        </p:blipFill>
        <p:spPr>
          <a:xfrm>
            <a:off x="4805183" y="3226233"/>
            <a:ext cx="2581635" cy="724001"/>
          </a:xfrm>
          <a:prstGeom prst="rect">
            <a:avLst/>
          </a:prstGeom>
        </p:spPr>
      </p:pic>
      <p:pic>
        <p:nvPicPr>
          <p:cNvPr id="11" name="Picture 10">
            <a:extLst>
              <a:ext uri="{FF2B5EF4-FFF2-40B4-BE49-F238E27FC236}">
                <a16:creationId xmlns:a16="http://schemas.microsoft.com/office/drawing/2014/main" id="{3167610A-3E6F-DE21-A4C7-E103D5F7E9EC}"/>
              </a:ext>
            </a:extLst>
          </p:cNvPr>
          <p:cNvPicPr>
            <a:picLocks noChangeAspect="1"/>
          </p:cNvPicPr>
          <p:nvPr/>
        </p:nvPicPr>
        <p:blipFill>
          <a:blip r:embed="rId5"/>
          <a:stretch>
            <a:fillRect/>
          </a:stretch>
        </p:blipFill>
        <p:spPr>
          <a:xfrm>
            <a:off x="1828801" y="4343401"/>
            <a:ext cx="3391373" cy="600159"/>
          </a:xfrm>
          <a:prstGeom prst="rect">
            <a:avLst/>
          </a:prstGeom>
        </p:spPr>
      </p:pic>
      <p:sp>
        <p:nvSpPr>
          <p:cNvPr id="15" name="TextBox 14">
            <a:extLst>
              <a:ext uri="{FF2B5EF4-FFF2-40B4-BE49-F238E27FC236}">
                <a16:creationId xmlns:a16="http://schemas.microsoft.com/office/drawing/2014/main" id="{245B52E5-1BFD-15C9-63A2-2A1158E4496B}"/>
              </a:ext>
            </a:extLst>
          </p:cNvPr>
          <p:cNvSpPr txBox="1"/>
          <p:nvPr/>
        </p:nvSpPr>
        <p:spPr>
          <a:xfrm>
            <a:off x="1828800" y="3949355"/>
            <a:ext cx="1303562" cy="369332"/>
          </a:xfrm>
          <a:prstGeom prst="rect">
            <a:avLst/>
          </a:prstGeom>
          <a:noFill/>
        </p:spPr>
        <p:txBody>
          <a:bodyPr wrap="none" rtlCol="0">
            <a:spAutoFit/>
          </a:bodyPr>
          <a:lstStyle/>
          <a:p>
            <a:r>
              <a:rPr lang="en-IN" dirty="0"/>
              <a:t>Therefore</a:t>
            </a:r>
          </a:p>
        </p:txBody>
      </p:sp>
      <p:pic>
        <p:nvPicPr>
          <p:cNvPr id="17" name="Picture 16">
            <a:extLst>
              <a:ext uri="{FF2B5EF4-FFF2-40B4-BE49-F238E27FC236}">
                <a16:creationId xmlns:a16="http://schemas.microsoft.com/office/drawing/2014/main" id="{3739F0D1-D18C-0BD4-451A-FB7F89A945F1}"/>
              </a:ext>
            </a:extLst>
          </p:cNvPr>
          <p:cNvPicPr>
            <a:picLocks noChangeAspect="1"/>
          </p:cNvPicPr>
          <p:nvPr/>
        </p:nvPicPr>
        <p:blipFill>
          <a:blip r:embed="rId6"/>
          <a:stretch>
            <a:fillRect/>
          </a:stretch>
        </p:blipFill>
        <p:spPr>
          <a:xfrm>
            <a:off x="3483831" y="5036647"/>
            <a:ext cx="1600423" cy="600159"/>
          </a:xfrm>
          <a:prstGeom prst="rect">
            <a:avLst/>
          </a:prstGeom>
        </p:spPr>
      </p:pic>
      <p:sp>
        <p:nvSpPr>
          <p:cNvPr id="18" name="TextBox 17">
            <a:extLst>
              <a:ext uri="{FF2B5EF4-FFF2-40B4-BE49-F238E27FC236}">
                <a16:creationId xmlns:a16="http://schemas.microsoft.com/office/drawing/2014/main" id="{14EE1078-BBBD-57F2-8795-A33A62CA75DE}"/>
              </a:ext>
            </a:extLst>
          </p:cNvPr>
          <p:cNvSpPr txBox="1"/>
          <p:nvPr/>
        </p:nvSpPr>
        <p:spPr>
          <a:xfrm>
            <a:off x="1752600" y="5105400"/>
            <a:ext cx="1761380" cy="369332"/>
          </a:xfrm>
          <a:prstGeom prst="rect">
            <a:avLst/>
          </a:prstGeom>
          <a:noFill/>
        </p:spPr>
        <p:txBody>
          <a:bodyPr wrap="none" rtlCol="0">
            <a:spAutoFit/>
          </a:bodyPr>
          <a:lstStyle/>
          <a:p>
            <a:r>
              <a:rPr lang="en-IN" dirty="0"/>
              <a:t>At Minimum: </a:t>
            </a:r>
          </a:p>
        </p:txBody>
      </p:sp>
      <p:pic>
        <p:nvPicPr>
          <p:cNvPr id="20" name="Picture 19">
            <a:extLst>
              <a:ext uri="{FF2B5EF4-FFF2-40B4-BE49-F238E27FC236}">
                <a16:creationId xmlns:a16="http://schemas.microsoft.com/office/drawing/2014/main" id="{1018E829-3470-0338-E628-071288E5DE57}"/>
              </a:ext>
            </a:extLst>
          </p:cNvPr>
          <p:cNvPicPr>
            <a:picLocks noChangeAspect="1"/>
          </p:cNvPicPr>
          <p:nvPr/>
        </p:nvPicPr>
        <p:blipFill>
          <a:blip r:embed="rId7"/>
          <a:stretch>
            <a:fillRect/>
          </a:stretch>
        </p:blipFill>
        <p:spPr>
          <a:xfrm>
            <a:off x="3433065" y="5787357"/>
            <a:ext cx="2619741" cy="590632"/>
          </a:xfrm>
          <a:prstGeom prst="rect">
            <a:avLst/>
          </a:prstGeom>
        </p:spPr>
      </p:pic>
      <p:sp>
        <p:nvSpPr>
          <p:cNvPr id="21" name="TextBox 20">
            <a:extLst>
              <a:ext uri="{FF2B5EF4-FFF2-40B4-BE49-F238E27FC236}">
                <a16:creationId xmlns:a16="http://schemas.microsoft.com/office/drawing/2014/main" id="{DC7267FD-B82D-E127-C9CE-B014B18C2BB0}"/>
              </a:ext>
            </a:extLst>
          </p:cNvPr>
          <p:cNvSpPr txBox="1"/>
          <p:nvPr/>
        </p:nvSpPr>
        <p:spPr>
          <a:xfrm>
            <a:off x="2818263" y="5881762"/>
            <a:ext cx="561179" cy="369332"/>
          </a:xfrm>
          <a:prstGeom prst="rect">
            <a:avLst/>
          </a:prstGeom>
          <a:noFill/>
        </p:spPr>
        <p:txBody>
          <a:bodyPr wrap="none" rtlCol="0">
            <a:spAutoFit/>
          </a:bodyPr>
          <a:lstStyle/>
          <a:p>
            <a:r>
              <a:rPr lang="en-IN" dirty="0"/>
              <a:t>So,</a:t>
            </a:r>
          </a:p>
        </p:txBody>
      </p:sp>
      <p:pic>
        <p:nvPicPr>
          <p:cNvPr id="23" name="Picture 22">
            <a:extLst>
              <a:ext uri="{FF2B5EF4-FFF2-40B4-BE49-F238E27FC236}">
                <a16:creationId xmlns:a16="http://schemas.microsoft.com/office/drawing/2014/main" id="{2FDCA066-F389-1569-B388-6F0AF64B94C5}"/>
              </a:ext>
            </a:extLst>
          </p:cNvPr>
          <p:cNvPicPr>
            <a:picLocks noChangeAspect="1"/>
          </p:cNvPicPr>
          <p:nvPr/>
        </p:nvPicPr>
        <p:blipFill>
          <a:blip r:embed="rId8"/>
          <a:stretch>
            <a:fillRect/>
          </a:stretch>
        </p:blipFill>
        <p:spPr>
          <a:xfrm>
            <a:off x="6495468" y="5463621"/>
            <a:ext cx="4172532" cy="914368"/>
          </a:xfrm>
          <a:prstGeom prst="rect">
            <a:avLst/>
          </a:prstGeom>
        </p:spPr>
      </p:pic>
      <p:sp>
        <p:nvSpPr>
          <p:cNvPr id="3" name="Slide Number Placeholder 2">
            <a:extLst>
              <a:ext uri="{FF2B5EF4-FFF2-40B4-BE49-F238E27FC236}">
                <a16:creationId xmlns:a16="http://schemas.microsoft.com/office/drawing/2014/main" id="{613679B1-8BAC-F59D-0E97-9951E450893D}"/>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12058755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D6790-B4A3-E430-05BD-732ED5041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0AF80-1A41-AFB4-48C0-B40A2D5B67D2}"/>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6" name="Picture 5">
            <a:extLst>
              <a:ext uri="{FF2B5EF4-FFF2-40B4-BE49-F238E27FC236}">
                <a16:creationId xmlns:a16="http://schemas.microsoft.com/office/drawing/2014/main" id="{5562F576-A3F2-5D73-C440-F4B32A399D2E}"/>
              </a:ext>
            </a:extLst>
          </p:cNvPr>
          <p:cNvPicPr>
            <a:picLocks noChangeAspect="1"/>
          </p:cNvPicPr>
          <p:nvPr/>
        </p:nvPicPr>
        <p:blipFill>
          <a:blip r:embed="rId2"/>
          <a:srcRect b="61741"/>
          <a:stretch>
            <a:fillRect/>
          </a:stretch>
        </p:blipFill>
        <p:spPr>
          <a:xfrm>
            <a:off x="2059695" y="1219200"/>
            <a:ext cx="3583213" cy="590632"/>
          </a:xfrm>
          <a:prstGeom prst="rect">
            <a:avLst/>
          </a:prstGeom>
        </p:spPr>
      </p:pic>
      <p:pic>
        <p:nvPicPr>
          <p:cNvPr id="8" name="Picture 7">
            <a:extLst>
              <a:ext uri="{FF2B5EF4-FFF2-40B4-BE49-F238E27FC236}">
                <a16:creationId xmlns:a16="http://schemas.microsoft.com/office/drawing/2014/main" id="{2FC2793D-240B-661E-4E9C-E2A2D3EAB782}"/>
              </a:ext>
            </a:extLst>
          </p:cNvPr>
          <p:cNvPicPr>
            <a:picLocks noChangeAspect="1"/>
          </p:cNvPicPr>
          <p:nvPr/>
        </p:nvPicPr>
        <p:blipFill>
          <a:blip r:embed="rId3"/>
          <a:stretch>
            <a:fillRect/>
          </a:stretch>
        </p:blipFill>
        <p:spPr>
          <a:xfrm>
            <a:off x="6551917" y="1219201"/>
            <a:ext cx="2943636" cy="504895"/>
          </a:xfrm>
          <a:prstGeom prst="rect">
            <a:avLst/>
          </a:prstGeom>
        </p:spPr>
      </p:pic>
      <p:pic>
        <p:nvPicPr>
          <p:cNvPr id="5" name="Picture 4">
            <a:extLst>
              <a:ext uri="{FF2B5EF4-FFF2-40B4-BE49-F238E27FC236}">
                <a16:creationId xmlns:a16="http://schemas.microsoft.com/office/drawing/2014/main" id="{F0AD3600-11FA-3E01-F68E-5665B4942D4C}"/>
              </a:ext>
            </a:extLst>
          </p:cNvPr>
          <p:cNvPicPr>
            <a:picLocks noChangeAspect="1"/>
          </p:cNvPicPr>
          <p:nvPr/>
        </p:nvPicPr>
        <p:blipFill>
          <a:blip r:embed="rId4"/>
          <a:stretch>
            <a:fillRect/>
          </a:stretch>
        </p:blipFill>
        <p:spPr>
          <a:xfrm>
            <a:off x="7467600" y="5564011"/>
            <a:ext cx="3200401" cy="800100"/>
          </a:xfrm>
          <a:prstGeom prst="rect">
            <a:avLst/>
          </a:prstGeom>
        </p:spPr>
      </p:pic>
      <p:pic>
        <p:nvPicPr>
          <p:cNvPr id="10" name="Picture 9">
            <a:extLst>
              <a:ext uri="{FF2B5EF4-FFF2-40B4-BE49-F238E27FC236}">
                <a16:creationId xmlns:a16="http://schemas.microsoft.com/office/drawing/2014/main" id="{943CF652-ED44-40CD-3DBD-00ED90449E2A}"/>
              </a:ext>
            </a:extLst>
          </p:cNvPr>
          <p:cNvPicPr>
            <a:picLocks noChangeAspect="1"/>
          </p:cNvPicPr>
          <p:nvPr/>
        </p:nvPicPr>
        <p:blipFill>
          <a:blip r:embed="rId5"/>
          <a:stretch>
            <a:fillRect/>
          </a:stretch>
        </p:blipFill>
        <p:spPr>
          <a:xfrm>
            <a:off x="2241195" y="2026286"/>
            <a:ext cx="851610" cy="567740"/>
          </a:xfrm>
          <a:prstGeom prst="rect">
            <a:avLst/>
          </a:prstGeom>
        </p:spPr>
      </p:pic>
      <p:pic>
        <p:nvPicPr>
          <p:cNvPr id="12" name="Picture 11">
            <a:extLst>
              <a:ext uri="{FF2B5EF4-FFF2-40B4-BE49-F238E27FC236}">
                <a16:creationId xmlns:a16="http://schemas.microsoft.com/office/drawing/2014/main" id="{AF646354-BCD6-D9DD-595D-72B70C1E945B}"/>
              </a:ext>
            </a:extLst>
          </p:cNvPr>
          <p:cNvPicPr>
            <a:picLocks noChangeAspect="1"/>
          </p:cNvPicPr>
          <p:nvPr/>
        </p:nvPicPr>
        <p:blipFill>
          <a:blip r:embed="rId6"/>
          <a:stretch>
            <a:fillRect/>
          </a:stretch>
        </p:blipFill>
        <p:spPr>
          <a:xfrm>
            <a:off x="3183061" y="2092053"/>
            <a:ext cx="2940602" cy="567740"/>
          </a:xfrm>
          <a:prstGeom prst="rect">
            <a:avLst/>
          </a:prstGeom>
        </p:spPr>
      </p:pic>
      <p:pic>
        <p:nvPicPr>
          <p:cNvPr id="14" name="Picture 13">
            <a:extLst>
              <a:ext uri="{FF2B5EF4-FFF2-40B4-BE49-F238E27FC236}">
                <a16:creationId xmlns:a16="http://schemas.microsoft.com/office/drawing/2014/main" id="{5B25ADFB-E464-D73C-92C4-F5ED0FF735B9}"/>
              </a:ext>
            </a:extLst>
          </p:cNvPr>
          <p:cNvPicPr>
            <a:picLocks noChangeAspect="1"/>
          </p:cNvPicPr>
          <p:nvPr/>
        </p:nvPicPr>
        <p:blipFill>
          <a:blip r:embed="rId7"/>
          <a:stretch>
            <a:fillRect/>
          </a:stretch>
        </p:blipFill>
        <p:spPr>
          <a:xfrm>
            <a:off x="2241195" y="3006995"/>
            <a:ext cx="1324160" cy="571580"/>
          </a:xfrm>
          <a:prstGeom prst="rect">
            <a:avLst/>
          </a:prstGeom>
        </p:spPr>
      </p:pic>
      <p:pic>
        <p:nvPicPr>
          <p:cNvPr id="16" name="Picture 15">
            <a:extLst>
              <a:ext uri="{FF2B5EF4-FFF2-40B4-BE49-F238E27FC236}">
                <a16:creationId xmlns:a16="http://schemas.microsoft.com/office/drawing/2014/main" id="{C32BBD4F-C3F0-E7C1-4AEB-81D54B9983B8}"/>
              </a:ext>
            </a:extLst>
          </p:cNvPr>
          <p:cNvPicPr>
            <a:picLocks noChangeAspect="1"/>
          </p:cNvPicPr>
          <p:nvPr/>
        </p:nvPicPr>
        <p:blipFill>
          <a:blip r:embed="rId8"/>
          <a:stretch>
            <a:fillRect/>
          </a:stretch>
        </p:blipFill>
        <p:spPr>
          <a:xfrm>
            <a:off x="1816206" y="3674529"/>
            <a:ext cx="2553199" cy="2743204"/>
          </a:xfrm>
          <a:prstGeom prst="rect">
            <a:avLst/>
          </a:prstGeom>
        </p:spPr>
      </p:pic>
      <p:sp>
        <p:nvSpPr>
          <p:cNvPr id="17" name="TextBox 16">
            <a:extLst>
              <a:ext uri="{FF2B5EF4-FFF2-40B4-BE49-F238E27FC236}">
                <a16:creationId xmlns:a16="http://schemas.microsoft.com/office/drawing/2014/main" id="{4144B4DC-1359-1ED6-42C7-1526A2B324E8}"/>
              </a:ext>
            </a:extLst>
          </p:cNvPr>
          <p:cNvSpPr txBox="1"/>
          <p:nvPr/>
        </p:nvSpPr>
        <p:spPr>
          <a:xfrm>
            <a:off x="1905408" y="2681574"/>
            <a:ext cx="2553199" cy="369332"/>
          </a:xfrm>
          <a:prstGeom prst="rect">
            <a:avLst/>
          </a:prstGeom>
          <a:noFill/>
        </p:spPr>
        <p:txBody>
          <a:bodyPr wrap="none" rtlCol="0">
            <a:spAutoFit/>
          </a:bodyPr>
          <a:lstStyle/>
          <a:p>
            <a:r>
              <a:rPr lang="en-IN" dirty="0"/>
              <a:t>We want to combine</a:t>
            </a:r>
          </a:p>
        </p:txBody>
      </p:sp>
      <p:pic>
        <p:nvPicPr>
          <p:cNvPr id="19" name="Picture 18">
            <a:extLst>
              <a:ext uri="{FF2B5EF4-FFF2-40B4-BE49-F238E27FC236}">
                <a16:creationId xmlns:a16="http://schemas.microsoft.com/office/drawing/2014/main" id="{A4B8AC37-29FB-490D-04D5-DA305E188919}"/>
              </a:ext>
            </a:extLst>
          </p:cNvPr>
          <p:cNvPicPr>
            <a:picLocks noChangeAspect="1"/>
          </p:cNvPicPr>
          <p:nvPr/>
        </p:nvPicPr>
        <p:blipFill>
          <a:blip r:embed="rId9"/>
          <a:stretch>
            <a:fillRect/>
          </a:stretch>
        </p:blipFill>
        <p:spPr>
          <a:xfrm>
            <a:off x="3777473" y="5983047"/>
            <a:ext cx="1580864" cy="530640"/>
          </a:xfrm>
          <a:prstGeom prst="rect">
            <a:avLst/>
          </a:prstGeom>
        </p:spPr>
      </p:pic>
      <p:pic>
        <p:nvPicPr>
          <p:cNvPr id="21" name="Picture 20">
            <a:extLst>
              <a:ext uri="{FF2B5EF4-FFF2-40B4-BE49-F238E27FC236}">
                <a16:creationId xmlns:a16="http://schemas.microsoft.com/office/drawing/2014/main" id="{3F352D12-A694-9164-47CE-3EDA0B0006E1}"/>
              </a:ext>
            </a:extLst>
          </p:cNvPr>
          <p:cNvPicPr>
            <a:picLocks noChangeAspect="1"/>
          </p:cNvPicPr>
          <p:nvPr/>
        </p:nvPicPr>
        <p:blipFill>
          <a:blip r:embed="rId10"/>
          <a:stretch>
            <a:fillRect/>
          </a:stretch>
        </p:blipFill>
        <p:spPr>
          <a:xfrm>
            <a:off x="5728168" y="5779911"/>
            <a:ext cx="1500997" cy="685800"/>
          </a:xfrm>
          <a:prstGeom prst="rect">
            <a:avLst/>
          </a:prstGeom>
        </p:spPr>
      </p:pic>
      <p:sp>
        <p:nvSpPr>
          <p:cNvPr id="3" name="Slide Number Placeholder 2">
            <a:extLst>
              <a:ext uri="{FF2B5EF4-FFF2-40B4-BE49-F238E27FC236}">
                <a16:creationId xmlns:a16="http://schemas.microsoft.com/office/drawing/2014/main" id="{93B7FCF5-DB03-A07A-ABCD-48F9F8F01618}"/>
              </a:ext>
            </a:extLst>
          </p:cNvPr>
          <p:cNvSpPr>
            <a:spLocks noGrp="1"/>
          </p:cNvSpPr>
          <p:nvPr>
            <p:ph type="sldNum" sz="quarter" idx="12"/>
          </p:nvPr>
        </p:nvSpPr>
        <p:spPr/>
        <p:txBody>
          <a:bodyPr/>
          <a:lstStyle/>
          <a:p>
            <a:fld id="{BB2CE0DE-867F-455F-B20B-96D381B4AB71}" type="slidenum">
              <a:rPr lang="en-US" smtClean="0"/>
              <a:t>41</a:t>
            </a:fld>
            <a:endParaRPr lang="en-US"/>
          </a:p>
        </p:txBody>
      </p:sp>
    </p:spTree>
    <p:extLst>
      <p:ext uri="{BB962C8B-B14F-4D97-AF65-F5344CB8AC3E}">
        <p14:creationId xmlns:p14="http://schemas.microsoft.com/office/powerpoint/2010/main" val="34161057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17C6-992F-7F9A-3CBD-960FD1A8DA07}"/>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4FBF18AB-A510-C78D-DB14-DFB6E3B4EAAF}"/>
              </a:ext>
            </a:extLst>
          </p:cNvPr>
          <p:cNvPicPr>
            <a:picLocks noChangeAspect="1"/>
          </p:cNvPicPr>
          <p:nvPr/>
        </p:nvPicPr>
        <p:blipFill>
          <a:blip r:embed="rId3"/>
          <a:srcRect b="61741"/>
          <a:stretch>
            <a:fillRect/>
          </a:stretch>
        </p:blipFill>
        <p:spPr>
          <a:xfrm>
            <a:off x="2059695" y="1219200"/>
            <a:ext cx="3583213" cy="590632"/>
          </a:xfrm>
          <a:prstGeom prst="rect">
            <a:avLst/>
          </a:prstGeom>
        </p:spPr>
      </p:pic>
      <p:pic>
        <p:nvPicPr>
          <p:cNvPr id="6" name="Picture 5">
            <a:extLst>
              <a:ext uri="{FF2B5EF4-FFF2-40B4-BE49-F238E27FC236}">
                <a16:creationId xmlns:a16="http://schemas.microsoft.com/office/drawing/2014/main" id="{04C506B7-E06F-7EC6-3E69-2C725BD7B86E}"/>
              </a:ext>
            </a:extLst>
          </p:cNvPr>
          <p:cNvPicPr>
            <a:picLocks noChangeAspect="1"/>
          </p:cNvPicPr>
          <p:nvPr/>
        </p:nvPicPr>
        <p:blipFill>
          <a:blip r:embed="rId4"/>
          <a:stretch>
            <a:fillRect/>
          </a:stretch>
        </p:blipFill>
        <p:spPr>
          <a:xfrm>
            <a:off x="2059695" y="1924050"/>
            <a:ext cx="3200401" cy="800100"/>
          </a:xfrm>
          <a:prstGeom prst="rect">
            <a:avLst/>
          </a:prstGeom>
        </p:spPr>
      </p:pic>
      <p:pic>
        <p:nvPicPr>
          <p:cNvPr id="8" name="Picture 7">
            <a:extLst>
              <a:ext uri="{FF2B5EF4-FFF2-40B4-BE49-F238E27FC236}">
                <a16:creationId xmlns:a16="http://schemas.microsoft.com/office/drawing/2014/main" id="{53BF9E49-CFB5-7EBA-1A6C-186F285DF968}"/>
              </a:ext>
            </a:extLst>
          </p:cNvPr>
          <p:cNvPicPr>
            <a:picLocks noChangeAspect="1"/>
          </p:cNvPicPr>
          <p:nvPr/>
        </p:nvPicPr>
        <p:blipFill>
          <a:blip r:embed="rId5"/>
          <a:stretch>
            <a:fillRect/>
          </a:stretch>
        </p:blipFill>
        <p:spPr>
          <a:xfrm>
            <a:off x="2098676" y="3021045"/>
            <a:ext cx="2799751" cy="438222"/>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6480F5-F388-0A95-1964-336943FFBBB1}"/>
                  </a:ext>
                </a:extLst>
              </p:cNvPr>
              <p:cNvSpPr txBox="1"/>
              <p:nvPr/>
            </p:nvSpPr>
            <p:spPr>
              <a:xfrm>
                <a:off x="1641175" y="3756163"/>
                <a:ext cx="4454298" cy="1323439"/>
              </a:xfrm>
              <a:prstGeom prst="rect">
                <a:avLst/>
              </a:prstGeom>
              <a:noFill/>
            </p:spPr>
            <p:txBody>
              <a:bodyPr wrap="square" rtlCol="0">
                <a:spAutoFit/>
              </a:bodyPr>
              <a:lstStyle/>
              <a:p>
                <a:r>
                  <a:rPr lang="en-IN" sz="2000" dirty="0"/>
                  <a:t>Since </a:t>
                </a:r>
                <a14:m>
                  <m:oMath xmlns:m="http://schemas.openxmlformats.org/officeDocument/2006/math">
                    <m:r>
                      <a:rPr lang="en-IN" sz="2000" i="1">
                        <a:latin typeface="Cambria Math" panose="02040503050406030204" pitchFamily="18" charset="0"/>
                      </a:rPr>
                      <m:t>𝐻</m:t>
                    </m:r>
                    <m:r>
                      <a:rPr lang="en-IN" sz="2000" i="1">
                        <a:latin typeface="Cambria Math" panose="02040503050406030204" pitchFamily="18" charset="0"/>
                      </a:rPr>
                      <m:t> </m:t>
                    </m:r>
                  </m:oMath>
                </a14:m>
                <a:r>
                  <a:rPr lang="en-IN" sz="2000" dirty="0"/>
                  <a:t>is symmetric: </a:t>
                </a:r>
                <a14:m>
                  <m:oMath xmlns:m="http://schemas.openxmlformats.org/officeDocument/2006/math">
                    <m:r>
                      <a:rPr lang="en-IN" sz="2000" i="1">
                        <a:latin typeface="Cambria Math" panose="02040503050406030204" pitchFamily="18" charset="0"/>
                      </a:rPr>
                      <m:t>𝐻</m:t>
                    </m:r>
                    <m:r>
                      <a:rPr lang="en-IN" sz="2000">
                        <a:latin typeface="Cambria Math" panose="02040503050406030204" pitchFamily="18" charset="0"/>
                      </a:rPr>
                      <m:t>=</m:t>
                    </m:r>
                    <m:r>
                      <a:rPr lang="en-IN" sz="2000" i="1">
                        <a:latin typeface="Cambria Math" panose="02040503050406030204" pitchFamily="18" charset="0"/>
                      </a:rPr>
                      <m:t>𝑄</m:t>
                    </m:r>
                    <m:r>
                      <m:rPr>
                        <m:sty m:val="p"/>
                      </m:rPr>
                      <a:rPr lang="el-GR" sz="2000">
                        <a:latin typeface="Cambria Math" panose="02040503050406030204" pitchFamily="18" charset="0"/>
                      </a:rPr>
                      <m:t>Λ</m:t>
                    </m:r>
                    <m:sSup>
                      <m:sSupPr>
                        <m:ctrlPr>
                          <a:rPr lang="ar-AE" sz="2000" i="1">
                            <a:latin typeface="Cambria Math" panose="02040503050406030204" pitchFamily="18" charset="0"/>
                          </a:rPr>
                        </m:ctrlPr>
                      </m:sSupPr>
                      <m:e>
                        <m:r>
                          <a:rPr lang="ar-AE" sz="2000" i="1">
                            <a:latin typeface="Cambria Math" panose="02040503050406030204" pitchFamily="18" charset="0"/>
                          </a:rPr>
                          <m:t>𝑄</m:t>
                        </m:r>
                      </m:e>
                      <m:sup>
                        <m:r>
                          <a:rPr lang="ar-AE" sz="2000">
                            <a:latin typeface="Cambria Math" panose="02040503050406030204" pitchFamily="18" charset="0"/>
                          </a:rPr>
                          <m:t>⊤</m:t>
                        </m:r>
                      </m:sup>
                    </m:sSup>
                  </m:oMath>
                </a14:m>
                <a:endParaRPr lang="ar-AE" sz="2000" dirty="0"/>
              </a:p>
              <a:p>
                <a:r>
                  <a:rPr lang="en-IN" sz="2000" dirty="0"/>
                  <a:t>Where:</a:t>
                </a:r>
              </a:p>
              <a:p>
                <a14:m>
                  <m:oMath xmlns:m="http://schemas.openxmlformats.org/officeDocument/2006/math">
                    <m:r>
                      <a:rPr lang="en-IN" sz="2000" i="1">
                        <a:latin typeface="Cambria Math" panose="02040503050406030204" pitchFamily="18" charset="0"/>
                      </a:rPr>
                      <m:t>𝑄</m:t>
                    </m:r>
                  </m:oMath>
                </a14:m>
                <a:r>
                  <a:rPr lang="en-IN" sz="2000" dirty="0"/>
                  <a:t>= eigenvectors (orthonormal)</a:t>
                </a:r>
              </a:p>
              <a:p>
                <a14:m>
                  <m:oMath xmlns:m="http://schemas.openxmlformats.org/officeDocument/2006/math">
                    <m:r>
                      <m:rPr>
                        <m:sty m:val="p"/>
                      </m:rPr>
                      <a:rPr lang="el-GR" sz="2000">
                        <a:latin typeface="Cambria Math" panose="02040503050406030204" pitchFamily="18" charset="0"/>
                      </a:rPr>
                      <m:t>Λ</m:t>
                    </m:r>
                  </m:oMath>
                </a14:m>
                <a:r>
                  <a:rPr lang="el-GR" sz="2000" dirty="0"/>
                  <a:t>= </a:t>
                </a:r>
                <a:r>
                  <a:rPr lang="en-IN" sz="2000" dirty="0"/>
                  <a:t>diagonal matrix (eigenvalues)</a:t>
                </a:r>
              </a:p>
            </p:txBody>
          </p:sp>
        </mc:Choice>
        <mc:Fallback xmlns="">
          <p:sp>
            <p:nvSpPr>
              <p:cNvPr id="9" name="TextBox 8">
                <a:extLst>
                  <a:ext uri="{FF2B5EF4-FFF2-40B4-BE49-F238E27FC236}">
                    <a16:creationId xmlns:a16="http://schemas.microsoft.com/office/drawing/2014/main" id="{DE6480F5-F388-0A95-1964-336943FFBBB1}"/>
                  </a:ext>
                </a:extLst>
              </p:cNvPr>
              <p:cNvSpPr txBox="1">
                <a:spLocks noRot="1" noChangeAspect="1" noMove="1" noResize="1" noEditPoints="1" noAdjustHandles="1" noChangeArrowheads="1" noChangeShapeType="1" noTextEdit="1"/>
              </p:cNvSpPr>
              <p:nvPr/>
            </p:nvSpPr>
            <p:spPr>
              <a:xfrm>
                <a:off x="1641175" y="3756163"/>
                <a:ext cx="4454298" cy="1323439"/>
              </a:xfrm>
              <a:prstGeom prst="rect">
                <a:avLst/>
              </a:prstGeom>
              <a:blipFill>
                <a:blip r:embed="rId6"/>
                <a:stretch>
                  <a:fillRect l="-1368" t="-2304" r="-1505" b="-7373"/>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BCB3E4AE-B5DD-9DB0-C1B1-48FE6C955241}"/>
              </a:ext>
            </a:extLst>
          </p:cNvPr>
          <p:cNvPicPr>
            <a:picLocks noChangeAspect="1"/>
          </p:cNvPicPr>
          <p:nvPr/>
        </p:nvPicPr>
        <p:blipFill>
          <a:blip r:embed="rId7"/>
          <a:stretch>
            <a:fillRect/>
          </a:stretch>
        </p:blipFill>
        <p:spPr>
          <a:xfrm>
            <a:off x="1554460" y="5410116"/>
            <a:ext cx="4210868" cy="551283"/>
          </a:xfrm>
          <a:prstGeom prst="rect">
            <a:avLst/>
          </a:prstGeom>
        </p:spPr>
      </p:pic>
      <p:sp>
        <p:nvSpPr>
          <p:cNvPr id="12" name="TextBox 11">
            <a:extLst>
              <a:ext uri="{FF2B5EF4-FFF2-40B4-BE49-F238E27FC236}">
                <a16:creationId xmlns:a16="http://schemas.microsoft.com/office/drawing/2014/main" id="{F84E8D27-CD22-54D8-C41D-38BCE9D06C42}"/>
              </a:ext>
            </a:extLst>
          </p:cNvPr>
          <p:cNvSpPr txBox="1"/>
          <p:nvPr/>
        </p:nvSpPr>
        <p:spPr>
          <a:xfrm>
            <a:off x="6207544" y="5228272"/>
            <a:ext cx="4427174" cy="923330"/>
          </a:xfrm>
          <a:prstGeom prst="rect">
            <a:avLst/>
          </a:prstGeom>
          <a:noFill/>
        </p:spPr>
        <p:txBody>
          <a:bodyPr wrap="none" rtlCol="0">
            <a:spAutoFit/>
          </a:bodyPr>
          <a:lstStyle/>
          <a:p>
            <a:r>
              <a:rPr lang="en-US" dirty="0"/>
              <a:t>Why do we do eigen decomposition?</a:t>
            </a:r>
          </a:p>
          <a:p>
            <a:r>
              <a:rPr lang="en-US" dirty="0"/>
              <a:t>To understand how L2 regularization</a:t>
            </a:r>
          </a:p>
          <a:p>
            <a:r>
              <a:rPr lang="en-US" dirty="0"/>
              <a:t> affects each direction.</a:t>
            </a:r>
            <a:endParaRPr lang="en-IN" dirty="0"/>
          </a:p>
        </p:txBody>
      </p:sp>
      <p:sp>
        <p:nvSpPr>
          <p:cNvPr id="3" name="Slide Number Placeholder 2">
            <a:extLst>
              <a:ext uri="{FF2B5EF4-FFF2-40B4-BE49-F238E27FC236}">
                <a16:creationId xmlns:a16="http://schemas.microsoft.com/office/drawing/2014/main" id="{C5F52EA6-2D09-BAFA-A8BF-4871B6200090}"/>
              </a:ext>
            </a:extLst>
          </p:cNvPr>
          <p:cNvSpPr>
            <a:spLocks noGrp="1"/>
          </p:cNvSpPr>
          <p:nvPr>
            <p:ph type="sldNum" sz="quarter" idx="12"/>
          </p:nvPr>
        </p:nvSpPr>
        <p:spPr/>
        <p:txBody>
          <a:bodyPr/>
          <a:lstStyle/>
          <a:p>
            <a:fld id="{BB2CE0DE-867F-455F-B20B-96D381B4AB71}" type="slidenum">
              <a:rPr lang="en-US" smtClean="0"/>
              <a:t>42</a:t>
            </a:fld>
            <a:endParaRPr lang="en-US"/>
          </a:p>
        </p:txBody>
      </p:sp>
    </p:spTree>
    <p:extLst>
      <p:ext uri="{BB962C8B-B14F-4D97-AF65-F5344CB8AC3E}">
        <p14:creationId xmlns:p14="http://schemas.microsoft.com/office/powerpoint/2010/main" val="1488955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4278-B1AA-7E57-8817-1165D79D3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3737A-4680-4475-D4D8-DD3CA64F8AD5}"/>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1FBFAD76-F121-84B6-1C53-441976C6BC9E}"/>
              </a:ext>
            </a:extLst>
          </p:cNvPr>
          <p:cNvPicPr>
            <a:picLocks noChangeAspect="1"/>
          </p:cNvPicPr>
          <p:nvPr/>
        </p:nvPicPr>
        <p:blipFill>
          <a:blip r:embed="rId2"/>
          <a:stretch>
            <a:fillRect/>
          </a:stretch>
        </p:blipFill>
        <p:spPr>
          <a:xfrm>
            <a:off x="1676400" y="1596923"/>
            <a:ext cx="4210868" cy="551283"/>
          </a:xfrm>
          <a:prstGeom prst="rect">
            <a:avLst/>
          </a:prstGeom>
        </p:spPr>
      </p:pic>
      <p:pic>
        <p:nvPicPr>
          <p:cNvPr id="14" name="Picture 13">
            <a:extLst>
              <a:ext uri="{FF2B5EF4-FFF2-40B4-BE49-F238E27FC236}">
                <a16:creationId xmlns:a16="http://schemas.microsoft.com/office/drawing/2014/main" id="{28729425-CCFC-DA33-8205-D765B92CFA96}"/>
              </a:ext>
            </a:extLst>
          </p:cNvPr>
          <p:cNvPicPr>
            <a:picLocks noChangeAspect="1"/>
          </p:cNvPicPr>
          <p:nvPr/>
        </p:nvPicPr>
        <p:blipFill>
          <a:blip r:embed="rId3"/>
          <a:stretch>
            <a:fillRect/>
          </a:stretch>
        </p:blipFill>
        <p:spPr>
          <a:xfrm>
            <a:off x="7615137" y="2839914"/>
            <a:ext cx="1133633" cy="390580"/>
          </a:xfrm>
          <a:prstGeom prst="rect">
            <a:avLst/>
          </a:prstGeom>
        </p:spPr>
      </p:pic>
      <p:pic>
        <p:nvPicPr>
          <p:cNvPr id="16" name="Picture 15">
            <a:extLst>
              <a:ext uri="{FF2B5EF4-FFF2-40B4-BE49-F238E27FC236}">
                <a16:creationId xmlns:a16="http://schemas.microsoft.com/office/drawing/2014/main" id="{C3C5BBCC-C2A6-4C02-CA50-A080CDFA2814}"/>
              </a:ext>
            </a:extLst>
          </p:cNvPr>
          <p:cNvPicPr>
            <a:picLocks noChangeAspect="1"/>
          </p:cNvPicPr>
          <p:nvPr/>
        </p:nvPicPr>
        <p:blipFill>
          <a:blip r:embed="rId4"/>
          <a:stretch>
            <a:fillRect/>
          </a:stretch>
        </p:blipFill>
        <p:spPr>
          <a:xfrm>
            <a:off x="6829540" y="3368644"/>
            <a:ext cx="3838461" cy="353656"/>
          </a:xfrm>
          <a:prstGeom prst="rect">
            <a:avLst/>
          </a:prstGeom>
        </p:spPr>
      </p:pic>
      <p:pic>
        <p:nvPicPr>
          <p:cNvPr id="18" name="Picture 17">
            <a:extLst>
              <a:ext uri="{FF2B5EF4-FFF2-40B4-BE49-F238E27FC236}">
                <a16:creationId xmlns:a16="http://schemas.microsoft.com/office/drawing/2014/main" id="{BB745C42-5547-B528-34C3-AA59A51EDDDA}"/>
              </a:ext>
            </a:extLst>
          </p:cNvPr>
          <p:cNvPicPr>
            <a:picLocks noChangeAspect="1"/>
          </p:cNvPicPr>
          <p:nvPr/>
        </p:nvPicPr>
        <p:blipFill>
          <a:blip r:embed="rId5"/>
          <a:stretch>
            <a:fillRect/>
          </a:stretch>
        </p:blipFill>
        <p:spPr>
          <a:xfrm>
            <a:off x="7391400" y="1892236"/>
            <a:ext cx="2010056" cy="590632"/>
          </a:xfrm>
          <a:prstGeom prst="rect">
            <a:avLst/>
          </a:prstGeom>
        </p:spPr>
      </p:pic>
      <p:sp>
        <p:nvSpPr>
          <p:cNvPr id="19" name="TextBox 18">
            <a:extLst>
              <a:ext uri="{FF2B5EF4-FFF2-40B4-BE49-F238E27FC236}">
                <a16:creationId xmlns:a16="http://schemas.microsoft.com/office/drawing/2014/main" id="{6A8E390C-66F4-AAB3-56B1-4A19192A7D9A}"/>
              </a:ext>
            </a:extLst>
          </p:cNvPr>
          <p:cNvSpPr txBox="1"/>
          <p:nvPr/>
        </p:nvSpPr>
        <p:spPr>
          <a:xfrm>
            <a:off x="7615136" y="2524357"/>
            <a:ext cx="1143262" cy="369332"/>
          </a:xfrm>
          <a:prstGeom prst="rect">
            <a:avLst/>
          </a:prstGeom>
          <a:noFill/>
        </p:spPr>
        <p:txBody>
          <a:bodyPr wrap="none" rtlCol="0">
            <a:spAutoFit/>
          </a:bodyPr>
          <a:lstStyle/>
          <a:p>
            <a:r>
              <a:rPr lang="en-IN" dirty="0"/>
              <a:t>Because</a:t>
            </a:r>
          </a:p>
        </p:txBody>
      </p:sp>
      <p:pic>
        <p:nvPicPr>
          <p:cNvPr id="21" name="Picture 20">
            <a:extLst>
              <a:ext uri="{FF2B5EF4-FFF2-40B4-BE49-F238E27FC236}">
                <a16:creationId xmlns:a16="http://schemas.microsoft.com/office/drawing/2014/main" id="{E7195B29-D0AC-3FA3-17AC-56AC2F571A4A}"/>
              </a:ext>
            </a:extLst>
          </p:cNvPr>
          <p:cNvPicPr>
            <a:picLocks noChangeAspect="1"/>
          </p:cNvPicPr>
          <p:nvPr/>
        </p:nvPicPr>
        <p:blipFill>
          <a:blip r:embed="rId6"/>
          <a:stretch>
            <a:fillRect/>
          </a:stretch>
        </p:blipFill>
        <p:spPr>
          <a:xfrm>
            <a:off x="1789531" y="2676848"/>
            <a:ext cx="4134427" cy="1009791"/>
          </a:xfrm>
          <a:prstGeom prst="rect">
            <a:avLst/>
          </a:prstGeom>
        </p:spPr>
      </p:pic>
      <p:pic>
        <p:nvPicPr>
          <p:cNvPr id="23" name="Picture 22">
            <a:extLst>
              <a:ext uri="{FF2B5EF4-FFF2-40B4-BE49-F238E27FC236}">
                <a16:creationId xmlns:a16="http://schemas.microsoft.com/office/drawing/2014/main" id="{94B80407-4306-C12F-A3FE-44DCEF560CFF}"/>
              </a:ext>
            </a:extLst>
          </p:cNvPr>
          <p:cNvPicPr>
            <a:picLocks noChangeAspect="1"/>
          </p:cNvPicPr>
          <p:nvPr/>
        </p:nvPicPr>
        <p:blipFill>
          <a:blip r:embed="rId7"/>
          <a:stretch>
            <a:fillRect/>
          </a:stretch>
        </p:blipFill>
        <p:spPr>
          <a:xfrm>
            <a:off x="3551583" y="4215280"/>
            <a:ext cx="2000529" cy="695422"/>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0FFACD7-B7A8-5A1B-43DB-332919E5E2CD}"/>
                  </a:ext>
                </a:extLst>
              </p:cNvPr>
              <p:cNvSpPr txBox="1"/>
              <p:nvPr/>
            </p:nvSpPr>
            <p:spPr>
              <a:xfrm>
                <a:off x="3551582" y="3666883"/>
                <a:ext cx="2389308" cy="381579"/>
              </a:xfrm>
              <a:prstGeom prst="rect">
                <a:avLst/>
              </a:prstGeom>
              <a:noFill/>
            </p:spPr>
            <p:txBody>
              <a:bodyPr wrap="none" rtlCol="0">
                <a:spAutoFit/>
              </a:bodyPr>
              <a:lstStyle/>
              <a:p>
                <a:r>
                  <a:rPr lang="en-IN" dirty="0"/>
                  <a:t>Factor out </a:t>
                </a:r>
                <a14:m>
                  <m:oMath xmlns:m="http://schemas.openxmlformats.org/officeDocument/2006/math">
                    <m:r>
                      <a:rPr lang="en-IN" i="1">
                        <a:latin typeface="Cambria Math" panose="02040503050406030204" pitchFamily="18" charset="0"/>
                      </a:rPr>
                      <m:t>𝑄</m:t>
                    </m:r>
                  </m:oMath>
                </a14:m>
                <a:r>
                  <a:rPr lang="en-IN" dirty="0"/>
                  <a:t>and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a:latin typeface="Cambria Math" panose="02040503050406030204" pitchFamily="18" charset="0"/>
                          </a:rPr>
                          <m:t>⊤</m:t>
                        </m:r>
                      </m:sup>
                    </m:sSup>
                  </m:oMath>
                </a14:m>
                <a:endParaRPr lang="en-IN" dirty="0"/>
              </a:p>
            </p:txBody>
          </p:sp>
        </mc:Choice>
        <mc:Fallback xmlns="">
          <p:sp>
            <p:nvSpPr>
              <p:cNvPr id="24" name="TextBox 23">
                <a:extLst>
                  <a:ext uri="{FF2B5EF4-FFF2-40B4-BE49-F238E27FC236}">
                    <a16:creationId xmlns:a16="http://schemas.microsoft.com/office/drawing/2014/main" id="{B0FFACD7-B7A8-5A1B-43DB-332919E5E2CD}"/>
                  </a:ext>
                </a:extLst>
              </p:cNvPr>
              <p:cNvSpPr txBox="1">
                <a:spLocks noRot="1" noChangeAspect="1" noMove="1" noResize="1" noEditPoints="1" noAdjustHandles="1" noChangeArrowheads="1" noChangeShapeType="1" noTextEdit="1"/>
              </p:cNvSpPr>
              <p:nvPr/>
            </p:nvSpPr>
            <p:spPr>
              <a:xfrm>
                <a:off x="3551582" y="3666883"/>
                <a:ext cx="2389308" cy="381579"/>
              </a:xfrm>
              <a:prstGeom prst="rect">
                <a:avLst/>
              </a:prstGeom>
              <a:blipFill>
                <a:blip r:embed="rId8"/>
                <a:stretch>
                  <a:fillRect l="-2296" t="-6452" b="-25806"/>
                </a:stretch>
              </a:blipFill>
            </p:spPr>
            <p:txBody>
              <a:bodyPr/>
              <a:lstStyle/>
              <a:p>
                <a:r>
                  <a:rPr lang="en-IN">
                    <a:noFill/>
                  </a:rPr>
                  <a:t> </a:t>
                </a:r>
              </a:p>
            </p:txBody>
          </p:sp>
        </mc:Fallback>
      </mc:AlternateContent>
      <p:pic>
        <p:nvPicPr>
          <p:cNvPr id="26" name="Picture 25">
            <a:extLst>
              <a:ext uri="{FF2B5EF4-FFF2-40B4-BE49-F238E27FC236}">
                <a16:creationId xmlns:a16="http://schemas.microsoft.com/office/drawing/2014/main" id="{7EB5C092-1D6D-874F-DC69-3F4D21B4B1BB}"/>
              </a:ext>
            </a:extLst>
          </p:cNvPr>
          <p:cNvPicPr>
            <a:picLocks noChangeAspect="1"/>
          </p:cNvPicPr>
          <p:nvPr/>
        </p:nvPicPr>
        <p:blipFill>
          <a:blip r:embed="rId9"/>
          <a:stretch>
            <a:fillRect/>
          </a:stretch>
        </p:blipFill>
        <p:spPr>
          <a:xfrm>
            <a:off x="1981201" y="5258257"/>
            <a:ext cx="4248743" cy="714475"/>
          </a:xfrm>
          <a:prstGeom prst="rect">
            <a:avLst/>
          </a:prstGeom>
        </p:spPr>
      </p:pic>
      <p:sp>
        <p:nvSpPr>
          <p:cNvPr id="3" name="Slide Number Placeholder 2">
            <a:extLst>
              <a:ext uri="{FF2B5EF4-FFF2-40B4-BE49-F238E27FC236}">
                <a16:creationId xmlns:a16="http://schemas.microsoft.com/office/drawing/2014/main" id="{05D61318-9DDE-A155-C55B-6608F2F122B4}"/>
              </a:ext>
            </a:extLst>
          </p:cNvPr>
          <p:cNvSpPr>
            <a:spLocks noGrp="1"/>
          </p:cNvSpPr>
          <p:nvPr>
            <p:ph type="sldNum" sz="quarter" idx="12"/>
          </p:nvPr>
        </p:nvSpPr>
        <p:spPr/>
        <p:txBody>
          <a:bodyPr/>
          <a:lstStyle/>
          <a:p>
            <a:fld id="{BB2CE0DE-867F-455F-B20B-96D381B4AB71}" type="slidenum">
              <a:rPr lang="en-US" smtClean="0"/>
              <a:t>43</a:t>
            </a:fld>
            <a:endParaRPr lang="en-US"/>
          </a:p>
        </p:txBody>
      </p:sp>
    </p:spTree>
    <p:extLst>
      <p:ext uri="{BB962C8B-B14F-4D97-AF65-F5344CB8AC3E}">
        <p14:creationId xmlns:p14="http://schemas.microsoft.com/office/powerpoint/2010/main" val="5414155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2BB82-47D2-4E1F-9F3D-DED7DD278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7DEFD-4744-94B0-4BD9-F6443A99E7AE}"/>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BFFE8A29-B707-B3CA-0F26-549F85C89D6A}"/>
              </a:ext>
            </a:extLst>
          </p:cNvPr>
          <p:cNvPicPr>
            <a:picLocks noChangeAspect="1"/>
          </p:cNvPicPr>
          <p:nvPr/>
        </p:nvPicPr>
        <p:blipFill>
          <a:blip r:embed="rId2"/>
          <a:stretch>
            <a:fillRect/>
          </a:stretch>
        </p:blipFill>
        <p:spPr>
          <a:xfrm>
            <a:off x="1526822" y="1256619"/>
            <a:ext cx="4210868" cy="551283"/>
          </a:xfrm>
          <a:prstGeom prst="rect">
            <a:avLst/>
          </a:prstGeom>
        </p:spPr>
      </p:pic>
      <p:pic>
        <p:nvPicPr>
          <p:cNvPr id="12" name="Picture 11">
            <a:extLst>
              <a:ext uri="{FF2B5EF4-FFF2-40B4-BE49-F238E27FC236}">
                <a16:creationId xmlns:a16="http://schemas.microsoft.com/office/drawing/2014/main" id="{0D75CE06-F0CE-EC30-66E0-2CD24BD5B479}"/>
              </a:ext>
            </a:extLst>
          </p:cNvPr>
          <p:cNvPicPr>
            <a:picLocks noChangeAspect="1"/>
          </p:cNvPicPr>
          <p:nvPr/>
        </p:nvPicPr>
        <p:blipFill>
          <a:blip r:embed="rId3"/>
          <a:stretch>
            <a:fillRect/>
          </a:stretch>
        </p:blipFill>
        <p:spPr>
          <a:xfrm>
            <a:off x="7543801" y="2755640"/>
            <a:ext cx="2876951" cy="476316"/>
          </a:xfrm>
          <a:prstGeom prst="rect">
            <a:avLst/>
          </a:prstGeom>
        </p:spPr>
      </p:pic>
      <p:pic>
        <p:nvPicPr>
          <p:cNvPr id="26" name="Picture 25">
            <a:extLst>
              <a:ext uri="{FF2B5EF4-FFF2-40B4-BE49-F238E27FC236}">
                <a16:creationId xmlns:a16="http://schemas.microsoft.com/office/drawing/2014/main" id="{AD351D9D-B652-B71E-A404-8729FBE910AD}"/>
              </a:ext>
            </a:extLst>
          </p:cNvPr>
          <p:cNvPicPr>
            <a:picLocks noChangeAspect="1"/>
          </p:cNvPicPr>
          <p:nvPr/>
        </p:nvPicPr>
        <p:blipFill>
          <a:blip r:embed="rId4"/>
          <a:stretch>
            <a:fillRect/>
          </a:stretch>
        </p:blipFill>
        <p:spPr>
          <a:xfrm>
            <a:off x="1676401" y="2250220"/>
            <a:ext cx="4248743" cy="714475"/>
          </a:xfrm>
          <a:prstGeom prst="rect">
            <a:avLst/>
          </a:prstGeom>
        </p:spPr>
      </p:pic>
      <p:pic>
        <p:nvPicPr>
          <p:cNvPr id="6" name="Picture 5">
            <a:extLst>
              <a:ext uri="{FF2B5EF4-FFF2-40B4-BE49-F238E27FC236}">
                <a16:creationId xmlns:a16="http://schemas.microsoft.com/office/drawing/2014/main" id="{066E71BA-B74E-2003-07CD-7DC7848FA9A6}"/>
              </a:ext>
            </a:extLst>
          </p:cNvPr>
          <p:cNvPicPr>
            <a:picLocks noChangeAspect="1"/>
          </p:cNvPicPr>
          <p:nvPr/>
        </p:nvPicPr>
        <p:blipFill>
          <a:blip r:embed="rId5"/>
          <a:stretch>
            <a:fillRect/>
          </a:stretch>
        </p:blipFill>
        <p:spPr>
          <a:xfrm>
            <a:off x="1707444" y="3730465"/>
            <a:ext cx="5210902" cy="819264"/>
          </a:xfrm>
          <a:prstGeom prst="rect">
            <a:avLst/>
          </a:prstGeom>
        </p:spPr>
      </p:pic>
      <p:pic>
        <p:nvPicPr>
          <p:cNvPr id="8" name="Picture 7">
            <a:extLst>
              <a:ext uri="{FF2B5EF4-FFF2-40B4-BE49-F238E27FC236}">
                <a16:creationId xmlns:a16="http://schemas.microsoft.com/office/drawing/2014/main" id="{90005546-5010-8728-2CBC-BC104157CCFD}"/>
              </a:ext>
            </a:extLst>
          </p:cNvPr>
          <p:cNvPicPr>
            <a:picLocks noChangeAspect="1"/>
          </p:cNvPicPr>
          <p:nvPr/>
        </p:nvPicPr>
        <p:blipFill>
          <a:blip r:embed="rId6"/>
          <a:stretch>
            <a:fillRect/>
          </a:stretch>
        </p:blipFill>
        <p:spPr>
          <a:xfrm>
            <a:off x="7667643" y="4567456"/>
            <a:ext cx="1314633" cy="54300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06C0CA1-5ED0-8422-4EEF-7A53A687900D}"/>
                  </a:ext>
                </a:extLst>
              </p:cNvPr>
              <p:cNvSpPr txBox="1"/>
              <p:nvPr/>
            </p:nvSpPr>
            <p:spPr>
              <a:xfrm>
                <a:off x="7503750" y="5110456"/>
                <a:ext cx="3128100" cy="369332"/>
              </a:xfrm>
              <a:prstGeom prst="rect">
                <a:avLst/>
              </a:prstGeom>
              <a:noFill/>
            </p:spPr>
            <p:txBody>
              <a:bodyPr wrap="none" rtlCol="0">
                <a:spAutoFit/>
              </a:bodyPr>
              <a:lstStyle/>
              <a:p>
                <a:r>
                  <a:rPr lang="en-IN" dirty="0"/>
                  <a:t>Because </a:t>
                </a:r>
                <a14:m>
                  <m:oMath xmlns:m="http://schemas.openxmlformats.org/officeDocument/2006/math">
                    <m:r>
                      <a:rPr lang="en-IN" i="1">
                        <a:latin typeface="Cambria Math" panose="02040503050406030204" pitchFamily="18" charset="0"/>
                      </a:rPr>
                      <m:t>𝑄</m:t>
                    </m:r>
                    <m:r>
                      <a:rPr lang="en-IN" i="1">
                        <a:latin typeface="Cambria Math" panose="02040503050406030204" pitchFamily="18" charset="0"/>
                      </a:rPr>
                      <m:t> </m:t>
                    </m:r>
                  </m:oMath>
                </a14:m>
                <a:r>
                  <a:rPr lang="en-IN" dirty="0"/>
                  <a:t>is orthonormal</a:t>
                </a:r>
              </a:p>
            </p:txBody>
          </p:sp>
        </mc:Choice>
        <mc:Fallback xmlns="">
          <p:sp>
            <p:nvSpPr>
              <p:cNvPr id="11" name="TextBox 10">
                <a:extLst>
                  <a:ext uri="{FF2B5EF4-FFF2-40B4-BE49-F238E27FC236}">
                    <a16:creationId xmlns:a16="http://schemas.microsoft.com/office/drawing/2014/main" id="{506C0CA1-5ED0-8422-4EEF-7A53A687900D}"/>
                  </a:ext>
                </a:extLst>
              </p:cNvPr>
              <p:cNvSpPr txBox="1">
                <a:spLocks noRot="1" noChangeAspect="1" noMove="1" noResize="1" noEditPoints="1" noAdjustHandles="1" noChangeArrowheads="1" noChangeShapeType="1" noTextEdit="1"/>
              </p:cNvSpPr>
              <p:nvPr/>
            </p:nvSpPr>
            <p:spPr>
              <a:xfrm>
                <a:off x="7503750" y="5110456"/>
                <a:ext cx="3128100" cy="369332"/>
              </a:xfrm>
              <a:prstGeom prst="rect">
                <a:avLst/>
              </a:prstGeom>
              <a:blipFill>
                <a:blip r:embed="rId7"/>
                <a:stretch>
                  <a:fillRect l="-1754" t="-8197" r="-1170" b="-24590"/>
                </a:stretch>
              </a:blipFill>
            </p:spPr>
            <p:txBody>
              <a:bodyPr/>
              <a:lstStyle/>
              <a:p>
                <a:r>
                  <a:rPr lang="en-IN">
                    <a:noFill/>
                  </a:rPr>
                  <a:t> </a:t>
                </a:r>
              </a:p>
            </p:txBody>
          </p:sp>
        </mc:Fallback>
      </mc:AlternateContent>
      <p:pic>
        <p:nvPicPr>
          <p:cNvPr id="15" name="Picture 14">
            <a:extLst>
              <a:ext uri="{FF2B5EF4-FFF2-40B4-BE49-F238E27FC236}">
                <a16:creationId xmlns:a16="http://schemas.microsoft.com/office/drawing/2014/main" id="{FB88C9E1-A2BC-721F-63C4-2EA5942C455F}"/>
              </a:ext>
            </a:extLst>
          </p:cNvPr>
          <p:cNvPicPr>
            <a:picLocks noChangeAspect="1"/>
          </p:cNvPicPr>
          <p:nvPr/>
        </p:nvPicPr>
        <p:blipFill>
          <a:blip r:embed="rId8"/>
          <a:stretch>
            <a:fillRect/>
          </a:stretch>
        </p:blipFill>
        <p:spPr>
          <a:xfrm>
            <a:off x="4149512" y="4893741"/>
            <a:ext cx="2181529" cy="600159"/>
          </a:xfrm>
          <a:prstGeom prst="rect">
            <a:avLst/>
          </a:prstGeom>
        </p:spPr>
      </p:pic>
      <p:pic>
        <p:nvPicPr>
          <p:cNvPr id="20" name="Picture 19">
            <a:extLst>
              <a:ext uri="{FF2B5EF4-FFF2-40B4-BE49-F238E27FC236}">
                <a16:creationId xmlns:a16="http://schemas.microsoft.com/office/drawing/2014/main" id="{7D77C323-BA6C-3D2A-865A-D976C8C58FCF}"/>
              </a:ext>
            </a:extLst>
          </p:cNvPr>
          <p:cNvPicPr>
            <a:picLocks noChangeAspect="1"/>
          </p:cNvPicPr>
          <p:nvPr/>
        </p:nvPicPr>
        <p:blipFill>
          <a:blip r:embed="rId9"/>
          <a:stretch>
            <a:fillRect/>
          </a:stretch>
        </p:blipFill>
        <p:spPr>
          <a:xfrm>
            <a:off x="2112898" y="5772292"/>
            <a:ext cx="3762900" cy="571580"/>
          </a:xfrm>
          <a:prstGeom prst="rect">
            <a:avLst/>
          </a:prstGeom>
        </p:spPr>
      </p:pic>
      <p:sp>
        <p:nvSpPr>
          <p:cNvPr id="3" name="Slide Number Placeholder 2">
            <a:extLst>
              <a:ext uri="{FF2B5EF4-FFF2-40B4-BE49-F238E27FC236}">
                <a16:creationId xmlns:a16="http://schemas.microsoft.com/office/drawing/2014/main" id="{085A3884-A313-4647-56BD-34D56F5B0073}"/>
              </a:ext>
            </a:extLst>
          </p:cNvPr>
          <p:cNvSpPr>
            <a:spLocks noGrp="1"/>
          </p:cNvSpPr>
          <p:nvPr>
            <p:ph type="sldNum" sz="quarter" idx="12"/>
          </p:nvPr>
        </p:nvSpPr>
        <p:spPr/>
        <p:txBody>
          <a:bodyPr/>
          <a:lstStyle/>
          <a:p>
            <a:fld id="{BB2CE0DE-867F-455F-B20B-96D381B4AB71}" type="slidenum">
              <a:rPr lang="en-US" smtClean="0"/>
              <a:t>44</a:t>
            </a:fld>
            <a:endParaRPr lang="en-US"/>
          </a:p>
        </p:txBody>
      </p:sp>
    </p:spTree>
    <p:extLst>
      <p:ext uri="{BB962C8B-B14F-4D97-AF65-F5344CB8AC3E}">
        <p14:creationId xmlns:p14="http://schemas.microsoft.com/office/powerpoint/2010/main" val="32486375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30A84-56E3-76D0-6381-909A1A6D2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53187-E4D6-1FCE-64A9-BBC0ECD2D257}"/>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D1CE66E2-76B6-FDB0-F80A-344392306909}"/>
              </a:ext>
            </a:extLst>
          </p:cNvPr>
          <p:cNvPicPr>
            <a:picLocks noChangeAspect="1"/>
          </p:cNvPicPr>
          <p:nvPr/>
        </p:nvPicPr>
        <p:blipFill>
          <a:blip r:embed="rId3"/>
          <a:stretch>
            <a:fillRect/>
          </a:stretch>
        </p:blipFill>
        <p:spPr>
          <a:xfrm>
            <a:off x="2093031" y="1295400"/>
            <a:ext cx="3762900" cy="571580"/>
          </a:xfrm>
          <a:prstGeom prst="rect">
            <a:avLst/>
          </a:prstGeom>
        </p:spPr>
      </p:pic>
      <p:pic>
        <p:nvPicPr>
          <p:cNvPr id="7" name="Picture 6">
            <a:extLst>
              <a:ext uri="{FF2B5EF4-FFF2-40B4-BE49-F238E27FC236}">
                <a16:creationId xmlns:a16="http://schemas.microsoft.com/office/drawing/2014/main" id="{F86CF0E9-BFF5-22EA-F485-F8D4FB7A1073}"/>
              </a:ext>
            </a:extLst>
          </p:cNvPr>
          <p:cNvPicPr>
            <a:picLocks noChangeAspect="1"/>
          </p:cNvPicPr>
          <p:nvPr/>
        </p:nvPicPr>
        <p:blipFill>
          <a:blip r:embed="rId4"/>
          <a:stretch>
            <a:fillRect/>
          </a:stretch>
        </p:blipFill>
        <p:spPr>
          <a:xfrm>
            <a:off x="8123692" y="2055483"/>
            <a:ext cx="1228896" cy="62873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96F2F7-9C98-34F9-749C-DDC16B20C23F}"/>
                  </a:ext>
                </a:extLst>
              </p:cNvPr>
              <p:cNvSpPr txBox="1"/>
              <p:nvPr/>
            </p:nvSpPr>
            <p:spPr>
              <a:xfrm>
                <a:off x="7546230" y="1682314"/>
                <a:ext cx="3043141" cy="369332"/>
              </a:xfrm>
              <a:prstGeom prst="rect">
                <a:avLst/>
              </a:prstGeom>
              <a:noFill/>
            </p:spPr>
            <p:txBody>
              <a:bodyPr wrap="none" rtlCol="0">
                <a:spAutoFit/>
              </a:bodyPr>
              <a:lstStyle/>
              <a:p>
                <a:r>
                  <a:rPr lang="en-IN" dirty="0"/>
                  <a:t>Since </a:t>
                </a:r>
                <a14:m>
                  <m:oMath xmlns:m="http://schemas.openxmlformats.org/officeDocument/2006/math">
                    <m:r>
                      <a:rPr lang="en-IN" i="1">
                        <a:latin typeface="Cambria Math" panose="02040503050406030204" pitchFamily="18" charset="0"/>
                      </a:rPr>
                      <m:t>𝑄</m:t>
                    </m:r>
                  </m:oMath>
                </a14:m>
                <a:r>
                  <a:rPr lang="en-IN" dirty="0"/>
                  <a:t>is </a:t>
                </a:r>
                <a:r>
                  <a:rPr lang="en-IN" b="1" dirty="0"/>
                  <a:t>orthonormal</a:t>
                </a:r>
                <a:r>
                  <a:rPr lang="en-IN" dirty="0"/>
                  <a:t>:</a:t>
                </a:r>
              </a:p>
            </p:txBody>
          </p:sp>
        </mc:Choice>
        <mc:Fallback xmlns="">
          <p:sp>
            <p:nvSpPr>
              <p:cNvPr id="8" name="TextBox 7">
                <a:extLst>
                  <a:ext uri="{FF2B5EF4-FFF2-40B4-BE49-F238E27FC236}">
                    <a16:creationId xmlns:a16="http://schemas.microsoft.com/office/drawing/2014/main" id="{4E96F2F7-9C98-34F9-749C-DDC16B20C23F}"/>
                  </a:ext>
                </a:extLst>
              </p:cNvPr>
              <p:cNvSpPr txBox="1">
                <a:spLocks noRot="1" noChangeAspect="1" noMove="1" noResize="1" noEditPoints="1" noAdjustHandles="1" noChangeArrowheads="1" noChangeShapeType="1" noTextEdit="1"/>
              </p:cNvSpPr>
              <p:nvPr/>
            </p:nvSpPr>
            <p:spPr>
              <a:xfrm>
                <a:off x="7546230" y="1682314"/>
                <a:ext cx="3043141" cy="369332"/>
              </a:xfrm>
              <a:prstGeom prst="rect">
                <a:avLst/>
              </a:prstGeom>
              <a:blipFill>
                <a:blip r:embed="rId5"/>
                <a:stretch>
                  <a:fillRect l="-1804" t="-9836" r="-1002" b="-24590"/>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C9DBB1B3-65C1-904C-7FFD-577902A69A68}"/>
              </a:ext>
            </a:extLst>
          </p:cNvPr>
          <p:cNvPicPr>
            <a:picLocks noChangeAspect="1"/>
          </p:cNvPicPr>
          <p:nvPr/>
        </p:nvPicPr>
        <p:blipFill>
          <a:blip r:embed="rId6"/>
          <a:stretch>
            <a:fillRect/>
          </a:stretch>
        </p:blipFill>
        <p:spPr>
          <a:xfrm>
            <a:off x="2876102" y="2600282"/>
            <a:ext cx="3219899" cy="895475"/>
          </a:xfrm>
          <a:prstGeom prst="rect">
            <a:avLst/>
          </a:prstGeom>
        </p:spPr>
      </p:pic>
      <p:pic>
        <p:nvPicPr>
          <p:cNvPr id="12" name="Picture 11">
            <a:extLst>
              <a:ext uri="{FF2B5EF4-FFF2-40B4-BE49-F238E27FC236}">
                <a16:creationId xmlns:a16="http://schemas.microsoft.com/office/drawing/2014/main" id="{FD2D34BA-A825-2D3C-8BDB-4C4E76CF25C6}"/>
              </a:ext>
            </a:extLst>
          </p:cNvPr>
          <p:cNvPicPr>
            <a:picLocks noChangeAspect="1"/>
          </p:cNvPicPr>
          <p:nvPr/>
        </p:nvPicPr>
        <p:blipFill>
          <a:blip r:embed="rId7"/>
          <a:stretch>
            <a:fillRect/>
          </a:stretch>
        </p:blipFill>
        <p:spPr>
          <a:xfrm>
            <a:off x="2876101" y="3733800"/>
            <a:ext cx="3124636" cy="647790"/>
          </a:xfrm>
          <a:prstGeom prst="rect">
            <a:avLst/>
          </a:prstGeom>
        </p:spPr>
      </p:pic>
      <p:pic>
        <p:nvPicPr>
          <p:cNvPr id="14" name="Picture 13">
            <a:extLst>
              <a:ext uri="{FF2B5EF4-FFF2-40B4-BE49-F238E27FC236}">
                <a16:creationId xmlns:a16="http://schemas.microsoft.com/office/drawing/2014/main" id="{C2F4C1EC-87A9-6CCB-F6F2-742DC2A7DD64}"/>
              </a:ext>
            </a:extLst>
          </p:cNvPr>
          <p:cNvPicPr>
            <a:picLocks noChangeAspect="1"/>
          </p:cNvPicPr>
          <p:nvPr/>
        </p:nvPicPr>
        <p:blipFill>
          <a:blip r:embed="rId8"/>
          <a:stretch>
            <a:fillRect/>
          </a:stretch>
        </p:blipFill>
        <p:spPr>
          <a:xfrm>
            <a:off x="2362200" y="5167527"/>
            <a:ext cx="3057952" cy="609685"/>
          </a:xfrm>
          <a:prstGeom prst="rect">
            <a:avLst/>
          </a:prstGeom>
        </p:spPr>
      </p:pic>
      <p:sp>
        <p:nvSpPr>
          <p:cNvPr id="15" name="TextBox 14">
            <a:extLst>
              <a:ext uri="{FF2B5EF4-FFF2-40B4-BE49-F238E27FC236}">
                <a16:creationId xmlns:a16="http://schemas.microsoft.com/office/drawing/2014/main" id="{E87A59E7-A475-F07A-AB8D-9A112A2D0F75}"/>
              </a:ext>
            </a:extLst>
          </p:cNvPr>
          <p:cNvSpPr txBox="1"/>
          <p:nvPr/>
        </p:nvSpPr>
        <p:spPr>
          <a:xfrm>
            <a:off x="1524001" y="4619634"/>
            <a:ext cx="2900859" cy="369332"/>
          </a:xfrm>
          <a:prstGeom prst="rect">
            <a:avLst/>
          </a:prstGeom>
          <a:noFill/>
        </p:spPr>
        <p:txBody>
          <a:bodyPr wrap="none" rtlCol="0">
            <a:spAutoFit/>
          </a:bodyPr>
          <a:lstStyle/>
          <a:p>
            <a:r>
              <a:rPr lang="en-IN" dirty="0"/>
              <a:t>Remove identity matrix</a:t>
            </a:r>
          </a:p>
        </p:txBody>
      </p:sp>
      <p:sp>
        <p:nvSpPr>
          <p:cNvPr id="16" name="TextBox 15">
            <a:extLst>
              <a:ext uri="{FF2B5EF4-FFF2-40B4-BE49-F238E27FC236}">
                <a16:creationId xmlns:a16="http://schemas.microsoft.com/office/drawing/2014/main" id="{FD1FD903-73B2-3321-9BF1-84F49DBD909D}"/>
              </a:ext>
            </a:extLst>
          </p:cNvPr>
          <p:cNvSpPr txBox="1"/>
          <p:nvPr/>
        </p:nvSpPr>
        <p:spPr>
          <a:xfrm>
            <a:off x="6096001" y="4619635"/>
            <a:ext cx="4630819" cy="2092881"/>
          </a:xfrm>
          <a:prstGeom prst="rect">
            <a:avLst/>
          </a:prstGeom>
          <a:noFill/>
        </p:spPr>
        <p:txBody>
          <a:bodyPr wrap="none" rtlCol="0">
            <a:spAutoFit/>
          </a:bodyPr>
          <a:lstStyle/>
          <a:p>
            <a:r>
              <a:rPr lang="en-US" sz="1600" dirty="0"/>
              <a:t>Q⊤Q=I means:</a:t>
            </a:r>
          </a:p>
          <a:p>
            <a:r>
              <a:rPr lang="en-US" sz="1600" dirty="0"/>
              <a:t>Transform → inverse transform cancels out</a:t>
            </a:r>
          </a:p>
          <a:p>
            <a:r>
              <a:rPr lang="en-US" sz="1600" dirty="0"/>
              <a:t>Like:</a:t>
            </a:r>
          </a:p>
          <a:p>
            <a:r>
              <a:rPr lang="en-US" sz="1600" dirty="0"/>
              <a:t>rotate → rotate back = no change</a:t>
            </a:r>
          </a:p>
          <a:p>
            <a:endParaRPr lang="en-US" sz="1600" dirty="0"/>
          </a:p>
          <a:p>
            <a:r>
              <a:rPr lang="en-US" sz="1600" dirty="0"/>
              <a:t>QᵀQ = I → “they cancel each other”</a:t>
            </a:r>
          </a:p>
          <a:p>
            <a:endParaRPr lang="en-IN" sz="1600" dirty="0"/>
          </a:p>
          <a:p>
            <a:endParaRPr lang="en-IN" sz="1600" dirty="0"/>
          </a:p>
        </p:txBody>
      </p:sp>
      <p:sp>
        <p:nvSpPr>
          <p:cNvPr id="3" name="Slide Number Placeholder 2">
            <a:extLst>
              <a:ext uri="{FF2B5EF4-FFF2-40B4-BE49-F238E27FC236}">
                <a16:creationId xmlns:a16="http://schemas.microsoft.com/office/drawing/2014/main" id="{657144B8-97BC-818A-D7D0-58B12268EA7A}"/>
              </a:ext>
            </a:extLst>
          </p:cNvPr>
          <p:cNvSpPr>
            <a:spLocks noGrp="1"/>
          </p:cNvSpPr>
          <p:nvPr>
            <p:ph type="sldNum" sz="quarter" idx="12"/>
          </p:nvPr>
        </p:nvSpPr>
        <p:spPr/>
        <p:txBody>
          <a:bodyPr/>
          <a:lstStyle/>
          <a:p>
            <a:fld id="{BB2CE0DE-867F-455F-B20B-96D381B4AB71}" type="slidenum">
              <a:rPr lang="en-US" smtClean="0"/>
              <a:t>45</a:t>
            </a:fld>
            <a:endParaRPr lang="en-US"/>
          </a:p>
        </p:txBody>
      </p:sp>
    </p:spTree>
    <p:extLst>
      <p:ext uri="{BB962C8B-B14F-4D97-AF65-F5344CB8AC3E}">
        <p14:creationId xmlns:p14="http://schemas.microsoft.com/office/powerpoint/2010/main" val="40963132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4398F-20D8-355D-6E3C-7367B3E91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261A1-CDBB-B393-312D-D9082BE6D24E}"/>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481F4F39-2CB1-BABB-3EB4-A569E623AED2}"/>
              </a:ext>
            </a:extLst>
          </p:cNvPr>
          <p:cNvPicPr>
            <a:picLocks noChangeAspect="1"/>
          </p:cNvPicPr>
          <p:nvPr/>
        </p:nvPicPr>
        <p:blipFill>
          <a:blip r:embed="rId3"/>
          <a:stretch>
            <a:fillRect/>
          </a:stretch>
        </p:blipFill>
        <p:spPr>
          <a:xfrm>
            <a:off x="696030" y="953384"/>
            <a:ext cx="3057952" cy="609685"/>
          </a:xfrm>
          <a:prstGeom prst="rect">
            <a:avLst/>
          </a:prstGeom>
        </p:spPr>
      </p:pic>
      <p:pic>
        <p:nvPicPr>
          <p:cNvPr id="7" name="Picture 6">
            <a:extLst>
              <a:ext uri="{FF2B5EF4-FFF2-40B4-BE49-F238E27FC236}">
                <a16:creationId xmlns:a16="http://schemas.microsoft.com/office/drawing/2014/main" id="{855D6DF7-8FA3-DD6B-7129-4DF6951E1A85}"/>
              </a:ext>
            </a:extLst>
          </p:cNvPr>
          <p:cNvPicPr>
            <a:picLocks noChangeAspect="1"/>
          </p:cNvPicPr>
          <p:nvPr/>
        </p:nvPicPr>
        <p:blipFill>
          <a:blip r:embed="rId4"/>
          <a:stretch>
            <a:fillRect/>
          </a:stretch>
        </p:blipFill>
        <p:spPr>
          <a:xfrm>
            <a:off x="499534" y="2289185"/>
            <a:ext cx="4467849" cy="2372056"/>
          </a:xfrm>
          <a:prstGeom prst="rect">
            <a:avLst/>
          </a:prstGeom>
        </p:spPr>
      </p:pic>
      <p:sp>
        <p:nvSpPr>
          <p:cNvPr id="8" name="TextBox 7">
            <a:extLst>
              <a:ext uri="{FF2B5EF4-FFF2-40B4-BE49-F238E27FC236}">
                <a16:creationId xmlns:a16="http://schemas.microsoft.com/office/drawing/2014/main" id="{2E8C0B5D-FE31-71A7-7202-CB1D0B5EB7A4}"/>
              </a:ext>
            </a:extLst>
          </p:cNvPr>
          <p:cNvSpPr txBox="1"/>
          <p:nvPr/>
        </p:nvSpPr>
        <p:spPr>
          <a:xfrm>
            <a:off x="491067" y="1918740"/>
            <a:ext cx="3050835" cy="369332"/>
          </a:xfrm>
          <a:prstGeom prst="rect">
            <a:avLst/>
          </a:prstGeom>
          <a:noFill/>
        </p:spPr>
        <p:txBody>
          <a:bodyPr wrap="square" rtlCol="0">
            <a:spAutoFit/>
          </a:bodyPr>
          <a:lstStyle/>
          <a:p>
            <a:r>
              <a:rPr lang="en-IN" dirty="0"/>
              <a:t>Understand the matrices</a:t>
            </a:r>
          </a:p>
        </p:txBody>
      </p:sp>
      <p:pic>
        <p:nvPicPr>
          <p:cNvPr id="10" name="Picture 9">
            <a:extLst>
              <a:ext uri="{FF2B5EF4-FFF2-40B4-BE49-F238E27FC236}">
                <a16:creationId xmlns:a16="http://schemas.microsoft.com/office/drawing/2014/main" id="{450B47CC-B320-DF06-1D38-0B005193D603}"/>
              </a:ext>
            </a:extLst>
          </p:cNvPr>
          <p:cNvPicPr>
            <a:picLocks noChangeAspect="1"/>
          </p:cNvPicPr>
          <p:nvPr/>
        </p:nvPicPr>
        <p:blipFill>
          <a:blip r:embed="rId5"/>
          <a:stretch>
            <a:fillRect/>
          </a:stretch>
        </p:blipFill>
        <p:spPr>
          <a:xfrm>
            <a:off x="533400" y="5207012"/>
            <a:ext cx="4277322" cy="1171739"/>
          </a:xfrm>
          <a:prstGeom prst="rect">
            <a:avLst/>
          </a:prstGeom>
        </p:spPr>
      </p:pic>
      <p:sp>
        <p:nvSpPr>
          <p:cNvPr id="13" name="TextBox 12">
            <a:extLst>
              <a:ext uri="{FF2B5EF4-FFF2-40B4-BE49-F238E27FC236}">
                <a16:creationId xmlns:a16="http://schemas.microsoft.com/office/drawing/2014/main" id="{677E062E-41D2-EEA8-785F-017AA8751AA7}"/>
              </a:ext>
            </a:extLst>
          </p:cNvPr>
          <p:cNvSpPr txBox="1"/>
          <p:nvPr/>
        </p:nvSpPr>
        <p:spPr>
          <a:xfrm>
            <a:off x="383407" y="4749495"/>
            <a:ext cx="1627433" cy="646331"/>
          </a:xfrm>
          <a:prstGeom prst="rect">
            <a:avLst/>
          </a:prstGeom>
          <a:noFill/>
        </p:spPr>
        <p:txBody>
          <a:bodyPr wrap="none" rtlCol="0">
            <a:spAutoFit/>
          </a:bodyPr>
          <a:lstStyle/>
          <a:p>
            <a:r>
              <a:rPr lang="en-IN" dirty="0"/>
              <a:t>Take inverse</a:t>
            </a:r>
          </a:p>
          <a:p>
            <a:endParaRPr lang="en-IN" dirty="0"/>
          </a:p>
        </p:txBody>
      </p:sp>
      <p:sp>
        <p:nvSpPr>
          <p:cNvPr id="3" name="Slide Number Placeholder 2">
            <a:extLst>
              <a:ext uri="{FF2B5EF4-FFF2-40B4-BE49-F238E27FC236}">
                <a16:creationId xmlns:a16="http://schemas.microsoft.com/office/drawing/2014/main" id="{8C659CBA-0863-E7BB-F0AF-5A22249DCE84}"/>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18743216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0DF58-55CC-4A3F-0AFC-287CC0999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33AD6-818E-C7BD-086E-5D10E154C913}"/>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6AE23F1C-C11C-6370-AA8E-20BC92BECB0C}"/>
              </a:ext>
            </a:extLst>
          </p:cNvPr>
          <p:cNvPicPr>
            <a:picLocks noChangeAspect="1"/>
          </p:cNvPicPr>
          <p:nvPr/>
        </p:nvPicPr>
        <p:blipFill>
          <a:blip r:embed="rId3"/>
          <a:stretch>
            <a:fillRect/>
          </a:stretch>
        </p:blipFill>
        <p:spPr>
          <a:xfrm>
            <a:off x="806097" y="914401"/>
            <a:ext cx="3057952" cy="609685"/>
          </a:xfrm>
          <a:prstGeom prst="rect">
            <a:avLst/>
          </a:prstGeom>
        </p:spPr>
      </p:pic>
      <p:pic>
        <p:nvPicPr>
          <p:cNvPr id="10" name="Picture 9">
            <a:extLst>
              <a:ext uri="{FF2B5EF4-FFF2-40B4-BE49-F238E27FC236}">
                <a16:creationId xmlns:a16="http://schemas.microsoft.com/office/drawing/2014/main" id="{FA00FB87-A6DE-236E-4DF6-52F8A4630BA9}"/>
              </a:ext>
            </a:extLst>
          </p:cNvPr>
          <p:cNvPicPr>
            <a:picLocks noChangeAspect="1"/>
          </p:cNvPicPr>
          <p:nvPr/>
        </p:nvPicPr>
        <p:blipFill>
          <a:blip r:embed="rId4"/>
          <a:stretch>
            <a:fillRect/>
          </a:stretch>
        </p:blipFill>
        <p:spPr>
          <a:xfrm>
            <a:off x="624877" y="1650054"/>
            <a:ext cx="4277322" cy="1171739"/>
          </a:xfrm>
          <a:prstGeom prst="rect">
            <a:avLst/>
          </a:prstGeom>
        </p:spPr>
      </p:pic>
      <p:pic>
        <p:nvPicPr>
          <p:cNvPr id="15" name="Picture 14">
            <a:extLst>
              <a:ext uri="{FF2B5EF4-FFF2-40B4-BE49-F238E27FC236}">
                <a16:creationId xmlns:a16="http://schemas.microsoft.com/office/drawing/2014/main" id="{805E6EE6-AF9A-063C-0C53-8F1BDEBAF897}"/>
              </a:ext>
            </a:extLst>
          </p:cNvPr>
          <p:cNvPicPr>
            <a:picLocks noChangeAspect="1"/>
          </p:cNvPicPr>
          <p:nvPr/>
        </p:nvPicPr>
        <p:blipFill>
          <a:blip r:embed="rId5"/>
          <a:stretch>
            <a:fillRect/>
          </a:stretch>
        </p:blipFill>
        <p:spPr>
          <a:xfrm>
            <a:off x="647456" y="3243825"/>
            <a:ext cx="1657581" cy="523948"/>
          </a:xfrm>
          <a:prstGeom prst="rect">
            <a:avLst/>
          </a:prstGeom>
        </p:spPr>
      </p:pic>
      <p:sp>
        <p:nvSpPr>
          <p:cNvPr id="3" name="TextBox 2">
            <a:extLst>
              <a:ext uri="{FF2B5EF4-FFF2-40B4-BE49-F238E27FC236}">
                <a16:creationId xmlns:a16="http://schemas.microsoft.com/office/drawing/2014/main" id="{8DCB2A4F-2CC8-EAEB-F61E-716EF4DDD09E}"/>
              </a:ext>
            </a:extLst>
          </p:cNvPr>
          <p:cNvSpPr txBox="1"/>
          <p:nvPr/>
        </p:nvSpPr>
        <p:spPr>
          <a:xfrm>
            <a:off x="372465" y="2941354"/>
            <a:ext cx="1875835" cy="646331"/>
          </a:xfrm>
          <a:prstGeom prst="rect">
            <a:avLst/>
          </a:prstGeom>
          <a:noFill/>
        </p:spPr>
        <p:txBody>
          <a:bodyPr wrap="none" rtlCol="0">
            <a:spAutoFit/>
          </a:bodyPr>
          <a:lstStyle/>
          <a:p>
            <a:r>
              <a:rPr lang="en-IN" dirty="0"/>
              <a:t>Now compute:</a:t>
            </a:r>
          </a:p>
          <a:p>
            <a:endParaRPr lang="en-IN" dirty="0"/>
          </a:p>
        </p:txBody>
      </p:sp>
      <p:pic>
        <p:nvPicPr>
          <p:cNvPr id="9" name="Picture 8">
            <a:extLst>
              <a:ext uri="{FF2B5EF4-FFF2-40B4-BE49-F238E27FC236}">
                <a16:creationId xmlns:a16="http://schemas.microsoft.com/office/drawing/2014/main" id="{6481AD51-050E-BD10-4DF2-4282BAF287AA}"/>
              </a:ext>
            </a:extLst>
          </p:cNvPr>
          <p:cNvPicPr>
            <a:picLocks noChangeAspect="1"/>
          </p:cNvPicPr>
          <p:nvPr/>
        </p:nvPicPr>
        <p:blipFill>
          <a:blip r:embed="rId6"/>
          <a:stretch>
            <a:fillRect/>
          </a:stretch>
        </p:blipFill>
        <p:spPr>
          <a:xfrm>
            <a:off x="6400800" y="3119363"/>
            <a:ext cx="2191056" cy="1076475"/>
          </a:xfrm>
          <a:prstGeom prst="rect">
            <a:avLst/>
          </a:prstGeom>
        </p:spPr>
      </p:pic>
      <p:pic>
        <p:nvPicPr>
          <p:cNvPr id="12" name="Picture 11">
            <a:extLst>
              <a:ext uri="{FF2B5EF4-FFF2-40B4-BE49-F238E27FC236}">
                <a16:creationId xmlns:a16="http://schemas.microsoft.com/office/drawing/2014/main" id="{FC50D2D1-D14C-1E67-870B-4AE3C48FDE6B}"/>
              </a:ext>
            </a:extLst>
          </p:cNvPr>
          <p:cNvPicPr>
            <a:picLocks noChangeAspect="1"/>
          </p:cNvPicPr>
          <p:nvPr/>
        </p:nvPicPr>
        <p:blipFill>
          <a:blip r:embed="rId7"/>
          <a:stretch>
            <a:fillRect/>
          </a:stretch>
        </p:blipFill>
        <p:spPr>
          <a:xfrm>
            <a:off x="1882353" y="3739394"/>
            <a:ext cx="3019846" cy="1371791"/>
          </a:xfrm>
          <a:prstGeom prst="rect">
            <a:avLst/>
          </a:prstGeom>
        </p:spPr>
      </p:pic>
      <p:pic>
        <p:nvPicPr>
          <p:cNvPr id="16" name="Picture 15">
            <a:extLst>
              <a:ext uri="{FF2B5EF4-FFF2-40B4-BE49-F238E27FC236}">
                <a16:creationId xmlns:a16="http://schemas.microsoft.com/office/drawing/2014/main" id="{BE2A257C-454E-B9E7-1AEA-8B9CCAB2AB5D}"/>
              </a:ext>
            </a:extLst>
          </p:cNvPr>
          <p:cNvPicPr>
            <a:picLocks noChangeAspect="1"/>
          </p:cNvPicPr>
          <p:nvPr/>
        </p:nvPicPr>
        <p:blipFill>
          <a:blip r:embed="rId8"/>
          <a:stretch>
            <a:fillRect/>
          </a:stretch>
        </p:blipFill>
        <p:spPr>
          <a:xfrm>
            <a:off x="1295400" y="5262893"/>
            <a:ext cx="3781778" cy="1281210"/>
          </a:xfrm>
          <a:prstGeom prst="rect">
            <a:avLst/>
          </a:prstGeom>
        </p:spPr>
      </p:pic>
      <p:pic>
        <p:nvPicPr>
          <p:cNvPr id="18" name="Picture 17">
            <a:extLst>
              <a:ext uri="{FF2B5EF4-FFF2-40B4-BE49-F238E27FC236}">
                <a16:creationId xmlns:a16="http://schemas.microsoft.com/office/drawing/2014/main" id="{1259421C-8399-D96A-5078-13BBB3952F41}"/>
              </a:ext>
            </a:extLst>
          </p:cNvPr>
          <p:cNvPicPr>
            <a:picLocks noChangeAspect="1"/>
          </p:cNvPicPr>
          <p:nvPr/>
        </p:nvPicPr>
        <p:blipFill>
          <a:blip r:embed="rId9"/>
          <a:stretch>
            <a:fillRect/>
          </a:stretch>
        </p:blipFill>
        <p:spPr>
          <a:xfrm>
            <a:off x="6355644" y="5484339"/>
            <a:ext cx="1095528" cy="838317"/>
          </a:xfrm>
          <a:prstGeom prst="rect">
            <a:avLst/>
          </a:prstGeom>
        </p:spPr>
      </p:pic>
      <p:sp>
        <p:nvSpPr>
          <p:cNvPr id="19" name="TextBox 18">
            <a:extLst>
              <a:ext uri="{FF2B5EF4-FFF2-40B4-BE49-F238E27FC236}">
                <a16:creationId xmlns:a16="http://schemas.microsoft.com/office/drawing/2014/main" id="{AD989F28-CF77-4011-CA05-900CC66A3A1C}"/>
              </a:ext>
            </a:extLst>
          </p:cNvPr>
          <p:cNvSpPr txBox="1"/>
          <p:nvPr/>
        </p:nvSpPr>
        <p:spPr>
          <a:xfrm>
            <a:off x="5836357" y="5097074"/>
            <a:ext cx="3643370" cy="646331"/>
          </a:xfrm>
          <a:prstGeom prst="rect">
            <a:avLst/>
          </a:prstGeom>
          <a:noFill/>
        </p:spPr>
        <p:txBody>
          <a:bodyPr wrap="none" rtlCol="0">
            <a:spAutoFit/>
          </a:bodyPr>
          <a:lstStyle/>
          <a:p>
            <a:r>
              <a:rPr lang="en-US" dirty="0"/>
              <a:t>Each component is scaled by:</a:t>
            </a:r>
            <a:endParaRPr lang="en-IN" dirty="0"/>
          </a:p>
          <a:p>
            <a:endParaRPr lang="en-IN" dirty="0"/>
          </a:p>
        </p:txBody>
      </p:sp>
      <p:sp>
        <p:nvSpPr>
          <p:cNvPr id="6" name="Slide Number Placeholder 5">
            <a:extLst>
              <a:ext uri="{FF2B5EF4-FFF2-40B4-BE49-F238E27FC236}">
                <a16:creationId xmlns:a16="http://schemas.microsoft.com/office/drawing/2014/main" id="{6AB52B09-0628-9E72-7BAA-9CA89A69CE9F}"/>
              </a:ext>
            </a:extLst>
          </p:cNvPr>
          <p:cNvSpPr>
            <a:spLocks noGrp="1"/>
          </p:cNvSpPr>
          <p:nvPr>
            <p:ph type="sldNum" sz="quarter" idx="12"/>
          </p:nvPr>
        </p:nvSpPr>
        <p:spPr/>
        <p:txBody>
          <a:bodyPr/>
          <a:lstStyle/>
          <a:p>
            <a:fld id="{BB2CE0DE-867F-455F-B20B-96D381B4AB71}" type="slidenum">
              <a:rPr lang="en-US" smtClean="0"/>
              <a:t>47</a:t>
            </a:fld>
            <a:endParaRPr lang="en-US"/>
          </a:p>
        </p:txBody>
      </p:sp>
    </p:spTree>
    <p:extLst>
      <p:ext uri="{BB962C8B-B14F-4D97-AF65-F5344CB8AC3E}">
        <p14:creationId xmlns:p14="http://schemas.microsoft.com/office/powerpoint/2010/main" val="16042532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52813-C3A9-9FF5-4212-AF33734A5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CD763-72C2-3EF8-E29A-C02461697CB4}"/>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16" name="Picture 15">
            <a:extLst>
              <a:ext uri="{FF2B5EF4-FFF2-40B4-BE49-F238E27FC236}">
                <a16:creationId xmlns:a16="http://schemas.microsoft.com/office/drawing/2014/main" id="{A530F402-B07D-402A-3934-9AC9B70D8055}"/>
              </a:ext>
            </a:extLst>
          </p:cNvPr>
          <p:cNvPicPr>
            <a:picLocks noChangeAspect="1"/>
          </p:cNvPicPr>
          <p:nvPr/>
        </p:nvPicPr>
        <p:blipFill>
          <a:blip r:embed="rId3"/>
          <a:stretch>
            <a:fillRect/>
          </a:stretch>
        </p:blipFill>
        <p:spPr>
          <a:xfrm>
            <a:off x="457200" y="1295400"/>
            <a:ext cx="3781778" cy="1281210"/>
          </a:xfrm>
          <a:prstGeom prst="rect">
            <a:avLst/>
          </a:prstGeom>
        </p:spPr>
      </p:pic>
      <p:pic>
        <p:nvPicPr>
          <p:cNvPr id="18" name="Picture 17">
            <a:extLst>
              <a:ext uri="{FF2B5EF4-FFF2-40B4-BE49-F238E27FC236}">
                <a16:creationId xmlns:a16="http://schemas.microsoft.com/office/drawing/2014/main" id="{1975A6AA-81EC-A9C7-4712-0CB8CB51478D}"/>
              </a:ext>
            </a:extLst>
          </p:cNvPr>
          <p:cNvPicPr>
            <a:picLocks noChangeAspect="1"/>
          </p:cNvPicPr>
          <p:nvPr/>
        </p:nvPicPr>
        <p:blipFill>
          <a:blip r:embed="rId4"/>
          <a:stretch>
            <a:fillRect/>
          </a:stretch>
        </p:blipFill>
        <p:spPr>
          <a:xfrm>
            <a:off x="5015087" y="1530265"/>
            <a:ext cx="1095528" cy="838317"/>
          </a:xfrm>
          <a:prstGeom prst="rect">
            <a:avLst/>
          </a:prstGeom>
        </p:spPr>
      </p:pic>
      <p:sp>
        <p:nvSpPr>
          <p:cNvPr id="19" name="TextBox 18">
            <a:extLst>
              <a:ext uri="{FF2B5EF4-FFF2-40B4-BE49-F238E27FC236}">
                <a16:creationId xmlns:a16="http://schemas.microsoft.com/office/drawing/2014/main" id="{96AF260C-CE00-31EA-E805-681354398EA3}"/>
              </a:ext>
            </a:extLst>
          </p:cNvPr>
          <p:cNvSpPr txBox="1"/>
          <p:nvPr/>
        </p:nvSpPr>
        <p:spPr>
          <a:xfrm>
            <a:off x="4495800" y="1143000"/>
            <a:ext cx="3643370" cy="646331"/>
          </a:xfrm>
          <a:prstGeom prst="rect">
            <a:avLst/>
          </a:prstGeom>
          <a:noFill/>
        </p:spPr>
        <p:txBody>
          <a:bodyPr wrap="none" rtlCol="0">
            <a:spAutoFit/>
          </a:bodyPr>
          <a:lstStyle/>
          <a:p>
            <a:r>
              <a:rPr lang="en-US" dirty="0"/>
              <a:t>Each component is scaled by:</a:t>
            </a:r>
            <a:endParaRPr lang="en-IN" dirty="0"/>
          </a:p>
          <a:p>
            <a:endParaRPr lang="en-IN" dirty="0"/>
          </a:p>
        </p:txBody>
      </p:sp>
      <p:pic>
        <p:nvPicPr>
          <p:cNvPr id="7" name="Picture 6">
            <a:extLst>
              <a:ext uri="{FF2B5EF4-FFF2-40B4-BE49-F238E27FC236}">
                <a16:creationId xmlns:a16="http://schemas.microsoft.com/office/drawing/2014/main" id="{D7FF0AA9-B2D9-2D3D-99AC-08B0E522D053}"/>
              </a:ext>
            </a:extLst>
          </p:cNvPr>
          <p:cNvPicPr>
            <a:picLocks noChangeAspect="1"/>
          </p:cNvPicPr>
          <p:nvPr/>
        </p:nvPicPr>
        <p:blipFill>
          <a:blip r:embed="rId5"/>
          <a:stretch>
            <a:fillRect/>
          </a:stretch>
        </p:blipFill>
        <p:spPr>
          <a:xfrm>
            <a:off x="609600" y="2667000"/>
            <a:ext cx="5334000" cy="1637336"/>
          </a:xfrm>
          <a:prstGeom prst="rect">
            <a:avLst/>
          </a:prstGeom>
        </p:spPr>
      </p:pic>
      <p:pic>
        <p:nvPicPr>
          <p:cNvPr id="11" name="Picture 10">
            <a:extLst>
              <a:ext uri="{FF2B5EF4-FFF2-40B4-BE49-F238E27FC236}">
                <a16:creationId xmlns:a16="http://schemas.microsoft.com/office/drawing/2014/main" id="{17DF50F8-D8DB-64DD-CECD-2D9840DFF8AE}"/>
              </a:ext>
            </a:extLst>
          </p:cNvPr>
          <p:cNvPicPr>
            <a:picLocks noChangeAspect="1"/>
          </p:cNvPicPr>
          <p:nvPr/>
        </p:nvPicPr>
        <p:blipFill>
          <a:blip r:embed="rId6"/>
          <a:stretch>
            <a:fillRect/>
          </a:stretch>
        </p:blipFill>
        <p:spPr>
          <a:xfrm>
            <a:off x="6629400" y="2672406"/>
            <a:ext cx="5344786" cy="1631930"/>
          </a:xfrm>
          <a:prstGeom prst="rect">
            <a:avLst/>
          </a:prstGeom>
        </p:spPr>
      </p:pic>
      <p:pic>
        <p:nvPicPr>
          <p:cNvPr id="14" name="Picture 13">
            <a:extLst>
              <a:ext uri="{FF2B5EF4-FFF2-40B4-BE49-F238E27FC236}">
                <a16:creationId xmlns:a16="http://schemas.microsoft.com/office/drawing/2014/main" id="{55176DC1-DC8F-D60A-55CB-B124101DB570}"/>
              </a:ext>
            </a:extLst>
          </p:cNvPr>
          <p:cNvPicPr>
            <a:picLocks noChangeAspect="1"/>
          </p:cNvPicPr>
          <p:nvPr/>
        </p:nvPicPr>
        <p:blipFill>
          <a:blip r:embed="rId7"/>
          <a:stretch>
            <a:fillRect/>
          </a:stretch>
        </p:blipFill>
        <p:spPr>
          <a:xfrm>
            <a:off x="3276600" y="4581492"/>
            <a:ext cx="5391902" cy="1152686"/>
          </a:xfrm>
          <a:prstGeom prst="rect">
            <a:avLst/>
          </a:prstGeom>
        </p:spPr>
      </p:pic>
      <p:sp>
        <p:nvSpPr>
          <p:cNvPr id="17" name="TextBox 16">
            <a:extLst>
              <a:ext uri="{FF2B5EF4-FFF2-40B4-BE49-F238E27FC236}">
                <a16:creationId xmlns:a16="http://schemas.microsoft.com/office/drawing/2014/main" id="{9C2A0095-DA2F-FF27-6148-5AC8FCABB1EE}"/>
              </a:ext>
            </a:extLst>
          </p:cNvPr>
          <p:cNvSpPr txBox="1"/>
          <p:nvPr/>
        </p:nvSpPr>
        <p:spPr>
          <a:xfrm>
            <a:off x="757725" y="5754470"/>
            <a:ext cx="10371750" cy="646331"/>
          </a:xfrm>
          <a:prstGeom prst="rect">
            <a:avLst/>
          </a:prstGeom>
          <a:noFill/>
        </p:spPr>
        <p:txBody>
          <a:bodyPr wrap="none" rtlCol="0">
            <a:spAutoFit/>
          </a:bodyPr>
          <a:lstStyle/>
          <a:p>
            <a:r>
              <a:rPr lang="en-US" dirty="0"/>
              <a:t>L2 regularization suppresses directions where the model is uncertain (flat regions) and </a:t>
            </a:r>
          </a:p>
          <a:p>
            <a:r>
              <a:rPr lang="en-US" dirty="0"/>
              <a:t>preserves directions where the data strongly supports the solution.</a:t>
            </a:r>
            <a:endParaRPr lang="en-IN" dirty="0"/>
          </a:p>
        </p:txBody>
      </p:sp>
      <p:sp>
        <p:nvSpPr>
          <p:cNvPr id="3" name="Slide Number Placeholder 2">
            <a:extLst>
              <a:ext uri="{FF2B5EF4-FFF2-40B4-BE49-F238E27FC236}">
                <a16:creationId xmlns:a16="http://schemas.microsoft.com/office/drawing/2014/main" id="{E50141FC-9CCD-040D-27CE-AF11C2FE06B7}"/>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28377828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6AFAA-3DF6-C729-88DC-31BCD104C9E1}"/>
              </a:ext>
            </a:extLst>
          </p:cNvPr>
          <p:cNvSpPr>
            <a:spLocks noGrp="1"/>
          </p:cNvSpPr>
          <p:nvPr>
            <p:ph type="title"/>
          </p:nvPr>
        </p:nvSpPr>
        <p:spPr/>
        <p:txBody>
          <a:bodyPr/>
          <a:lstStyle/>
          <a:p>
            <a:r>
              <a:rPr lang="en-IN" dirty="0"/>
              <a:t>L2 Parameter Regularization  (</a:t>
            </a:r>
            <a:r>
              <a:rPr lang="en-IN" dirty="0" err="1"/>
              <a:t>Contd</a:t>
            </a:r>
            <a:r>
              <a:rPr lang="en-IN" dirty="0"/>
              <a:t>…)</a:t>
            </a:r>
          </a:p>
        </p:txBody>
      </p:sp>
      <p:sp>
        <p:nvSpPr>
          <p:cNvPr id="3" name="Content Placeholder 2">
            <a:extLst>
              <a:ext uri="{FF2B5EF4-FFF2-40B4-BE49-F238E27FC236}">
                <a16:creationId xmlns:a16="http://schemas.microsoft.com/office/drawing/2014/main" id="{3161C79B-DAA0-8E1C-C337-936C9049D747}"/>
              </a:ext>
            </a:extLst>
          </p:cNvPr>
          <p:cNvSpPr>
            <a:spLocks noGrp="1"/>
          </p:cNvSpPr>
          <p:nvPr>
            <p:ph idx="1"/>
          </p:nvPr>
        </p:nvSpPr>
        <p:spPr/>
        <p:txBody>
          <a:bodyPr/>
          <a:lstStyle/>
          <a:p>
            <a:pPr marL="0" indent="0">
              <a:buNone/>
            </a:pPr>
            <a:r>
              <a:rPr lang="en-US" sz="2000" dirty="0"/>
              <a:t>An illustration of the effect ofL2 (or weight decay) regularization on the value of the optimal w. </a:t>
            </a:r>
            <a:endParaRPr lang="en-IN" sz="2000" dirty="0"/>
          </a:p>
        </p:txBody>
      </p:sp>
      <p:pic>
        <p:nvPicPr>
          <p:cNvPr id="6" name="Picture 5">
            <a:extLst>
              <a:ext uri="{FF2B5EF4-FFF2-40B4-BE49-F238E27FC236}">
                <a16:creationId xmlns:a16="http://schemas.microsoft.com/office/drawing/2014/main" id="{3F4BBA39-E06C-64D9-4262-372143D28ADE}"/>
              </a:ext>
            </a:extLst>
          </p:cNvPr>
          <p:cNvPicPr>
            <a:picLocks noChangeAspect="1"/>
          </p:cNvPicPr>
          <p:nvPr/>
        </p:nvPicPr>
        <p:blipFill>
          <a:blip r:embed="rId3"/>
          <a:stretch>
            <a:fillRect/>
          </a:stretch>
        </p:blipFill>
        <p:spPr>
          <a:xfrm>
            <a:off x="304800" y="2066006"/>
            <a:ext cx="4578349" cy="4016337"/>
          </a:xfrm>
          <a:prstGeom prst="rect">
            <a:avLst/>
          </a:prstGeom>
        </p:spPr>
      </p:pic>
      <p:pic>
        <p:nvPicPr>
          <p:cNvPr id="8" name="Picture 7">
            <a:extLst>
              <a:ext uri="{FF2B5EF4-FFF2-40B4-BE49-F238E27FC236}">
                <a16:creationId xmlns:a16="http://schemas.microsoft.com/office/drawing/2014/main" id="{ED2F03F8-99DE-79B4-CBB1-9B66F9FAF7FE}"/>
              </a:ext>
            </a:extLst>
          </p:cNvPr>
          <p:cNvPicPr>
            <a:picLocks noChangeAspect="1"/>
          </p:cNvPicPr>
          <p:nvPr/>
        </p:nvPicPr>
        <p:blipFill>
          <a:blip r:embed="rId4"/>
          <a:stretch>
            <a:fillRect/>
          </a:stretch>
        </p:blipFill>
        <p:spPr>
          <a:xfrm>
            <a:off x="5334000" y="1905000"/>
            <a:ext cx="3057952" cy="2667372"/>
          </a:xfrm>
          <a:prstGeom prst="rect">
            <a:avLst/>
          </a:prstGeom>
        </p:spPr>
      </p:pic>
      <p:pic>
        <p:nvPicPr>
          <p:cNvPr id="10" name="Picture 9">
            <a:extLst>
              <a:ext uri="{FF2B5EF4-FFF2-40B4-BE49-F238E27FC236}">
                <a16:creationId xmlns:a16="http://schemas.microsoft.com/office/drawing/2014/main" id="{B2F99F5D-0DE7-4520-FA5F-4F92372F81AA}"/>
              </a:ext>
            </a:extLst>
          </p:cNvPr>
          <p:cNvPicPr>
            <a:picLocks noChangeAspect="1"/>
          </p:cNvPicPr>
          <p:nvPr/>
        </p:nvPicPr>
        <p:blipFill>
          <a:blip r:embed="rId5"/>
          <a:stretch>
            <a:fillRect/>
          </a:stretch>
        </p:blipFill>
        <p:spPr>
          <a:xfrm>
            <a:off x="4928477" y="5030411"/>
            <a:ext cx="3324689" cy="562053"/>
          </a:xfrm>
          <a:prstGeom prst="rect">
            <a:avLst/>
          </a:prstGeom>
        </p:spPr>
      </p:pic>
      <p:sp>
        <p:nvSpPr>
          <p:cNvPr id="11" name="TextBox 10">
            <a:extLst>
              <a:ext uri="{FF2B5EF4-FFF2-40B4-BE49-F238E27FC236}">
                <a16:creationId xmlns:a16="http://schemas.microsoft.com/office/drawing/2014/main" id="{149E9202-56B7-1CAA-E1B3-4AA80EBC181A}"/>
              </a:ext>
            </a:extLst>
          </p:cNvPr>
          <p:cNvSpPr txBox="1"/>
          <p:nvPr/>
        </p:nvSpPr>
        <p:spPr>
          <a:xfrm>
            <a:off x="4934339" y="4661079"/>
            <a:ext cx="2443233" cy="369332"/>
          </a:xfrm>
          <a:prstGeom prst="rect">
            <a:avLst/>
          </a:prstGeom>
          <a:noFill/>
        </p:spPr>
        <p:txBody>
          <a:bodyPr wrap="none" rtlCol="0">
            <a:spAutoFit/>
          </a:bodyPr>
          <a:lstStyle/>
          <a:p>
            <a:r>
              <a:rPr lang="en-IN" dirty="0"/>
              <a:t>We are minimizing: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7C4E528-1653-0972-46D2-9387E170C730}"/>
                  </a:ext>
                </a:extLst>
              </p:cNvPr>
              <p:cNvSpPr txBox="1"/>
              <p:nvPr/>
            </p:nvSpPr>
            <p:spPr>
              <a:xfrm>
                <a:off x="8247074" y="4668096"/>
                <a:ext cx="3944926" cy="2123658"/>
              </a:xfrm>
              <a:prstGeom prst="rect">
                <a:avLst/>
              </a:prstGeom>
              <a:noFill/>
            </p:spPr>
            <p:txBody>
              <a:bodyPr wrap="none" rtlCol="0">
                <a:spAutoFit/>
              </a:bodyPr>
              <a:lstStyle/>
              <a:p>
                <a:r>
                  <a:rPr lang="en-IN" sz="1600" dirty="0"/>
                  <a:t>So:</a:t>
                </a:r>
              </a:p>
              <a:p>
                <a:r>
                  <a:rPr lang="en-IN" sz="1600" dirty="0"/>
                  <a:t>One force → pulls toward </a:t>
                </a:r>
                <a14:m>
                  <m:oMath xmlns:m="http://schemas.openxmlformats.org/officeDocument/2006/math">
                    <m:sSup>
                      <m:sSupPr>
                        <m:ctrlPr>
                          <a:rPr lang="ar-AE" sz="1600" i="1">
                            <a:latin typeface="Cambria Math" panose="02040503050406030204" pitchFamily="18" charset="0"/>
                          </a:rPr>
                        </m:ctrlPr>
                      </m:sSupPr>
                      <m:e>
                        <m:r>
                          <a:rPr lang="ar-AE" sz="1600" i="1">
                            <a:latin typeface="Cambria Math" panose="02040503050406030204" pitchFamily="18" charset="0"/>
                          </a:rPr>
                          <m:t>𝑤</m:t>
                        </m:r>
                      </m:e>
                      <m:sup>
                        <m:r>
                          <a:rPr lang="ar-AE" sz="1600">
                            <a:latin typeface="Cambria Math" panose="02040503050406030204" pitchFamily="18" charset="0"/>
                          </a:rPr>
                          <m:t>∗</m:t>
                        </m:r>
                      </m:sup>
                    </m:sSup>
                  </m:oMath>
                </a14:m>
                <a:endParaRPr lang="ar-AE" sz="1600" dirty="0"/>
              </a:p>
              <a:p>
                <a:r>
                  <a:rPr lang="en-IN" sz="1600" dirty="0"/>
                  <a:t>Another force → pulls toward </a:t>
                </a:r>
                <a:r>
                  <a:rPr lang="en-IN" sz="1600" b="1" dirty="0"/>
                  <a:t>origin</a:t>
                </a:r>
                <a:endParaRPr lang="en-IN" sz="1600" dirty="0"/>
              </a:p>
              <a:p>
                <a:r>
                  <a:rPr lang="en-IN" dirty="0"/>
                  <a:t>Final solution:</a:t>
                </a:r>
                <a14:m>
                  <m:oMath xmlns:m="http://schemas.openxmlformats.org/officeDocument/2006/math">
                    <m:r>
                      <a:rPr lang="en-IN">
                        <a:latin typeface="Cambria Math" panose="02040503050406030204" pitchFamily="18" charset="0"/>
                      </a:rPr>
                      <m:t> </m:t>
                    </m:r>
                    <m:acc>
                      <m:accPr>
                        <m:chr m:val="̃"/>
                        <m:ctrlPr>
                          <a:rPr lang="ar-AE" i="1">
                            <a:latin typeface="Cambria Math" panose="02040503050406030204" pitchFamily="18" charset="0"/>
                          </a:rPr>
                        </m:ctrlPr>
                      </m:accPr>
                      <m:e>
                        <m:r>
                          <a:rPr lang="ar-AE" i="1">
                            <a:latin typeface="Cambria Math" panose="02040503050406030204" pitchFamily="18" charset="0"/>
                          </a:rPr>
                          <m:t>𝑤</m:t>
                        </m:r>
                      </m:e>
                    </m:acc>
                  </m:oMath>
                </a14:m>
                <a:endParaRPr lang="ar-AE" dirty="0"/>
              </a:p>
              <a:p>
                <a:r>
                  <a:rPr lang="ar-AE" dirty="0"/>
                  <a:t>= </a:t>
                </a:r>
                <a:r>
                  <a:rPr lang="en-IN" b="1" dirty="0"/>
                  <a:t>compromise point</a:t>
                </a:r>
                <a:endParaRPr lang="en-IN" dirty="0"/>
              </a:p>
              <a:p>
                <a:endParaRPr lang="en-IN" sz="1600" dirty="0"/>
              </a:p>
              <a:p>
                <a:endParaRPr lang="en-IN" sz="1600" dirty="0"/>
              </a:p>
              <a:p>
                <a:endParaRPr lang="en-IN" sz="1600" dirty="0"/>
              </a:p>
            </p:txBody>
          </p:sp>
        </mc:Choice>
        <mc:Fallback xmlns="">
          <p:sp>
            <p:nvSpPr>
              <p:cNvPr id="12" name="TextBox 11">
                <a:extLst>
                  <a:ext uri="{FF2B5EF4-FFF2-40B4-BE49-F238E27FC236}">
                    <a16:creationId xmlns:a16="http://schemas.microsoft.com/office/drawing/2014/main" id="{67C4E528-1653-0972-46D2-9387E170C730}"/>
                  </a:ext>
                </a:extLst>
              </p:cNvPr>
              <p:cNvSpPr txBox="1">
                <a:spLocks noRot="1" noChangeAspect="1" noMove="1" noResize="1" noEditPoints="1" noAdjustHandles="1" noChangeArrowheads="1" noChangeShapeType="1" noTextEdit="1"/>
              </p:cNvSpPr>
              <p:nvPr/>
            </p:nvSpPr>
            <p:spPr>
              <a:xfrm>
                <a:off x="8247074" y="4668096"/>
                <a:ext cx="3944926" cy="2123658"/>
              </a:xfrm>
              <a:prstGeom prst="rect">
                <a:avLst/>
              </a:prstGeom>
              <a:blipFill>
                <a:blip r:embed="rId6"/>
                <a:stretch>
                  <a:fillRect l="-1546" t="-862"/>
                </a:stretch>
              </a:blipFill>
            </p:spPr>
            <p:txBody>
              <a:bodyPr/>
              <a:lstStyle/>
              <a:p>
                <a:r>
                  <a:rPr lang="en-IN">
                    <a:noFill/>
                  </a:rPr>
                  <a:t> </a:t>
                </a:r>
              </a:p>
            </p:txBody>
          </p:sp>
        </mc:Fallback>
      </mc:AlternateContent>
      <p:sp>
        <p:nvSpPr>
          <p:cNvPr id="5" name="Slide Number Placeholder 4">
            <a:extLst>
              <a:ext uri="{FF2B5EF4-FFF2-40B4-BE49-F238E27FC236}">
                <a16:creationId xmlns:a16="http://schemas.microsoft.com/office/drawing/2014/main" id="{CE79297F-7C71-A753-F4C8-C7E28CC99922}"/>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5175787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2B62-8C20-A145-29EF-7A2B29093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0300E-1E6A-8571-9EA5-0E05BF5EAB4A}"/>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F6AACC48-C0FB-E424-AE93-05708159CFC2}"/>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94941713-CB3F-65CC-D0FC-411FD45021E1}"/>
              </a:ext>
            </a:extLst>
          </p:cNvPr>
          <p:cNvPicPr>
            <a:picLocks noChangeAspect="1"/>
          </p:cNvPicPr>
          <p:nvPr/>
        </p:nvPicPr>
        <p:blipFill>
          <a:blip r:embed="rId2"/>
          <a:stretch>
            <a:fillRect/>
          </a:stretch>
        </p:blipFill>
        <p:spPr>
          <a:xfrm>
            <a:off x="515296" y="1189892"/>
            <a:ext cx="8222304" cy="5257800"/>
          </a:xfrm>
          <a:prstGeom prst="rect">
            <a:avLst/>
          </a:prstGeom>
        </p:spPr>
      </p:pic>
      <p:sp>
        <p:nvSpPr>
          <p:cNvPr id="5" name="Slide Number Placeholder 4">
            <a:extLst>
              <a:ext uri="{FF2B5EF4-FFF2-40B4-BE49-F238E27FC236}">
                <a16:creationId xmlns:a16="http://schemas.microsoft.com/office/drawing/2014/main" id="{2087718D-F436-ED01-7F12-D3435681300E}"/>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33767460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770F0-80E1-D001-AD09-89036B6D4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0A2D5-21DC-6173-F994-457D15AF9B05}"/>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761D80F0-9C40-A669-56A6-459FF72918BB}"/>
              </a:ext>
            </a:extLst>
          </p:cNvPr>
          <p:cNvPicPr>
            <a:picLocks noChangeAspect="1"/>
          </p:cNvPicPr>
          <p:nvPr/>
        </p:nvPicPr>
        <p:blipFill>
          <a:blip r:embed="rId3"/>
          <a:stretch>
            <a:fillRect/>
          </a:stretch>
        </p:blipFill>
        <p:spPr>
          <a:xfrm>
            <a:off x="1793524" y="1944512"/>
            <a:ext cx="3790950" cy="1034953"/>
          </a:xfrm>
          <a:prstGeom prst="rect">
            <a:avLst/>
          </a:prstGeom>
        </p:spPr>
      </p:pic>
      <p:sp>
        <p:nvSpPr>
          <p:cNvPr id="6" name="TextBox 5">
            <a:extLst>
              <a:ext uri="{FF2B5EF4-FFF2-40B4-BE49-F238E27FC236}">
                <a16:creationId xmlns:a16="http://schemas.microsoft.com/office/drawing/2014/main" id="{DDB129CB-6194-DCEB-FCA5-F0024EB5229B}"/>
              </a:ext>
            </a:extLst>
          </p:cNvPr>
          <p:cNvSpPr txBox="1"/>
          <p:nvPr/>
        </p:nvSpPr>
        <p:spPr>
          <a:xfrm>
            <a:off x="1875022" y="3076601"/>
            <a:ext cx="3881960" cy="369332"/>
          </a:xfrm>
          <a:prstGeom prst="rect">
            <a:avLst/>
          </a:prstGeom>
          <a:noFill/>
        </p:spPr>
        <p:txBody>
          <a:bodyPr wrap="none" rtlCol="0">
            <a:spAutoFit/>
          </a:bodyPr>
          <a:lstStyle/>
          <a:p>
            <a:r>
              <a:rPr lang="en-US" dirty="0"/>
              <a:t>L1 Regularization added to Loss</a:t>
            </a:r>
            <a:endParaRPr lang="en-IN" dirty="0"/>
          </a:p>
        </p:txBody>
      </p:sp>
      <p:pic>
        <p:nvPicPr>
          <p:cNvPr id="7" name="Picture 6">
            <a:extLst>
              <a:ext uri="{FF2B5EF4-FFF2-40B4-BE49-F238E27FC236}">
                <a16:creationId xmlns:a16="http://schemas.microsoft.com/office/drawing/2014/main" id="{6814CCE1-B8AB-6D95-F464-61C9AB5266FC}"/>
              </a:ext>
            </a:extLst>
          </p:cNvPr>
          <p:cNvPicPr>
            <a:picLocks noChangeAspect="1"/>
          </p:cNvPicPr>
          <p:nvPr/>
        </p:nvPicPr>
        <p:blipFill>
          <a:blip r:embed="rId4"/>
          <a:stretch>
            <a:fillRect/>
          </a:stretch>
        </p:blipFill>
        <p:spPr>
          <a:xfrm>
            <a:off x="6477000" y="1818823"/>
            <a:ext cx="3790950" cy="1064336"/>
          </a:xfrm>
          <a:prstGeom prst="rect">
            <a:avLst/>
          </a:prstGeom>
        </p:spPr>
      </p:pic>
      <p:sp>
        <p:nvSpPr>
          <p:cNvPr id="8" name="TextBox 7">
            <a:extLst>
              <a:ext uri="{FF2B5EF4-FFF2-40B4-BE49-F238E27FC236}">
                <a16:creationId xmlns:a16="http://schemas.microsoft.com/office/drawing/2014/main" id="{05A4137C-0C07-8790-757E-56FE03A23A11}"/>
              </a:ext>
            </a:extLst>
          </p:cNvPr>
          <p:cNvSpPr txBox="1"/>
          <p:nvPr/>
        </p:nvSpPr>
        <p:spPr>
          <a:xfrm>
            <a:off x="6629400" y="2989531"/>
            <a:ext cx="3881960" cy="369332"/>
          </a:xfrm>
          <a:prstGeom prst="rect">
            <a:avLst/>
          </a:prstGeom>
          <a:noFill/>
        </p:spPr>
        <p:txBody>
          <a:bodyPr wrap="none" rtlCol="0">
            <a:spAutoFit/>
          </a:bodyPr>
          <a:lstStyle/>
          <a:p>
            <a:r>
              <a:rPr lang="en-US" dirty="0"/>
              <a:t>L2 Regularization added to Loss</a:t>
            </a:r>
            <a:endParaRPr lang="en-IN" dirty="0"/>
          </a:p>
        </p:txBody>
      </p:sp>
      <p:pic>
        <p:nvPicPr>
          <p:cNvPr id="9" name="Picture 8">
            <a:extLst>
              <a:ext uri="{FF2B5EF4-FFF2-40B4-BE49-F238E27FC236}">
                <a16:creationId xmlns:a16="http://schemas.microsoft.com/office/drawing/2014/main" id="{D64F8A90-E225-2E32-10D8-F3F13A3DB9F2}"/>
              </a:ext>
            </a:extLst>
          </p:cNvPr>
          <p:cNvPicPr>
            <a:picLocks noChangeAspect="1"/>
          </p:cNvPicPr>
          <p:nvPr/>
        </p:nvPicPr>
        <p:blipFill>
          <a:blip r:embed="rId5"/>
          <a:stretch>
            <a:fillRect/>
          </a:stretch>
        </p:blipFill>
        <p:spPr>
          <a:xfrm>
            <a:off x="1981200" y="3642429"/>
            <a:ext cx="2917474" cy="2917474"/>
          </a:xfrm>
          <a:prstGeom prst="rect">
            <a:avLst/>
          </a:prstGeom>
        </p:spPr>
      </p:pic>
      <p:sp>
        <p:nvSpPr>
          <p:cNvPr id="3" name="Slide Number Placeholder 2">
            <a:extLst>
              <a:ext uri="{FF2B5EF4-FFF2-40B4-BE49-F238E27FC236}">
                <a16:creationId xmlns:a16="http://schemas.microsoft.com/office/drawing/2014/main" id="{8C90789E-5FA5-996D-FC4D-3F03BF6EAA82}"/>
              </a:ext>
            </a:extLst>
          </p:cNvPr>
          <p:cNvSpPr>
            <a:spLocks noGrp="1"/>
          </p:cNvSpPr>
          <p:nvPr>
            <p:ph type="sldNum" sz="quarter" idx="12"/>
          </p:nvPr>
        </p:nvSpPr>
        <p:spPr/>
        <p:txBody>
          <a:bodyPr/>
          <a:lstStyle/>
          <a:p>
            <a:fld id="{BB2CE0DE-867F-455F-B20B-96D381B4AB71}" type="slidenum">
              <a:rPr lang="en-US" smtClean="0"/>
              <a:t>51</a:t>
            </a:fld>
            <a:endParaRPr lang="en-US"/>
          </a:p>
        </p:txBody>
      </p:sp>
    </p:spTree>
    <p:extLst>
      <p:ext uri="{BB962C8B-B14F-4D97-AF65-F5344CB8AC3E}">
        <p14:creationId xmlns:p14="http://schemas.microsoft.com/office/powerpoint/2010/main" val="14224715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CFD64-3AD6-4083-D49B-A2A9833105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987C4E-60CC-A15A-9404-B49C992DE4EE}"/>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32C489CF-3CCB-B4A1-CB41-5F155E6F95B6}"/>
              </a:ext>
            </a:extLst>
          </p:cNvPr>
          <p:cNvPicPr>
            <a:picLocks noChangeAspect="1"/>
          </p:cNvPicPr>
          <p:nvPr/>
        </p:nvPicPr>
        <p:blipFill>
          <a:blip r:embed="rId3"/>
          <a:stretch>
            <a:fillRect/>
          </a:stretch>
        </p:blipFill>
        <p:spPr>
          <a:xfrm>
            <a:off x="1905000" y="1219200"/>
            <a:ext cx="8553524" cy="4747322"/>
          </a:xfrm>
          <a:prstGeom prst="rect">
            <a:avLst/>
          </a:prstGeom>
        </p:spPr>
      </p:pic>
      <p:sp>
        <p:nvSpPr>
          <p:cNvPr id="5" name="Slide Number Placeholder 4">
            <a:extLst>
              <a:ext uri="{FF2B5EF4-FFF2-40B4-BE49-F238E27FC236}">
                <a16:creationId xmlns:a16="http://schemas.microsoft.com/office/drawing/2014/main" id="{93ACB1A6-0C07-132E-B21F-09CC9A88AB64}"/>
              </a:ext>
            </a:extLst>
          </p:cNvPr>
          <p:cNvSpPr>
            <a:spLocks noGrp="1"/>
          </p:cNvSpPr>
          <p:nvPr>
            <p:ph type="sldNum" sz="quarter" idx="12"/>
          </p:nvPr>
        </p:nvSpPr>
        <p:spPr/>
        <p:txBody>
          <a:bodyPr/>
          <a:lstStyle/>
          <a:p>
            <a:fld id="{BB2CE0DE-867F-455F-B20B-96D381B4AB71}" type="slidenum">
              <a:rPr lang="en-US" smtClean="0"/>
              <a:t>52</a:t>
            </a:fld>
            <a:endParaRPr lang="en-US"/>
          </a:p>
        </p:txBody>
      </p:sp>
    </p:spTree>
    <p:extLst>
      <p:ext uri="{BB962C8B-B14F-4D97-AF65-F5344CB8AC3E}">
        <p14:creationId xmlns:p14="http://schemas.microsoft.com/office/powerpoint/2010/main" val="36996821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28673-B8B8-E8B5-C72E-A767F4F355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C1A84CC-009F-2706-E826-6E5E2126E871}"/>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3777A988-11A0-7FCD-1739-30432EF15E78}"/>
              </a:ext>
            </a:extLst>
          </p:cNvPr>
          <p:cNvPicPr>
            <a:picLocks noChangeAspect="1"/>
          </p:cNvPicPr>
          <p:nvPr/>
        </p:nvPicPr>
        <p:blipFill>
          <a:blip r:embed="rId3"/>
          <a:stretch>
            <a:fillRect/>
          </a:stretch>
        </p:blipFill>
        <p:spPr>
          <a:xfrm>
            <a:off x="1524000" y="1519590"/>
            <a:ext cx="9144000" cy="3818821"/>
          </a:xfrm>
          <a:prstGeom prst="rect">
            <a:avLst/>
          </a:prstGeom>
        </p:spPr>
      </p:pic>
      <p:sp>
        <p:nvSpPr>
          <p:cNvPr id="5" name="Slide Number Placeholder 4">
            <a:extLst>
              <a:ext uri="{FF2B5EF4-FFF2-40B4-BE49-F238E27FC236}">
                <a16:creationId xmlns:a16="http://schemas.microsoft.com/office/drawing/2014/main" id="{80ADDF32-9336-937E-AAE4-685A75E7D8CD}"/>
              </a:ext>
            </a:extLst>
          </p:cNvPr>
          <p:cNvSpPr>
            <a:spLocks noGrp="1"/>
          </p:cNvSpPr>
          <p:nvPr>
            <p:ph type="sldNum" sz="quarter" idx="12"/>
          </p:nvPr>
        </p:nvSpPr>
        <p:spPr/>
        <p:txBody>
          <a:bodyPr/>
          <a:lstStyle/>
          <a:p>
            <a:fld id="{BB2CE0DE-867F-455F-B20B-96D381B4AB71}" type="slidenum">
              <a:rPr lang="en-US" smtClean="0"/>
              <a:t>53</a:t>
            </a:fld>
            <a:endParaRPr lang="en-US"/>
          </a:p>
        </p:txBody>
      </p:sp>
    </p:spTree>
    <p:extLst>
      <p:ext uri="{BB962C8B-B14F-4D97-AF65-F5344CB8AC3E}">
        <p14:creationId xmlns:p14="http://schemas.microsoft.com/office/powerpoint/2010/main" val="27764707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1E12-624B-A163-D63F-FC5EDAED56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BC2290C-3F08-1A04-E5C2-C8ACC281AF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E37B5E7-D702-6BCD-FD23-8860216620F0}"/>
              </a:ext>
            </a:extLst>
          </p:cNvPr>
          <p:cNvPicPr>
            <a:picLocks noChangeAspect="1"/>
          </p:cNvPicPr>
          <p:nvPr/>
        </p:nvPicPr>
        <p:blipFill>
          <a:blip r:embed="rId3"/>
          <a:stretch>
            <a:fillRect/>
          </a:stretch>
        </p:blipFill>
        <p:spPr>
          <a:xfrm>
            <a:off x="1524000" y="1885390"/>
            <a:ext cx="9144000" cy="3087221"/>
          </a:xfrm>
          <a:prstGeom prst="rect">
            <a:avLst/>
          </a:prstGeom>
        </p:spPr>
      </p:pic>
      <p:sp>
        <p:nvSpPr>
          <p:cNvPr id="6" name="Slide Number Placeholder 5">
            <a:extLst>
              <a:ext uri="{FF2B5EF4-FFF2-40B4-BE49-F238E27FC236}">
                <a16:creationId xmlns:a16="http://schemas.microsoft.com/office/drawing/2014/main" id="{958EF84A-EC0D-A661-2BCC-E98BBFB7BD0C}"/>
              </a:ext>
            </a:extLst>
          </p:cNvPr>
          <p:cNvSpPr>
            <a:spLocks noGrp="1"/>
          </p:cNvSpPr>
          <p:nvPr>
            <p:ph type="sldNum" sz="quarter" idx="12"/>
          </p:nvPr>
        </p:nvSpPr>
        <p:spPr/>
        <p:txBody>
          <a:bodyPr/>
          <a:lstStyle/>
          <a:p>
            <a:fld id="{BB2CE0DE-867F-455F-B20B-96D381B4AB71}" type="slidenum">
              <a:rPr lang="en-US" smtClean="0"/>
              <a:t>54</a:t>
            </a:fld>
            <a:endParaRPr lang="en-US"/>
          </a:p>
        </p:txBody>
      </p:sp>
    </p:spTree>
    <p:extLst>
      <p:ext uri="{BB962C8B-B14F-4D97-AF65-F5344CB8AC3E}">
        <p14:creationId xmlns:p14="http://schemas.microsoft.com/office/powerpoint/2010/main" val="30004479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C3B92-F693-C4F6-649E-2FB9FF3AEE44}"/>
              </a:ext>
            </a:extLst>
          </p:cNvPr>
          <p:cNvSpPr>
            <a:spLocks noGrp="1"/>
          </p:cNvSpPr>
          <p:nvPr>
            <p:ph type="title"/>
          </p:nvPr>
        </p:nvSpPr>
        <p:spPr/>
        <p:txBody>
          <a:bodyPr/>
          <a:lstStyle/>
          <a:p>
            <a:r>
              <a:rPr lang="en-US" sz="2400" dirty="0">
                <a:solidFill>
                  <a:srgbClr val="262626"/>
                </a:solidFill>
                <a:latin typeface="Inter"/>
              </a:rPr>
              <a:t>Introduction, Parameter Norm Penalties - L2 Parameter Regularization,</a:t>
            </a:r>
            <a:endParaRPr lang="en-IN" sz="2400" dirty="0"/>
          </a:p>
        </p:txBody>
      </p:sp>
      <p:sp>
        <p:nvSpPr>
          <p:cNvPr id="3" name="Content Placeholder 2">
            <a:extLst>
              <a:ext uri="{FF2B5EF4-FFF2-40B4-BE49-F238E27FC236}">
                <a16:creationId xmlns:a16="http://schemas.microsoft.com/office/drawing/2014/main" id="{092CC271-F92A-8F8A-FFCA-1BF00E6B82F0}"/>
              </a:ext>
            </a:extLst>
          </p:cNvPr>
          <p:cNvSpPr>
            <a:spLocks noGrp="1"/>
          </p:cNvSpPr>
          <p:nvPr>
            <p:ph idx="1"/>
          </p:nvPr>
        </p:nvSpPr>
        <p:spPr/>
        <p:txBody>
          <a:bodyPr/>
          <a:lstStyle/>
          <a:p>
            <a:r>
              <a:rPr lang="en-US" sz="1400" dirty="0" err="1"/>
              <a:t>Analyse</a:t>
            </a:r>
            <a:r>
              <a:rPr lang="en-US" sz="1400" dirty="0"/>
              <a:t> the importance of regularization techniques that encourage sparsity and discuss the impact of the strategy on model parameters.</a:t>
            </a:r>
          </a:p>
          <a:p>
            <a:r>
              <a:rPr lang="en-US" sz="1400" dirty="0"/>
              <a:t>Which regularization method leads to weight sparsity? Explain why</a:t>
            </a:r>
          </a:p>
          <a:p>
            <a:r>
              <a:rPr lang="en-US" sz="1400" dirty="0"/>
              <a:t>Explain how parameter norm penalties act as a regularization technique. Derive the mathematical expression for L2 parameter regularization and its incorporation into the loss function.</a:t>
            </a:r>
          </a:p>
          <a:p>
            <a:r>
              <a:rPr lang="en-US" sz="1400" dirty="0"/>
              <a:t>How does the weight decay regularization technique, as described in L 2 regularization, modify the gradient descent update rule, and what is the effect of this modification on the weight vector over the course of training?</a:t>
            </a:r>
          </a:p>
          <a:p>
            <a:r>
              <a:rPr lang="en-US" sz="1400" dirty="0"/>
              <a:t>How does penalizing the activations of units in a neural network lead to sparsity, and how is this different from the sparsity caused by L1 regularization on model parameters?</a:t>
            </a:r>
          </a:p>
          <a:p>
            <a:r>
              <a:rPr lang="en-IN" sz="1400" dirty="0"/>
              <a:t>Illustrate the imposing of soft constraints on parameters to improve generalization.</a:t>
            </a:r>
            <a:endParaRPr lang="en-US" sz="1400" dirty="0"/>
          </a:p>
        </p:txBody>
      </p:sp>
      <p:sp>
        <p:nvSpPr>
          <p:cNvPr id="5" name="Slide Number Placeholder 4">
            <a:extLst>
              <a:ext uri="{FF2B5EF4-FFF2-40B4-BE49-F238E27FC236}">
                <a16:creationId xmlns:a16="http://schemas.microsoft.com/office/drawing/2014/main" id="{0C1DDCF8-ADE9-C027-2953-96E7E6DC76CA}"/>
              </a:ext>
            </a:extLst>
          </p:cNvPr>
          <p:cNvSpPr>
            <a:spLocks noGrp="1"/>
          </p:cNvSpPr>
          <p:nvPr>
            <p:ph type="sldNum" sz="quarter" idx="12"/>
          </p:nvPr>
        </p:nvSpPr>
        <p:spPr/>
        <p:txBody>
          <a:bodyPr/>
          <a:lstStyle/>
          <a:p>
            <a:fld id="{BB2CE0DE-867F-455F-B20B-96D381B4AB71}" type="slidenum">
              <a:rPr lang="en-US" smtClean="0"/>
              <a:t>55</a:t>
            </a:fld>
            <a:endParaRPr lang="en-US"/>
          </a:p>
        </p:txBody>
      </p:sp>
    </p:spTree>
    <p:extLst>
      <p:ext uri="{BB962C8B-B14F-4D97-AF65-F5344CB8AC3E}">
        <p14:creationId xmlns:p14="http://schemas.microsoft.com/office/powerpoint/2010/main" val="25317320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9977-5E9C-58B2-7C76-1E48E5C95C0C}"/>
              </a:ext>
            </a:extLst>
          </p:cNvPr>
          <p:cNvSpPr>
            <a:spLocks noGrp="1"/>
          </p:cNvSpPr>
          <p:nvPr>
            <p:ph type="title"/>
          </p:nvPr>
        </p:nvSpPr>
        <p:spPr/>
        <p:txBody>
          <a:bodyPr/>
          <a:lstStyle/>
          <a:p>
            <a:r>
              <a:rPr lang="en-US" dirty="0">
                <a:solidFill>
                  <a:srgbClr val="262626"/>
                </a:solidFill>
                <a:latin typeface="Inter"/>
              </a:rPr>
              <a:t>Dataset Augmentation</a:t>
            </a:r>
            <a:endParaRPr lang="en-IN" dirty="0"/>
          </a:p>
        </p:txBody>
      </p:sp>
      <p:sp>
        <p:nvSpPr>
          <p:cNvPr id="3" name="Content Placeholder 2">
            <a:extLst>
              <a:ext uri="{FF2B5EF4-FFF2-40B4-BE49-F238E27FC236}">
                <a16:creationId xmlns:a16="http://schemas.microsoft.com/office/drawing/2014/main" id="{BDF4ADE2-3D71-7DF7-5AC6-035CB932AD65}"/>
              </a:ext>
            </a:extLst>
          </p:cNvPr>
          <p:cNvSpPr>
            <a:spLocks noGrp="1"/>
          </p:cNvSpPr>
          <p:nvPr>
            <p:ph idx="1"/>
          </p:nvPr>
        </p:nvSpPr>
        <p:spPr/>
        <p:txBody>
          <a:bodyPr/>
          <a:lstStyle/>
          <a:p>
            <a:r>
              <a:rPr lang="en-IN" sz="1600" dirty="0"/>
              <a:t>Explain Data Augmentation Techniques.</a:t>
            </a:r>
          </a:p>
          <a:p>
            <a:r>
              <a:rPr lang="en-US" sz="1600" dirty="0"/>
              <a:t>Discuss how data augmentation techniques can vary across different applications.</a:t>
            </a:r>
          </a:p>
          <a:p>
            <a:r>
              <a:rPr lang="en-US" sz="1600" dirty="0"/>
              <a:t>Analyze the impact of applying aggressive data augmentation on the quality of the learned features.</a:t>
            </a:r>
          </a:p>
          <a:p>
            <a:r>
              <a:rPr lang="en-US" sz="1600" dirty="0"/>
              <a:t>In what ways does dataset augmentation enhance generalization for classification tasks, particularly in object recognition and speech recognition? How does noise injection contribute to the robustness of neural networks, and why is it crucial to account for dataset augmentation when comparing the performance of different machine learning algorithms? </a:t>
            </a:r>
            <a:endParaRPr lang="en-IN" sz="1600" dirty="0"/>
          </a:p>
        </p:txBody>
      </p:sp>
      <p:sp>
        <p:nvSpPr>
          <p:cNvPr id="5" name="Slide Number Placeholder 4">
            <a:extLst>
              <a:ext uri="{FF2B5EF4-FFF2-40B4-BE49-F238E27FC236}">
                <a16:creationId xmlns:a16="http://schemas.microsoft.com/office/drawing/2014/main" id="{6A5FC5AB-0EE7-3A28-5043-24C19B0E4A5E}"/>
              </a:ext>
            </a:extLst>
          </p:cNvPr>
          <p:cNvSpPr>
            <a:spLocks noGrp="1"/>
          </p:cNvSpPr>
          <p:nvPr>
            <p:ph type="sldNum" sz="quarter" idx="12"/>
          </p:nvPr>
        </p:nvSpPr>
        <p:spPr/>
        <p:txBody>
          <a:bodyPr/>
          <a:lstStyle/>
          <a:p>
            <a:fld id="{BB2CE0DE-867F-455F-B20B-96D381B4AB71}" type="slidenum">
              <a:rPr lang="en-US" smtClean="0"/>
              <a:t>56</a:t>
            </a:fld>
            <a:endParaRPr lang="en-US"/>
          </a:p>
        </p:txBody>
      </p:sp>
    </p:spTree>
    <p:extLst>
      <p:ext uri="{BB962C8B-B14F-4D97-AF65-F5344CB8AC3E}">
        <p14:creationId xmlns:p14="http://schemas.microsoft.com/office/powerpoint/2010/main" val="32282722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176E-7A8C-E96A-DBE1-14089FA14654}"/>
              </a:ext>
            </a:extLst>
          </p:cNvPr>
          <p:cNvSpPr>
            <a:spLocks noGrp="1"/>
          </p:cNvSpPr>
          <p:nvPr>
            <p:ph type="title"/>
          </p:nvPr>
        </p:nvSpPr>
        <p:spPr/>
        <p:txBody>
          <a:bodyPr/>
          <a:lstStyle/>
          <a:p>
            <a:r>
              <a:rPr lang="en-US" dirty="0">
                <a:solidFill>
                  <a:srgbClr val="262626"/>
                </a:solidFill>
                <a:latin typeface="Inter"/>
              </a:rPr>
              <a:t>Semi-Supervised Learning</a:t>
            </a:r>
            <a:endParaRPr lang="en-IN" dirty="0"/>
          </a:p>
        </p:txBody>
      </p:sp>
      <p:sp>
        <p:nvSpPr>
          <p:cNvPr id="3" name="Content Placeholder 2">
            <a:extLst>
              <a:ext uri="{FF2B5EF4-FFF2-40B4-BE49-F238E27FC236}">
                <a16:creationId xmlns:a16="http://schemas.microsoft.com/office/drawing/2014/main" id="{89D47599-6E80-86B3-4579-6F1F92531E3C}"/>
              </a:ext>
            </a:extLst>
          </p:cNvPr>
          <p:cNvSpPr>
            <a:spLocks noGrp="1"/>
          </p:cNvSpPr>
          <p:nvPr>
            <p:ph idx="1"/>
          </p:nvPr>
        </p:nvSpPr>
        <p:spPr/>
        <p:txBody>
          <a:bodyPr/>
          <a:lstStyle/>
          <a:p>
            <a:r>
              <a:rPr lang="en-US" sz="1400" dirty="0"/>
              <a:t>What is semi-supervised learning and how does it combine unsupervised and supervised components to improve representation learning? Additionally, how does the shared parameterization between generative and discriminative models enhance generalization, and what role does this play in methods like kernel machines for regression? </a:t>
            </a:r>
            <a:endParaRPr lang="en-IN" sz="1400" dirty="0"/>
          </a:p>
          <a:p>
            <a:endParaRPr lang="en-IN" sz="1400" dirty="0"/>
          </a:p>
        </p:txBody>
      </p:sp>
      <p:sp>
        <p:nvSpPr>
          <p:cNvPr id="5" name="Slide Number Placeholder 4">
            <a:extLst>
              <a:ext uri="{FF2B5EF4-FFF2-40B4-BE49-F238E27FC236}">
                <a16:creationId xmlns:a16="http://schemas.microsoft.com/office/drawing/2014/main" id="{AE1EEEFF-406D-B897-2FE1-E722720102A0}"/>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8024941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5773-1EC2-8D95-FA1F-9B9582871B78}"/>
              </a:ext>
            </a:extLst>
          </p:cNvPr>
          <p:cNvSpPr>
            <a:spLocks noGrp="1"/>
          </p:cNvSpPr>
          <p:nvPr>
            <p:ph type="title"/>
          </p:nvPr>
        </p:nvSpPr>
        <p:spPr/>
        <p:txBody>
          <a:bodyPr/>
          <a:lstStyle/>
          <a:p>
            <a:r>
              <a:rPr lang="en-US" dirty="0">
                <a:solidFill>
                  <a:srgbClr val="262626"/>
                </a:solidFill>
                <a:latin typeface="Inter"/>
              </a:rPr>
              <a:t>Multi-Task Learning</a:t>
            </a:r>
            <a:endParaRPr lang="en-IN" dirty="0"/>
          </a:p>
        </p:txBody>
      </p:sp>
      <p:sp>
        <p:nvSpPr>
          <p:cNvPr id="3" name="Content Placeholder 2">
            <a:extLst>
              <a:ext uri="{FF2B5EF4-FFF2-40B4-BE49-F238E27FC236}">
                <a16:creationId xmlns:a16="http://schemas.microsoft.com/office/drawing/2014/main" id="{BED0F08C-06EC-AE7B-9CE3-451EBE0B1354}"/>
              </a:ext>
            </a:extLst>
          </p:cNvPr>
          <p:cNvSpPr>
            <a:spLocks noGrp="1"/>
          </p:cNvSpPr>
          <p:nvPr>
            <p:ph idx="1"/>
          </p:nvPr>
        </p:nvSpPr>
        <p:spPr/>
        <p:txBody>
          <a:bodyPr/>
          <a:lstStyle/>
          <a:p>
            <a:r>
              <a:rPr lang="en-US" sz="2000" dirty="0" err="1"/>
              <a:t>Analyse</a:t>
            </a:r>
            <a:r>
              <a:rPr lang="en-US" sz="2000" dirty="0"/>
              <a:t> how Multi-task learning improves generalization by pooling the examples arising out of several tasks</a:t>
            </a:r>
          </a:p>
          <a:p>
            <a:r>
              <a:rPr lang="en-US" sz="2000" dirty="0"/>
              <a:t>Analyze how multitask learning improves the generalization ability of models compared to single-task learning.</a:t>
            </a:r>
            <a:endParaRPr lang="en-IN" sz="2000" dirty="0"/>
          </a:p>
        </p:txBody>
      </p:sp>
      <p:sp>
        <p:nvSpPr>
          <p:cNvPr id="5" name="Slide Number Placeholder 4">
            <a:extLst>
              <a:ext uri="{FF2B5EF4-FFF2-40B4-BE49-F238E27FC236}">
                <a16:creationId xmlns:a16="http://schemas.microsoft.com/office/drawing/2014/main" id="{CAC77B76-EADC-B55E-C5C7-E2D1CA4D9A06}"/>
              </a:ext>
            </a:extLst>
          </p:cNvPr>
          <p:cNvSpPr>
            <a:spLocks noGrp="1"/>
          </p:cNvSpPr>
          <p:nvPr>
            <p:ph type="sldNum" sz="quarter" idx="12"/>
          </p:nvPr>
        </p:nvSpPr>
        <p:spPr/>
        <p:txBody>
          <a:bodyPr/>
          <a:lstStyle/>
          <a:p>
            <a:fld id="{BB2CE0DE-867F-455F-B20B-96D381B4AB71}" type="slidenum">
              <a:rPr lang="en-US" smtClean="0"/>
              <a:t>58</a:t>
            </a:fld>
            <a:endParaRPr lang="en-US"/>
          </a:p>
        </p:txBody>
      </p:sp>
    </p:spTree>
    <p:extLst>
      <p:ext uri="{BB962C8B-B14F-4D97-AF65-F5344CB8AC3E}">
        <p14:creationId xmlns:p14="http://schemas.microsoft.com/office/powerpoint/2010/main" val="20274964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77D7-F466-0F7F-29E9-9BD45EDC362A}"/>
              </a:ext>
            </a:extLst>
          </p:cNvPr>
          <p:cNvSpPr>
            <a:spLocks noGrp="1"/>
          </p:cNvSpPr>
          <p:nvPr>
            <p:ph type="title"/>
          </p:nvPr>
        </p:nvSpPr>
        <p:spPr/>
        <p:txBody>
          <a:bodyPr/>
          <a:lstStyle/>
          <a:p>
            <a:r>
              <a:rPr lang="en-US" dirty="0">
                <a:solidFill>
                  <a:srgbClr val="262626"/>
                </a:solidFill>
                <a:latin typeface="Inter"/>
              </a:rPr>
              <a:t>Early Stopping, Parameter Tying and Parameter Sharing</a:t>
            </a:r>
            <a:endParaRPr lang="en-IN" dirty="0"/>
          </a:p>
        </p:txBody>
      </p:sp>
      <p:sp>
        <p:nvSpPr>
          <p:cNvPr id="3" name="Content Placeholder 2">
            <a:extLst>
              <a:ext uri="{FF2B5EF4-FFF2-40B4-BE49-F238E27FC236}">
                <a16:creationId xmlns:a16="http://schemas.microsoft.com/office/drawing/2014/main" id="{891C097F-D770-296B-C9F5-C8199A24EF92}"/>
              </a:ext>
            </a:extLst>
          </p:cNvPr>
          <p:cNvSpPr>
            <a:spLocks noGrp="1"/>
          </p:cNvSpPr>
          <p:nvPr>
            <p:ph idx="1"/>
          </p:nvPr>
        </p:nvSpPr>
        <p:spPr/>
        <p:txBody>
          <a:bodyPr/>
          <a:lstStyle/>
          <a:p>
            <a:pPr algn="just"/>
            <a:r>
              <a:rPr lang="en-US" sz="1100" dirty="0"/>
              <a:t>Discuss Parameter Sharing and Typing in Deep Learning.</a:t>
            </a:r>
          </a:p>
          <a:p>
            <a:pPr algn="just"/>
            <a:r>
              <a:rPr lang="en-US" sz="1100" dirty="0"/>
              <a:t>Implement the meta-algorithm using early stopping to determine the best amount of time to train, how long to train and retrain the data, and determine a point at which overfitting begins during training and continue its training until the value is reached.</a:t>
            </a:r>
          </a:p>
          <a:p>
            <a:pPr algn="just"/>
            <a:r>
              <a:rPr lang="en-US" sz="1100" dirty="0"/>
              <a:t>Show how the parameters between two models performing the same/similar classification task are close to each other. Illustrate how parameter sharing occurs when processing images</a:t>
            </a:r>
          </a:p>
          <a:p>
            <a:pPr algn="just"/>
            <a:r>
              <a:rPr lang="en-US" sz="1100" dirty="0"/>
              <a:t>Apply parameter tying and sharing on the optimization landscape and model convergence.</a:t>
            </a:r>
          </a:p>
          <a:p>
            <a:pPr algn="just"/>
            <a:r>
              <a:rPr lang="en-US" sz="1100" dirty="0"/>
              <a:t>What is the early stopping meta-algorithm, and why is it considered an effective strategy for determining the optimal training duration across various training algorithms and error quantification methods on the validation set?</a:t>
            </a:r>
          </a:p>
          <a:p>
            <a:endParaRPr lang="en-IN" sz="1100" dirty="0"/>
          </a:p>
          <a:p>
            <a:pPr algn="just"/>
            <a:endParaRPr lang="en-US" sz="1100" dirty="0"/>
          </a:p>
          <a:p>
            <a:pPr algn="just"/>
            <a:endParaRPr lang="en-IN" sz="1100" dirty="0"/>
          </a:p>
        </p:txBody>
      </p:sp>
      <p:sp>
        <p:nvSpPr>
          <p:cNvPr id="5" name="Slide Number Placeholder 4">
            <a:extLst>
              <a:ext uri="{FF2B5EF4-FFF2-40B4-BE49-F238E27FC236}">
                <a16:creationId xmlns:a16="http://schemas.microsoft.com/office/drawing/2014/main" id="{83A8B9AB-8DCB-CB14-2D7E-B66172A8223F}"/>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11768527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F612-C2B6-3C5D-75EC-262D35B0ABA5}"/>
              </a:ext>
            </a:extLst>
          </p:cNvPr>
          <p:cNvSpPr>
            <a:spLocks noGrp="1"/>
          </p:cNvSpPr>
          <p:nvPr>
            <p:ph type="title"/>
          </p:nvPr>
        </p:nvSpPr>
        <p:spPr/>
        <p:txBody>
          <a:bodyPr/>
          <a:lstStyle/>
          <a:p>
            <a:r>
              <a:rPr lang="en-US" dirty="0">
                <a:solidFill>
                  <a:srgbClr val="262626"/>
                </a:solidFill>
                <a:latin typeface="Inter"/>
              </a:rPr>
              <a:t>Sparse Representations</a:t>
            </a:r>
            <a:endParaRPr lang="en-IN" dirty="0"/>
          </a:p>
        </p:txBody>
      </p:sp>
      <p:sp>
        <p:nvSpPr>
          <p:cNvPr id="3" name="Content Placeholder 2">
            <a:extLst>
              <a:ext uri="{FF2B5EF4-FFF2-40B4-BE49-F238E27FC236}">
                <a16:creationId xmlns:a16="http://schemas.microsoft.com/office/drawing/2014/main" id="{D403E07F-9319-ACE3-2849-0645DB23AA49}"/>
              </a:ext>
            </a:extLst>
          </p:cNvPr>
          <p:cNvSpPr>
            <a:spLocks noGrp="1"/>
          </p:cNvSpPr>
          <p:nvPr>
            <p:ph idx="1"/>
          </p:nvPr>
        </p:nvSpPr>
        <p:spPr/>
        <p:txBody>
          <a:bodyPr/>
          <a:lstStyle/>
          <a:p>
            <a:endParaRPr lang="en-IN" sz="1800" dirty="0"/>
          </a:p>
        </p:txBody>
      </p:sp>
      <p:sp>
        <p:nvSpPr>
          <p:cNvPr id="5" name="Slide Number Placeholder 4">
            <a:extLst>
              <a:ext uri="{FF2B5EF4-FFF2-40B4-BE49-F238E27FC236}">
                <a16:creationId xmlns:a16="http://schemas.microsoft.com/office/drawing/2014/main" id="{FB6AC442-B26B-0B77-AEF0-B7F108DD8EE1}"/>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36350661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C6C5F-60B7-DE0B-31F5-D32E836D17BC}"/>
              </a:ext>
            </a:extLst>
          </p:cNvPr>
          <p:cNvSpPr>
            <a:spLocks noGrp="1"/>
          </p:cNvSpPr>
          <p:nvPr>
            <p:ph type="title"/>
          </p:nvPr>
        </p:nvSpPr>
        <p:spPr/>
        <p:txBody>
          <a:bodyPr/>
          <a:lstStyle/>
          <a:p>
            <a:r>
              <a:rPr lang="en-US" dirty="0">
                <a:solidFill>
                  <a:srgbClr val="262626"/>
                </a:solidFill>
                <a:latin typeface="Inter"/>
              </a:rPr>
              <a:t>Dropout</a:t>
            </a:r>
            <a:endParaRPr lang="en-IN" dirty="0"/>
          </a:p>
        </p:txBody>
      </p:sp>
      <p:sp>
        <p:nvSpPr>
          <p:cNvPr id="3" name="Content Placeholder 2">
            <a:extLst>
              <a:ext uri="{FF2B5EF4-FFF2-40B4-BE49-F238E27FC236}">
                <a16:creationId xmlns:a16="http://schemas.microsoft.com/office/drawing/2014/main" id="{66A98ED9-4B88-3397-E38B-CAABCEAC93F5}"/>
              </a:ext>
            </a:extLst>
          </p:cNvPr>
          <p:cNvSpPr>
            <a:spLocks noGrp="1"/>
          </p:cNvSpPr>
          <p:nvPr>
            <p:ph idx="1"/>
          </p:nvPr>
        </p:nvSpPr>
        <p:spPr/>
        <p:txBody>
          <a:bodyPr/>
          <a:lstStyle/>
          <a:p>
            <a:r>
              <a:rPr lang="en-US" sz="1400" dirty="0"/>
              <a:t>What is dropout in neural networks? Can it be compared with bagging or boosting in regular machine learning scenario?</a:t>
            </a:r>
          </a:p>
          <a:p>
            <a:r>
              <a:rPr lang="en-US" sz="1400" dirty="0"/>
              <a:t>Define dropout. Analyze the differences between bagging and dropout by examining their effects on training and prediction in neural networks</a:t>
            </a:r>
          </a:p>
          <a:p>
            <a:r>
              <a:rPr lang="en-US" sz="1400" dirty="0"/>
              <a:t>Illustrate how dropout trains an ensemble consisting of all subnetworks. Examine how dropout can help reduce overfitting in neural networks and explore its computational advantages.</a:t>
            </a:r>
          </a:p>
          <a:p>
            <a:r>
              <a:rPr lang="en-US" sz="1400" dirty="0"/>
              <a:t>Analyze the role of dropout in neural networks in mitigate overfitting. What are the computational trade-offs and the overall impact of dropout on model generalization</a:t>
            </a:r>
            <a:endParaRPr lang="en-IN" sz="1400" dirty="0"/>
          </a:p>
          <a:p>
            <a:r>
              <a:rPr lang="en-US" sz="1400" dirty="0"/>
              <a:t>Explain how dropout create an ensemble of sub-networks from a base network, and why does the problem of sub-networks lacking input units or paths from input to output become less significant in networks with wider layers? Provide a suitable diagram to illustrate this concept.</a:t>
            </a:r>
          </a:p>
          <a:p>
            <a:r>
              <a:rPr lang="en-IN" sz="1400" dirty="0" err="1"/>
              <a:t>Analyze</a:t>
            </a:r>
            <a:r>
              <a:rPr lang="en-IN" sz="1400" dirty="0"/>
              <a:t> how incorporating dropout in the neural network model can mitigate overfitting. Discuss the computational trade-offs and the overall impact on model generalization.</a:t>
            </a:r>
            <a:r>
              <a:rPr lang="en-US" sz="1400" dirty="0"/>
              <a:t> </a:t>
            </a:r>
            <a:endParaRPr lang="en-IN" sz="1400" dirty="0"/>
          </a:p>
        </p:txBody>
      </p:sp>
      <p:sp>
        <p:nvSpPr>
          <p:cNvPr id="5" name="Slide Number Placeholder 4">
            <a:extLst>
              <a:ext uri="{FF2B5EF4-FFF2-40B4-BE49-F238E27FC236}">
                <a16:creationId xmlns:a16="http://schemas.microsoft.com/office/drawing/2014/main" id="{B4BA90FE-8815-1FB5-B24E-CDE071D41E4B}"/>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16002850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7B84A-7410-D2BB-DA6D-B28EB2AA2CE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D560DB-4709-C89D-1C33-150E6B02DDD0}"/>
              </a:ext>
            </a:extLst>
          </p:cNvPr>
          <p:cNvSpPr>
            <a:spLocks noGrp="1"/>
          </p:cNvSpPr>
          <p:nvPr>
            <p:ph idx="1"/>
          </p:nvPr>
        </p:nvSpPr>
        <p:spPr/>
        <p:txBody>
          <a:bodyPr/>
          <a:lstStyle/>
          <a:p>
            <a:pPr algn="just"/>
            <a:r>
              <a:rPr lang="en-US" sz="2000" dirty="0"/>
              <a:t>Can over fitting happen in a neural network? If yes how to deal with over fitting in a neural network</a:t>
            </a:r>
          </a:p>
          <a:p>
            <a:pPr algn="just"/>
            <a:endParaRPr lang="en-US" sz="2000" dirty="0"/>
          </a:p>
        </p:txBody>
      </p:sp>
      <p:sp>
        <p:nvSpPr>
          <p:cNvPr id="5" name="Slide Number Placeholder 4">
            <a:extLst>
              <a:ext uri="{FF2B5EF4-FFF2-40B4-BE49-F238E27FC236}">
                <a16:creationId xmlns:a16="http://schemas.microsoft.com/office/drawing/2014/main" id="{79C8B2EF-B924-8107-D6E3-0C80EAE48146}"/>
              </a:ext>
            </a:extLst>
          </p:cNvPr>
          <p:cNvSpPr>
            <a:spLocks noGrp="1"/>
          </p:cNvSpPr>
          <p:nvPr>
            <p:ph type="sldNum" sz="quarter" idx="12"/>
          </p:nvPr>
        </p:nvSpPr>
        <p:spPr/>
        <p:txBody>
          <a:bodyPr/>
          <a:lstStyle/>
          <a:p>
            <a:fld id="{BB2CE0DE-867F-455F-B20B-96D381B4AB71}" type="slidenum">
              <a:rPr lang="en-US" smtClean="0"/>
              <a:t>62</a:t>
            </a:fld>
            <a:endParaRPr lang="en-US"/>
          </a:p>
        </p:txBody>
      </p:sp>
    </p:spTree>
    <p:extLst>
      <p:ext uri="{BB962C8B-B14F-4D97-AF65-F5344CB8AC3E}">
        <p14:creationId xmlns:p14="http://schemas.microsoft.com/office/powerpoint/2010/main" val="16844676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E6E7-52A2-F821-7889-08987DA9A5F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60E206F-1AD5-09E0-6D09-DCCAABA0467E}"/>
              </a:ext>
            </a:extLst>
          </p:cNvPr>
          <p:cNvSpPr>
            <a:spLocks noGrp="1"/>
          </p:cNvSpPr>
          <p:nvPr>
            <p:ph idx="1"/>
          </p:nvPr>
        </p:nvSpPr>
        <p:spPr/>
        <p:txBody>
          <a:bodyPr/>
          <a:lstStyle/>
          <a:p>
            <a:r>
              <a:rPr lang="en-IN" dirty="0" err="1"/>
              <a:t>Analyze</a:t>
            </a:r>
            <a:r>
              <a:rPr lang="en-IN" dirty="0"/>
              <a:t> the influence of non-linear filtering in the effectiveness of short-term memory structures in time-series prediction tasks. </a:t>
            </a:r>
            <a:r>
              <a:rPr lang="en-IN"/>
              <a:t>How does different choices of the generating kernel h(n) result in different values for the depth D and memory resolution R illustrated by two memory structures.</a:t>
            </a:r>
          </a:p>
        </p:txBody>
      </p:sp>
      <p:sp>
        <p:nvSpPr>
          <p:cNvPr id="5" name="Slide Number Placeholder 4">
            <a:extLst>
              <a:ext uri="{FF2B5EF4-FFF2-40B4-BE49-F238E27FC236}">
                <a16:creationId xmlns:a16="http://schemas.microsoft.com/office/drawing/2014/main" id="{AC7A6A83-9B95-DABF-18E8-33244395C4E7}"/>
              </a:ext>
            </a:extLst>
          </p:cNvPr>
          <p:cNvSpPr>
            <a:spLocks noGrp="1"/>
          </p:cNvSpPr>
          <p:nvPr>
            <p:ph type="sldNum" sz="quarter" idx="12"/>
          </p:nvPr>
        </p:nvSpPr>
        <p:spPr/>
        <p:txBody>
          <a:bodyPr/>
          <a:lstStyle/>
          <a:p>
            <a:fld id="{BB2CE0DE-867F-455F-B20B-96D381B4AB71}" type="slidenum">
              <a:rPr lang="en-US" smtClean="0"/>
              <a:t>63</a:t>
            </a:fld>
            <a:endParaRPr lang="en-US"/>
          </a:p>
        </p:txBody>
      </p:sp>
    </p:spTree>
    <p:extLst>
      <p:ext uri="{BB962C8B-B14F-4D97-AF65-F5344CB8AC3E}">
        <p14:creationId xmlns:p14="http://schemas.microsoft.com/office/powerpoint/2010/main" val="33612943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64</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1457</TotalTime>
  <Words>2702</Words>
  <Application>Microsoft Office PowerPoint</Application>
  <PresentationFormat>Widescreen</PresentationFormat>
  <Paragraphs>384</Paragraphs>
  <Slides>64</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Arial</vt:lpstr>
      <vt:lpstr>Calibri</vt:lpstr>
      <vt:lpstr>Cambria Math</vt:lpstr>
      <vt:lpstr>Google Sans</vt:lpstr>
      <vt:lpstr>Inter</vt:lpstr>
      <vt:lpstr>source-serif-pro</vt:lpstr>
      <vt:lpstr>Verdana</vt:lpstr>
      <vt:lpstr>Wingdings</vt:lpstr>
      <vt:lpstr>Theme1</vt:lpstr>
      <vt:lpstr>Neural Network and Deep Learning 23CS8PENDL/23CS7PENDL</vt:lpstr>
      <vt:lpstr>Unit-3</vt:lpstr>
      <vt:lpstr>What is Deep Learning ?</vt:lpstr>
      <vt:lpstr>Difference between</vt:lpstr>
      <vt:lpstr>Difference between Traditional ML and DL</vt:lpstr>
      <vt:lpstr>Unit-3</vt:lpstr>
      <vt:lpstr>Background: For Regularization</vt:lpstr>
      <vt:lpstr>Bias, Variance, Overfitting, Underfitting</vt:lpstr>
      <vt:lpstr>Bias, Variance, Overfitting, Underfitting</vt:lpstr>
      <vt:lpstr>Bias, Variance, Overfitting, Underfitting</vt:lpstr>
      <vt:lpstr>Bias, Variance, Overfitting, Underfitting</vt:lpstr>
      <vt:lpstr>Bias, Variance, Overfitting, Underfitting</vt:lpstr>
      <vt:lpstr>Background: For Regularization</vt:lpstr>
      <vt:lpstr>Background: For Regularization</vt:lpstr>
      <vt:lpstr>Background: For Regularization</vt:lpstr>
      <vt:lpstr>Why Overfitting happens in Neural networks ?</vt:lpstr>
      <vt:lpstr>Background: For Regularization</vt:lpstr>
      <vt:lpstr>Methods to avoid Overfitting</vt:lpstr>
      <vt:lpstr>Regularization</vt:lpstr>
      <vt:lpstr>Parameter Norm Penalties</vt:lpstr>
      <vt:lpstr>Parameter Norm Penalties</vt:lpstr>
      <vt:lpstr>Primary Types of Regularization Penalty Terms</vt:lpstr>
      <vt:lpstr>PowerPoint Presentation</vt:lpstr>
      <vt:lpstr>L2 Parameter Regularization </vt:lpstr>
      <vt:lpstr>L2 Parameter Regularization </vt:lpstr>
      <vt:lpstr>L2 Parameter Regularization </vt:lpstr>
      <vt:lpstr>L2 Parameter Regularization </vt:lpstr>
      <vt:lpstr>L2 Parameter Regularization </vt:lpstr>
      <vt:lpstr>L2 Parameter Regularization </vt:lpstr>
      <vt:lpstr>L2 Parameter Regularization </vt:lpstr>
      <vt:lpstr>Background</vt:lpstr>
      <vt:lpstr>Background</vt:lpstr>
      <vt:lpstr>Background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vt:lpstr>
      <vt:lpstr>PowerPoint Presentation</vt:lpstr>
      <vt:lpstr>PowerPoint Presentation</vt:lpstr>
      <vt:lpstr>PowerPoint Presentation</vt:lpstr>
      <vt:lpstr>PowerPoint Presentation</vt:lpstr>
      <vt:lpstr>Introduction, Parameter Norm Penalties - L2 Parameter Regularization,</vt:lpstr>
      <vt:lpstr>Dataset Augmentation</vt:lpstr>
      <vt:lpstr>Semi-Supervised Learning</vt:lpstr>
      <vt:lpstr>Multi-Task Learning</vt:lpstr>
      <vt:lpstr>Early Stopping, Parameter Tying and Parameter Sharing</vt:lpstr>
      <vt:lpstr>Sparse Representations</vt:lpstr>
      <vt:lpstr>Dropout</vt:lpstr>
      <vt:lpstr>PowerPoint Presentation</vt:lpstr>
      <vt:lpstr>PowerPoint Presentation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 Devi</cp:lastModifiedBy>
  <cp:revision>161</cp:revision>
  <cp:lastPrinted>2014-08-07T03:39:40Z</cp:lastPrinted>
  <dcterms:created xsi:type="dcterms:W3CDTF">2014-08-06T04:28:49Z</dcterms:created>
  <dcterms:modified xsi:type="dcterms:W3CDTF">2026-03-21T09:42:20Z</dcterms:modified>
</cp:coreProperties>
</file>