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8"/>
  </p:notesMasterIdLst>
  <p:handoutMasterIdLst>
    <p:handoutMasterId r:id="rId159"/>
  </p:handoutMasterIdLst>
  <p:sldIdLst>
    <p:sldId id="256" r:id="rId2"/>
    <p:sldId id="349" r:id="rId3"/>
    <p:sldId id="773" r:id="rId4"/>
    <p:sldId id="774" r:id="rId5"/>
    <p:sldId id="775" r:id="rId6"/>
    <p:sldId id="776" r:id="rId7"/>
    <p:sldId id="356" r:id="rId8"/>
    <p:sldId id="777" r:id="rId9"/>
    <p:sldId id="779" r:id="rId10"/>
    <p:sldId id="778" r:id="rId11"/>
    <p:sldId id="783" r:id="rId12"/>
    <p:sldId id="805" r:id="rId13"/>
    <p:sldId id="806" r:id="rId14"/>
    <p:sldId id="807" r:id="rId15"/>
    <p:sldId id="808" r:id="rId16"/>
    <p:sldId id="359" r:id="rId17"/>
    <p:sldId id="781" r:id="rId18"/>
    <p:sldId id="780" r:id="rId19"/>
    <p:sldId id="782" r:id="rId20"/>
    <p:sldId id="784" r:id="rId21"/>
    <p:sldId id="785" r:id="rId22"/>
    <p:sldId id="786" r:id="rId23"/>
    <p:sldId id="788" r:id="rId24"/>
    <p:sldId id="789" r:id="rId25"/>
    <p:sldId id="790" r:id="rId26"/>
    <p:sldId id="791" r:id="rId27"/>
    <p:sldId id="792" r:id="rId28"/>
    <p:sldId id="793" r:id="rId29"/>
    <p:sldId id="794" r:id="rId30"/>
    <p:sldId id="795" r:id="rId31"/>
    <p:sldId id="796" r:id="rId32"/>
    <p:sldId id="797" r:id="rId33"/>
    <p:sldId id="798" r:id="rId34"/>
    <p:sldId id="354" r:id="rId35"/>
    <p:sldId id="352" r:id="rId36"/>
    <p:sldId id="800" r:id="rId37"/>
    <p:sldId id="801" r:id="rId38"/>
    <p:sldId id="802" r:id="rId39"/>
    <p:sldId id="803" r:id="rId40"/>
    <p:sldId id="804" r:id="rId41"/>
    <p:sldId id="361" r:id="rId42"/>
    <p:sldId id="360" r:id="rId43"/>
    <p:sldId id="350" r:id="rId44"/>
    <p:sldId id="353" r:id="rId45"/>
    <p:sldId id="810" r:id="rId46"/>
    <p:sldId id="809" r:id="rId47"/>
    <p:sldId id="811" r:id="rId48"/>
    <p:sldId id="812" r:id="rId49"/>
    <p:sldId id="813" r:id="rId50"/>
    <p:sldId id="814" r:id="rId51"/>
    <p:sldId id="815" r:id="rId52"/>
    <p:sldId id="816" r:id="rId53"/>
    <p:sldId id="817" r:id="rId54"/>
    <p:sldId id="818" r:id="rId55"/>
    <p:sldId id="819" r:id="rId56"/>
    <p:sldId id="820" r:id="rId57"/>
    <p:sldId id="362" r:id="rId58"/>
    <p:sldId id="822" r:id="rId59"/>
    <p:sldId id="821" r:id="rId60"/>
    <p:sldId id="823" r:id="rId61"/>
    <p:sldId id="824" r:id="rId62"/>
    <p:sldId id="829" r:id="rId63"/>
    <p:sldId id="828" r:id="rId64"/>
    <p:sldId id="831" r:id="rId65"/>
    <p:sldId id="842" r:id="rId66"/>
    <p:sldId id="830" r:id="rId67"/>
    <p:sldId id="832" r:id="rId68"/>
    <p:sldId id="833" r:id="rId69"/>
    <p:sldId id="351" r:id="rId70"/>
    <p:sldId id="834" r:id="rId71"/>
    <p:sldId id="835" r:id="rId72"/>
    <p:sldId id="836" r:id="rId73"/>
    <p:sldId id="837" r:id="rId74"/>
    <p:sldId id="838" r:id="rId75"/>
    <p:sldId id="839" r:id="rId76"/>
    <p:sldId id="854" r:id="rId77"/>
    <p:sldId id="841" r:id="rId78"/>
    <p:sldId id="843" r:id="rId79"/>
    <p:sldId id="844" r:id="rId80"/>
    <p:sldId id="845" r:id="rId81"/>
    <p:sldId id="846" r:id="rId82"/>
    <p:sldId id="847" r:id="rId83"/>
    <p:sldId id="848" r:id="rId84"/>
    <p:sldId id="849" r:id="rId85"/>
    <p:sldId id="850" r:id="rId86"/>
    <p:sldId id="851" r:id="rId87"/>
    <p:sldId id="852" r:id="rId88"/>
    <p:sldId id="853" r:id="rId89"/>
    <p:sldId id="868" r:id="rId90"/>
    <p:sldId id="861" r:id="rId91"/>
    <p:sldId id="860" r:id="rId92"/>
    <p:sldId id="862" r:id="rId93"/>
    <p:sldId id="863" r:id="rId94"/>
    <p:sldId id="858" r:id="rId95"/>
    <p:sldId id="857" r:id="rId96"/>
    <p:sldId id="859" r:id="rId97"/>
    <p:sldId id="873" r:id="rId98"/>
    <p:sldId id="870" r:id="rId99"/>
    <p:sldId id="871" r:id="rId100"/>
    <p:sldId id="872" r:id="rId101"/>
    <p:sldId id="869" r:id="rId102"/>
    <p:sldId id="874" r:id="rId103"/>
    <p:sldId id="875" r:id="rId104"/>
    <p:sldId id="877" r:id="rId105"/>
    <p:sldId id="876" r:id="rId106"/>
    <p:sldId id="878" r:id="rId107"/>
    <p:sldId id="879" r:id="rId108"/>
    <p:sldId id="880" r:id="rId109"/>
    <p:sldId id="909" r:id="rId110"/>
    <p:sldId id="882" r:id="rId111"/>
    <p:sldId id="881" r:id="rId112"/>
    <p:sldId id="910" r:id="rId113"/>
    <p:sldId id="883" r:id="rId114"/>
    <p:sldId id="884" r:id="rId115"/>
    <p:sldId id="885" r:id="rId116"/>
    <p:sldId id="864" r:id="rId117"/>
    <p:sldId id="856" r:id="rId118"/>
    <p:sldId id="886" r:id="rId119"/>
    <p:sldId id="887" r:id="rId120"/>
    <p:sldId id="888" r:id="rId121"/>
    <p:sldId id="889" r:id="rId122"/>
    <p:sldId id="890" r:id="rId123"/>
    <p:sldId id="911" r:id="rId124"/>
    <p:sldId id="891" r:id="rId125"/>
    <p:sldId id="892" r:id="rId126"/>
    <p:sldId id="912" r:id="rId127"/>
    <p:sldId id="893" r:id="rId128"/>
    <p:sldId id="357" r:id="rId129"/>
    <p:sldId id="894" r:id="rId130"/>
    <p:sldId id="899" r:id="rId131"/>
    <p:sldId id="895" r:id="rId132"/>
    <p:sldId id="896" r:id="rId133"/>
    <p:sldId id="897" r:id="rId134"/>
    <p:sldId id="915" r:id="rId135"/>
    <p:sldId id="914" r:id="rId136"/>
    <p:sldId id="898" r:id="rId137"/>
    <p:sldId id="918" r:id="rId138"/>
    <p:sldId id="913" r:id="rId139"/>
    <p:sldId id="917" r:id="rId140"/>
    <p:sldId id="900" r:id="rId141"/>
    <p:sldId id="901" r:id="rId142"/>
    <p:sldId id="902" r:id="rId143"/>
    <p:sldId id="903" r:id="rId144"/>
    <p:sldId id="904" r:id="rId145"/>
    <p:sldId id="919" r:id="rId146"/>
    <p:sldId id="358" r:id="rId147"/>
    <p:sldId id="905" r:id="rId148"/>
    <p:sldId id="906" r:id="rId149"/>
    <p:sldId id="920" r:id="rId150"/>
    <p:sldId id="921" r:id="rId151"/>
    <p:sldId id="907" r:id="rId152"/>
    <p:sldId id="922" r:id="rId153"/>
    <p:sldId id="908" r:id="rId154"/>
    <p:sldId id="363" r:id="rId155"/>
    <p:sldId id="799" r:id="rId156"/>
    <p:sldId id="305" r:id="rId1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CC"/>
    <a:srgbClr val="003366"/>
    <a:srgbClr val="FF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648" autoAdjust="0"/>
  </p:normalViewPr>
  <p:slideViewPr>
    <p:cSldViewPr>
      <p:cViewPr varScale="1">
        <p:scale>
          <a:sx n="89" d="100"/>
          <a:sy n="89" d="100"/>
        </p:scale>
        <p:origin x="1398" y="78"/>
      </p:cViewPr>
      <p:guideLst>
        <p:guide orient="horz" pos="2160"/>
        <p:guide pos="3840"/>
      </p:guideLst>
    </p:cSldViewPr>
  </p:slideViewPr>
  <p:notesTextViewPr>
    <p:cViewPr>
      <p:scale>
        <a:sx n="1" d="1"/>
        <a:sy n="1" d="1"/>
      </p:scale>
      <p:origin x="0" y="0"/>
    </p:cViewPr>
  </p:notesTextViewPr>
  <p:sorterViewPr>
    <p:cViewPr varScale="1">
      <p:scale>
        <a:sx n="1" d="1"/>
        <a:sy n="1" d="1"/>
      </p:scale>
      <p:origin x="0" y="-1537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3/14/2026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3/14/2026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a:t>
            </a:fld>
            <a:endParaRPr lang="en-US"/>
          </a:p>
        </p:txBody>
      </p:sp>
    </p:spTree>
    <p:extLst>
      <p:ext uri="{BB962C8B-B14F-4D97-AF65-F5344CB8AC3E}">
        <p14:creationId xmlns:p14="http://schemas.microsoft.com/office/powerpoint/2010/main" val="3176549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4259608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set the stage for a description of the multilayer </a:t>
            </a:r>
            <a:r>
              <a:rPr lang="en-US" dirty="0" err="1"/>
              <a:t>percep-tron</a:t>
            </a:r>
            <a:r>
              <a:rPr lang="en-US" dirty="0"/>
              <a:t> in its general form, the network shown here is fully connected. This means that a neu-</a:t>
            </a:r>
          </a:p>
          <a:p>
            <a:r>
              <a:rPr lang="en-US" dirty="0" err="1"/>
              <a:t>ron</a:t>
            </a:r>
            <a:r>
              <a:rPr lang="en-US" dirty="0"/>
              <a:t> in any layer of the network is connected to all the neurons (nodes) in the previous layer. Signal flow through the network progresses in a forward direction, from left to right</a:t>
            </a:r>
          </a:p>
          <a:p>
            <a:r>
              <a:rPr lang="en-US" dirty="0"/>
              <a:t>and on a layer-by-layer basis.</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a:t>
            </a:fld>
            <a:endParaRPr lang="en-US"/>
          </a:p>
        </p:txBody>
      </p:sp>
    </p:spTree>
    <p:extLst>
      <p:ext uri="{BB962C8B-B14F-4D97-AF65-F5344CB8AC3E}">
        <p14:creationId xmlns:p14="http://schemas.microsoft.com/office/powerpoint/2010/main" val="2413714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technique that is only used during training phase of neural network.</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3158256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45</a:t>
            </a:fld>
            <a:endParaRPr lang="en-US"/>
          </a:p>
        </p:txBody>
      </p:sp>
    </p:spTree>
    <p:extLst>
      <p:ext uri="{BB962C8B-B14F-4D97-AF65-F5344CB8AC3E}">
        <p14:creationId xmlns:p14="http://schemas.microsoft.com/office/powerpoint/2010/main" val="2739660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46</a:t>
            </a:fld>
            <a:endParaRPr lang="en-US"/>
          </a:p>
        </p:txBody>
      </p:sp>
    </p:spTree>
    <p:extLst>
      <p:ext uri="{BB962C8B-B14F-4D97-AF65-F5344CB8AC3E}">
        <p14:creationId xmlns:p14="http://schemas.microsoft.com/office/powerpoint/2010/main" val="1856518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48</a:t>
            </a:fld>
            <a:endParaRPr lang="en-US"/>
          </a:p>
        </p:txBody>
      </p:sp>
    </p:spTree>
    <p:extLst>
      <p:ext uri="{BB962C8B-B14F-4D97-AF65-F5344CB8AC3E}">
        <p14:creationId xmlns:p14="http://schemas.microsoft.com/office/powerpoint/2010/main" val="325428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x1x_1x1​ = temperature in </a:t>
            </a:r>
            <a:r>
              <a:rPr lang="en-US" b="1" dirty="0"/>
              <a:t>Celsius</a:t>
            </a:r>
            <a:endParaRPr lang="en-US" dirty="0"/>
          </a:p>
          <a:p>
            <a:pPr>
              <a:buFont typeface="Arial" panose="020B0604020202020204" pitchFamily="34" charset="0"/>
              <a:buChar char="•"/>
            </a:pPr>
            <a:r>
              <a:rPr lang="en-US" dirty="0"/>
              <a:t>x2x_2x2​ = temperature in </a:t>
            </a:r>
            <a:r>
              <a:rPr lang="en-US" b="1" dirty="0"/>
              <a:t>Fahrenheit</a:t>
            </a:r>
            <a:endParaRPr lang="en-US" dirty="0"/>
          </a:p>
          <a:p>
            <a:r>
              <a:rPr lang="en-US" dirty="0"/>
              <a:t>Relation:</a:t>
            </a:r>
          </a:p>
          <a:p>
            <a:r>
              <a:rPr lang="en-US" dirty="0"/>
              <a:t>x2=1.8x1+32x_2 = 1.8x_1 + 32x2​=1.8x1​+32 </a:t>
            </a:r>
            <a:r>
              <a:rPr lang="en-US" b="1" dirty="0"/>
              <a:t>Why This Is Correlated</a:t>
            </a:r>
          </a:p>
          <a:p>
            <a:pPr>
              <a:buFont typeface="Arial" panose="020B0604020202020204" pitchFamily="34" charset="0"/>
              <a:buChar char="•"/>
            </a:pPr>
            <a:r>
              <a:rPr lang="en-US" dirty="0"/>
              <a:t>Both inputs represent </a:t>
            </a:r>
            <a:r>
              <a:rPr lang="en-US" b="1" dirty="0"/>
              <a:t>the same physical quantity</a:t>
            </a:r>
            <a:endParaRPr lang="en-US" dirty="0"/>
          </a:p>
          <a:p>
            <a:pPr>
              <a:buFont typeface="Arial" panose="020B0604020202020204" pitchFamily="34" charset="0"/>
              <a:buChar char="•"/>
            </a:pPr>
            <a:r>
              <a:rPr lang="en-US" dirty="0"/>
              <a:t>When x1x_1x1​ increases, x2x_2x2​ also increases</a:t>
            </a:r>
          </a:p>
          <a:p>
            <a:pPr>
              <a:buFont typeface="Arial" panose="020B0604020202020204" pitchFamily="34" charset="0"/>
              <a:buChar char="•"/>
            </a:pPr>
            <a:r>
              <a:rPr lang="en-US" dirty="0"/>
              <a:t>One input can be predicted from the other</a:t>
            </a:r>
          </a:p>
          <a:p>
            <a:r>
              <a:rPr lang="en-US" dirty="0"/>
              <a:t>📌 </a:t>
            </a:r>
            <a:r>
              <a:rPr lang="en-US" b="1" dirty="0"/>
              <a:t>Conclusion</a:t>
            </a:r>
            <a:br>
              <a:rPr lang="en-US" dirty="0"/>
            </a:br>
            <a:r>
              <a:rPr lang="en-US" dirty="0"/>
              <a:t>Inputs are </a:t>
            </a:r>
            <a:r>
              <a:rPr lang="en-US" b="1" dirty="0"/>
              <a:t>highly correlated</a:t>
            </a:r>
            <a:r>
              <a:rPr lang="en-US" dirty="0"/>
              <a:t>.</a:t>
            </a:r>
          </a:p>
          <a:p>
            <a:pPr>
              <a:buFont typeface="Arial" panose="020B0604020202020204" pitchFamily="34" charset="0"/>
              <a:buChar char="•"/>
            </a:pPr>
            <a:endParaRPr lang="en-US" dirty="0"/>
          </a:p>
          <a:p>
            <a:endParaRPr lang="en-US" b="1" dirty="0"/>
          </a:p>
          <a:p>
            <a:r>
              <a:rPr lang="en-US" b="1" dirty="0"/>
              <a:t>Correlated Input Example:</a:t>
            </a:r>
          </a:p>
          <a:p>
            <a:r>
              <a:rPr lang="en-US" dirty="0"/>
              <a:t>Temperature in °C and °F</a:t>
            </a:r>
          </a:p>
          <a:p>
            <a:r>
              <a:rPr lang="en-US" b="1" dirty="0"/>
              <a:t>Correlated Output Example:</a:t>
            </a:r>
          </a:p>
          <a:p>
            <a:r>
              <a:rPr lang="en-US" dirty="0"/>
              <a:t>Two hidden neurons learning the same feature</a:t>
            </a:r>
          </a:p>
          <a:p>
            <a:endParaRPr lang="en-US" b="1" dirty="0"/>
          </a:p>
          <a:p>
            <a:r>
              <a:rPr lang="en-US" b="1" dirty="0"/>
              <a:t>Correlated input:</a:t>
            </a:r>
            <a:br>
              <a:rPr lang="en-US" dirty="0"/>
            </a:br>
            <a:r>
              <a:rPr lang="en-US" i="1" dirty="0"/>
              <a:t>Inputs that carry redundant information, such as temperature in Celsius and Fahrenheit.</a:t>
            </a:r>
            <a:endParaRPr lang="en-US" dirty="0"/>
          </a:p>
          <a:p>
            <a:r>
              <a:rPr lang="en-US" b="1" dirty="0"/>
              <a:t>Correlated output:</a:t>
            </a:r>
            <a:br>
              <a:rPr lang="en-US" dirty="0"/>
            </a:br>
            <a:r>
              <a:rPr lang="en-US" i="1" dirty="0"/>
              <a:t>Hidden neurons producing similar activations due to similar weights or inputs.</a:t>
            </a:r>
            <a:endParaRPr lang="en-US" dirty="0"/>
          </a:p>
          <a:p>
            <a:r>
              <a:rPr lang="en-US" dirty="0"/>
              <a:t>“Do we learn faster if we repeat the same information twice?”</a:t>
            </a:r>
          </a:p>
          <a:p>
            <a:r>
              <a:rPr lang="en-US" dirty="0"/>
              <a:t>Then connect:</a:t>
            </a:r>
          </a:p>
          <a:p>
            <a:r>
              <a:rPr lang="en-US" dirty="0"/>
              <a:t>“Neural networks also learn slower with repeated (correlated) information.”</a:t>
            </a:r>
          </a:p>
          <a:p>
            <a:endParaRPr lang="en-US"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1752473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1506645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54</a:t>
            </a:fld>
            <a:endParaRPr lang="en-US"/>
          </a:p>
        </p:txBody>
      </p:sp>
    </p:spTree>
    <p:extLst>
      <p:ext uri="{BB962C8B-B14F-4D97-AF65-F5344CB8AC3E}">
        <p14:creationId xmlns:p14="http://schemas.microsoft.com/office/powerpoint/2010/main" val="1462527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55</a:t>
            </a:fld>
            <a:endParaRPr lang="en-US"/>
          </a:p>
        </p:txBody>
      </p:sp>
    </p:spTree>
    <p:extLst>
      <p:ext uri="{BB962C8B-B14F-4D97-AF65-F5344CB8AC3E}">
        <p14:creationId xmlns:p14="http://schemas.microsoft.com/office/powerpoint/2010/main" val="3785677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1891424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57</a:t>
            </a:fld>
            <a:endParaRPr lang="en-US"/>
          </a:p>
        </p:txBody>
      </p:sp>
    </p:spTree>
    <p:extLst>
      <p:ext uri="{BB962C8B-B14F-4D97-AF65-F5344CB8AC3E}">
        <p14:creationId xmlns:p14="http://schemas.microsoft.com/office/powerpoint/2010/main" val="3831395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58</a:t>
            </a:fld>
            <a:endParaRPr lang="en-US"/>
          </a:p>
        </p:txBody>
      </p:sp>
    </p:spTree>
    <p:extLst>
      <p:ext uri="{BB962C8B-B14F-4D97-AF65-F5344CB8AC3E}">
        <p14:creationId xmlns:p14="http://schemas.microsoft.com/office/powerpoint/2010/main" val="3045572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59</a:t>
            </a:fld>
            <a:endParaRPr lang="en-US"/>
          </a:p>
        </p:txBody>
      </p:sp>
    </p:spTree>
    <p:extLst>
      <p:ext uri="{BB962C8B-B14F-4D97-AF65-F5344CB8AC3E}">
        <p14:creationId xmlns:p14="http://schemas.microsoft.com/office/powerpoint/2010/main" val="790497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61</a:t>
            </a:fld>
            <a:endParaRPr lang="en-US"/>
          </a:p>
        </p:txBody>
      </p:sp>
    </p:spTree>
    <p:extLst>
      <p:ext uri="{BB962C8B-B14F-4D97-AF65-F5344CB8AC3E}">
        <p14:creationId xmlns:p14="http://schemas.microsoft.com/office/powerpoint/2010/main" val="2440385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68</a:t>
            </a:fld>
            <a:endParaRPr lang="en-US"/>
          </a:p>
        </p:txBody>
      </p:sp>
    </p:spTree>
    <p:extLst>
      <p:ext uri="{BB962C8B-B14F-4D97-AF65-F5344CB8AC3E}">
        <p14:creationId xmlns:p14="http://schemas.microsoft.com/office/powerpoint/2010/main" val="1363395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73</a:t>
            </a:fld>
            <a:endParaRPr lang="en-US"/>
          </a:p>
        </p:txBody>
      </p:sp>
    </p:spTree>
    <p:extLst>
      <p:ext uri="{BB962C8B-B14F-4D97-AF65-F5344CB8AC3E}">
        <p14:creationId xmlns:p14="http://schemas.microsoft.com/office/powerpoint/2010/main" val="301694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81</a:t>
            </a:fld>
            <a:endParaRPr lang="en-US"/>
          </a:p>
        </p:txBody>
      </p:sp>
    </p:spTree>
    <p:extLst>
      <p:ext uri="{BB962C8B-B14F-4D97-AF65-F5344CB8AC3E}">
        <p14:creationId xmlns:p14="http://schemas.microsoft.com/office/powerpoint/2010/main" val="2875795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A5D0D-8C19-8EF5-7B90-2707D14B9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127B0-53BB-D476-BCA3-3A6483058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CDA71-70A8-7A7C-BB79-6A8D7F24FB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425CF5-6C14-98C9-08B5-4CAFC770F2DE}"/>
              </a:ext>
            </a:extLst>
          </p:cNvPr>
          <p:cNvSpPr>
            <a:spLocks noGrp="1"/>
          </p:cNvSpPr>
          <p:nvPr>
            <p:ph type="sldNum" sz="quarter" idx="5"/>
          </p:nvPr>
        </p:nvSpPr>
        <p:spPr/>
        <p:txBody>
          <a:bodyPr/>
          <a:lstStyle/>
          <a:p>
            <a:fld id="{C1EDAD17-33F0-4D65-82A5-1BBB03DED615}" type="slidenum">
              <a:rPr lang="en-US" smtClean="0"/>
              <a:t>82</a:t>
            </a:fld>
            <a:endParaRPr lang="en-US"/>
          </a:p>
        </p:txBody>
      </p:sp>
    </p:spTree>
    <p:extLst>
      <p:ext uri="{BB962C8B-B14F-4D97-AF65-F5344CB8AC3E}">
        <p14:creationId xmlns:p14="http://schemas.microsoft.com/office/powerpoint/2010/main" val="2936460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11B50-40EA-DE5A-DB27-7A33C1FFA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D56A8-F411-836A-4A73-9D46533DF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4DBA5-88E9-14CB-E17A-A08B72D3C6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D79B96-CE86-F4E5-221B-3D32DD2795CD}"/>
              </a:ext>
            </a:extLst>
          </p:cNvPr>
          <p:cNvSpPr>
            <a:spLocks noGrp="1"/>
          </p:cNvSpPr>
          <p:nvPr>
            <p:ph type="sldNum" sz="quarter" idx="5"/>
          </p:nvPr>
        </p:nvSpPr>
        <p:spPr/>
        <p:txBody>
          <a:bodyPr/>
          <a:lstStyle/>
          <a:p>
            <a:fld id="{C1EDAD17-33F0-4D65-82A5-1BBB03DED615}" type="slidenum">
              <a:rPr lang="en-US" smtClean="0"/>
              <a:t>83</a:t>
            </a:fld>
            <a:endParaRPr lang="en-US"/>
          </a:p>
        </p:txBody>
      </p:sp>
    </p:spTree>
    <p:extLst>
      <p:ext uri="{BB962C8B-B14F-4D97-AF65-F5344CB8AC3E}">
        <p14:creationId xmlns:p14="http://schemas.microsoft.com/office/powerpoint/2010/main" val="36814248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4B67-DD46-563D-4B75-020865BA9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A8999-7D16-BC58-6826-033343A49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0BAAD-2099-2E15-1BAC-F41F3E738B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84F9C4-B45A-5AC0-8AA6-93D421751807}"/>
              </a:ext>
            </a:extLst>
          </p:cNvPr>
          <p:cNvSpPr>
            <a:spLocks noGrp="1"/>
          </p:cNvSpPr>
          <p:nvPr>
            <p:ph type="sldNum" sz="quarter" idx="5"/>
          </p:nvPr>
        </p:nvSpPr>
        <p:spPr/>
        <p:txBody>
          <a:bodyPr/>
          <a:lstStyle/>
          <a:p>
            <a:fld id="{C1EDAD17-33F0-4D65-82A5-1BBB03DED615}" type="slidenum">
              <a:rPr lang="en-US" smtClean="0"/>
              <a:t>84</a:t>
            </a:fld>
            <a:endParaRPr lang="en-US"/>
          </a:p>
        </p:txBody>
      </p:sp>
    </p:spTree>
    <p:extLst>
      <p:ext uri="{BB962C8B-B14F-4D97-AF65-F5344CB8AC3E}">
        <p14:creationId xmlns:p14="http://schemas.microsoft.com/office/powerpoint/2010/main" val="6381459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Smaller weights mean:</a:t>
            </a:r>
          </a:p>
          <a:p>
            <a:r>
              <a:rPr lang="en-US" b="1" dirty="0"/>
              <a:t>Smoother input–output mapping</a:t>
            </a:r>
            <a:endParaRPr lang="en-US" dirty="0"/>
          </a:p>
          <a:p>
            <a:pPr lvl="1"/>
            <a:r>
              <a:rPr lang="en-US" dirty="0"/>
              <a:t>Small change in input → small change in output</a:t>
            </a:r>
          </a:p>
          <a:p>
            <a:r>
              <a:rPr lang="en-US" b="1" dirty="0"/>
              <a:t>Less sensitivity to noise</a:t>
            </a:r>
            <a:endParaRPr lang="en-US" dirty="0"/>
          </a:p>
          <a:p>
            <a:r>
              <a:rPr lang="en-US" b="1" dirty="0"/>
              <a:t>Better generalization</a:t>
            </a:r>
            <a:endParaRPr lang="en-US" dirty="0"/>
          </a:p>
          <a:p>
            <a:pPr lvl="1"/>
            <a:r>
              <a:rPr lang="en-US" dirty="0"/>
              <a:t>Works well on unseen data</a:t>
            </a:r>
          </a:p>
          <a:p>
            <a:r>
              <a:rPr lang="en-US" dirty="0"/>
              <a:t>📌 Weight decay does </a:t>
            </a:r>
            <a:r>
              <a:rPr lang="en-US" b="1" dirty="0"/>
              <a:t>not remove weights</a:t>
            </a:r>
            <a:r>
              <a:rPr lang="en-US" dirty="0"/>
              <a:t>, it only </a:t>
            </a:r>
            <a:r>
              <a:rPr lang="en-US" b="1" dirty="0"/>
              <a:t>shrinks them</a:t>
            </a:r>
            <a:r>
              <a:rPr lang="en-US" dirty="0"/>
              <a:t>.</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86</a:t>
            </a:fld>
            <a:endParaRPr lang="en-US"/>
          </a:p>
        </p:txBody>
      </p:sp>
    </p:spTree>
    <p:extLst>
      <p:ext uri="{BB962C8B-B14F-4D97-AF65-F5344CB8AC3E}">
        <p14:creationId xmlns:p14="http://schemas.microsoft.com/office/powerpoint/2010/main" val="3923789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89</a:t>
            </a:fld>
            <a:endParaRPr lang="en-US"/>
          </a:p>
        </p:txBody>
      </p:sp>
    </p:spTree>
    <p:extLst>
      <p:ext uri="{BB962C8B-B14F-4D97-AF65-F5344CB8AC3E}">
        <p14:creationId xmlns:p14="http://schemas.microsoft.com/office/powerpoint/2010/main" val="47521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nonlinear error surface:</a:t>
            </a:r>
          </a:p>
          <a:p>
            <a:pPr>
              <a:buFont typeface="Arial" panose="020B0604020202020204" pitchFamily="34" charset="0"/>
              <a:buChar char="•"/>
            </a:pPr>
            <a:r>
              <a:rPr lang="en-US" dirty="0"/>
              <a:t>Is </a:t>
            </a:r>
            <a:r>
              <a:rPr lang="en-US" b="1" dirty="0"/>
              <a:t>curved</a:t>
            </a:r>
            <a:endParaRPr lang="en-US" dirty="0"/>
          </a:p>
          <a:p>
            <a:pPr>
              <a:buFont typeface="Arial" panose="020B0604020202020204" pitchFamily="34" charset="0"/>
              <a:buChar char="•"/>
            </a:pPr>
            <a:r>
              <a:rPr lang="en-US" dirty="0"/>
              <a:t>Has:  Valleys , Ridges, Flat regions, Multiple local minima</a:t>
            </a:r>
          </a:p>
          <a:p>
            <a:pPr marL="457200" lvl="1" indent="0">
              <a:buFont typeface="Arial" panose="020B0604020202020204" pitchFamily="34" charset="0"/>
              <a:buNone/>
            </a:pPr>
            <a:endParaRPr lang="en-US" dirty="0"/>
          </a:p>
          <a:p>
            <a:r>
              <a:rPr lang="en-US" b="1" dirty="0"/>
              <a:t>Why the Statement Is Powerful</a:t>
            </a:r>
          </a:p>
          <a:p>
            <a:r>
              <a:rPr lang="en-US" dirty="0"/>
              <a:t>“Supervised learning is not just weight updating…”</a:t>
            </a:r>
          </a:p>
          <a:p>
            <a:r>
              <a:rPr lang="en-US" dirty="0"/>
              <a:t>This means:</a:t>
            </a:r>
          </a:p>
          <a:p>
            <a:pPr>
              <a:buFont typeface="Arial" panose="020B0604020202020204" pitchFamily="34" charset="0"/>
              <a:buChar char="•"/>
            </a:pPr>
            <a:r>
              <a:rPr lang="en-US" dirty="0"/>
              <a:t>We are </a:t>
            </a:r>
            <a:r>
              <a:rPr lang="en-US" b="1" dirty="0"/>
              <a:t>not blindly adjusting weights</a:t>
            </a:r>
            <a:endParaRPr lang="en-US" dirty="0"/>
          </a:p>
          <a:p>
            <a:pPr>
              <a:buFont typeface="Arial" panose="020B0604020202020204" pitchFamily="34" charset="0"/>
              <a:buChar char="•"/>
            </a:pPr>
            <a:r>
              <a:rPr lang="en-US" dirty="0"/>
              <a:t>We are </a:t>
            </a:r>
            <a:r>
              <a:rPr lang="en-US" b="1" dirty="0"/>
              <a:t>solving a difficult optimization problem</a:t>
            </a:r>
            <a:endParaRPr lang="en-US" dirty="0"/>
          </a:p>
          <a:p>
            <a:pPr>
              <a:buFont typeface="Arial" panose="020B0604020202020204" pitchFamily="34" charset="0"/>
              <a:buChar char="•"/>
            </a:pPr>
            <a:r>
              <a:rPr lang="en-US" dirty="0"/>
              <a:t>The difficulty comes from </a:t>
            </a:r>
            <a:r>
              <a:rPr lang="en-US" b="1" dirty="0"/>
              <a:t>nonlinearity</a:t>
            </a:r>
            <a:endParaRPr lang="en-US" dirty="0"/>
          </a:p>
          <a:p>
            <a:r>
              <a:rPr lang="en-US" dirty="0"/>
              <a:t>📌 Hence we need:</a:t>
            </a:r>
          </a:p>
          <a:p>
            <a:pPr>
              <a:buFont typeface="Arial" panose="020B0604020202020204" pitchFamily="34" charset="0"/>
              <a:buChar char="•"/>
            </a:pPr>
            <a:r>
              <a:rPr lang="en-US" dirty="0"/>
              <a:t>Conjugate Gradient</a:t>
            </a:r>
          </a:p>
          <a:p>
            <a:pPr>
              <a:buFont typeface="Arial" panose="020B0604020202020204" pitchFamily="34" charset="0"/>
              <a:buChar char="•"/>
            </a:pPr>
            <a:r>
              <a:rPr lang="en-US" dirty="0"/>
              <a:t>Newton</a:t>
            </a:r>
          </a:p>
          <a:p>
            <a:pPr>
              <a:buFont typeface="Arial" panose="020B0604020202020204" pitchFamily="34" charset="0"/>
              <a:buChar char="•"/>
            </a:pPr>
            <a:r>
              <a:rPr lang="en-US" dirty="0"/>
              <a:t>Quasi-Newton methods</a:t>
            </a:r>
          </a:p>
          <a:p>
            <a:pPr>
              <a:buFont typeface="Arial" panose="020B0604020202020204" pitchFamily="34" charset="0"/>
              <a:buChar char="•"/>
            </a:pPr>
            <a:r>
              <a:rPr lang="en-US" dirty="0"/>
              <a:t>In supervised learning, the error surface is nonlinear because the network output depends on weights through nonlinear activation functions and layered compositions, resulting in a complex, curved error landscape rather than a simple linear surface.</a:t>
            </a:r>
          </a:p>
          <a:p>
            <a:pPr marL="457200" lvl="1" indent="0">
              <a:buFont typeface="Arial" panose="020B0604020202020204" pitchFamily="34" charset="0"/>
              <a:buNone/>
            </a:pP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91</a:t>
            </a:fld>
            <a:endParaRPr lang="en-US"/>
          </a:p>
        </p:txBody>
      </p:sp>
    </p:spTree>
    <p:extLst>
      <p:ext uri="{BB962C8B-B14F-4D97-AF65-F5344CB8AC3E}">
        <p14:creationId xmlns:p14="http://schemas.microsoft.com/office/powerpoint/2010/main" val="727447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92</a:t>
            </a:fld>
            <a:endParaRPr lang="en-US"/>
          </a:p>
        </p:txBody>
      </p:sp>
    </p:spTree>
    <p:extLst>
      <p:ext uri="{BB962C8B-B14F-4D97-AF65-F5344CB8AC3E}">
        <p14:creationId xmlns:p14="http://schemas.microsoft.com/office/powerpoint/2010/main" val="19372138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95</a:t>
            </a:fld>
            <a:endParaRPr lang="en-US"/>
          </a:p>
        </p:txBody>
      </p:sp>
    </p:spTree>
    <p:extLst>
      <p:ext uri="{BB962C8B-B14F-4D97-AF65-F5344CB8AC3E}">
        <p14:creationId xmlns:p14="http://schemas.microsoft.com/office/powerpoint/2010/main" val="1619895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515151"/>
                </a:solidFill>
                <a:effectLst/>
                <a:latin typeface="PT Serif" panose="020A0603040505020204" pitchFamily="18" charset="0"/>
              </a:rPr>
              <a:t>Conjugate gradient descent (CGD) adapts the idea of GD to better accommodate the geometry of the objective function. Rather than taking a step in the direction of the negative gradient locally, CGD constrains each step to be orthogonal to the previous ones.</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96</a:t>
            </a:fld>
            <a:endParaRPr lang="en-US"/>
          </a:p>
        </p:txBody>
      </p:sp>
    </p:spTree>
    <p:extLst>
      <p:ext uri="{BB962C8B-B14F-4D97-AF65-F5344CB8AC3E}">
        <p14:creationId xmlns:p14="http://schemas.microsoft.com/office/powerpoint/2010/main" val="2670597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97</a:t>
            </a:fld>
            <a:endParaRPr lang="en-US"/>
          </a:p>
        </p:txBody>
      </p:sp>
    </p:spTree>
    <p:extLst>
      <p:ext uri="{BB962C8B-B14F-4D97-AF65-F5344CB8AC3E}">
        <p14:creationId xmlns:p14="http://schemas.microsoft.com/office/powerpoint/2010/main" val="1983688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steepest-descent method, exemplified by the back-propagation algorithm, the adjustment !w(n) applied to the synaptic weight vector w(n) is defined by</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98</a:t>
            </a:fld>
            <a:endParaRPr lang="en-US"/>
          </a:p>
        </p:txBody>
      </p:sp>
    </p:spTree>
    <p:extLst>
      <p:ext uri="{BB962C8B-B14F-4D97-AF65-F5344CB8AC3E}">
        <p14:creationId xmlns:p14="http://schemas.microsoft.com/office/powerpoint/2010/main" val="4258990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steepest-descent method, exemplified by the back-propagation algorithm, the adjustment !w(n) applied to the synaptic weight vector w(n) is defined by</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99</a:t>
            </a:fld>
            <a:endParaRPr lang="en-US"/>
          </a:p>
        </p:txBody>
      </p:sp>
    </p:spTree>
    <p:extLst>
      <p:ext uri="{BB962C8B-B14F-4D97-AF65-F5344CB8AC3E}">
        <p14:creationId xmlns:p14="http://schemas.microsoft.com/office/powerpoint/2010/main" val="30098041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100</a:t>
            </a:fld>
            <a:endParaRPr lang="en-US"/>
          </a:p>
        </p:txBody>
      </p:sp>
    </p:spTree>
    <p:extLst>
      <p:ext uri="{BB962C8B-B14F-4D97-AF65-F5344CB8AC3E}">
        <p14:creationId xmlns:p14="http://schemas.microsoft.com/office/powerpoint/2010/main" val="37837721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101</a:t>
            </a:fld>
            <a:endParaRPr lang="en-US"/>
          </a:p>
        </p:txBody>
      </p:sp>
    </p:spTree>
    <p:extLst>
      <p:ext uri="{BB962C8B-B14F-4D97-AF65-F5344CB8AC3E}">
        <p14:creationId xmlns:p14="http://schemas.microsoft.com/office/powerpoint/2010/main" val="3172744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descent always moves in the </a:t>
            </a:r>
            <a:r>
              <a:rPr lang="en-US" b="1" dirty="0"/>
              <a:t>steepest descent direction</a:t>
            </a:r>
            <a:r>
              <a:rPr lang="en-US" dirty="0"/>
              <a:t>.</a:t>
            </a:r>
          </a:p>
          <a:p>
            <a:r>
              <a:rPr lang="en-US" dirty="0"/>
              <a:t>But in an elongated valley (like this ellipse):</a:t>
            </a:r>
          </a:p>
          <a:p>
            <a:r>
              <a:rPr lang="en-US" dirty="0"/>
              <a:t>direction keeps changing</a:t>
            </a:r>
          </a:p>
          <a:p>
            <a:r>
              <a:rPr lang="en-US" dirty="0"/>
              <a:t>algorithm overshoots</a:t>
            </a:r>
          </a:p>
          <a:p>
            <a:r>
              <a:rPr lang="en-US" dirty="0"/>
              <a:t>it </a:t>
            </a:r>
            <a:r>
              <a:rPr lang="en-US" b="1" dirty="0"/>
              <a:t>oscillates between sides</a:t>
            </a:r>
            <a:endParaRPr lang="en-US" dirty="0"/>
          </a:p>
          <a:p>
            <a:endParaRPr lang="en-US" dirty="0"/>
          </a:p>
          <a:p>
            <a:r>
              <a:rPr lang="en-US" dirty="0"/>
              <a:t>Conjugate Gradient chooses </a:t>
            </a:r>
            <a:r>
              <a:rPr lang="en-US" b="1" dirty="0"/>
              <a:t>special directions called conjugate directions</a:t>
            </a:r>
            <a:r>
              <a:rPr lang="en-US" dirty="0"/>
              <a:t>.</a:t>
            </a:r>
          </a:p>
          <a:p>
            <a:r>
              <a:rPr lang="en-US" dirty="0"/>
              <a:t>Properties:</a:t>
            </a:r>
          </a:p>
          <a:p>
            <a:r>
              <a:rPr lang="en-US" dirty="0"/>
              <a:t>directions are </a:t>
            </a:r>
            <a:r>
              <a:rPr lang="en-US" b="1" dirty="0"/>
              <a:t>A-orthogonal</a:t>
            </a:r>
            <a:endParaRPr lang="en-US" dirty="0"/>
          </a:p>
          <a:p>
            <a:r>
              <a:rPr lang="en-US" dirty="0"/>
              <a:t>avoids undoing previous progress</a:t>
            </a:r>
          </a:p>
          <a:p>
            <a:r>
              <a:rPr lang="en-US" dirty="0"/>
              <a:t>moves </a:t>
            </a:r>
            <a:r>
              <a:rPr lang="en-US" b="1" dirty="0"/>
              <a:t>across the valley efficiently</a:t>
            </a: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108</a:t>
            </a:fld>
            <a:endParaRPr lang="en-US"/>
          </a:p>
        </p:txBody>
      </p:sp>
    </p:spTree>
    <p:extLst>
      <p:ext uri="{BB962C8B-B14F-4D97-AF65-F5344CB8AC3E}">
        <p14:creationId xmlns:p14="http://schemas.microsoft.com/office/powerpoint/2010/main" val="26618177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https://jonathan-hui.medium.com/rl-conjugate-gradient-5a644459137a</a:t>
            </a:r>
          </a:p>
          <a:p>
            <a:r>
              <a:rPr lang="en-IN" dirty="0"/>
              <a:t>https://www.cs.cmu.edu/~quake-papers/painless-conjugate-gradient.pdf</a:t>
            </a:r>
          </a:p>
        </p:txBody>
      </p:sp>
      <p:sp>
        <p:nvSpPr>
          <p:cNvPr id="4" name="Slide Number Placeholder 3"/>
          <p:cNvSpPr>
            <a:spLocks noGrp="1"/>
          </p:cNvSpPr>
          <p:nvPr>
            <p:ph type="sldNum" sz="quarter" idx="5"/>
          </p:nvPr>
        </p:nvSpPr>
        <p:spPr/>
        <p:txBody>
          <a:bodyPr/>
          <a:lstStyle/>
          <a:p>
            <a:fld id="{C1EDAD17-33F0-4D65-82A5-1BBB03DED615}" type="slidenum">
              <a:rPr lang="en-US" smtClean="0"/>
              <a:t>111</a:t>
            </a:fld>
            <a:endParaRPr lang="en-US"/>
          </a:p>
        </p:txBody>
      </p:sp>
    </p:spTree>
    <p:extLst>
      <p:ext uri="{BB962C8B-B14F-4D97-AF65-F5344CB8AC3E}">
        <p14:creationId xmlns:p14="http://schemas.microsoft.com/office/powerpoint/2010/main" val="107360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https://jonathan-hui.medium.com/rl-conjugate-gradient-5a644459137a</a:t>
            </a:r>
          </a:p>
          <a:p>
            <a:r>
              <a:rPr lang="en-IN" dirty="0"/>
              <a:t>https://www.cs.cmu.edu/~quake-papers/painless-conjugate-gradient.pdf</a:t>
            </a:r>
          </a:p>
        </p:txBody>
      </p:sp>
      <p:sp>
        <p:nvSpPr>
          <p:cNvPr id="4" name="Slide Number Placeholder 3"/>
          <p:cNvSpPr>
            <a:spLocks noGrp="1"/>
          </p:cNvSpPr>
          <p:nvPr>
            <p:ph type="sldNum" sz="quarter" idx="5"/>
          </p:nvPr>
        </p:nvSpPr>
        <p:spPr/>
        <p:txBody>
          <a:bodyPr/>
          <a:lstStyle/>
          <a:p>
            <a:fld id="{C1EDAD17-33F0-4D65-82A5-1BBB03DED615}" type="slidenum">
              <a:rPr lang="en-US" smtClean="0"/>
              <a:t>112</a:t>
            </a:fld>
            <a:endParaRPr lang="en-US"/>
          </a:p>
        </p:txBody>
      </p:sp>
    </p:spTree>
    <p:extLst>
      <p:ext uri="{BB962C8B-B14F-4D97-AF65-F5344CB8AC3E}">
        <p14:creationId xmlns:p14="http://schemas.microsoft.com/office/powerpoint/2010/main" val="23092100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Polak</a:t>
            </a:r>
            <a:r>
              <a:rPr lang="en-US" dirty="0"/>
              <a:t> </a:t>
            </a:r>
            <a:r>
              <a:rPr lang="en-US" dirty="0" err="1"/>
              <a:t>Ribiere</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114</a:t>
            </a:fld>
            <a:endParaRPr lang="en-US"/>
          </a:p>
        </p:txBody>
      </p:sp>
    </p:spTree>
    <p:extLst>
      <p:ext uri="{BB962C8B-B14F-4D97-AF65-F5344CB8AC3E}">
        <p14:creationId xmlns:p14="http://schemas.microsoft.com/office/powerpoint/2010/main" val="12018075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122</a:t>
            </a:fld>
            <a:endParaRPr lang="en-US"/>
          </a:p>
        </p:txBody>
      </p:sp>
    </p:spTree>
    <p:extLst>
      <p:ext uri="{BB962C8B-B14F-4D97-AF65-F5344CB8AC3E}">
        <p14:creationId xmlns:p14="http://schemas.microsoft.com/office/powerpoint/2010/main" val="12288976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123</a:t>
            </a:fld>
            <a:endParaRPr lang="en-US"/>
          </a:p>
        </p:txBody>
      </p:sp>
    </p:spTree>
    <p:extLst>
      <p:ext uri="{BB962C8B-B14F-4D97-AF65-F5344CB8AC3E}">
        <p14:creationId xmlns:p14="http://schemas.microsoft.com/office/powerpoint/2010/main" val="599390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125</a:t>
            </a:fld>
            <a:endParaRPr lang="en-US"/>
          </a:p>
        </p:txBody>
      </p:sp>
    </p:spTree>
    <p:extLst>
      <p:ext uri="{BB962C8B-B14F-4D97-AF65-F5344CB8AC3E}">
        <p14:creationId xmlns:p14="http://schemas.microsoft.com/office/powerpoint/2010/main" val="22635288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129</a:t>
            </a:fld>
            <a:endParaRPr lang="en-US"/>
          </a:p>
        </p:txBody>
      </p:sp>
    </p:spTree>
    <p:extLst>
      <p:ext uri="{BB962C8B-B14F-4D97-AF65-F5344CB8AC3E}">
        <p14:creationId xmlns:p14="http://schemas.microsoft.com/office/powerpoint/2010/main" val="32739036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132</a:t>
            </a:fld>
            <a:endParaRPr lang="en-US"/>
          </a:p>
        </p:txBody>
      </p:sp>
    </p:spTree>
    <p:extLst>
      <p:ext uri="{BB962C8B-B14F-4D97-AF65-F5344CB8AC3E}">
        <p14:creationId xmlns:p14="http://schemas.microsoft.com/office/powerpoint/2010/main" val="2169912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133</a:t>
            </a:fld>
            <a:endParaRPr lang="en-US"/>
          </a:p>
        </p:txBody>
      </p:sp>
    </p:spTree>
    <p:extLst>
      <p:ext uri="{BB962C8B-B14F-4D97-AF65-F5344CB8AC3E}">
        <p14:creationId xmlns:p14="http://schemas.microsoft.com/office/powerpoint/2010/main" val="1489407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134</a:t>
            </a:fld>
            <a:endParaRPr lang="en-US"/>
          </a:p>
        </p:txBody>
      </p:sp>
    </p:spTree>
    <p:extLst>
      <p:ext uri="{BB962C8B-B14F-4D97-AF65-F5344CB8AC3E}">
        <p14:creationId xmlns:p14="http://schemas.microsoft.com/office/powerpoint/2010/main" val="4257339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135</a:t>
            </a:fld>
            <a:endParaRPr lang="en-US"/>
          </a:p>
        </p:txBody>
      </p:sp>
    </p:spTree>
    <p:extLst>
      <p:ext uri="{BB962C8B-B14F-4D97-AF65-F5344CB8AC3E}">
        <p14:creationId xmlns:p14="http://schemas.microsoft.com/office/powerpoint/2010/main" val="17103899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Feedback neural networks</a:t>
            </a: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136</a:t>
            </a:fld>
            <a:endParaRPr lang="en-US"/>
          </a:p>
        </p:txBody>
      </p:sp>
    </p:spTree>
    <p:extLst>
      <p:ext uri="{BB962C8B-B14F-4D97-AF65-F5344CB8AC3E}">
        <p14:creationId xmlns:p14="http://schemas.microsoft.com/office/powerpoint/2010/main" val="4775296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Feedback neural networks</a:t>
            </a: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137</a:t>
            </a:fld>
            <a:endParaRPr lang="en-US"/>
          </a:p>
        </p:txBody>
      </p:sp>
    </p:spTree>
    <p:extLst>
      <p:ext uri="{BB962C8B-B14F-4D97-AF65-F5344CB8AC3E}">
        <p14:creationId xmlns:p14="http://schemas.microsoft.com/office/powerpoint/2010/main" val="4167478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Feedback neural networks</a:t>
            </a: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138</a:t>
            </a:fld>
            <a:endParaRPr lang="en-US"/>
          </a:p>
        </p:txBody>
      </p:sp>
    </p:spTree>
    <p:extLst>
      <p:ext uri="{BB962C8B-B14F-4D97-AF65-F5344CB8AC3E}">
        <p14:creationId xmlns:p14="http://schemas.microsoft.com/office/powerpoint/2010/main" val="16196383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learns a nonlinear function:</a:t>
            </a:r>
          </a:p>
          <a:p>
            <a:pPr rtl="0"/>
            <a:r>
              <a:rPr lang="en-US" dirty="0"/>
              <a:t>y(n) = f[x(n), x(n-1), x(n-2), x(n-3)]</a:t>
            </a:r>
          </a:p>
          <a:p>
            <a:r>
              <a:rPr lang="en-US" dirty="0"/>
              <a:t>Output:</a:t>
            </a:r>
          </a:p>
          <a:p>
            <a:pPr rtl="0"/>
            <a:r>
              <a:rPr lang="en-US" dirty="0"/>
              <a:t>y(n) = predicted temperature tomorrow</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141</a:t>
            </a:fld>
            <a:endParaRPr lang="en-US"/>
          </a:p>
        </p:txBody>
      </p:sp>
    </p:spTree>
    <p:extLst>
      <p:ext uri="{BB962C8B-B14F-4D97-AF65-F5344CB8AC3E}">
        <p14:creationId xmlns:p14="http://schemas.microsoft.com/office/powerpoint/2010/main" val="38703054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142</a:t>
            </a:fld>
            <a:endParaRPr lang="en-US"/>
          </a:p>
        </p:txBody>
      </p:sp>
    </p:spTree>
    <p:extLst>
      <p:ext uri="{BB962C8B-B14F-4D97-AF65-F5344CB8AC3E}">
        <p14:creationId xmlns:p14="http://schemas.microsoft.com/office/powerpoint/2010/main" val="554696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Tap0, Tap1 … </a:t>
            </a:r>
            <a:r>
              <a:rPr lang="en-IN" b="1" dirty="0" err="1"/>
              <a:t>Tapp</a:t>
            </a:r>
            <a:r>
              <a:rPr lang="en-IN" dirty="0"/>
              <a:t> → provide delayed input signals</a:t>
            </a:r>
            <a:br>
              <a:rPr lang="en-IN" dirty="0"/>
            </a:br>
            <a:r>
              <a:rPr lang="en-IN" dirty="0"/>
              <a:t>• </a:t>
            </a:r>
            <a:r>
              <a:rPr lang="en-IN" b="1" dirty="0"/>
              <a:t>p</a:t>
            </a:r>
            <a:r>
              <a:rPr lang="en-IN" dirty="0"/>
              <a:t> → number of delay units (memory order)</a:t>
            </a:r>
            <a:br>
              <a:rPr lang="en-IN" dirty="0"/>
            </a:br>
            <a:r>
              <a:rPr lang="en-IN" dirty="0"/>
              <a:t>• </a:t>
            </a:r>
            <a:r>
              <a:rPr lang="en-IN" b="1" dirty="0"/>
              <a:t>h(n)</a:t>
            </a:r>
            <a:r>
              <a:rPr lang="en-IN" dirty="0"/>
              <a:t> → impulse response of each delay element</a:t>
            </a:r>
            <a:br>
              <a:rPr lang="en-IN" dirty="0"/>
            </a:br>
            <a:r>
              <a:rPr lang="en-IN" dirty="0"/>
              <a:t>• </a:t>
            </a:r>
            <a:r>
              <a:rPr lang="en-IN" b="1" dirty="0"/>
              <a:t>Sequential connection</a:t>
            </a:r>
            <a:r>
              <a:rPr lang="en-IN" dirty="0"/>
              <a:t> → creates progressive delays</a:t>
            </a:r>
            <a:br>
              <a:rPr lang="en-IN" dirty="0"/>
            </a:br>
            <a:r>
              <a:rPr lang="en-IN" dirty="0"/>
              <a:t>• </a:t>
            </a:r>
            <a:r>
              <a:rPr lang="en-IN" b="1" dirty="0"/>
              <a:t>Delayed signals generated</a:t>
            </a:r>
            <a:endParaRPr lang="en-IN" dirty="0"/>
          </a:p>
          <a:p>
            <a:pPr rtl="0"/>
            <a:r>
              <a:rPr lang="en-IN" dirty="0"/>
              <a:t>x(n), x(n-1), x(n-2), … , x(n-p)</a:t>
            </a:r>
          </a:p>
          <a:p>
            <a:r>
              <a:rPr lang="en-IN" dirty="0"/>
              <a:t>• These become inputs to the neural network.</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143</a:t>
            </a:fld>
            <a:endParaRPr lang="en-US"/>
          </a:p>
        </p:txBody>
      </p:sp>
    </p:spTree>
    <p:extLst>
      <p:ext uri="{BB962C8B-B14F-4D97-AF65-F5344CB8AC3E}">
        <p14:creationId xmlns:p14="http://schemas.microsoft.com/office/powerpoint/2010/main" val="5180560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144</a:t>
            </a:fld>
            <a:endParaRPr lang="en-US"/>
          </a:p>
        </p:txBody>
      </p:sp>
    </p:spTree>
    <p:extLst>
      <p:ext uri="{BB962C8B-B14F-4D97-AF65-F5344CB8AC3E}">
        <p14:creationId xmlns:p14="http://schemas.microsoft.com/office/powerpoint/2010/main" val="22019499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145</a:t>
            </a:fld>
            <a:endParaRPr lang="en-US"/>
          </a:p>
        </p:txBody>
      </p:sp>
    </p:spTree>
    <p:extLst>
      <p:ext uri="{BB962C8B-B14F-4D97-AF65-F5344CB8AC3E}">
        <p14:creationId xmlns:p14="http://schemas.microsoft.com/office/powerpoint/2010/main" val="21045339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146</a:t>
            </a:fld>
            <a:endParaRPr lang="en-US"/>
          </a:p>
        </p:txBody>
      </p:sp>
    </p:spTree>
    <p:extLst>
      <p:ext uri="{BB962C8B-B14F-4D97-AF65-F5344CB8AC3E}">
        <p14:creationId xmlns:p14="http://schemas.microsoft.com/office/powerpoint/2010/main" val="32875653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147</a:t>
            </a:fld>
            <a:endParaRPr lang="en-US"/>
          </a:p>
        </p:txBody>
      </p:sp>
    </p:spTree>
    <p:extLst>
      <p:ext uri="{BB962C8B-B14F-4D97-AF65-F5344CB8AC3E}">
        <p14:creationId xmlns:p14="http://schemas.microsoft.com/office/powerpoint/2010/main" val="37650691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148</a:t>
            </a:fld>
            <a:endParaRPr lang="en-US"/>
          </a:p>
        </p:txBody>
      </p:sp>
    </p:spTree>
    <p:extLst>
      <p:ext uri="{BB962C8B-B14F-4D97-AF65-F5344CB8AC3E}">
        <p14:creationId xmlns:p14="http://schemas.microsoft.com/office/powerpoint/2010/main" val="26720331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149</a:t>
            </a:fld>
            <a:endParaRPr lang="en-US"/>
          </a:p>
        </p:txBody>
      </p:sp>
    </p:spTree>
    <p:extLst>
      <p:ext uri="{BB962C8B-B14F-4D97-AF65-F5344CB8AC3E}">
        <p14:creationId xmlns:p14="http://schemas.microsoft.com/office/powerpoint/2010/main" val="16823336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150</a:t>
            </a:fld>
            <a:endParaRPr lang="en-US"/>
          </a:p>
        </p:txBody>
      </p:sp>
    </p:spTree>
    <p:extLst>
      <p:ext uri="{BB962C8B-B14F-4D97-AF65-F5344CB8AC3E}">
        <p14:creationId xmlns:p14="http://schemas.microsoft.com/office/powerpoint/2010/main" val="14439001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151</a:t>
            </a:fld>
            <a:endParaRPr lang="en-US"/>
          </a:p>
        </p:txBody>
      </p:sp>
    </p:spTree>
    <p:extLst>
      <p:ext uri="{BB962C8B-B14F-4D97-AF65-F5344CB8AC3E}">
        <p14:creationId xmlns:p14="http://schemas.microsoft.com/office/powerpoint/2010/main" val="7741070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152</a:t>
            </a:fld>
            <a:endParaRPr lang="en-US"/>
          </a:p>
        </p:txBody>
      </p:sp>
    </p:spTree>
    <p:extLst>
      <p:ext uri="{BB962C8B-B14F-4D97-AF65-F5344CB8AC3E}">
        <p14:creationId xmlns:p14="http://schemas.microsoft.com/office/powerpoint/2010/main" val="22500120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153</a:t>
            </a:fld>
            <a:endParaRPr lang="en-US"/>
          </a:p>
        </p:txBody>
      </p:sp>
    </p:spTree>
    <p:extLst>
      <p:ext uri="{BB962C8B-B14F-4D97-AF65-F5344CB8AC3E}">
        <p14:creationId xmlns:p14="http://schemas.microsoft.com/office/powerpoint/2010/main" val="24819743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154</a:t>
            </a:fld>
            <a:endParaRPr lang="en-US"/>
          </a:p>
        </p:txBody>
      </p:sp>
    </p:spTree>
    <p:extLst>
      <p:ext uri="{BB962C8B-B14F-4D97-AF65-F5344CB8AC3E}">
        <p14:creationId xmlns:p14="http://schemas.microsoft.com/office/powerpoint/2010/main" val="42438590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156</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4219FD94-2F37-45CF-906E-0FC18340D94C}" type="datetime3">
              <a:rPr lang="en-US" smtClean="0"/>
              <a:t>14 March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endParaRPr lang="en-US"/>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D4093978-C803-4E88-9A60-F9A3CD047010}" type="datetime3">
              <a:rPr lang="en-US" smtClean="0"/>
              <a:t>14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477A9BF1-2B1E-4577-9C2C-9A665E4F6A2F}" type="datetime3">
              <a:rPr lang="en-US" smtClean="0"/>
              <a:t>14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234C2476-E503-444F-870B-36A3087CE7B6}" type="datetime3">
              <a:rPr lang="en-US" smtClean="0"/>
              <a:t>14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39DD0F6D-1596-4FC5-814D-35732CB53AC1}" type="datetime3">
              <a:rPr lang="en-US" smtClean="0"/>
              <a:t>14 March 2026</a:t>
            </a:fld>
            <a:endParaRPr lang="en-US"/>
          </a:p>
        </p:txBody>
      </p:sp>
      <p:sp>
        <p:nvSpPr>
          <p:cNvPr id="8" name="Rectangle 7"/>
          <p:cNvSpPr>
            <a:spLocks noGrp="1" noChangeArrowheads="1"/>
          </p:cNvSpPr>
          <p:nvPr>
            <p:ph type="ftr" sz="quarter" idx="11"/>
          </p:nvPr>
        </p:nvSpPr>
        <p:spPr>
          <a:ln/>
        </p:spPr>
        <p:txBody>
          <a:bodyPr/>
          <a:lstStyle>
            <a:lvl1pPr>
              <a:defRPr/>
            </a:lvl1pPr>
          </a:lstStyle>
          <a:p>
            <a:endParaRPr lang="en-US"/>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6D1D3846-6F17-4090-AF18-3E04DBA6F952}" type="datetime3">
              <a:rPr lang="en-US" smtClean="0"/>
              <a:t>14 March 2026</a:t>
            </a:fld>
            <a:endParaRPr lang="en-US"/>
          </a:p>
        </p:txBody>
      </p:sp>
      <p:sp>
        <p:nvSpPr>
          <p:cNvPr id="4" name="Rectangle 7"/>
          <p:cNvSpPr>
            <a:spLocks noGrp="1" noChangeArrowheads="1"/>
          </p:cNvSpPr>
          <p:nvPr>
            <p:ph type="ftr" sz="quarter" idx="11"/>
          </p:nvPr>
        </p:nvSpPr>
        <p:spPr>
          <a:ln/>
        </p:spPr>
        <p:txBody>
          <a:bodyPr/>
          <a:lstStyle>
            <a:lvl1pPr>
              <a:defRPr/>
            </a:lvl1pPr>
          </a:lstStyle>
          <a:p>
            <a:endParaRPr lang="en-US"/>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ECB0E362-C0D3-4A32-B5E4-4C935736801F}" type="datetime3">
              <a:rPr lang="en-US" smtClean="0"/>
              <a:t>14 March 2026</a:t>
            </a:fld>
            <a:endParaRPr lang="en-US"/>
          </a:p>
        </p:txBody>
      </p:sp>
      <p:sp>
        <p:nvSpPr>
          <p:cNvPr id="3" name="Rectangle 7"/>
          <p:cNvSpPr>
            <a:spLocks noGrp="1" noChangeArrowheads="1"/>
          </p:cNvSpPr>
          <p:nvPr>
            <p:ph type="ftr" sz="quarter" idx="11"/>
          </p:nvPr>
        </p:nvSpPr>
        <p:spPr>
          <a:ln/>
        </p:spPr>
        <p:txBody>
          <a:bodyPr/>
          <a:lstStyle>
            <a:lvl1pPr>
              <a:defRPr/>
            </a:lvl1pPr>
          </a:lstStyle>
          <a:p>
            <a:endParaRPr lang="en-US"/>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6A8661-CCB4-400C-B6A2-C0C29CB2F24B}" type="datetime3">
              <a:rPr lang="en-US" smtClean="0"/>
              <a:t>14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6E3F7E74-5251-4CDF-B550-F292DECD98F4}" type="datetime3">
              <a:rPr lang="en-US" smtClean="0"/>
              <a:t>14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3DC4483B-99E3-49FE-8891-8FB73394ACAC}" type="datetime3">
              <a:rPr lang="en-US" smtClean="0"/>
              <a:t>14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29E00A72-A274-4447-8164-7BED7AE5E5F5}" type="datetime3">
              <a:rPr lang="en-US" smtClean="0"/>
              <a:t>14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0EB0CB20-00A0-4C11-9000-09C75AAF2006}" type="datetime3">
              <a:rPr lang="en-US" smtClean="0"/>
              <a:t>14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563EB048-942F-44F4-8533-D9AF441F019A}" type="datetime3">
              <a:rPr lang="en-US" smtClean="0"/>
              <a:t>14 March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endParaRPr lang="en-US"/>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8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7.png"/></Relationships>
</file>

<file path=ppt/slides/_rels/slide8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5.png"/><Relationship Id="rId7" Type="http://schemas.openxmlformats.org/officeDocument/2006/relationships/image" Target="../media/image71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5.png"/><Relationship Id="rId7" Type="http://schemas.openxmlformats.org/officeDocument/2006/relationships/image" Target="../media/image7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67.png"/><Relationship Id="rId4" Type="http://schemas.openxmlformats.org/officeDocument/2006/relationships/image" Target="../media/image6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9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9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10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10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10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10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7.png"/></Relationships>
</file>

<file path=ppt/slides/_rels/slide11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1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102.png"/><Relationship Id="rId4" Type="http://schemas.openxmlformats.org/officeDocument/2006/relationships/image" Target="../media/image101.png"/></Relationships>
</file>

<file path=ppt/slides/_rels/slide11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1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19.png"/><Relationship Id="rId4" Type="http://schemas.openxmlformats.org/officeDocument/2006/relationships/image" Target="../media/image118.png"/></Relationships>
</file>

<file path=ppt/slides/_rels/slide12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3.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image" Target="../media/image130.pn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36.png"/></Relationships>
</file>

<file path=ppt/slides/_rels/slide15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137.png"/><Relationship Id="rId4" Type="http://schemas.openxmlformats.org/officeDocument/2006/relationships/image" Target="../media/image136.png"/></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Multilayer Perceptron: </a:t>
            </a:r>
            <a:r>
              <a:rPr lang="en-US" sz="2000" dirty="0">
                <a:solidFill>
                  <a:srgbClr val="262626"/>
                </a:solidFill>
                <a:latin typeface="Inter"/>
              </a:rPr>
              <a:t>Introduction, Batch Learning and on-line Learning, The Back- Propagation Algorithm, The Hessian and its Role in On-Line Learning, Generalization, Approximation of Functions, Cross-Validation, Complexity Regularization and Network Pruning, 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2</a:t>
            </a:fld>
            <a:endParaRPr lang="en-US"/>
          </a:p>
        </p:txBody>
      </p:sp>
    </p:spTree>
    <p:extLst>
      <p:ext uri="{BB962C8B-B14F-4D97-AF65-F5344CB8AC3E}">
        <p14:creationId xmlns:p14="http://schemas.microsoft.com/office/powerpoint/2010/main" val="56185186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ED7A6-5959-420C-8774-E67202A2DA53}"/>
              </a:ext>
            </a:extLst>
          </p:cNvPr>
          <p:cNvSpPr>
            <a:spLocks noGrp="1"/>
          </p:cNvSpPr>
          <p:nvPr>
            <p:ph type="title"/>
          </p:nvPr>
        </p:nvSpPr>
        <p:spPr/>
        <p:txBody>
          <a:bodyPr/>
          <a:lstStyle/>
          <a:p>
            <a:r>
              <a:rPr lang="en-IN" dirty="0"/>
              <a:t>Linear Neurons and Limitations</a:t>
            </a:r>
          </a:p>
        </p:txBody>
      </p:sp>
      <p:sp>
        <p:nvSpPr>
          <p:cNvPr id="3" name="Content Placeholder 2">
            <a:extLst>
              <a:ext uri="{FF2B5EF4-FFF2-40B4-BE49-F238E27FC236}">
                <a16:creationId xmlns:a16="http://schemas.microsoft.com/office/drawing/2014/main" id="{5427B023-3E9D-41FD-8AC2-83B2858A19A4}"/>
              </a:ext>
            </a:extLst>
          </p:cNvPr>
          <p:cNvSpPr>
            <a:spLocks noGrp="1"/>
          </p:cNvSpPr>
          <p:nvPr>
            <p:ph idx="1"/>
          </p:nvPr>
        </p:nvSpPr>
        <p:spPr/>
        <p:txBody>
          <a:bodyPr/>
          <a:lstStyle/>
          <a:p>
            <a:pPr algn="just"/>
            <a:r>
              <a:rPr lang="en-US" sz="1600" dirty="0"/>
              <a:t>The perceptron can only model linearly separable functions, − those functions which can be drawn in 2-dim graph and single straight line separates values in two part. </a:t>
            </a:r>
          </a:p>
          <a:p>
            <a:pPr algn="just"/>
            <a:r>
              <a:rPr lang="en-US" sz="1600" dirty="0"/>
              <a:t>Boolean functions given below are linearly separable: − AND − OR − COMPLEMENT </a:t>
            </a:r>
          </a:p>
          <a:p>
            <a:pPr algn="just"/>
            <a:r>
              <a:rPr lang="en-US" sz="1600" dirty="0"/>
              <a:t>It cannot model </a:t>
            </a:r>
            <a:r>
              <a:rPr lang="en-US" sz="1600" b="1" dirty="0"/>
              <a:t>XOR</a:t>
            </a:r>
            <a:r>
              <a:rPr lang="en-US" sz="1600" dirty="0"/>
              <a:t> function as it is </a:t>
            </a:r>
            <a:r>
              <a:rPr lang="en-US" sz="1600" b="1" dirty="0"/>
              <a:t>non linearly separable</a:t>
            </a:r>
            <a:r>
              <a:rPr lang="en-US" sz="1600" dirty="0"/>
              <a:t>. − When the two classes are not linearly separable, it may be desirable to obtain a linear separator that minimizes the mean squared error.</a:t>
            </a:r>
            <a:endParaRPr lang="en-IN" sz="1600" dirty="0"/>
          </a:p>
        </p:txBody>
      </p:sp>
      <p:sp>
        <p:nvSpPr>
          <p:cNvPr id="4" name="Date Placeholder 3">
            <a:extLst>
              <a:ext uri="{FF2B5EF4-FFF2-40B4-BE49-F238E27FC236}">
                <a16:creationId xmlns:a16="http://schemas.microsoft.com/office/drawing/2014/main" id="{45E85D38-71FA-4295-8D52-70BEF33DDF70}"/>
              </a:ext>
            </a:extLst>
          </p:cNvPr>
          <p:cNvSpPr>
            <a:spLocks noGrp="1"/>
          </p:cNvSpPr>
          <p:nvPr>
            <p:ph type="dt" sz="half" idx="10"/>
          </p:nvPr>
        </p:nvSpPr>
        <p:spPr/>
        <p:txBody>
          <a:bodyPr/>
          <a:lstStyle/>
          <a:p>
            <a:fld id="{59A993AC-6FC6-4FD7-BA84-6FD82A41DCAC}" type="datetime3">
              <a:rPr lang="en-US" smtClean="0"/>
              <a:t>14 March 2026</a:t>
            </a:fld>
            <a:endParaRPr lang="en-US"/>
          </a:p>
        </p:txBody>
      </p:sp>
      <p:sp>
        <p:nvSpPr>
          <p:cNvPr id="5" name="Footer Placeholder 4">
            <a:extLst>
              <a:ext uri="{FF2B5EF4-FFF2-40B4-BE49-F238E27FC236}">
                <a16:creationId xmlns:a16="http://schemas.microsoft.com/office/drawing/2014/main" id="{A0EF207D-38DB-4588-AFE4-CCC58FE4D10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C556D8B-3BB3-4EBF-A2B3-8396897E8A72}"/>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8" name="Picture 7">
            <a:extLst>
              <a:ext uri="{FF2B5EF4-FFF2-40B4-BE49-F238E27FC236}">
                <a16:creationId xmlns:a16="http://schemas.microsoft.com/office/drawing/2014/main" id="{74F45CF7-F423-45FA-BE74-6193A76886FB}"/>
              </a:ext>
            </a:extLst>
          </p:cNvPr>
          <p:cNvPicPr>
            <a:picLocks noChangeAspect="1"/>
          </p:cNvPicPr>
          <p:nvPr/>
        </p:nvPicPr>
        <p:blipFill>
          <a:blip r:embed="rId2"/>
          <a:stretch>
            <a:fillRect/>
          </a:stretch>
        </p:blipFill>
        <p:spPr>
          <a:xfrm>
            <a:off x="2433638" y="3460008"/>
            <a:ext cx="7315200" cy="2863798"/>
          </a:xfrm>
          <a:prstGeom prst="rect">
            <a:avLst/>
          </a:prstGeom>
        </p:spPr>
      </p:pic>
    </p:spTree>
    <p:extLst>
      <p:ext uri="{BB962C8B-B14F-4D97-AF65-F5344CB8AC3E}">
        <p14:creationId xmlns:p14="http://schemas.microsoft.com/office/powerpoint/2010/main" val="70676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C7D3-53AD-4E28-8F80-3A529242B114}"/>
              </a:ext>
            </a:extLst>
          </p:cNvPr>
          <p:cNvSpPr>
            <a:spLocks noGrp="1"/>
          </p:cNvSpPr>
          <p:nvPr>
            <p:ph type="title"/>
          </p:nvPr>
        </p:nvSpPr>
        <p:spPr/>
        <p:txBody>
          <a:bodyPr/>
          <a:lstStyle/>
          <a:p>
            <a:r>
              <a:rPr lang="en-US" dirty="0"/>
              <a:t>XOR – Non linearly separable function </a:t>
            </a:r>
            <a:endParaRPr lang="en-IN" dirty="0"/>
          </a:p>
        </p:txBody>
      </p:sp>
      <p:sp>
        <p:nvSpPr>
          <p:cNvPr id="3" name="Content Placeholder 2">
            <a:extLst>
              <a:ext uri="{FF2B5EF4-FFF2-40B4-BE49-F238E27FC236}">
                <a16:creationId xmlns:a16="http://schemas.microsoft.com/office/drawing/2014/main" id="{133D2CFF-2C20-473B-8624-126B834087F5}"/>
              </a:ext>
            </a:extLst>
          </p:cNvPr>
          <p:cNvSpPr>
            <a:spLocks noGrp="1"/>
          </p:cNvSpPr>
          <p:nvPr>
            <p:ph idx="1"/>
          </p:nvPr>
        </p:nvSpPr>
        <p:spPr/>
        <p:txBody>
          <a:bodyPr/>
          <a:lstStyle/>
          <a:p>
            <a:pPr algn="just"/>
            <a:r>
              <a:rPr lang="en-US" sz="2000" dirty="0"/>
              <a:t>A typical example of non-linearly separable function is the XOR that computes the logical exclusive or.. </a:t>
            </a:r>
          </a:p>
          <a:p>
            <a:pPr algn="just"/>
            <a:r>
              <a:rPr lang="en-US" sz="2000" dirty="0"/>
              <a:t>This function takes two input arguments with values in {0,1} and returns one output in {0,1}, </a:t>
            </a:r>
          </a:p>
          <a:p>
            <a:pPr algn="just"/>
            <a:r>
              <a:rPr lang="en-US" sz="2000" dirty="0"/>
              <a:t>Here 0 and 1 are encoding of the truth values false and true, </a:t>
            </a:r>
          </a:p>
          <a:p>
            <a:pPr algn="just"/>
            <a:r>
              <a:rPr lang="en-US" sz="2000" dirty="0"/>
              <a:t>The output is true if and only if the two inputs have different truth values. </a:t>
            </a:r>
          </a:p>
          <a:p>
            <a:pPr algn="just"/>
            <a:r>
              <a:rPr lang="en-US" sz="2000" dirty="0"/>
              <a:t>XOR is non linearly separable function which can not be modeled by perceptron. </a:t>
            </a:r>
          </a:p>
          <a:p>
            <a:pPr algn="just"/>
            <a:r>
              <a:rPr lang="en-US" sz="2000" dirty="0"/>
              <a:t>For such functions we have to use multilayer perceptron.</a:t>
            </a:r>
            <a:endParaRPr lang="en-IN" sz="2000" dirty="0"/>
          </a:p>
        </p:txBody>
      </p:sp>
      <p:sp>
        <p:nvSpPr>
          <p:cNvPr id="4" name="Date Placeholder 3">
            <a:extLst>
              <a:ext uri="{FF2B5EF4-FFF2-40B4-BE49-F238E27FC236}">
                <a16:creationId xmlns:a16="http://schemas.microsoft.com/office/drawing/2014/main" id="{2A53AF09-EDAD-4740-8724-8CCB3374EB7F}"/>
              </a:ext>
            </a:extLst>
          </p:cNvPr>
          <p:cNvSpPr>
            <a:spLocks noGrp="1"/>
          </p:cNvSpPr>
          <p:nvPr>
            <p:ph type="dt" sz="half" idx="10"/>
          </p:nvPr>
        </p:nvSpPr>
        <p:spPr/>
        <p:txBody>
          <a:bodyPr/>
          <a:lstStyle/>
          <a:p>
            <a:fld id="{59A993AC-6FC6-4FD7-BA84-6FD82A41DCAC}" type="datetime3">
              <a:rPr lang="en-US" smtClean="0"/>
              <a:t>14 March 2026</a:t>
            </a:fld>
            <a:endParaRPr lang="en-US"/>
          </a:p>
        </p:txBody>
      </p:sp>
      <p:sp>
        <p:nvSpPr>
          <p:cNvPr id="5" name="Footer Placeholder 4">
            <a:extLst>
              <a:ext uri="{FF2B5EF4-FFF2-40B4-BE49-F238E27FC236}">
                <a16:creationId xmlns:a16="http://schemas.microsoft.com/office/drawing/2014/main" id="{5074B6AA-114C-42E4-8C63-A709DB6109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945C7C6-DC03-4998-A72B-07D49412DED5}"/>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3311922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FEC2-57EC-4E9F-87AF-C0E77A1F3BDF}"/>
              </a:ext>
            </a:extLst>
          </p:cNvPr>
          <p:cNvSpPr>
            <a:spLocks noGrp="1"/>
          </p:cNvSpPr>
          <p:nvPr>
            <p:ph type="title"/>
          </p:nvPr>
        </p:nvSpPr>
        <p:spPr/>
        <p:txBody>
          <a:bodyPr/>
          <a:lstStyle/>
          <a:p>
            <a:r>
              <a:rPr lang="en-US" dirty="0"/>
              <a:t>XOR – Non linearly separable function </a:t>
            </a:r>
            <a:endParaRPr lang="en-IN" dirty="0"/>
          </a:p>
        </p:txBody>
      </p:sp>
      <p:sp>
        <p:nvSpPr>
          <p:cNvPr id="3" name="Content Placeholder 2">
            <a:extLst>
              <a:ext uri="{FF2B5EF4-FFF2-40B4-BE49-F238E27FC236}">
                <a16:creationId xmlns:a16="http://schemas.microsoft.com/office/drawing/2014/main" id="{1BE26FC1-96C7-4A67-B911-E4523B0B7813}"/>
              </a:ext>
            </a:extLst>
          </p:cNvPr>
          <p:cNvSpPr>
            <a:spLocks noGrp="1"/>
          </p:cNvSpPr>
          <p:nvPr>
            <p:ph idx="1"/>
          </p:nvPr>
        </p:nvSpPr>
        <p:spPr/>
        <p:txBody>
          <a:bodyPr/>
          <a:lstStyle/>
          <a:p>
            <a:pPr marL="0" indent="0" algn="just">
              <a:buNone/>
            </a:pPr>
            <a:r>
              <a:rPr lang="en-US" sz="2000" dirty="0"/>
              <a:t>These two classes (true and false) cannot be separated using a line. Hence XOR is non linearly separable.</a:t>
            </a:r>
            <a:endParaRPr lang="en-IN" sz="2000" dirty="0"/>
          </a:p>
        </p:txBody>
      </p:sp>
      <p:sp>
        <p:nvSpPr>
          <p:cNvPr id="4" name="Date Placeholder 3">
            <a:extLst>
              <a:ext uri="{FF2B5EF4-FFF2-40B4-BE49-F238E27FC236}">
                <a16:creationId xmlns:a16="http://schemas.microsoft.com/office/drawing/2014/main" id="{2817125A-02D4-48A2-91AF-DA8F99D97D0C}"/>
              </a:ext>
            </a:extLst>
          </p:cNvPr>
          <p:cNvSpPr>
            <a:spLocks noGrp="1"/>
          </p:cNvSpPr>
          <p:nvPr>
            <p:ph type="dt" sz="half" idx="10"/>
          </p:nvPr>
        </p:nvSpPr>
        <p:spPr/>
        <p:txBody>
          <a:bodyPr/>
          <a:lstStyle/>
          <a:p>
            <a:fld id="{59A993AC-6FC6-4FD7-BA84-6FD82A41DCAC}" type="datetime3">
              <a:rPr lang="en-US" smtClean="0"/>
              <a:t>14 March 2026</a:t>
            </a:fld>
            <a:endParaRPr lang="en-US"/>
          </a:p>
        </p:txBody>
      </p:sp>
      <p:sp>
        <p:nvSpPr>
          <p:cNvPr id="5" name="Footer Placeholder 4">
            <a:extLst>
              <a:ext uri="{FF2B5EF4-FFF2-40B4-BE49-F238E27FC236}">
                <a16:creationId xmlns:a16="http://schemas.microsoft.com/office/drawing/2014/main" id="{D29E768B-34F0-471B-AE9C-305C23B905C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266881D-8E05-4E0A-A47D-0311157A0F67}"/>
              </a:ext>
            </a:extLst>
          </p:cNvPr>
          <p:cNvSpPr>
            <a:spLocks noGrp="1"/>
          </p:cNvSpPr>
          <p:nvPr>
            <p:ph type="sldNum" sz="quarter" idx="12"/>
          </p:nvPr>
        </p:nvSpPr>
        <p:spPr/>
        <p:txBody>
          <a:bodyPr/>
          <a:lstStyle/>
          <a:p>
            <a:fld id="{BB2CE0DE-867F-455F-B20B-96D381B4AB71}" type="slidenum">
              <a:rPr lang="en-US" smtClean="0"/>
              <a:t>5</a:t>
            </a:fld>
            <a:endParaRPr lang="en-US"/>
          </a:p>
        </p:txBody>
      </p:sp>
      <p:pic>
        <p:nvPicPr>
          <p:cNvPr id="8" name="Picture 7">
            <a:extLst>
              <a:ext uri="{FF2B5EF4-FFF2-40B4-BE49-F238E27FC236}">
                <a16:creationId xmlns:a16="http://schemas.microsoft.com/office/drawing/2014/main" id="{67965DDE-D8C4-4A73-9467-D3291DBB9E8F}"/>
              </a:ext>
            </a:extLst>
          </p:cNvPr>
          <p:cNvPicPr>
            <a:picLocks noChangeAspect="1"/>
          </p:cNvPicPr>
          <p:nvPr/>
        </p:nvPicPr>
        <p:blipFill>
          <a:blip r:embed="rId2"/>
          <a:stretch>
            <a:fillRect/>
          </a:stretch>
        </p:blipFill>
        <p:spPr>
          <a:xfrm>
            <a:off x="2165280" y="1981201"/>
            <a:ext cx="6087325" cy="1876687"/>
          </a:xfrm>
          <a:prstGeom prst="rect">
            <a:avLst/>
          </a:prstGeom>
        </p:spPr>
      </p:pic>
      <p:pic>
        <p:nvPicPr>
          <p:cNvPr id="10" name="Picture 9">
            <a:extLst>
              <a:ext uri="{FF2B5EF4-FFF2-40B4-BE49-F238E27FC236}">
                <a16:creationId xmlns:a16="http://schemas.microsoft.com/office/drawing/2014/main" id="{11BE5F8B-DB4C-4402-BD43-0933FC74AAC5}"/>
              </a:ext>
            </a:extLst>
          </p:cNvPr>
          <p:cNvPicPr>
            <a:picLocks noChangeAspect="1"/>
          </p:cNvPicPr>
          <p:nvPr/>
        </p:nvPicPr>
        <p:blipFill>
          <a:blip r:embed="rId3"/>
          <a:stretch>
            <a:fillRect/>
          </a:stretch>
        </p:blipFill>
        <p:spPr>
          <a:xfrm>
            <a:off x="2590800" y="4021417"/>
            <a:ext cx="4495800" cy="2332994"/>
          </a:xfrm>
          <a:prstGeom prst="rect">
            <a:avLst/>
          </a:prstGeom>
        </p:spPr>
      </p:pic>
    </p:spTree>
    <p:extLst>
      <p:ext uri="{BB962C8B-B14F-4D97-AF65-F5344CB8AC3E}">
        <p14:creationId xmlns:p14="http://schemas.microsoft.com/office/powerpoint/2010/main" val="1900564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D10DE-3B3E-4302-B6F9-B48D467F9DF7}"/>
              </a:ext>
            </a:extLst>
          </p:cNvPr>
          <p:cNvSpPr>
            <a:spLocks noGrp="1"/>
          </p:cNvSpPr>
          <p:nvPr>
            <p:ph type="title"/>
          </p:nvPr>
        </p:nvSpPr>
        <p:spPr/>
        <p:txBody>
          <a:bodyPr/>
          <a:lstStyle/>
          <a:p>
            <a:r>
              <a:rPr lang="en-IN" dirty="0"/>
              <a:t>Multilayer Perceptron</a:t>
            </a:r>
          </a:p>
        </p:txBody>
      </p:sp>
      <p:sp>
        <p:nvSpPr>
          <p:cNvPr id="3" name="Content Placeholder 2">
            <a:extLst>
              <a:ext uri="{FF2B5EF4-FFF2-40B4-BE49-F238E27FC236}">
                <a16:creationId xmlns:a16="http://schemas.microsoft.com/office/drawing/2014/main" id="{7547072E-E40A-4C99-9CC6-24BB8BF63729}"/>
              </a:ext>
            </a:extLst>
          </p:cNvPr>
          <p:cNvSpPr>
            <a:spLocks noGrp="1"/>
          </p:cNvSpPr>
          <p:nvPr>
            <p:ph idx="1"/>
          </p:nvPr>
        </p:nvSpPr>
        <p:spPr/>
        <p:txBody>
          <a:bodyPr/>
          <a:lstStyle/>
          <a:p>
            <a:pPr marL="0" indent="0">
              <a:buNone/>
            </a:pPr>
            <a:r>
              <a:rPr lang="en-US" sz="1600" dirty="0"/>
              <a:t>To overcome the practical limitations of the perceptron and the LMS algorithm, we look to a neural network structure known as the multilayer perceptron.</a:t>
            </a:r>
          </a:p>
          <a:p>
            <a:pPr marL="0" indent="0">
              <a:buNone/>
            </a:pPr>
            <a:endParaRPr lang="en-US" sz="1600" dirty="0"/>
          </a:p>
          <a:p>
            <a:pPr marL="0" indent="0">
              <a:buNone/>
            </a:pPr>
            <a:r>
              <a:rPr lang="en-US" sz="1600" dirty="0"/>
              <a:t>The following three points highlight the basic features of multilayer </a:t>
            </a:r>
            <a:r>
              <a:rPr lang="en-US" sz="1600" dirty="0" err="1"/>
              <a:t>perceptrons</a:t>
            </a:r>
            <a:r>
              <a:rPr lang="en-US" sz="1600" dirty="0"/>
              <a:t>:</a:t>
            </a:r>
          </a:p>
          <a:p>
            <a:pPr marL="0" indent="0">
              <a:buNone/>
            </a:pPr>
            <a:r>
              <a:rPr lang="en-US" sz="1600" dirty="0"/>
              <a:t>• The model of each neuron in the network includes a </a:t>
            </a:r>
            <a:r>
              <a:rPr lang="en-US" sz="1600" b="1" dirty="0"/>
              <a:t>nonlinear activation </a:t>
            </a:r>
            <a:r>
              <a:rPr lang="en-US" sz="1600" dirty="0"/>
              <a:t>function that is differentiable.</a:t>
            </a:r>
          </a:p>
          <a:p>
            <a:pPr marL="0" indent="0">
              <a:buNone/>
            </a:pPr>
            <a:r>
              <a:rPr lang="en-US" sz="1600" dirty="0"/>
              <a:t>• The network contains </a:t>
            </a:r>
            <a:r>
              <a:rPr lang="en-US" sz="1600" b="1" dirty="0"/>
              <a:t>one or more layers that are hidden </a:t>
            </a:r>
            <a:r>
              <a:rPr lang="en-US" sz="1600" dirty="0"/>
              <a:t>from both the input and output nodes.</a:t>
            </a:r>
          </a:p>
          <a:p>
            <a:pPr marL="0" indent="0">
              <a:buNone/>
            </a:pPr>
            <a:r>
              <a:rPr lang="en-US" sz="1600" dirty="0"/>
              <a:t>• The network exhibits a </a:t>
            </a:r>
            <a:r>
              <a:rPr lang="en-US" sz="1600" b="1" dirty="0"/>
              <a:t>high degree of connectivity</a:t>
            </a:r>
            <a:r>
              <a:rPr lang="en-US" sz="1600" dirty="0"/>
              <a:t>, the extent of which is determined by synaptic weights of the network.</a:t>
            </a:r>
            <a:endParaRPr lang="en-IN" sz="1600" dirty="0"/>
          </a:p>
        </p:txBody>
      </p:sp>
      <p:sp>
        <p:nvSpPr>
          <p:cNvPr id="4" name="Slide Number Placeholder 3">
            <a:extLst>
              <a:ext uri="{FF2B5EF4-FFF2-40B4-BE49-F238E27FC236}">
                <a16:creationId xmlns:a16="http://schemas.microsoft.com/office/drawing/2014/main" id="{825E3986-7D75-45DA-AD08-A1399E7B5A32}"/>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2862329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41EDA-D5B8-DC2E-2446-119BD8AF9D67}"/>
              </a:ext>
            </a:extLst>
          </p:cNvPr>
          <p:cNvSpPr>
            <a:spLocks noGrp="1"/>
          </p:cNvSpPr>
          <p:nvPr>
            <p:ph type="title"/>
          </p:nvPr>
        </p:nvSpPr>
        <p:spPr/>
        <p:txBody>
          <a:bodyPr/>
          <a:lstStyle/>
          <a:p>
            <a:r>
              <a:rPr lang="en-US" dirty="0"/>
              <a:t>Question: Multilayer Perceptron</a:t>
            </a:r>
            <a:endParaRPr lang="en-IN" dirty="0"/>
          </a:p>
        </p:txBody>
      </p:sp>
      <p:sp>
        <p:nvSpPr>
          <p:cNvPr id="3" name="Content Placeholder 2">
            <a:extLst>
              <a:ext uri="{FF2B5EF4-FFF2-40B4-BE49-F238E27FC236}">
                <a16:creationId xmlns:a16="http://schemas.microsoft.com/office/drawing/2014/main" id="{8AF484AD-435E-E8AA-DBDC-505E5C78347C}"/>
              </a:ext>
            </a:extLst>
          </p:cNvPr>
          <p:cNvSpPr>
            <a:spLocks noGrp="1"/>
          </p:cNvSpPr>
          <p:nvPr>
            <p:ph idx="1"/>
          </p:nvPr>
        </p:nvSpPr>
        <p:spPr/>
        <p:txBody>
          <a:bodyPr/>
          <a:lstStyle/>
          <a:p>
            <a:r>
              <a:rPr lang="en-US" sz="1800" dirty="0"/>
              <a:t>Explain the three basic features of the multilayer perceptron and the two phases of training by back-propagation algorithm with LMS as a special case.</a:t>
            </a:r>
            <a:endParaRPr lang="en-IN" sz="1800" dirty="0"/>
          </a:p>
        </p:txBody>
      </p:sp>
      <p:sp>
        <p:nvSpPr>
          <p:cNvPr id="4" name="Slide Number Placeholder 3">
            <a:extLst>
              <a:ext uri="{FF2B5EF4-FFF2-40B4-BE49-F238E27FC236}">
                <a16:creationId xmlns:a16="http://schemas.microsoft.com/office/drawing/2014/main" id="{9161DE84-CCE0-E3DB-F5F5-CC6E03F4644D}"/>
              </a:ext>
            </a:extLst>
          </p:cNvPr>
          <p:cNvSpPr>
            <a:spLocks noGrp="1"/>
          </p:cNvSpPr>
          <p:nvPr>
            <p:ph type="sldNum" sz="quarter" idx="12"/>
          </p:nvPr>
        </p:nvSpPr>
        <p:spPr/>
        <p:txBody>
          <a:bodyPr/>
          <a:lstStyle/>
          <a:p>
            <a:fld id="{BB2CE0DE-867F-455F-B20B-96D381B4AB71}" type="slidenum">
              <a:rPr lang="en-US" smtClean="0"/>
              <a:t>7</a:t>
            </a:fld>
            <a:endParaRPr lang="en-US"/>
          </a:p>
        </p:txBody>
      </p:sp>
    </p:spTree>
    <p:extLst>
      <p:ext uri="{BB962C8B-B14F-4D97-AF65-F5344CB8AC3E}">
        <p14:creationId xmlns:p14="http://schemas.microsoft.com/office/powerpoint/2010/main" val="419006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15767-ADED-47E5-8FDE-9D20BF243D26}"/>
              </a:ext>
            </a:extLst>
          </p:cNvPr>
          <p:cNvSpPr>
            <a:spLocks noGrp="1"/>
          </p:cNvSpPr>
          <p:nvPr>
            <p:ph type="title"/>
          </p:nvPr>
        </p:nvSpPr>
        <p:spPr/>
        <p:txBody>
          <a:bodyPr/>
          <a:lstStyle/>
          <a:p>
            <a:r>
              <a:rPr lang="en-US" sz="2400" dirty="0"/>
              <a:t>Architectural graph of a multilayer perceptron </a:t>
            </a:r>
            <a:endParaRPr lang="en-IN" sz="2400" dirty="0"/>
          </a:p>
        </p:txBody>
      </p:sp>
      <p:sp>
        <p:nvSpPr>
          <p:cNvPr id="4" name="Slide Number Placeholder 3">
            <a:extLst>
              <a:ext uri="{FF2B5EF4-FFF2-40B4-BE49-F238E27FC236}">
                <a16:creationId xmlns:a16="http://schemas.microsoft.com/office/drawing/2014/main" id="{C0875835-0F36-4902-B6BC-A97F009C0BB4}"/>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6" name="Picture 5">
            <a:extLst>
              <a:ext uri="{FF2B5EF4-FFF2-40B4-BE49-F238E27FC236}">
                <a16:creationId xmlns:a16="http://schemas.microsoft.com/office/drawing/2014/main" id="{196F7509-42D9-4006-A9F7-34FCC1C213CE}"/>
              </a:ext>
            </a:extLst>
          </p:cNvPr>
          <p:cNvPicPr>
            <a:picLocks noChangeAspect="1"/>
          </p:cNvPicPr>
          <p:nvPr/>
        </p:nvPicPr>
        <p:blipFill>
          <a:blip r:embed="rId3"/>
          <a:stretch>
            <a:fillRect/>
          </a:stretch>
        </p:blipFill>
        <p:spPr>
          <a:xfrm>
            <a:off x="2116397" y="1295400"/>
            <a:ext cx="7725853" cy="3581900"/>
          </a:xfrm>
          <a:prstGeom prst="rect">
            <a:avLst/>
          </a:prstGeom>
        </p:spPr>
      </p:pic>
      <p:sp>
        <p:nvSpPr>
          <p:cNvPr id="7" name="TextBox 6">
            <a:extLst>
              <a:ext uri="{FF2B5EF4-FFF2-40B4-BE49-F238E27FC236}">
                <a16:creationId xmlns:a16="http://schemas.microsoft.com/office/drawing/2014/main" id="{3CA32585-ED8B-421C-8C62-1C804DE8320B}"/>
              </a:ext>
            </a:extLst>
          </p:cNvPr>
          <p:cNvSpPr txBox="1"/>
          <p:nvPr/>
        </p:nvSpPr>
        <p:spPr>
          <a:xfrm>
            <a:off x="3048000" y="5182101"/>
            <a:ext cx="6425670" cy="307777"/>
          </a:xfrm>
          <a:prstGeom prst="rect">
            <a:avLst/>
          </a:prstGeom>
          <a:noFill/>
        </p:spPr>
        <p:txBody>
          <a:bodyPr wrap="none" rtlCol="0">
            <a:spAutoFit/>
          </a:bodyPr>
          <a:lstStyle/>
          <a:p>
            <a:r>
              <a:rPr lang="en-US" sz="1400" dirty="0"/>
              <a:t>Architectural graph of a multilayer perceptron with two hidden layers</a:t>
            </a:r>
            <a:endParaRPr lang="en-IN" sz="1400" dirty="0"/>
          </a:p>
        </p:txBody>
      </p:sp>
    </p:spTree>
    <p:extLst>
      <p:ext uri="{BB962C8B-B14F-4D97-AF65-F5344CB8AC3E}">
        <p14:creationId xmlns:p14="http://schemas.microsoft.com/office/powerpoint/2010/main" val="4136681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2F952-CAE1-36AC-BC57-7EF5AC802E19}"/>
              </a:ext>
            </a:extLst>
          </p:cNvPr>
          <p:cNvSpPr>
            <a:spLocks noGrp="1"/>
          </p:cNvSpPr>
          <p:nvPr>
            <p:ph type="title"/>
          </p:nvPr>
        </p:nvSpPr>
        <p:spPr/>
        <p:txBody>
          <a:bodyPr/>
          <a:lstStyle/>
          <a:p>
            <a:r>
              <a:rPr lang="en-US" sz="2400" dirty="0"/>
              <a:t>Architectural graph of a multilayer perceptron (MLP)</a:t>
            </a:r>
            <a:endParaRPr lang="en-IN" sz="2400" dirty="0"/>
          </a:p>
        </p:txBody>
      </p:sp>
      <p:sp>
        <p:nvSpPr>
          <p:cNvPr id="3" name="Content Placeholder 2">
            <a:extLst>
              <a:ext uri="{FF2B5EF4-FFF2-40B4-BE49-F238E27FC236}">
                <a16:creationId xmlns:a16="http://schemas.microsoft.com/office/drawing/2014/main" id="{BAB11E05-F018-70E0-4739-0C0793D99AFD}"/>
              </a:ext>
            </a:extLst>
          </p:cNvPr>
          <p:cNvSpPr>
            <a:spLocks noGrp="1"/>
          </p:cNvSpPr>
          <p:nvPr>
            <p:ph idx="1"/>
          </p:nvPr>
        </p:nvSpPr>
        <p:spPr/>
        <p:txBody>
          <a:bodyPr/>
          <a:lstStyle/>
          <a:p>
            <a:pPr marL="0" indent="0" algn="just">
              <a:buNone/>
            </a:pPr>
            <a:r>
              <a:rPr lang="en-US" sz="1100" dirty="0"/>
              <a:t>A multilayer perceptron (MLP) is a perceptron that teams up with additional perceptron stacked in several layers, to solve complex problems.</a:t>
            </a:r>
          </a:p>
          <a:p>
            <a:pPr marL="0" indent="0" algn="just">
              <a:buNone/>
            </a:pPr>
            <a:r>
              <a:rPr lang="en-US" sz="1100" dirty="0"/>
              <a:t>Each perceptron sends multiple signals, one signal going to each perceptron in the next layer.</a:t>
            </a:r>
          </a:p>
          <a:p>
            <a:pPr marL="0" indent="0" algn="just">
              <a:buNone/>
            </a:pPr>
            <a:r>
              <a:rPr lang="en-US" sz="1100" dirty="0"/>
              <a:t>For each signal, the perceptron uses different weights.</a:t>
            </a:r>
          </a:p>
          <a:p>
            <a:pPr marL="0" indent="0" algn="just">
              <a:buNone/>
            </a:pPr>
            <a:endParaRPr lang="en-US" sz="1100" dirty="0"/>
          </a:p>
          <a:p>
            <a:pPr marL="0" indent="0" algn="just">
              <a:buNone/>
            </a:pPr>
            <a:r>
              <a:rPr lang="en-US" sz="1100" dirty="0"/>
              <a:t>The multilayer perceptron has another, more common name—a neural network.</a:t>
            </a:r>
          </a:p>
          <a:p>
            <a:pPr marL="0" indent="0" algn="just">
              <a:buNone/>
            </a:pPr>
            <a:r>
              <a:rPr lang="en-US" sz="1100" dirty="0"/>
              <a:t>• A three-layer MLP is called a Non-Deep or Shallow Neural Network.</a:t>
            </a:r>
          </a:p>
          <a:p>
            <a:pPr marL="0" indent="0" algn="just">
              <a:buNone/>
            </a:pPr>
            <a:r>
              <a:rPr lang="en-US" sz="1100" dirty="0"/>
              <a:t>• An MLP with four or more layers is called a Deep Neural Network.</a:t>
            </a:r>
          </a:p>
          <a:p>
            <a:pPr marL="0" indent="0" algn="just">
              <a:buNone/>
            </a:pPr>
            <a:r>
              <a:rPr lang="en-US" sz="1100" dirty="0"/>
              <a:t>Classic Perceptron Vs. A Neural Network:</a:t>
            </a:r>
          </a:p>
          <a:p>
            <a:pPr marL="0" indent="0" algn="just">
              <a:buNone/>
            </a:pPr>
            <a:r>
              <a:rPr lang="en-US" sz="1100" dirty="0"/>
              <a:t>• In a classic perceptron, the decision function is a step function and the output is binary.</a:t>
            </a:r>
          </a:p>
          <a:p>
            <a:pPr marL="0" indent="0" algn="just">
              <a:buNone/>
            </a:pPr>
            <a:r>
              <a:rPr lang="en-US" sz="1100" dirty="0"/>
              <a:t>• In neural networks that evolved from MLPs, other activation functions can be used, usually between 0 and 1 or between -1 and 1.</a:t>
            </a:r>
          </a:p>
          <a:p>
            <a:pPr marL="0" indent="0" algn="just">
              <a:buNone/>
            </a:pPr>
            <a:r>
              <a:rPr lang="en-US" sz="1100" dirty="0"/>
              <a:t>• This allows for probability-based predictions or classification of items into multiple labels.</a:t>
            </a:r>
          </a:p>
          <a:p>
            <a:pPr marL="0" indent="0" algn="just">
              <a:buNone/>
            </a:pPr>
            <a:endParaRPr lang="en-US" sz="1100" dirty="0"/>
          </a:p>
          <a:p>
            <a:pPr marL="0" indent="0" algn="just">
              <a:buNone/>
            </a:pPr>
            <a:r>
              <a:rPr lang="en-US" sz="1100" dirty="0"/>
              <a:t>A Multilayer Perceptron (MLP) is a feedforward artificial neural network consisting of multiple layers of interconnected neurons.</a:t>
            </a:r>
          </a:p>
          <a:p>
            <a:pPr marL="0" indent="0" algn="just">
              <a:buNone/>
            </a:pPr>
            <a:r>
              <a:rPr lang="en-US" sz="1100" b="1" dirty="0"/>
              <a:t>Input Layer</a:t>
            </a:r>
            <a:r>
              <a:rPr lang="en-US" sz="1100" dirty="0"/>
              <a:t>: Each neuron or node in this layer corresponds to an input feature. For instance, if you have three input features the input layer will have three neurons.</a:t>
            </a:r>
          </a:p>
          <a:p>
            <a:pPr marL="0" indent="0" algn="just">
              <a:buNone/>
            </a:pPr>
            <a:r>
              <a:rPr lang="en-US" sz="1100" b="1" dirty="0"/>
              <a:t>Hidden Layers</a:t>
            </a:r>
            <a:r>
              <a:rPr lang="en-US" sz="1100" dirty="0"/>
              <a:t>: MLP can have any number of hidden layers with each layer containing any number of nodes. These layers process the information received from the input layer.</a:t>
            </a:r>
          </a:p>
          <a:p>
            <a:pPr marL="0" indent="0" algn="just">
              <a:buNone/>
            </a:pPr>
            <a:r>
              <a:rPr lang="en-US" sz="1100" b="1" dirty="0"/>
              <a:t>Output Layer</a:t>
            </a:r>
            <a:r>
              <a:rPr lang="en-US" sz="1100" dirty="0"/>
              <a:t>: The output layer generates the final prediction or result. If there are multiple outputs, the output layer will have a corresponding number of neurons.</a:t>
            </a:r>
          </a:p>
          <a:p>
            <a:r>
              <a:rPr lang="en-US" sz="1100" dirty="0"/>
              <a:t>A binary classification problem may have a </a:t>
            </a:r>
            <a:r>
              <a:rPr lang="en-US" sz="1100" b="1" dirty="0"/>
              <a:t>single output neuron</a:t>
            </a:r>
            <a:r>
              <a:rPr lang="en-US" sz="1100" dirty="0"/>
              <a:t> and use a sigmoid activation function to output a value between 0 and 1</a:t>
            </a:r>
          </a:p>
          <a:p>
            <a:r>
              <a:rPr lang="en-US" sz="1100" dirty="0"/>
              <a:t>A multi-class classification problem may have </a:t>
            </a:r>
            <a:r>
              <a:rPr lang="en-US" sz="1100" b="1" dirty="0"/>
              <a:t>multiple neurons in the output layer</a:t>
            </a:r>
            <a:r>
              <a:rPr lang="en-US" sz="1100" dirty="0"/>
              <a:t>, one for each class</a:t>
            </a:r>
          </a:p>
          <a:p>
            <a:pPr marL="0" indent="0" algn="just">
              <a:buNone/>
            </a:pPr>
            <a:endParaRPr lang="en-US" sz="1100" dirty="0"/>
          </a:p>
          <a:p>
            <a:pPr marL="0" indent="0" algn="just">
              <a:buNone/>
            </a:pPr>
            <a:endParaRPr lang="en-US" sz="1100" dirty="0"/>
          </a:p>
          <a:p>
            <a:pPr marL="0" indent="0" algn="just">
              <a:buNone/>
            </a:pPr>
            <a:endParaRPr lang="en-IN" sz="1100" dirty="0"/>
          </a:p>
        </p:txBody>
      </p:sp>
      <p:sp>
        <p:nvSpPr>
          <p:cNvPr id="4" name="Slide Number Placeholder 3">
            <a:extLst>
              <a:ext uri="{FF2B5EF4-FFF2-40B4-BE49-F238E27FC236}">
                <a16:creationId xmlns:a16="http://schemas.microsoft.com/office/drawing/2014/main" id="{8494DC3B-2120-493C-D8DC-9EE521314E33}"/>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3755757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D58B-B54D-4A82-9B37-2544D26C8477}"/>
              </a:ext>
            </a:extLst>
          </p:cNvPr>
          <p:cNvSpPr>
            <a:spLocks noGrp="1"/>
          </p:cNvSpPr>
          <p:nvPr>
            <p:ph type="title"/>
          </p:nvPr>
        </p:nvSpPr>
        <p:spPr/>
        <p:txBody>
          <a:bodyPr/>
          <a:lstStyle/>
          <a:p>
            <a:r>
              <a:rPr lang="en-IN" sz="2800" dirty="0"/>
              <a:t>Multilayer Perceptron: Two kinds of Signal</a:t>
            </a:r>
          </a:p>
        </p:txBody>
      </p:sp>
      <p:sp>
        <p:nvSpPr>
          <p:cNvPr id="3" name="Content Placeholder 2">
            <a:extLst>
              <a:ext uri="{FF2B5EF4-FFF2-40B4-BE49-F238E27FC236}">
                <a16:creationId xmlns:a16="http://schemas.microsoft.com/office/drawing/2014/main" id="{38D2B5F5-B82C-43B8-9C29-0EE2BD2B7D01}"/>
              </a:ext>
            </a:extLst>
          </p:cNvPr>
          <p:cNvSpPr>
            <a:spLocks noGrp="1"/>
          </p:cNvSpPr>
          <p:nvPr>
            <p:ph idx="1"/>
          </p:nvPr>
        </p:nvSpPr>
        <p:spPr/>
        <p:txBody>
          <a:bodyPr/>
          <a:lstStyle/>
          <a:p>
            <a:pPr marL="0" indent="0" algn="just">
              <a:buNone/>
            </a:pPr>
            <a:r>
              <a:rPr lang="en-US" sz="1400" dirty="0"/>
              <a:t> Two kinds of signals are identified in Multilayer Perceptron network:</a:t>
            </a:r>
          </a:p>
          <a:p>
            <a:pPr marL="0" indent="0" algn="just">
              <a:buNone/>
            </a:pPr>
            <a:r>
              <a:rPr lang="en-US" sz="1400" b="1" dirty="0"/>
              <a:t>1. Function Signals. </a:t>
            </a:r>
            <a:r>
              <a:rPr lang="en-US" sz="1400" dirty="0"/>
              <a:t>A function signal is an input signal (stimulus) that comes in at the input end of the network, </a:t>
            </a:r>
            <a:r>
              <a:rPr lang="en-US" sz="1400" b="1" dirty="0"/>
              <a:t>propagates forward (neuron by neuron) </a:t>
            </a:r>
            <a:r>
              <a:rPr lang="en-US" sz="1400" dirty="0"/>
              <a:t>through the network, and emerges at the output end of the network as an output signal. We refer to such a signal as a “function signal” for two reasons. First, it is presumed to  perform a useful function at the output of the network. Second, at each neuron of the network through which a function signal passes, the signal is calculated as a</a:t>
            </a:r>
          </a:p>
          <a:p>
            <a:pPr marL="0" indent="0" algn="just">
              <a:buNone/>
            </a:pPr>
            <a:r>
              <a:rPr lang="en-US" sz="1400" dirty="0"/>
              <a:t>function of the inputs and associated weights applied to that neuron. The function signal is also referred to as the input signal.</a:t>
            </a:r>
          </a:p>
          <a:p>
            <a:pPr marL="0" indent="0" algn="just">
              <a:buNone/>
            </a:pPr>
            <a:r>
              <a:rPr lang="en-US" sz="1400" b="1" dirty="0"/>
              <a:t>2. Error Signals. </a:t>
            </a:r>
            <a:r>
              <a:rPr lang="en-US" sz="1400" dirty="0"/>
              <a:t>An error signal originates at an output neuron of the network and </a:t>
            </a:r>
            <a:r>
              <a:rPr lang="en-US" sz="1400" b="1" dirty="0"/>
              <a:t>propagates backward</a:t>
            </a:r>
            <a:r>
              <a:rPr lang="en-US" sz="1400" dirty="0"/>
              <a:t> (layer by layer) through the network. We refer to it as an “error signal” because its computation by every neuron of the network involves an error-dependent function in one form or another</a:t>
            </a:r>
            <a:endParaRPr lang="en-IN" sz="1400" dirty="0"/>
          </a:p>
        </p:txBody>
      </p:sp>
      <p:sp>
        <p:nvSpPr>
          <p:cNvPr id="4" name="Slide Number Placeholder 3">
            <a:extLst>
              <a:ext uri="{FF2B5EF4-FFF2-40B4-BE49-F238E27FC236}">
                <a16:creationId xmlns:a16="http://schemas.microsoft.com/office/drawing/2014/main" id="{EF2031C7-817A-49CF-AC18-7634D9BF95E0}"/>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6" name="Picture 5">
            <a:extLst>
              <a:ext uri="{FF2B5EF4-FFF2-40B4-BE49-F238E27FC236}">
                <a16:creationId xmlns:a16="http://schemas.microsoft.com/office/drawing/2014/main" id="{5F6C1145-584B-4781-B797-24BF5ED1C688}"/>
              </a:ext>
            </a:extLst>
          </p:cNvPr>
          <p:cNvPicPr>
            <a:picLocks noChangeAspect="1"/>
          </p:cNvPicPr>
          <p:nvPr/>
        </p:nvPicPr>
        <p:blipFill>
          <a:blip r:embed="rId2"/>
          <a:stretch>
            <a:fillRect/>
          </a:stretch>
        </p:blipFill>
        <p:spPr>
          <a:xfrm>
            <a:off x="4648201" y="4182455"/>
            <a:ext cx="3315163" cy="2505425"/>
          </a:xfrm>
          <a:prstGeom prst="rect">
            <a:avLst/>
          </a:prstGeom>
        </p:spPr>
      </p:pic>
    </p:spTree>
    <p:extLst>
      <p:ext uri="{BB962C8B-B14F-4D97-AF65-F5344CB8AC3E}">
        <p14:creationId xmlns:p14="http://schemas.microsoft.com/office/powerpoint/2010/main" val="704850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B4CF-5FD8-5FCE-AB98-A1F33924F4F0}"/>
              </a:ext>
            </a:extLst>
          </p:cNvPr>
          <p:cNvSpPr>
            <a:spLocks noGrp="1"/>
          </p:cNvSpPr>
          <p:nvPr>
            <p:ph type="title"/>
          </p:nvPr>
        </p:nvSpPr>
        <p:spPr/>
        <p:txBody>
          <a:bodyPr/>
          <a:lstStyle/>
          <a:p>
            <a:r>
              <a:rPr lang="en-US" sz="2400" dirty="0"/>
              <a:t>Batch learning and Online Learning: Background Information</a:t>
            </a:r>
            <a:endParaRPr lang="en-IN" sz="2400" dirty="0"/>
          </a:p>
        </p:txBody>
      </p:sp>
      <p:sp>
        <p:nvSpPr>
          <p:cNvPr id="3" name="Content Placeholder 2">
            <a:extLst>
              <a:ext uri="{FF2B5EF4-FFF2-40B4-BE49-F238E27FC236}">
                <a16:creationId xmlns:a16="http://schemas.microsoft.com/office/drawing/2014/main" id="{6EBF4069-0496-A52A-50D6-22083686B33D}"/>
              </a:ext>
            </a:extLst>
          </p:cNvPr>
          <p:cNvSpPr>
            <a:spLocks noGrp="1"/>
          </p:cNvSpPr>
          <p:nvPr>
            <p:ph idx="1"/>
          </p:nvPr>
        </p:nvSpPr>
        <p:spPr/>
        <p:txBody>
          <a:bodyPr/>
          <a:lstStyle/>
          <a:p>
            <a:pPr marL="0" indent="0">
              <a:buNone/>
            </a:pPr>
            <a:r>
              <a:rPr lang="en-US" sz="1800" dirty="0"/>
              <a:t>Consider a multilayer perceptron with an input layer of source nodes, one or more hidden layers, and an output layer consisting of one or more neurons</a:t>
            </a:r>
          </a:p>
          <a:p>
            <a:pPr marL="0" indent="0">
              <a:buNone/>
            </a:pPr>
            <a:r>
              <a:rPr lang="en-US" sz="1800" dirty="0"/>
              <a:t>Training Samples:</a:t>
            </a:r>
          </a:p>
          <a:p>
            <a:pPr marL="0" indent="0">
              <a:buNone/>
            </a:pPr>
            <a:endParaRPr lang="en-US" sz="1800" dirty="0"/>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58EF1DCE-7AFE-39A6-2BCB-E1A61829F17F}"/>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5" name="Picture 4">
            <a:extLst>
              <a:ext uri="{FF2B5EF4-FFF2-40B4-BE49-F238E27FC236}">
                <a16:creationId xmlns:a16="http://schemas.microsoft.com/office/drawing/2014/main" id="{DDB00FF6-2794-4649-AF76-4542D0363595}"/>
              </a:ext>
            </a:extLst>
          </p:cNvPr>
          <p:cNvPicPr>
            <a:picLocks noChangeAspect="1"/>
          </p:cNvPicPr>
          <p:nvPr/>
        </p:nvPicPr>
        <p:blipFill>
          <a:blip r:embed="rId2"/>
          <a:stretch>
            <a:fillRect/>
          </a:stretch>
        </p:blipFill>
        <p:spPr>
          <a:xfrm>
            <a:off x="7097960" y="1794911"/>
            <a:ext cx="5094040" cy="2361725"/>
          </a:xfrm>
          <a:prstGeom prst="rect">
            <a:avLst/>
          </a:prstGeom>
        </p:spPr>
      </p:pic>
      <p:pic>
        <p:nvPicPr>
          <p:cNvPr id="7" name="Picture 6">
            <a:extLst>
              <a:ext uri="{FF2B5EF4-FFF2-40B4-BE49-F238E27FC236}">
                <a16:creationId xmlns:a16="http://schemas.microsoft.com/office/drawing/2014/main" id="{506FB32A-05D6-4607-8E08-80EB90BED721}"/>
              </a:ext>
            </a:extLst>
          </p:cNvPr>
          <p:cNvPicPr>
            <a:picLocks noChangeAspect="1"/>
          </p:cNvPicPr>
          <p:nvPr/>
        </p:nvPicPr>
        <p:blipFill>
          <a:blip r:embed="rId3"/>
          <a:stretch>
            <a:fillRect/>
          </a:stretch>
        </p:blipFill>
        <p:spPr>
          <a:xfrm>
            <a:off x="2971800" y="1828800"/>
            <a:ext cx="2485647" cy="533400"/>
          </a:xfrm>
          <a:prstGeom prst="rect">
            <a:avLst/>
          </a:prstGeom>
        </p:spPr>
      </p:pic>
      <p:sp>
        <p:nvSpPr>
          <p:cNvPr id="8" name="TextBox 7">
            <a:extLst>
              <a:ext uri="{FF2B5EF4-FFF2-40B4-BE49-F238E27FC236}">
                <a16:creationId xmlns:a16="http://schemas.microsoft.com/office/drawing/2014/main" id="{0E4F7507-B43F-48A9-898D-96643D7E5067}"/>
              </a:ext>
            </a:extLst>
          </p:cNvPr>
          <p:cNvSpPr txBox="1"/>
          <p:nvPr/>
        </p:nvSpPr>
        <p:spPr>
          <a:xfrm>
            <a:off x="647285" y="2428584"/>
            <a:ext cx="4649030" cy="1169551"/>
          </a:xfrm>
          <a:prstGeom prst="rect">
            <a:avLst/>
          </a:prstGeom>
          <a:noFill/>
        </p:spPr>
        <p:txBody>
          <a:bodyPr wrap="none" rtlCol="0">
            <a:spAutoFit/>
          </a:bodyPr>
          <a:lstStyle/>
          <a:p>
            <a:r>
              <a:rPr lang="en-US" sz="1400" dirty="0"/>
              <a:t>Let </a:t>
            </a:r>
            <a:r>
              <a:rPr lang="en-US" sz="1400" dirty="0" err="1"/>
              <a:t>yj</a:t>
            </a:r>
            <a:r>
              <a:rPr lang="en-US" sz="1400" dirty="0"/>
              <a:t> (n) denote the function signal produced at </a:t>
            </a:r>
          </a:p>
          <a:p>
            <a:r>
              <a:rPr lang="en-US" sz="1400" dirty="0"/>
              <a:t>the output of neuron j in the output layer by the </a:t>
            </a:r>
          </a:p>
          <a:p>
            <a:r>
              <a:rPr lang="en-US" sz="1400" dirty="0"/>
              <a:t>stimulus x(n) applied to the input layer. </a:t>
            </a:r>
          </a:p>
          <a:p>
            <a:r>
              <a:rPr lang="en-US" sz="1400" dirty="0"/>
              <a:t>Correspondingly, the error signal produced </a:t>
            </a:r>
          </a:p>
          <a:p>
            <a:r>
              <a:rPr lang="en-US" sz="1400" dirty="0"/>
              <a:t>at the output of neuron j is defined by</a:t>
            </a:r>
            <a:endParaRPr lang="en-IN" sz="1400" dirty="0"/>
          </a:p>
        </p:txBody>
      </p:sp>
      <p:pic>
        <p:nvPicPr>
          <p:cNvPr id="10" name="Picture 9">
            <a:extLst>
              <a:ext uri="{FF2B5EF4-FFF2-40B4-BE49-F238E27FC236}">
                <a16:creationId xmlns:a16="http://schemas.microsoft.com/office/drawing/2014/main" id="{71E30C33-3923-42D8-ADBB-8910009FB14C}"/>
              </a:ext>
            </a:extLst>
          </p:cNvPr>
          <p:cNvPicPr>
            <a:picLocks noChangeAspect="1"/>
          </p:cNvPicPr>
          <p:nvPr/>
        </p:nvPicPr>
        <p:blipFill>
          <a:blip r:embed="rId4"/>
          <a:stretch>
            <a:fillRect/>
          </a:stretch>
        </p:blipFill>
        <p:spPr>
          <a:xfrm>
            <a:off x="990600" y="3577208"/>
            <a:ext cx="2970355" cy="561622"/>
          </a:xfrm>
          <a:prstGeom prst="rect">
            <a:avLst/>
          </a:prstGeom>
        </p:spPr>
      </p:pic>
      <p:sp>
        <p:nvSpPr>
          <p:cNvPr id="11" name="TextBox 10">
            <a:extLst>
              <a:ext uri="{FF2B5EF4-FFF2-40B4-BE49-F238E27FC236}">
                <a16:creationId xmlns:a16="http://schemas.microsoft.com/office/drawing/2014/main" id="{A6265BA9-881D-42E4-8B71-F989A07116F2}"/>
              </a:ext>
            </a:extLst>
          </p:cNvPr>
          <p:cNvSpPr txBox="1"/>
          <p:nvPr/>
        </p:nvSpPr>
        <p:spPr>
          <a:xfrm>
            <a:off x="333943" y="4085556"/>
            <a:ext cx="6244017" cy="307777"/>
          </a:xfrm>
          <a:prstGeom prst="rect">
            <a:avLst/>
          </a:prstGeom>
          <a:noFill/>
        </p:spPr>
        <p:txBody>
          <a:bodyPr wrap="none" rtlCol="0">
            <a:spAutoFit/>
          </a:bodyPr>
          <a:lstStyle/>
          <a:p>
            <a:r>
              <a:rPr lang="en-US" sz="1400" dirty="0"/>
              <a:t>where </a:t>
            </a:r>
            <a:r>
              <a:rPr lang="en-US" sz="1400" dirty="0" err="1"/>
              <a:t>dj</a:t>
            </a:r>
            <a:r>
              <a:rPr lang="en-US" sz="1400" dirty="0"/>
              <a:t> (n) is the </a:t>
            </a:r>
            <a:r>
              <a:rPr lang="en-US" sz="1400" dirty="0" err="1"/>
              <a:t>ith</a:t>
            </a:r>
            <a:r>
              <a:rPr lang="en-US" sz="1400" dirty="0"/>
              <a:t> element of the desired-response vector d(n)</a:t>
            </a:r>
            <a:endParaRPr lang="en-IN" sz="1400" dirty="0"/>
          </a:p>
        </p:txBody>
      </p:sp>
      <p:sp>
        <p:nvSpPr>
          <p:cNvPr id="12" name="TextBox 11">
            <a:extLst>
              <a:ext uri="{FF2B5EF4-FFF2-40B4-BE49-F238E27FC236}">
                <a16:creationId xmlns:a16="http://schemas.microsoft.com/office/drawing/2014/main" id="{518020D6-0C37-472B-ADB3-1056FBD43223}"/>
              </a:ext>
            </a:extLst>
          </p:cNvPr>
          <p:cNvSpPr txBox="1"/>
          <p:nvPr/>
        </p:nvSpPr>
        <p:spPr>
          <a:xfrm>
            <a:off x="99843" y="4816688"/>
            <a:ext cx="3373039" cy="584775"/>
          </a:xfrm>
          <a:prstGeom prst="rect">
            <a:avLst/>
          </a:prstGeom>
          <a:noFill/>
        </p:spPr>
        <p:txBody>
          <a:bodyPr wrap="none" rtlCol="0">
            <a:spAutoFit/>
          </a:bodyPr>
          <a:lstStyle/>
          <a:p>
            <a:r>
              <a:rPr lang="en-US" sz="1600" b="1" dirty="0"/>
              <a:t>Instantaneous error </a:t>
            </a:r>
            <a:r>
              <a:rPr lang="en-US" sz="1600" dirty="0"/>
              <a:t>energy </a:t>
            </a:r>
          </a:p>
          <a:p>
            <a:r>
              <a:rPr lang="en-US" sz="1600" dirty="0"/>
              <a:t>of neuron j is defined by</a:t>
            </a:r>
            <a:endParaRPr lang="en-IN" sz="1600" dirty="0"/>
          </a:p>
        </p:txBody>
      </p:sp>
      <p:pic>
        <p:nvPicPr>
          <p:cNvPr id="14" name="Picture 13">
            <a:extLst>
              <a:ext uri="{FF2B5EF4-FFF2-40B4-BE49-F238E27FC236}">
                <a16:creationId xmlns:a16="http://schemas.microsoft.com/office/drawing/2014/main" id="{1E65D30D-0F9E-4C71-BBA6-BB043E8F5E0B}"/>
              </a:ext>
            </a:extLst>
          </p:cNvPr>
          <p:cNvPicPr>
            <a:picLocks noChangeAspect="1"/>
          </p:cNvPicPr>
          <p:nvPr/>
        </p:nvPicPr>
        <p:blipFill>
          <a:blip r:embed="rId5"/>
          <a:stretch>
            <a:fillRect/>
          </a:stretch>
        </p:blipFill>
        <p:spPr>
          <a:xfrm>
            <a:off x="381000" y="5472537"/>
            <a:ext cx="2304793" cy="859626"/>
          </a:xfrm>
          <a:prstGeom prst="rect">
            <a:avLst/>
          </a:prstGeom>
        </p:spPr>
      </p:pic>
      <p:sp>
        <p:nvSpPr>
          <p:cNvPr id="15" name="TextBox 14">
            <a:extLst>
              <a:ext uri="{FF2B5EF4-FFF2-40B4-BE49-F238E27FC236}">
                <a16:creationId xmlns:a16="http://schemas.microsoft.com/office/drawing/2014/main" id="{E6D07FE6-3187-41CA-B8F5-7837CC42725B}"/>
              </a:ext>
            </a:extLst>
          </p:cNvPr>
          <p:cNvSpPr txBox="1"/>
          <p:nvPr/>
        </p:nvSpPr>
        <p:spPr>
          <a:xfrm>
            <a:off x="3322108" y="4441289"/>
            <a:ext cx="4788490" cy="1077218"/>
          </a:xfrm>
          <a:prstGeom prst="rect">
            <a:avLst/>
          </a:prstGeom>
          <a:noFill/>
        </p:spPr>
        <p:txBody>
          <a:bodyPr wrap="none" rtlCol="0">
            <a:spAutoFit/>
          </a:bodyPr>
          <a:lstStyle/>
          <a:p>
            <a:r>
              <a:rPr lang="en-US" sz="1600" dirty="0"/>
              <a:t>Summing the error-energy contributions of </a:t>
            </a:r>
          </a:p>
          <a:p>
            <a:r>
              <a:rPr lang="en-US" sz="1600" dirty="0"/>
              <a:t>all the neurons in the output layer, </a:t>
            </a:r>
          </a:p>
          <a:p>
            <a:r>
              <a:rPr lang="en-US" sz="1600" dirty="0"/>
              <a:t>we express the </a:t>
            </a:r>
            <a:r>
              <a:rPr lang="en-US" sz="1600" b="1" dirty="0"/>
              <a:t>total instantaneous error </a:t>
            </a:r>
          </a:p>
          <a:p>
            <a:r>
              <a:rPr lang="en-US" sz="1600" dirty="0"/>
              <a:t>energy of the whole network as</a:t>
            </a:r>
            <a:endParaRPr lang="en-IN" sz="1600" dirty="0"/>
          </a:p>
        </p:txBody>
      </p:sp>
      <p:pic>
        <p:nvPicPr>
          <p:cNvPr id="17" name="Picture 16">
            <a:extLst>
              <a:ext uri="{FF2B5EF4-FFF2-40B4-BE49-F238E27FC236}">
                <a16:creationId xmlns:a16="http://schemas.microsoft.com/office/drawing/2014/main" id="{8EEE5BFD-050D-4C0D-BC9A-9A30C0EC4052}"/>
              </a:ext>
            </a:extLst>
          </p:cNvPr>
          <p:cNvPicPr>
            <a:picLocks noChangeAspect="1"/>
          </p:cNvPicPr>
          <p:nvPr/>
        </p:nvPicPr>
        <p:blipFill>
          <a:blip r:embed="rId6"/>
          <a:stretch>
            <a:fillRect/>
          </a:stretch>
        </p:blipFill>
        <p:spPr>
          <a:xfrm>
            <a:off x="3721870" y="5518507"/>
            <a:ext cx="1994483" cy="1154700"/>
          </a:xfrm>
          <a:prstGeom prst="rect">
            <a:avLst/>
          </a:prstGeom>
        </p:spPr>
      </p:pic>
      <p:sp>
        <p:nvSpPr>
          <p:cNvPr id="18" name="TextBox 17">
            <a:extLst>
              <a:ext uri="{FF2B5EF4-FFF2-40B4-BE49-F238E27FC236}">
                <a16:creationId xmlns:a16="http://schemas.microsoft.com/office/drawing/2014/main" id="{492C83CB-5C71-47CC-85C6-7C4312EAE64A}"/>
              </a:ext>
            </a:extLst>
          </p:cNvPr>
          <p:cNvSpPr txBox="1"/>
          <p:nvPr/>
        </p:nvSpPr>
        <p:spPr>
          <a:xfrm>
            <a:off x="5836667" y="5672363"/>
            <a:ext cx="1909497" cy="738664"/>
          </a:xfrm>
          <a:prstGeom prst="rect">
            <a:avLst/>
          </a:prstGeom>
          <a:noFill/>
        </p:spPr>
        <p:txBody>
          <a:bodyPr wrap="none" rtlCol="0">
            <a:spAutoFit/>
          </a:bodyPr>
          <a:lstStyle/>
          <a:p>
            <a:r>
              <a:rPr lang="en-US" sz="1400" dirty="0"/>
              <a:t>set C includes all </a:t>
            </a:r>
          </a:p>
          <a:p>
            <a:r>
              <a:rPr lang="en-US" sz="1400" dirty="0"/>
              <a:t>the neurons in the </a:t>
            </a:r>
          </a:p>
          <a:p>
            <a:r>
              <a:rPr lang="en-US" sz="1400" dirty="0"/>
              <a:t>output layer.</a:t>
            </a:r>
            <a:endParaRPr lang="en-IN" sz="1400" dirty="0"/>
          </a:p>
        </p:txBody>
      </p:sp>
      <p:sp>
        <p:nvSpPr>
          <p:cNvPr id="19" name="TextBox 18">
            <a:extLst>
              <a:ext uri="{FF2B5EF4-FFF2-40B4-BE49-F238E27FC236}">
                <a16:creationId xmlns:a16="http://schemas.microsoft.com/office/drawing/2014/main" id="{64B49380-B4D9-4EEB-9779-953B4673BB08}"/>
              </a:ext>
            </a:extLst>
          </p:cNvPr>
          <p:cNvSpPr txBox="1"/>
          <p:nvPr/>
        </p:nvSpPr>
        <p:spPr>
          <a:xfrm>
            <a:off x="8218473" y="4159487"/>
            <a:ext cx="3900042" cy="1077218"/>
          </a:xfrm>
          <a:prstGeom prst="rect">
            <a:avLst/>
          </a:prstGeom>
          <a:noFill/>
        </p:spPr>
        <p:txBody>
          <a:bodyPr wrap="none" rtlCol="0">
            <a:spAutoFit/>
          </a:bodyPr>
          <a:lstStyle/>
          <a:p>
            <a:r>
              <a:rPr lang="en-US" sz="1600" dirty="0"/>
              <a:t>With the training sample consisting </a:t>
            </a:r>
          </a:p>
          <a:p>
            <a:r>
              <a:rPr lang="en-US" sz="1600" dirty="0"/>
              <a:t>of </a:t>
            </a:r>
            <a:r>
              <a:rPr lang="en-US" sz="1600" b="1" dirty="0"/>
              <a:t>N</a:t>
            </a:r>
            <a:r>
              <a:rPr lang="en-US" sz="1600" dirty="0"/>
              <a:t> examples, the error energy </a:t>
            </a:r>
          </a:p>
          <a:p>
            <a:r>
              <a:rPr lang="en-US" sz="1600" dirty="0"/>
              <a:t>averaged over the training sample, </a:t>
            </a:r>
          </a:p>
          <a:p>
            <a:r>
              <a:rPr lang="en-US" sz="1600" dirty="0"/>
              <a:t>is defined by</a:t>
            </a:r>
            <a:endParaRPr lang="en-IN" sz="1600" dirty="0"/>
          </a:p>
        </p:txBody>
      </p:sp>
      <p:pic>
        <p:nvPicPr>
          <p:cNvPr id="21" name="Picture 20">
            <a:extLst>
              <a:ext uri="{FF2B5EF4-FFF2-40B4-BE49-F238E27FC236}">
                <a16:creationId xmlns:a16="http://schemas.microsoft.com/office/drawing/2014/main" id="{4123189A-DCDA-484B-9C63-D0BDFDFE5ED6}"/>
              </a:ext>
            </a:extLst>
          </p:cNvPr>
          <p:cNvPicPr>
            <a:picLocks noChangeAspect="1"/>
          </p:cNvPicPr>
          <p:nvPr/>
        </p:nvPicPr>
        <p:blipFill>
          <a:blip r:embed="rId7"/>
          <a:stretch>
            <a:fillRect/>
          </a:stretch>
        </p:blipFill>
        <p:spPr>
          <a:xfrm>
            <a:off x="8255186" y="5236705"/>
            <a:ext cx="2781688" cy="1419423"/>
          </a:xfrm>
          <a:prstGeom prst="rect">
            <a:avLst/>
          </a:prstGeom>
        </p:spPr>
      </p:pic>
    </p:spTree>
    <p:extLst>
      <p:ext uri="{BB962C8B-B14F-4D97-AF65-F5344CB8AC3E}">
        <p14:creationId xmlns:p14="http://schemas.microsoft.com/office/powerpoint/2010/main" val="1783971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C61D5-60DD-41EB-819B-0820DBFBA75D}"/>
              </a:ext>
            </a:extLst>
          </p:cNvPr>
          <p:cNvSpPr>
            <a:spLocks noGrp="1"/>
          </p:cNvSpPr>
          <p:nvPr>
            <p:ph type="title"/>
          </p:nvPr>
        </p:nvSpPr>
        <p:spPr/>
        <p:txBody>
          <a:bodyPr/>
          <a:lstStyle/>
          <a:p>
            <a:r>
              <a:rPr lang="en-US" sz="3200" dirty="0"/>
              <a:t>Batch learning: How weights are updated</a:t>
            </a:r>
            <a:endParaRPr lang="en-IN" dirty="0"/>
          </a:p>
        </p:txBody>
      </p:sp>
      <p:sp>
        <p:nvSpPr>
          <p:cNvPr id="3" name="Content Placeholder 2">
            <a:extLst>
              <a:ext uri="{FF2B5EF4-FFF2-40B4-BE49-F238E27FC236}">
                <a16:creationId xmlns:a16="http://schemas.microsoft.com/office/drawing/2014/main" id="{56624904-6CF8-48A7-9501-7A4FA23C55B6}"/>
              </a:ext>
            </a:extLst>
          </p:cNvPr>
          <p:cNvSpPr>
            <a:spLocks noGrp="1"/>
          </p:cNvSpPr>
          <p:nvPr>
            <p:ph idx="1"/>
          </p:nvPr>
        </p:nvSpPr>
        <p:spPr/>
        <p:txBody>
          <a:bodyPr/>
          <a:lstStyle/>
          <a:p>
            <a:r>
              <a:rPr lang="en-US" sz="2000" dirty="0"/>
              <a:t>In the batch method of supervised learning, adjustments to the synaptic weights of the multilayer perceptron are performed after the presentation of all the N examples in the training sample t that constitute one epoch of training. </a:t>
            </a:r>
          </a:p>
          <a:p>
            <a:r>
              <a:rPr lang="en-US" sz="2000" dirty="0"/>
              <a:t>In other words, the cost function for batch learning is defined by the average error energy </a:t>
            </a:r>
            <a:r>
              <a:rPr lang="en-US" sz="2000" dirty="0" err="1"/>
              <a:t>E</a:t>
            </a:r>
            <a:r>
              <a:rPr lang="en-US" sz="2000" baseline="-25000" dirty="0" err="1"/>
              <a:t>av</a:t>
            </a:r>
            <a:r>
              <a:rPr lang="en-US" sz="2000" dirty="0"/>
              <a:t>. Adjustments to the synaptic weights of the multilayer perceptron are made on an epoch-by-epoch basis.</a:t>
            </a:r>
            <a:endParaRPr lang="en-IN" sz="2000" dirty="0"/>
          </a:p>
        </p:txBody>
      </p:sp>
      <p:sp>
        <p:nvSpPr>
          <p:cNvPr id="4" name="Slide Number Placeholder 3">
            <a:extLst>
              <a:ext uri="{FF2B5EF4-FFF2-40B4-BE49-F238E27FC236}">
                <a16:creationId xmlns:a16="http://schemas.microsoft.com/office/drawing/2014/main" id="{4CA6D149-573C-4928-A959-995A7F1AC686}"/>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2661801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9391-942E-49B8-8175-12B21FB56332}"/>
              </a:ext>
            </a:extLst>
          </p:cNvPr>
          <p:cNvSpPr>
            <a:spLocks noGrp="1"/>
          </p:cNvSpPr>
          <p:nvPr>
            <p:ph type="title"/>
          </p:nvPr>
        </p:nvSpPr>
        <p:spPr/>
        <p:txBody>
          <a:bodyPr/>
          <a:lstStyle/>
          <a:p>
            <a:r>
              <a:rPr lang="en-US" sz="3200" dirty="0"/>
              <a:t>Batch learning: Advantages and Disadvantages</a:t>
            </a:r>
            <a:endParaRPr lang="en-IN" dirty="0"/>
          </a:p>
        </p:txBody>
      </p:sp>
      <p:sp>
        <p:nvSpPr>
          <p:cNvPr id="3" name="Content Placeholder 2">
            <a:extLst>
              <a:ext uri="{FF2B5EF4-FFF2-40B4-BE49-F238E27FC236}">
                <a16:creationId xmlns:a16="http://schemas.microsoft.com/office/drawing/2014/main" id="{0C60685F-4F3D-4274-BCA9-6D9790DC5277}"/>
              </a:ext>
            </a:extLst>
          </p:cNvPr>
          <p:cNvSpPr>
            <a:spLocks noGrp="1"/>
          </p:cNvSpPr>
          <p:nvPr>
            <p:ph idx="1"/>
          </p:nvPr>
        </p:nvSpPr>
        <p:spPr/>
        <p:txBody>
          <a:bodyPr/>
          <a:lstStyle/>
          <a:p>
            <a:pPr marL="0" indent="0" algn="just">
              <a:buNone/>
            </a:pPr>
            <a:r>
              <a:rPr lang="en-US" sz="2000" dirty="0"/>
              <a:t>Advantages: With the method of gradient descent used to perform the training, the advantages of batch learning include the following: </a:t>
            </a:r>
          </a:p>
          <a:p>
            <a:pPr marL="0" indent="0" algn="just">
              <a:buNone/>
            </a:pPr>
            <a:r>
              <a:rPr lang="en-US" sz="2000" dirty="0"/>
              <a:t>• Accurate estimation of the gradient vector (i.e., the derivative of the cost function </a:t>
            </a:r>
            <a:r>
              <a:rPr lang="en-US" sz="2000" dirty="0" err="1"/>
              <a:t>E</a:t>
            </a:r>
            <a:r>
              <a:rPr lang="en-US" sz="2000" baseline="-25000" dirty="0" err="1"/>
              <a:t>av</a:t>
            </a:r>
            <a:r>
              <a:rPr lang="en-US" sz="2000" dirty="0"/>
              <a:t> with respect to the weight vector w), thereby guaranteeing, under simple conditions, convergence of the method of steepest descent to a local minimum; </a:t>
            </a:r>
          </a:p>
          <a:p>
            <a:pPr marL="0" indent="0" algn="just">
              <a:buNone/>
            </a:pPr>
            <a:r>
              <a:rPr lang="en-US" sz="2000" dirty="0"/>
              <a:t>• parallelization of the learning process. </a:t>
            </a:r>
          </a:p>
          <a:p>
            <a:pPr marL="0" indent="0" algn="just">
              <a:buNone/>
            </a:pPr>
            <a:endParaRPr lang="en-US" sz="2000" dirty="0"/>
          </a:p>
          <a:p>
            <a:pPr marL="0" indent="0" algn="just">
              <a:buNone/>
            </a:pPr>
            <a:r>
              <a:rPr lang="en-US" sz="2000" dirty="0"/>
              <a:t>Disadvantages:</a:t>
            </a:r>
          </a:p>
          <a:p>
            <a:pPr marL="0" indent="0" algn="just">
              <a:buNone/>
            </a:pPr>
            <a:r>
              <a:rPr lang="en-US" sz="2000" dirty="0"/>
              <a:t>However, from a practical perspective, batch learning is rather demanding in terms of storage requirements</a:t>
            </a:r>
            <a:endParaRPr lang="en-IN" sz="2000" dirty="0"/>
          </a:p>
        </p:txBody>
      </p:sp>
      <p:sp>
        <p:nvSpPr>
          <p:cNvPr id="4" name="Slide Number Placeholder 3">
            <a:extLst>
              <a:ext uri="{FF2B5EF4-FFF2-40B4-BE49-F238E27FC236}">
                <a16:creationId xmlns:a16="http://schemas.microsoft.com/office/drawing/2014/main" id="{3CC11D10-584B-4D8C-80B5-116995E3A6B1}"/>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1335606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3FAA-0D34-4755-B921-D7A286D21519}"/>
              </a:ext>
            </a:extLst>
          </p:cNvPr>
          <p:cNvSpPr>
            <a:spLocks noGrp="1"/>
          </p:cNvSpPr>
          <p:nvPr>
            <p:ph type="title"/>
          </p:nvPr>
        </p:nvSpPr>
        <p:spPr/>
        <p:txBody>
          <a:bodyPr/>
          <a:lstStyle/>
          <a:p>
            <a:r>
              <a:rPr lang="en-US" dirty="0"/>
              <a:t>Online learning: How weights are updated</a:t>
            </a:r>
            <a:endParaRPr lang="en-IN" dirty="0"/>
          </a:p>
        </p:txBody>
      </p:sp>
      <p:sp>
        <p:nvSpPr>
          <p:cNvPr id="3" name="Content Placeholder 2">
            <a:extLst>
              <a:ext uri="{FF2B5EF4-FFF2-40B4-BE49-F238E27FC236}">
                <a16:creationId xmlns:a16="http://schemas.microsoft.com/office/drawing/2014/main" id="{A4A6CE9E-D992-4F8A-BE6E-5C1B583ACCB8}"/>
              </a:ext>
            </a:extLst>
          </p:cNvPr>
          <p:cNvSpPr>
            <a:spLocks noGrp="1"/>
          </p:cNvSpPr>
          <p:nvPr>
            <p:ph idx="1"/>
          </p:nvPr>
        </p:nvSpPr>
        <p:spPr/>
        <p:txBody>
          <a:bodyPr/>
          <a:lstStyle/>
          <a:p>
            <a:pPr algn="just"/>
            <a:r>
              <a:rPr lang="en-US" sz="1800" dirty="0"/>
              <a:t>In the on-line method of supervised learning, adjustments to the synaptic weights of the multilayer perceptron are performed on an example-by-example </a:t>
            </a:r>
            <a:r>
              <a:rPr lang="en-US" sz="1800" dirty="0" err="1"/>
              <a:t>basis.The</a:t>
            </a:r>
            <a:r>
              <a:rPr lang="en-US" sz="1800" dirty="0"/>
              <a:t> cost function to be minimized is therefore the total instantaneous error energy e(n). </a:t>
            </a:r>
          </a:p>
          <a:p>
            <a:pPr algn="just"/>
            <a:r>
              <a:rPr lang="en-US" sz="1800" dirty="0"/>
              <a:t>Consider an epoch of N training examples arranged in the order {x(1), d(1)}, {x(2), d(2)}, {x(N), d(N)}.The first example pair {x(1), d(1)} in the epoch is presented to the network, and the weight adjustments are performed using the method of gradient descent.</a:t>
            </a:r>
          </a:p>
          <a:p>
            <a:pPr algn="just"/>
            <a:r>
              <a:rPr lang="en-US" sz="1800" dirty="0"/>
              <a:t>Then the second example {x(2), d(2)} in the epoch is presented to the network, which leads to further adjustments to weights in the network. This procedure is continued until the last example {x(N), d(N)} is accounted for. </a:t>
            </a:r>
            <a:endParaRPr lang="en-IN" sz="1800" dirty="0"/>
          </a:p>
        </p:txBody>
      </p:sp>
      <p:sp>
        <p:nvSpPr>
          <p:cNvPr id="4" name="Slide Number Placeholder 3">
            <a:extLst>
              <a:ext uri="{FF2B5EF4-FFF2-40B4-BE49-F238E27FC236}">
                <a16:creationId xmlns:a16="http://schemas.microsoft.com/office/drawing/2014/main" id="{982E5797-CAD8-4C9E-8F36-BF4FC465FAA2}"/>
              </a:ext>
            </a:extLst>
          </p:cNvPr>
          <p:cNvSpPr>
            <a:spLocks noGrp="1"/>
          </p:cNvSpPr>
          <p:nvPr>
            <p:ph type="sldNum" sz="quarter" idx="12"/>
          </p:nvPr>
        </p:nvSpPr>
        <p:spPr/>
        <p:txBody>
          <a:bodyPr/>
          <a:lstStyle/>
          <a:p>
            <a:fld id="{BB2CE0DE-867F-455F-B20B-96D381B4AB71}" type="slidenum">
              <a:rPr lang="en-US" smtClean="0"/>
              <a:t>14</a:t>
            </a:fld>
            <a:endParaRPr lang="en-US"/>
          </a:p>
        </p:txBody>
      </p:sp>
    </p:spTree>
    <p:extLst>
      <p:ext uri="{BB962C8B-B14F-4D97-AF65-F5344CB8AC3E}">
        <p14:creationId xmlns:p14="http://schemas.microsoft.com/office/powerpoint/2010/main" val="1201983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E5274-CC28-4564-96A0-CCE70F524F91}"/>
              </a:ext>
            </a:extLst>
          </p:cNvPr>
          <p:cNvSpPr>
            <a:spLocks noGrp="1"/>
          </p:cNvSpPr>
          <p:nvPr>
            <p:ph type="title"/>
          </p:nvPr>
        </p:nvSpPr>
        <p:spPr/>
        <p:txBody>
          <a:bodyPr/>
          <a:lstStyle/>
          <a:p>
            <a:r>
              <a:rPr lang="en-US" dirty="0"/>
              <a:t>Online learning: Advantages and Disadvantages</a:t>
            </a:r>
            <a:endParaRPr lang="en-IN" dirty="0"/>
          </a:p>
        </p:txBody>
      </p:sp>
      <p:sp>
        <p:nvSpPr>
          <p:cNvPr id="3" name="Content Placeholder 2">
            <a:extLst>
              <a:ext uri="{FF2B5EF4-FFF2-40B4-BE49-F238E27FC236}">
                <a16:creationId xmlns:a16="http://schemas.microsoft.com/office/drawing/2014/main" id="{9C552301-2346-4B6D-8398-7082EA7DE0A9}"/>
              </a:ext>
            </a:extLst>
          </p:cNvPr>
          <p:cNvSpPr>
            <a:spLocks noGrp="1"/>
          </p:cNvSpPr>
          <p:nvPr>
            <p:ph idx="1"/>
          </p:nvPr>
        </p:nvSpPr>
        <p:spPr/>
        <p:txBody>
          <a:bodyPr/>
          <a:lstStyle/>
          <a:p>
            <a:pPr marL="0" indent="0" algn="just">
              <a:buNone/>
            </a:pPr>
            <a:r>
              <a:rPr lang="en-US" sz="2000" dirty="0"/>
              <a:t>Advantage: </a:t>
            </a:r>
          </a:p>
          <a:p>
            <a:pPr marL="571500" indent="-571500" algn="just">
              <a:buAutoNum type="romanLcPeriod"/>
            </a:pPr>
            <a:r>
              <a:rPr lang="en-US" sz="2000" dirty="0"/>
              <a:t>On-line learning is the fact that it requires much less storage than batch learning.</a:t>
            </a:r>
          </a:p>
          <a:p>
            <a:pPr marL="571500" indent="-571500" algn="just">
              <a:buAutoNum type="romanLcPeriod"/>
            </a:pPr>
            <a:r>
              <a:rPr lang="en-US" sz="2000" dirty="0"/>
              <a:t>Given that the training examples are presented to the network in a random manner, the use of on-line learning makes the search in the multidimensional weight space stochastic in nature; it is for this reason that the method of on-line learning is sometimes referred to as a stochastic method. This stochasticity has the desirable effect of making it </a:t>
            </a:r>
            <a:r>
              <a:rPr lang="en-US" sz="2000" b="1" dirty="0"/>
              <a:t>less likely </a:t>
            </a:r>
            <a:r>
              <a:rPr lang="en-US" sz="2000" dirty="0"/>
              <a:t>for the learning process to be trapped in a local minimum.</a:t>
            </a:r>
          </a:p>
          <a:p>
            <a:pPr marL="571500" indent="-571500" algn="just">
              <a:buAutoNum type="romanLcPeriod"/>
            </a:pPr>
            <a:r>
              <a:rPr lang="en-US" sz="2000" dirty="0"/>
              <a:t> On-line learning is popular for solving pattern-classification problems because it is simple to implement.</a:t>
            </a:r>
          </a:p>
          <a:p>
            <a:pPr marL="0" indent="0" algn="just">
              <a:buNone/>
            </a:pPr>
            <a:r>
              <a:rPr lang="en-US" sz="2000" dirty="0"/>
              <a:t>Disadvantages:</a:t>
            </a:r>
          </a:p>
          <a:p>
            <a:pPr marL="0" indent="0" algn="just">
              <a:buNone/>
            </a:pPr>
            <a:r>
              <a:rPr lang="en-US" sz="1800" dirty="0" err="1"/>
              <a:t>Parallalization</a:t>
            </a:r>
            <a:r>
              <a:rPr lang="en-US" sz="1800" dirty="0"/>
              <a:t> cannot be achieved in  on-line learning.</a:t>
            </a:r>
            <a:endParaRPr lang="en-IN" sz="3200" dirty="0"/>
          </a:p>
        </p:txBody>
      </p:sp>
      <p:sp>
        <p:nvSpPr>
          <p:cNvPr id="4" name="Slide Number Placeholder 3">
            <a:extLst>
              <a:ext uri="{FF2B5EF4-FFF2-40B4-BE49-F238E27FC236}">
                <a16:creationId xmlns:a16="http://schemas.microsoft.com/office/drawing/2014/main" id="{9EA3A570-AC1C-4CC8-84D1-CD6C82C71298}"/>
              </a:ext>
            </a:extLst>
          </p:cNvPr>
          <p:cNvSpPr>
            <a:spLocks noGrp="1"/>
          </p:cNvSpPr>
          <p:nvPr>
            <p:ph type="sldNum" sz="quarter" idx="12"/>
          </p:nvPr>
        </p:nvSpPr>
        <p:spPr/>
        <p:txBody>
          <a:bodyPr/>
          <a:lstStyle/>
          <a:p>
            <a:fld id="{BB2CE0DE-867F-455F-B20B-96D381B4AB71}" type="slidenum">
              <a:rPr lang="en-US" smtClean="0"/>
              <a:t>15</a:t>
            </a:fld>
            <a:endParaRPr lang="en-US"/>
          </a:p>
        </p:txBody>
      </p:sp>
    </p:spTree>
    <p:extLst>
      <p:ext uri="{BB962C8B-B14F-4D97-AF65-F5344CB8AC3E}">
        <p14:creationId xmlns:p14="http://schemas.microsoft.com/office/powerpoint/2010/main" val="311050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0F507-C85A-F4DF-9647-324EFF1CB035}"/>
              </a:ext>
            </a:extLst>
          </p:cNvPr>
          <p:cNvSpPr>
            <a:spLocks noGrp="1"/>
          </p:cNvSpPr>
          <p:nvPr>
            <p:ph type="title"/>
          </p:nvPr>
        </p:nvSpPr>
        <p:spPr/>
        <p:txBody>
          <a:bodyPr/>
          <a:lstStyle/>
          <a:p>
            <a:r>
              <a:rPr lang="en-US" dirty="0"/>
              <a:t>Question: Batch and Online learning</a:t>
            </a:r>
            <a:endParaRPr lang="en-IN" dirty="0"/>
          </a:p>
        </p:txBody>
      </p:sp>
      <p:sp>
        <p:nvSpPr>
          <p:cNvPr id="3" name="Content Placeholder 2">
            <a:extLst>
              <a:ext uri="{FF2B5EF4-FFF2-40B4-BE49-F238E27FC236}">
                <a16:creationId xmlns:a16="http://schemas.microsoft.com/office/drawing/2014/main" id="{2731BA7C-CE73-7CFB-2F1A-725D0B9211D8}"/>
              </a:ext>
            </a:extLst>
          </p:cNvPr>
          <p:cNvSpPr>
            <a:spLocks noGrp="1"/>
          </p:cNvSpPr>
          <p:nvPr>
            <p:ph idx="1"/>
          </p:nvPr>
        </p:nvSpPr>
        <p:spPr/>
        <p:txBody>
          <a:bodyPr/>
          <a:lstStyle/>
          <a:p>
            <a:r>
              <a:rPr lang="en-US" sz="2000" dirty="0"/>
              <a:t>Evaluate how batch and online learning impact convergence rate, generalization capability, and computational performance</a:t>
            </a:r>
          </a:p>
          <a:p>
            <a:r>
              <a:rPr lang="en-US" sz="2000" dirty="0"/>
              <a:t>How do batch learning and on-line learning differ in terms of synaptic weight adjustments in a multilayer perceptron, and what are the advantages associated with each method?</a:t>
            </a:r>
            <a:endParaRPr lang="en-IN" sz="2000" dirty="0"/>
          </a:p>
        </p:txBody>
      </p:sp>
      <p:sp>
        <p:nvSpPr>
          <p:cNvPr id="4" name="Slide Number Placeholder 3">
            <a:extLst>
              <a:ext uri="{FF2B5EF4-FFF2-40B4-BE49-F238E27FC236}">
                <a16:creationId xmlns:a16="http://schemas.microsoft.com/office/drawing/2014/main" id="{ABBA1D31-4882-A755-15E5-0CE76336AC08}"/>
              </a:ext>
            </a:extLst>
          </p:cNvPr>
          <p:cNvSpPr>
            <a:spLocks noGrp="1"/>
          </p:cNvSpPr>
          <p:nvPr>
            <p:ph type="sldNum" sz="quarter" idx="12"/>
          </p:nvPr>
        </p:nvSpPr>
        <p:spPr/>
        <p:txBody>
          <a:bodyPr/>
          <a:lstStyle/>
          <a:p>
            <a:fld id="{BB2CE0DE-867F-455F-B20B-96D381B4AB71}" type="slidenum">
              <a:rPr lang="en-US" smtClean="0"/>
              <a:t>16</a:t>
            </a:fld>
            <a:endParaRPr lang="en-US"/>
          </a:p>
        </p:txBody>
      </p:sp>
    </p:spTree>
    <p:extLst>
      <p:ext uri="{BB962C8B-B14F-4D97-AF65-F5344CB8AC3E}">
        <p14:creationId xmlns:p14="http://schemas.microsoft.com/office/powerpoint/2010/main" val="1177164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1E4E7-AD22-213B-7192-96ACBC0B739C}"/>
              </a:ext>
            </a:extLst>
          </p:cNvPr>
          <p:cNvSpPr>
            <a:spLocks noGrp="1"/>
          </p:cNvSpPr>
          <p:nvPr>
            <p:ph type="title"/>
          </p:nvPr>
        </p:nvSpPr>
        <p:spPr/>
        <p:txBody>
          <a:bodyPr/>
          <a:lstStyle/>
          <a:p>
            <a:r>
              <a:rPr lang="en-US" sz="2800" dirty="0"/>
              <a:t>MLP or Neural Network: Training process </a:t>
            </a:r>
            <a:endParaRPr lang="en-IN" sz="2800" dirty="0"/>
          </a:p>
        </p:txBody>
      </p:sp>
      <p:sp>
        <p:nvSpPr>
          <p:cNvPr id="3" name="Content Placeholder 2">
            <a:extLst>
              <a:ext uri="{FF2B5EF4-FFF2-40B4-BE49-F238E27FC236}">
                <a16:creationId xmlns:a16="http://schemas.microsoft.com/office/drawing/2014/main" id="{305A1623-6501-3851-B4FD-D2F573B12816}"/>
              </a:ext>
            </a:extLst>
          </p:cNvPr>
          <p:cNvSpPr>
            <a:spLocks noGrp="1"/>
          </p:cNvSpPr>
          <p:nvPr>
            <p:ph idx="1"/>
          </p:nvPr>
        </p:nvSpPr>
        <p:spPr/>
        <p:txBody>
          <a:bodyPr/>
          <a:lstStyle/>
          <a:p>
            <a:pPr algn="just"/>
            <a:r>
              <a:rPr lang="en-US" sz="1600" dirty="0"/>
              <a:t>The neural network needs to be trained in order to work. Its training process is in the context of supervised machine learning, where each data sample has a label informing to which class it belongs to. Thus, the general idea is to make the network able to learn the patterns relative to each class of objects we have, so when a new unknown sample of data is given to the network, it will be able to predict to which class that sample belongs to. How can this be done?</a:t>
            </a:r>
          </a:p>
          <a:p>
            <a:pPr algn="just"/>
            <a:r>
              <a:rPr lang="en-US" sz="1600" dirty="0"/>
              <a:t>The idea of the backpropagation algorithm is, based on </a:t>
            </a:r>
            <a:r>
              <a:rPr lang="en-US" sz="1600" b="1" dirty="0"/>
              <a:t>error </a:t>
            </a:r>
            <a:r>
              <a:rPr lang="en-US" sz="1600" dirty="0"/>
              <a:t>(or loss) calculation, to recalculate the weights array </a:t>
            </a:r>
            <a:r>
              <a:rPr lang="en-US" sz="1600" b="1" i="1" dirty="0"/>
              <a:t>w </a:t>
            </a:r>
            <a:r>
              <a:rPr lang="en-US" sz="1600" dirty="0"/>
              <a:t>in the last neuron layer, and proceed this way towards the previous layers, from back to front, that is, to update all the weights </a:t>
            </a:r>
            <a:r>
              <a:rPr lang="en-US" sz="1600" b="1" i="1" dirty="0"/>
              <a:t>w </a:t>
            </a:r>
            <a:r>
              <a:rPr lang="en-US" sz="1600" dirty="0"/>
              <a:t>in each layer, from the last one until reaching the input layer of the network, for this doing the backpropagation of the error obtained by the network. In other words, we calculate the error between what the network predicted to be and what it was indeed, then we recalculate all the weights values, from the last layer to the very first one, always intending to decrease the neural network error.</a:t>
            </a:r>
          </a:p>
          <a:p>
            <a:pPr algn="just"/>
            <a:endParaRPr lang="en-IN" sz="1600" dirty="0"/>
          </a:p>
        </p:txBody>
      </p:sp>
      <p:sp>
        <p:nvSpPr>
          <p:cNvPr id="4" name="Slide Number Placeholder 3">
            <a:extLst>
              <a:ext uri="{FF2B5EF4-FFF2-40B4-BE49-F238E27FC236}">
                <a16:creationId xmlns:a16="http://schemas.microsoft.com/office/drawing/2014/main" id="{72A2C816-4EE6-AF28-6488-D713AADE6012}"/>
              </a:ext>
            </a:extLst>
          </p:cNvPr>
          <p:cNvSpPr>
            <a:spLocks noGrp="1"/>
          </p:cNvSpPr>
          <p:nvPr>
            <p:ph type="sldNum" sz="quarter" idx="12"/>
          </p:nvPr>
        </p:nvSpPr>
        <p:spPr/>
        <p:txBody>
          <a:bodyPr/>
          <a:lstStyle/>
          <a:p>
            <a:fld id="{BB2CE0DE-867F-455F-B20B-96D381B4AB71}" type="slidenum">
              <a:rPr lang="en-US" smtClean="0"/>
              <a:t>17</a:t>
            </a:fld>
            <a:endParaRPr lang="en-US"/>
          </a:p>
        </p:txBody>
      </p:sp>
    </p:spTree>
    <p:extLst>
      <p:ext uri="{BB962C8B-B14F-4D97-AF65-F5344CB8AC3E}">
        <p14:creationId xmlns:p14="http://schemas.microsoft.com/office/powerpoint/2010/main" val="91988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D61CB-6C69-5FB0-99E7-EC5EA1551355}"/>
              </a:ext>
            </a:extLst>
          </p:cNvPr>
          <p:cNvSpPr>
            <a:spLocks noGrp="1"/>
          </p:cNvSpPr>
          <p:nvPr>
            <p:ph type="title"/>
          </p:nvPr>
        </p:nvSpPr>
        <p:spPr/>
        <p:txBody>
          <a:bodyPr/>
          <a:lstStyle/>
          <a:p>
            <a:r>
              <a:rPr lang="en-US" sz="2800" dirty="0"/>
              <a:t>MLP or Neural Network: Training process </a:t>
            </a:r>
            <a:endParaRPr lang="en-IN" sz="2800" dirty="0"/>
          </a:p>
        </p:txBody>
      </p:sp>
      <p:sp>
        <p:nvSpPr>
          <p:cNvPr id="4" name="Slide Number Placeholder 3">
            <a:extLst>
              <a:ext uri="{FF2B5EF4-FFF2-40B4-BE49-F238E27FC236}">
                <a16:creationId xmlns:a16="http://schemas.microsoft.com/office/drawing/2014/main" id="{AF5393F0-CF05-EC92-B230-40A71BD0960D}"/>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8" name="Picture 2">
            <a:extLst>
              <a:ext uri="{FF2B5EF4-FFF2-40B4-BE49-F238E27FC236}">
                <a16:creationId xmlns:a16="http://schemas.microsoft.com/office/drawing/2014/main" id="{DAB2492E-F06D-431F-E811-49B8634C32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2342" y="1650091"/>
            <a:ext cx="5486400" cy="3264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A0CE6E57-474D-8E76-C3DA-3BFC3E84A7E4}"/>
              </a:ext>
            </a:extLst>
          </p:cNvPr>
          <p:cNvSpPr/>
          <p:nvPr/>
        </p:nvSpPr>
        <p:spPr bwMode="auto">
          <a:xfrm>
            <a:off x="4986342" y="1650091"/>
            <a:ext cx="1905000" cy="762000"/>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pPr>
            <a:endParaRPr lang="en-US">
              <a:latin typeface="Verdana" pitchFamily="34" charset="0"/>
            </a:endParaRPr>
          </a:p>
        </p:txBody>
      </p:sp>
      <p:sp>
        <p:nvSpPr>
          <p:cNvPr id="10" name="TextBox 9">
            <a:extLst>
              <a:ext uri="{FF2B5EF4-FFF2-40B4-BE49-F238E27FC236}">
                <a16:creationId xmlns:a16="http://schemas.microsoft.com/office/drawing/2014/main" id="{867BEBB2-486B-C4BA-D153-4AC7DFD178E5}"/>
              </a:ext>
            </a:extLst>
          </p:cNvPr>
          <p:cNvSpPr txBox="1"/>
          <p:nvPr/>
        </p:nvSpPr>
        <p:spPr>
          <a:xfrm>
            <a:off x="4648200" y="1280759"/>
            <a:ext cx="2581284" cy="369332"/>
          </a:xfrm>
          <a:prstGeom prst="rect">
            <a:avLst/>
          </a:prstGeom>
          <a:noFill/>
        </p:spPr>
        <p:txBody>
          <a:bodyPr wrap="none" rtlCol="0">
            <a:spAutoFit/>
          </a:bodyPr>
          <a:lstStyle/>
          <a:p>
            <a:r>
              <a:rPr lang="en-US" dirty="0"/>
              <a:t>Forward Propagation</a:t>
            </a:r>
          </a:p>
        </p:txBody>
      </p:sp>
      <p:sp>
        <p:nvSpPr>
          <p:cNvPr id="11" name="Rectangle 10">
            <a:extLst>
              <a:ext uri="{FF2B5EF4-FFF2-40B4-BE49-F238E27FC236}">
                <a16:creationId xmlns:a16="http://schemas.microsoft.com/office/drawing/2014/main" id="{9F697808-2990-C379-AC3A-A55DF7047942}"/>
              </a:ext>
            </a:extLst>
          </p:cNvPr>
          <p:cNvSpPr/>
          <p:nvPr/>
        </p:nvSpPr>
        <p:spPr bwMode="auto">
          <a:xfrm>
            <a:off x="3462342" y="3402691"/>
            <a:ext cx="5257800" cy="1066800"/>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pPr>
            <a:endParaRPr lang="en-US">
              <a:latin typeface="Verdana" pitchFamily="34" charset="0"/>
            </a:endParaRPr>
          </a:p>
        </p:txBody>
      </p:sp>
      <p:sp>
        <p:nvSpPr>
          <p:cNvPr id="12" name="TextBox 11">
            <a:extLst>
              <a:ext uri="{FF2B5EF4-FFF2-40B4-BE49-F238E27FC236}">
                <a16:creationId xmlns:a16="http://schemas.microsoft.com/office/drawing/2014/main" id="{62DB3E77-BC3B-CC8E-E32C-E018D48D66BC}"/>
              </a:ext>
            </a:extLst>
          </p:cNvPr>
          <p:cNvSpPr txBox="1"/>
          <p:nvPr/>
        </p:nvSpPr>
        <p:spPr>
          <a:xfrm>
            <a:off x="5214943" y="4517018"/>
            <a:ext cx="2768065" cy="369332"/>
          </a:xfrm>
          <a:prstGeom prst="rect">
            <a:avLst/>
          </a:prstGeom>
          <a:noFill/>
        </p:spPr>
        <p:txBody>
          <a:bodyPr wrap="none" rtlCol="0">
            <a:spAutoFit/>
          </a:bodyPr>
          <a:lstStyle/>
          <a:p>
            <a:r>
              <a:rPr lang="en-US" dirty="0"/>
              <a:t>Backward Propagation</a:t>
            </a:r>
          </a:p>
        </p:txBody>
      </p:sp>
    </p:spTree>
    <p:extLst>
      <p:ext uri="{BB962C8B-B14F-4D97-AF65-F5344CB8AC3E}">
        <p14:creationId xmlns:p14="http://schemas.microsoft.com/office/powerpoint/2010/main" val="1128005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F05B9-7174-5C7A-B6F3-200190F87270}"/>
              </a:ext>
            </a:extLst>
          </p:cNvPr>
          <p:cNvSpPr>
            <a:spLocks noGrp="1"/>
          </p:cNvSpPr>
          <p:nvPr>
            <p:ph type="title"/>
          </p:nvPr>
        </p:nvSpPr>
        <p:spPr/>
        <p:txBody>
          <a:bodyPr/>
          <a:lstStyle/>
          <a:p>
            <a:r>
              <a:rPr lang="en-US" dirty="0"/>
              <a:t>Backpropagation</a:t>
            </a:r>
            <a:endParaRPr lang="en-IN" dirty="0"/>
          </a:p>
        </p:txBody>
      </p:sp>
      <p:sp>
        <p:nvSpPr>
          <p:cNvPr id="3" name="Content Placeholder 2">
            <a:extLst>
              <a:ext uri="{FF2B5EF4-FFF2-40B4-BE49-F238E27FC236}">
                <a16:creationId xmlns:a16="http://schemas.microsoft.com/office/drawing/2014/main" id="{D8B80B59-1581-F36E-51E2-C7E5131812A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56C9F8A-3256-0A28-7C64-050DE31D2C16}"/>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6" name="Picture 5">
            <a:extLst>
              <a:ext uri="{FF2B5EF4-FFF2-40B4-BE49-F238E27FC236}">
                <a16:creationId xmlns:a16="http://schemas.microsoft.com/office/drawing/2014/main" id="{9DE8A588-030D-A7ED-A232-92EFB0159739}"/>
              </a:ext>
            </a:extLst>
          </p:cNvPr>
          <p:cNvPicPr>
            <a:picLocks noChangeAspect="1"/>
          </p:cNvPicPr>
          <p:nvPr/>
        </p:nvPicPr>
        <p:blipFill>
          <a:blip r:embed="rId3"/>
          <a:stretch>
            <a:fillRect/>
          </a:stretch>
        </p:blipFill>
        <p:spPr>
          <a:xfrm>
            <a:off x="2133601" y="1066800"/>
            <a:ext cx="6982799" cy="5563376"/>
          </a:xfrm>
          <a:prstGeom prst="rect">
            <a:avLst/>
          </a:prstGeom>
        </p:spPr>
      </p:pic>
    </p:spTree>
    <p:extLst>
      <p:ext uri="{BB962C8B-B14F-4D97-AF65-F5344CB8AC3E}">
        <p14:creationId xmlns:p14="http://schemas.microsoft.com/office/powerpoint/2010/main" val="1341850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5C6B-D859-B586-159C-1CED12A67103}"/>
              </a:ext>
            </a:extLst>
          </p:cNvPr>
          <p:cNvSpPr>
            <a:spLocks noGrp="1"/>
          </p:cNvSpPr>
          <p:nvPr>
            <p:ph type="title"/>
          </p:nvPr>
        </p:nvSpPr>
        <p:spPr/>
        <p:txBody>
          <a:bodyPr/>
          <a:lstStyle/>
          <a:p>
            <a:r>
              <a:rPr lang="en-US" dirty="0"/>
              <a:t>How Backpropagation works?</a:t>
            </a:r>
            <a:endParaRPr lang="en-IN" dirty="0"/>
          </a:p>
        </p:txBody>
      </p:sp>
      <p:sp>
        <p:nvSpPr>
          <p:cNvPr id="3" name="Content Placeholder 2">
            <a:extLst>
              <a:ext uri="{FF2B5EF4-FFF2-40B4-BE49-F238E27FC236}">
                <a16:creationId xmlns:a16="http://schemas.microsoft.com/office/drawing/2014/main" id="{F1584C41-C6E4-8AE9-420D-1AF7C68FA9CE}"/>
              </a:ext>
            </a:extLst>
          </p:cNvPr>
          <p:cNvSpPr>
            <a:spLocks noGrp="1"/>
          </p:cNvSpPr>
          <p:nvPr>
            <p:ph idx="1"/>
          </p:nvPr>
        </p:nvSpPr>
        <p:spPr/>
        <p:txBody>
          <a:bodyPr/>
          <a:lstStyle/>
          <a:p>
            <a:pPr marL="0" indent="0">
              <a:buNone/>
            </a:pPr>
            <a:r>
              <a:rPr lang="en-US" sz="1800" dirty="0"/>
              <a:t>Backpropagation: A technique that is only used during training phase of neural network.</a:t>
            </a: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23E39417-79D1-9E24-A95B-BD43061E94E5}"/>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6" name="Picture 5">
            <a:extLst>
              <a:ext uri="{FF2B5EF4-FFF2-40B4-BE49-F238E27FC236}">
                <a16:creationId xmlns:a16="http://schemas.microsoft.com/office/drawing/2014/main" id="{6C0E18BB-82A4-790A-C787-6055E4815B4A}"/>
              </a:ext>
            </a:extLst>
          </p:cNvPr>
          <p:cNvPicPr>
            <a:picLocks noChangeAspect="1"/>
          </p:cNvPicPr>
          <p:nvPr/>
        </p:nvPicPr>
        <p:blipFill>
          <a:blip r:embed="rId2"/>
          <a:stretch>
            <a:fillRect/>
          </a:stretch>
        </p:blipFill>
        <p:spPr>
          <a:xfrm>
            <a:off x="2081743" y="2119087"/>
            <a:ext cx="8078327" cy="3229426"/>
          </a:xfrm>
          <a:prstGeom prst="rect">
            <a:avLst/>
          </a:prstGeom>
        </p:spPr>
      </p:pic>
    </p:spTree>
    <p:extLst>
      <p:ext uri="{BB962C8B-B14F-4D97-AF65-F5344CB8AC3E}">
        <p14:creationId xmlns:p14="http://schemas.microsoft.com/office/powerpoint/2010/main" val="3998850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43D40-D1EF-29B3-1010-C647873A776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BE63F01-3E52-63D6-FB83-09F0DA54509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742D747-C757-83D8-DEE8-F9AC3676275D}"/>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6" name="Picture 5">
            <a:extLst>
              <a:ext uri="{FF2B5EF4-FFF2-40B4-BE49-F238E27FC236}">
                <a16:creationId xmlns:a16="http://schemas.microsoft.com/office/drawing/2014/main" id="{B6104035-B796-CF6C-72C2-02032C474D16}"/>
              </a:ext>
            </a:extLst>
          </p:cNvPr>
          <p:cNvPicPr>
            <a:picLocks noChangeAspect="1"/>
          </p:cNvPicPr>
          <p:nvPr/>
        </p:nvPicPr>
        <p:blipFill>
          <a:blip r:embed="rId2"/>
          <a:stretch>
            <a:fillRect/>
          </a:stretch>
        </p:blipFill>
        <p:spPr>
          <a:xfrm>
            <a:off x="1828800" y="1066800"/>
            <a:ext cx="8714102" cy="4876800"/>
          </a:xfrm>
          <a:prstGeom prst="rect">
            <a:avLst/>
          </a:prstGeom>
        </p:spPr>
      </p:pic>
    </p:spTree>
    <p:extLst>
      <p:ext uri="{BB962C8B-B14F-4D97-AF65-F5344CB8AC3E}">
        <p14:creationId xmlns:p14="http://schemas.microsoft.com/office/powerpoint/2010/main" val="1609815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32855-450E-C44B-4E01-7EAE73932C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A161CD-3241-E595-6CDE-CD6F727CA97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A1DD61EF-5056-DF38-D762-FF83B060471A}"/>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6" name="Picture 5">
            <a:extLst>
              <a:ext uri="{FF2B5EF4-FFF2-40B4-BE49-F238E27FC236}">
                <a16:creationId xmlns:a16="http://schemas.microsoft.com/office/drawing/2014/main" id="{B46613ED-5103-40AA-8613-B4256E8082B5}"/>
              </a:ext>
            </a:extLst>
          </p:cNvPr>
          <p:cNvPicPr>
            <a:picLocks noChangeAspect="1"/>
          </p:cNvPicPr>
          <p:nvPr/>
        </p:nvPicPr>
        <p:blipFill>
          <a:blip r:embed="rId2"/>
          <a:stretch>
            <a:fillRect/>
          </a:stretch>
        </p:blipFill>
        <p:spPr>
          <a:xfrm>
            <a:off x="609600" y="152400"/>
            <a:ext cx="7680864" cy="6111875"/>
          </a:xfrm>
          <a:prstGeom prst="rect">
            <a:avLst/>
          </a:prstGeom>
        </p:spPr>
      </p:pic>
    </p:spTree>
    <p:extLst>
      <p:ext uri="{BB962C8B-B14F-4D97-AF65-F5344CB8AC3E}">
        <p14:creationId xmlns:p14="http://schemas.microsoft.com/office/powerpoint/2010/main" val="3185570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470A-6CC6-427F-80B8-936727D6B9DE}"/>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879C482B-919F-4E46-856B-7C1E059093C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88BBD5E9-CA7D-4143-B31E-3E222421C9E4}"/>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6" name="Picture 5">
            <a:extLst>
              <a:ext uri="{FF2B5EF4-FFF2-40B4-BE49-F238E27FC236}">
                <a16:creationId xmlns:a16="http://schemas.microsoft.com/office/drawing/2014/main" id="{BCA88CD9-C37B-4B35-B130-18B9D6E1FBBA}"/>
              </a:ext>
            </a:extLst>
          </p:cNvPr>
          <p:cNvPicPr>
            <a:picLocks noChangeAspect="1"/>
          </p:cNvPicPr>
          <p:nvPr/>
        </p:nvPicPr>
        <p:blipFill>
          <a:blip r:embed="rId2"/>
          <a:stretch>
            <a:fillRect/>
          </a:stretch>
        </p:blipFill>
        <p:spPr>
          <a:xfrm>
            <a:off x="734386" y="1157176"/>
            <a:ext cx="8130437" cy="5153247"/>
          </a:xfrm>
          <a:prstGeom prst="rect">
            <a:avLst/>
          </a:prstGeom>
        </p:spPr>
      </p:pic>
    </p:spTree>
    <p:extLst>
      <p:ext uri="{BB962C8B-B14F-4D97-AF65-F5344CB8AC3E}">
        <p14:creationId xmlns:p14="http://schemas.microsoft.com/office/powerpoint/2010/main" val="175418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E69E3-865E-48DA-8415-3BDC9C01CBEC}"/>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F5AB3303-05F7-4683-9A98-C5A8DEA51C4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B8B398B-12FE-4880-8F8C-E065AEA895A0}"/>
              </a:ext>
            </a:extLst>
          </p:cNvPr>
          <p:cNvSpPr>
            <a:spLocks noGrp="1"/>
          </p:cNvSpPr>
          <p:nvPr>
            <p:ph type="sldNum" sz="quarter" idx="12"/>
          </p:nvPr>
        </p:nvSpPr>
        <p:spPr/>
        <p:txBody>
          <a:bodyPr/>
          <a:lstStyle/>
          <a:p>
            <a:fld id="{BB2CE0DE-867F-455F-B20B-96D381B4AB71}" type="slidenum">
              <a:rPr lang="en-US" smtClean="0"/>
              <a:t>24</a:t>
            </a:fld>
            <a:endParaRPr lang="en-US"/>
          </a:p>
        </p:txBody>
      </p:sp>
      <p:pic>
        <p:nvPicPr>
          <p:cNvPr id="6" name="Picture 5">
            <a:extLst>
              <a:ext uri="{FF2B5EF4-FFF2-40B4-BE49-F238E27FC236}">
                <a16:creationId xmlns:a16="http://schemas.microsoft.com/office/drawing/2014/main" id="{7779159C-4B48-439A-B93C-03E57A56F115}"/>
              </a:ext>
            </a:extLst>
          </p:cNvPr>
          <p:cNvPicPr>
            <a:picLocks noChangeAspect="1"/>
          </p:cNvPicPr>
          <p:nvPr/>
        </p:nvPicPr>
        <p:blipFill>
          <a:blip r:embed="rId2"/>
          <a:stretch>
            <a:fillRect/>
          </a:stretch>
        </p:blipFill>
        <p:spPr>
          <a:xfrm>
            <a:off x="609600" y="946855"/>
            <a:ext cx="8229600" cy="5573889"/>
          </a:xfrm>
          <a:prstGeom prst="rect">
            <a:avLst/>
          </a:prstGeom>
        </p:spPr>
      </p:pic>
    </p:spTree>
    <p:extLst>
      <p:ext uri="{BB962C8B-B14F-4D97-AF65-F5344CB8AC3E}">
        <p14:creationId xmlns:p14="http://schemas.microsoft.com/office/powerpoint/2010/main" val="1686441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6CED4-23D0-42FB-85D6-971309E73D69}"/>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B9EAFDA5-E39B-4979-B47F-255A8C4E44A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CF2D00F-C910-4C3B-87D4-604CCA6AF391}"/>
              </a:ext>
            </a:extLst>
          </p:cNvPr>
          <p:cNvSpPr>
            <a:spLocks noGrp="1"/>
          </p:cNvSpPr>
          <p:nvPr>
            <p:ph type="sldNum" sz="quarter" idx="12"/>
          </p:nvPr>
        </p:nvSpPr>
        <p:spPr/>
        <p:txBody>
          <a:bodyPr/>
          <a:lstStyle/>
          <a:p>
            <a:fld id="{BB2CE0DE-867F-455F-B20B-96D381B4AB71}" type="slidenum">
              <a:rPr lang="en-US" smtClean="0"/>
              <a:t>25</a:t>
            </a:fld>
            <a:endParaRPr lang="en-US"/>
          </a:p>
        </p:txBody>
      </p:sp>
      <p:pic>
        <p:nvPicPr>
          <p:cNvPr id="6" name="Picture 5">
            <a:extLst>
              <a:ext uri="{FF2B5EF4-FFF2-40B4-BE49-F238E27FC236}">
                <a16:creationId xmlns:a16="http://schemas.microsoft.com/office/drawing/2014/main" id="{6F466918-D738-4F15-A27B-2EF0A0AF8741}"/>
              </a:ext>
            </a:extLst>
          </p:cNvPr>
          <p:cNvPicPr>
            <a:picLocks noChangeAspect="1"/>
          </p:cNvPicPr>
          <p:nvPr/>
        </p:nvPicPr>
        <p:blipFill>
          <a:blip r:embed="rId2"/>
          <a:stretch>
            <a:fillRect/>
          </a:stretch>
        </p:blipFill>
        <p:spPr>
          <a:xfrm>
            <a:off x="777358" y="993390"/>
            <a:ext cx="7147442" cy="5705122"/>
          </a:xfrm>
          <a:prstGeom prst="rect">
            <a:avLst/>
          </a:prstGeom>
        </p:spPr>
      </p:pic>
    </p:spTree>
    <p:extLst>
      <p:ext uri="{BB962C8B-B14F-4D97-AF65-F5344CB8AC3E}">
        <p14:creationId xmlns:p14="http://schemas.microsoft.com/office/powerpoint/2010/main" val="3527664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6" name="Picture 5">
            <a:extLst>
              <a:ext uri="{FF2B5EF4-FFF2-40B4-BE49-F238E27FC236}">
                <a16:creationId xmlns:a16="http://schemas.microsoft.com/office/drawing/2014/main" id="{CC168589-D1F6-428B-8980-053D0ECC9554}"/>
              </a:ext>
            </a:extLst>
          </p:cNvPr>
          <p:cNvPicPr>
            <a:picLocks noChangeAspect="1"/>
          </p:cNvPicPr>
          <p:nvPr/>
        </p:nvPicPr>
        <p:blipFill>
          <a:blip r:embed="rId2"/>
          <a:stretch>
            <a:fillRect/>
          </a:stretch>
        </p:blipFill>
        <p:spPr>
          <a:xfrm>
            <a:off x="440412" y="1055281"/>
            <a:ext cx="6188988" cy="5500127"/>
          </a:xfrm>
          <a:prstGeom prst="rect">
            <a:avLst/>
          </a:prstGeom>
        </p:spPr>
      </p:pic>
    </p:spTree>
    <p:extLst>
      <p:ext uri="{BB962C8B-B14F-4D97-AF65-F5344CB8AC3E}">
        <p14:creationId xmlns:p14="http://schemas.microsoft.com/office/powerpoint/2010/main" val="2703530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6" name="Picture 5">
            <a:extLst>
              <a:ext uri="{FF2B5EF4-FFF2-40B4-BE49-F238E27FC236}">
                <a16:creationId xmlns:a16="http://schemas.microsoft.com/office/drawing/2014/main" id="{F781F94D-7E4D-4577-93FD-31DC780A30AE}"/>
              </a:ext>
            </a:extLst>
          </p:cNvPr>
          <p:cNvPicPr>
            <a:picLocks noChangeAspect="1"/>
          </p:cNvPicPr>
          <p:nvPr/>
        </p:nvPicPr>
        <p:blipFill>
          <a:blip r:embed="rId2"/>
          <a:stretch>
            <a:fillRect/>
          </a:stretch>
        </p:blipFill>
        <p:spPr>
          <a:xfrm>
            <a:off x="755650" y="958629"/>
            <a:ext cx="7981950" cy="5791200"/>
          </a:xfrm>
          <a:prstGeom prst="rect">
            <a:avLst/>
          </a:prstGeom>
        </p:spPr>
      </p:pic>
    </p:spTree>
    <p:extLst>
      <p:ext uri="{BB962C8B-B14F-4D97-AF65-F5344CB8AC3E}">
        <p14:creationId xmlns:p14="http://schemas.microsoft.com/office/powerpoint/2010/main" val="4213187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6" name="Picture 5">
            <a:extLst>
              <a:ext uri="{FF2B5EF4-FFF2-40B4-BE49-F238E27FC236}">
                <a16:creationId xmlns:a16="http://schemas.microsoft.com/office/drawing/2014/main" id="{5583449C-3379-4FF3-AF6C-077B0FE0C90A}"/>
              </a:ext>
            </a:extLst>
          </p:cNvPr>
          <p:cNvPicPr>
            <a:picLocks noChangeAspect="1"/>
          </p:cNvPicPr>
          <p:nvPr/>
        </p:nvPicPr>
        <p:blipFill>
          <a:blip r:embed="rId2"/>
          <a:stretch>
            <a:fillRect/>
          </a:stretch>
        </p:blipFill>
        <p:spPr>
          <a:xfrm>
            <a:off x="609600" y="940059"/>
            <a:ext cx="6858000" cy="5638800"/>
          </a:xfrm>
          <a:prstGeom prst="rect">
            <a:avLst/>
          </a:prstGeom>
        </p:spPr>
      </p:pic>
    </p:spTree>
    <p:extLst>
      <p:ext uri="{BB962C8B-B14F-4D97-AF65-F5344CB8AC3E}">
        <p14:creationId xmlns:p14="http://schemas.microsoft.com/office/powerpoint/2010/main" val="3522406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6" name="Picture 5">
            <a:extLst>
              <a:ext uri="{FF2B5EF4-FFF2-40B4-BE49-F238E27FC236}">
                <a16:creationId xmlns:a16="http://schemas.microsoft.com/office/drawing/2014/main" id="{6C276AB4-E332-4909-A9D8-7C60C38FE4B9}"/>
              </a:ext>
            </a:extLst>
          </p:cNvPr>
          <p:cNvPicPr>
            <a:picLocks noChangeAspect="1"/>
          </p:cNvPicPr>
          <p:nvPr/>
        </p:nvPicPr>
        <p:blipFill>
          <a:blip r:embed="rId2"/>
          <a:stretch>
            <a:fillRect/>
          </a:stretch>
        </p:blipFill>
        <p:spPr>
          <a:xfrm>
            <a:off x="755651" y="1187302"/>
            <a:ext cx="7500844" cy="5518298"/>
          </a:xfrm>
          <a:prstGeom prst="rect">
            <a:avLst/>
          </a:prstGeom>
        </p:spPr>
      </p:pic>
    </p:spTree>
    <p:extLst>
      <p:ext uri="{BB962C8B-B14F-4D97-AF65-F5344CB8AC3E}">
        <p14:creationId xmlns:p14="http://schemas.microsoft.com/office/powerpoint/2010/main" val="1244120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6" name="Picture 5">
            <a:extLst>
              <a:ext uri="{FF2B5EF4-FFF2-40B4-BE49-F238E27FC236}">
                <a16:creationId xmlns:a16="http://schemas.microsoft.com/office/drawing/2014/main" id="{7F84325A-564D-41B6-BBCD-A28CB37A68FB}"/>
              </a:ext>
            </a:extLst>
          </p:cNvPr>
          <p:cNvPicPr>
            <a:picLocks noChangeAspect="1"/>
          </p:cNvPicPr>
          <p:nvPr/>
        </p:nvPicPr>
        <p:blipFill>
          <a:blip r:embed="rId2"/>
          <a:stretch>
            <a:fillRect/>
          </a:stretch>
        </p:blipFill>
        <p:spPr>
          <a:xfrm>
            <a:off x="755650" y="914400"/>
            <a:ext cx="7397749" cy="5777368"/>
          </a:xfrm>
          <a:prstGeom prst="rect">
            <a:avLst/>
          </a:prstGeom>
        </p:spPr>
      </p:pic>
    </p:spTree>
    <p:extLst>
      <p:ext uri="{BB962C8B-B14F-4D97-AF65-F5344CB8AC3E}">
        <p14:creationId xmlns:p14="http://schemas.microsoft.com/office/powerpoint/2010/main" val="446594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6" name="Picture 5">
            <a:extLst>
              <a:ext uri="{FF2B5EF4-FFF2-40B4-BE49-F238E27FC236}">
                <a16:creationId xmlns:a16="http://schemas.microsoft.com/office/drawing/2014/main" id="{F0CCA7B9-FCEC-41C7-BC3F-25F7F8A7579F}"/>
              </a:ext>
            </a:extLst>
          </p:cNvPr>
          <p:cNvPicPr>
            <a:picLocks noChangeAspect="1"/>
          </p:cNvPicPr>
          <p:nvPr/>
        </p:nvPicPr>
        <p:blipFill>
          <a:blip r:embed="rId2"/>
          <a:stretch>
            <a:fillRect/>
          </a:stretch>
        </p:blipFill>
        <p:spPr>
          <a:xfrm>
            <a:off x="812800" y="1117855"/>
            <a:ext cx="7493000" cy="5582429"/>
          </a:xfrm>
          <a:prstGeom prst="rect">
            <a:avLst/>
          </a:prstGeom>
        </p:spPr>
      </p:pic>
    </p:spTree>
    <p:extLst>
      <p:ext uri="{BB962C8B-B14F-4D97-AF65-F5344CB8AC3E}">
        <p14:creationId xmlns:p14="http://schemas.microsoft.com/office/powerpoint/2010/main" val="2959569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6" name="Picture 5">
            <a:extLst>
              <a:ext uri="{FF2B5EF4-FFF2-40B4-BE49-F238E27FC236}">
                <a16:creationId xmlns:a16="http://schemas.microsoft.com/office/drawing/2014/main" id="{A47D6972-83ED-461C-A68D-28E6D14AADF5}"/>
              </a:ext>
            </a:extLst>
          </p:cNvPr>
          <p:cNvPicPr>
            <a:picLocks noChangeAspect="1"/>
          </p:cNvPicPr>
          <p:nvPr/>
        </p:nvPicPr>
        <p:blipFill>
          <a:blip r:embed="rId2"/>
          <a:stretch>
            <a:fillRect/>
          </a:stretch>
        </p:blipFill>
        <p:spPr>
          <a:xfrm>
            <a:off x="741474" y="1219200"/>
            <a:ext cx="7335726" cy="5232476"/>
          </a:xfrm>
          <a:prstGeom prst="rect">
            <a:avLst/>
          </a:prstGeom>
        </p:spPr>
      </p:pic>
    </p:spTree>
    <p:extLst>
      <p:ext uri="{BB962C8B-B14F-4D97-AF65-F5344CB8AC3E}">
        <p14:creationId xmlns:p14="http://schemas.microsoft.com/office/powerpoint/2010/main" val="2890756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6" name="Picture 5">
            <a:extLst>
              <a:ext uri="{FF2B5EF4-FFF2-40B4-BE49-F238E27FC236}">
                <a16:creationId xmlns:a16="http://schemas.microsoft.com/office/drawing/2014/main" id="{5303301B-1F80-430C-B8AF-671EF0BCBDD4}"/>
              </a:ext>
            </a:extLst>
          </p:cNvPr>
          <p:cNvPicPr>
            <a:picLocks noChangeAspect="1"/>
          </p:cNvPicPr>
          <p:nvPr/>
        </p:nvPicPr>
        <p:blipFill>
          <a:blip r:embed="rId2"/>
          <a:stretch>
            <a:fillRect/>
          </a:stretch>
        </p:blipFill>
        <p:spPr>
          <a:xfrm>
            <a:off x="744967" y="914400"/>
            <a:ext cx="7027433" cy="5714999"/>
          </a:xfrm>
          <a:prstGeom prst="rect">
            <a:avLst/>
          </a:prstGeom>
        </p:spPr>
      </p:pic>
    </p:spTree>
    <p:extLst>
      <p:ext uri="{BB962C8B-B14F-4D97-AF65-F5344CB8AC3E}">
        <p14:creationId xmlns:p14="http://schemas.microsoft.com/office/powerpoint/2010/main" val="3200048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92963-C8A3-2D30-D602-3EACFD6BB668}"/>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CFF6C0B8-B91D-056D-041D-F23A72A05C6F}"/>
              </a:ext>
            </a:extLst>
          </p:cNvPr>
          <p:cNvSpPr>
            <a:spLocks noGrp="1"/>
          </p:cNvSpPr>
          <p:nvPr>
            <p:ph idx="1"/>
          </p:nvPr>
        </p:nvSpPr>
        <p:spPr/>
        <p:txBody>
          <a:bodyPr/>
          <a:lstStyle/>
          <a:p>
            <a:r>
              <a:rPr lang="en-IN" sz="1800" dirty="0"/>
              <a:t>Derive the expression for the local gradient </a:t>
            </a:r>
            <a:r>
              <a:rPr lang="en-IN" sz="1800" dirty="0" err="1"/>
              <a:t>δj</a:t>
            </a:r>
            <a:r>
              <a:rPr lang="en-IN" sz="1800" dirty="0"/>
              <a:t>(n) used to change the synaptic weights in the backpropagation algorithm.</a:t>
            </a:r>
          </a:p>
          <a:p>
            <a:r>
              <a:rPr lang="en-US" sz="1800" dirty="0"/>
              <a:t>Derive the local gradient expressions for Neuron j as an output node and as a hidden node, detailing the differences in their calculations</a:t>
            </a:r>
          </a:p>
        </p:txBody>
      </p:sp>
      <p:sp>
        <p:nvSpPr>
          <p:cNvPr id="4" name="Slide Number Placeholder 3">
            <a:extLst>
              <a:ext uri="{FF2B5EF4-FFF2-40B4-BE49-F238E27FC236}">
                <a16:creationId xmlns:a16="http://schemas.microsoft.com/office/drawing/2014/main" id="{F134B72D-9DC0-FEEA-6F04-4F9B50057635}"/>
              </a:ext>
            </a:extLst>
          </p:cNvPr>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4024893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A07E1-FF36-35F7-2ACD-E3EE566D8723}"/>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B0D0A9FB-5CCE-A49B-4CF9-84067DB1BAC3}"/>
              </a:ext>
            </a:extLst>
          </p:cNvPr>
          <p:cNvSpPr>
            <a:spLocks noGrp="1"/>
          </p:cNvSpPr>
          <p:nvPr>
            <p:ph idx="1"/>
          </p:nvPr>
        </p:nvSpPr>
        <p:spPr/>
        <p:txBody>
          <a:bodyPr/>
          <a:lstStyle/>
          <a:p>
            <a:pPr marL="0" indent="0" algn="just">
              <a:buNone/>
            </a:pPr>
            <a:r>
              <a:rPr lang="en-IN" sz="1800" dirty="0"/>
              <a:t>Consider the network given below apply the backpropagation algorithm to update the weights w1- w8 to obtain the output expected output with the learning rate 0.5. Use sigmoid activation function to train the network.</a:t>
            </a:r>
          </a:p>
          <a:p>
            <a:pPr marL="0" indent="0">
              <a:buNone/>
            </a:pPr>
            <a:endParaRPr lang="en-IN" sz="1800" dirty="0"/>
          </a:p>
        </p:txBody>
      </p:sp>
      <p:sp>
        <p:nvSpPr>
          <p:cNvPr id="4" name="Slide Number Placeholder 3">
            <a:extLst>
              <a:ext uri="{FF2B5EF4-FFF2-40B4-BE49-F238E27FC236}">
                <a16:creationId xmlns:a16="http://schemas.microsoft.com/office/drawing/2014/main" id="{E728BA30-0B03-4BA4-C74A-D030EA2D7F6F}"/>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5" name="Picture 4">
            <a:extLst>
              <a:ext uri="{FF2B5EF4-FFF2-40B4-BE49-F238E27FC236}">
                <a16:creationId xmlns:a16="http://schemas.microsoft.com/office/drawing/2014/main" id="{F54A2BF3-D160-971C-194A-F31C5B56A8C5}"/>
              </a:ext>
            </a:extLst>
          </p:cNvPr>
          <p:cNvPicPr>
            <a:picLocks noChangeAspect="1"/>
          </p:cNvPicPr>
          <p:nvPr/>
        </p:nvPicPr>
        <p:blipFill>
          <a:blip r:embed="rId2"/>
          <a:stretch>
            <a:fillRect/>
          </a:stretch>
        </p:blipFill>
        <p:spPr>
          <a:xfrm>
            <a:off x="1745016" y="2438400"/>
            <a:ext cx="4343400" cy="3387056"/>
          </a:xfrm>
          <a:prstGeom prst="rect">
            <a:avLst/>
          </a:prstGeom>
        </p:spPr>
      </p:pic>
      <p:sp>
        <p:nvSpPr>
          <p:cNvPr id="6" name="TextBox 5">
            <a:extLst>
              <a:ext uri="{FF2B5EF4-FFF2-40B4-BE49-F238E27FC236}">
                <a16:creationId xmlns:a16="http://schemas.microsoft.com/office/drawing/2014/main" id="{B296C0BB-5929-AA8D-E41D-BC5228CCEDFC}"/>
              </a:ext>
            </a:extLst>
          </p:cNvPr>
          <p:cNvSpPr txBox="1"/>
          <p:nvPr/>
        </p:nvSpPr>
        <p:spPr>
          <a:xfrm>
            <a:off x="6155360" y="3149024"/>
            <a:ext cx="4291624" cy="738664"/>
          </a:xfrm>
          <a:prstGeom prst="rect">
            <a:avLst/>
          </a:prstGeom>
          <a:noFill/>
        </p:spPr>
        <p:txBody>
          <a:bodyPr wrap="none" rtlCol="0">
            <a:spAutoFit/>
          </a:bodyPr>
          <a:lstStyle/>
          <a:p>
            <a:r>
              <a:rPr lang="en-US" sz="1400" dirty="0"/>
              <a:t>Neural Network: 2 inputs, 2 hidden neurons, </a:t>
            </a:r>
          </a:p>
          <a:p>
            <a:r>
              <a:rPr lang="en-US" sz="1400" dirty="0"/>
              <a:t>2 output Neurons</a:t>
            </a:r>
          </a:p>
          <a:p>
            <a:endParaRPr lang="en-US" sz="1400" dirty="0"/>
          </a:p>
        </p:txBody>
      </p:sp>
    </p:spTree>
    <p:extLst>
      <p:ext uri="{BB962C8B-B14F-4D97-AF65-F5344CB8AC3E}">
        <p14:creationId xmlns:p14="http://schemas.microsoft.com/office/powerpoint/2010/main" val="1719878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BB7626-905A-44E6-9E6C-14025C876FBB}"/>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8" name="Picture 7">
            <a:extLst>
              <a:ext uri="{FF2B5EF4-FFF2-40B4-BE49-F238E27FC236}">
                <a16:creationId xmlns:a16="http://schemas.microsoft.com/office/drawing/2014/main" id="{01498B8C-739E-48E4-9EA4-77BB93820C8C}"/>
              </a:ext>
            </a:extLst>
          </p:cNvPr>
          <p:cNvPicPr>
            <a:picLocks noChangeAspect="1"/>
          </p:cNvPicPr>
          <p:nvPr/>
        </p:nvPicPr>
        <p:blipFill>
          <a:blip r:embed="rId2"/>
          <a:stretch>
            <a:fillRect/>
          </a:stretch>
        </p:blipFill>
        <p:spPr>
          <a:xfrm>
            <a:off x="6553201" y="0"/>
            <a:ext cx="5486400" cy="6858000"/>
          </a:xfrm>
          <a:prstGeom prst="rect">
            <a:avLst/>
          </a:prstGeom>
        </p:spPr>
      </p:pic>
      <p:pic>
        <p:nvPicPr>
          <p:cNvPr id="7" name="Picture 6">
            <a:extLst>
              <a:ext uri="{FF2B5EF4-FFF2-40B4-BE49-F238E27FC236}">
                <a16:creationId xmlns:a16="http://schemas.microsoft.com/office/drawing/2014/main" id="{C02BA03A-D21C-7BAC-E97F-406B9AE987F0}"/>
              </a:ext>
            </a:extLst>
          </p:cNvPr>
          <p:cNvPicPr>
            <a:picLocks noChangeAspect="1"/>
          </p:cNvPicPr>
          <p:nvPr/>
        </p:nvPicPr>
        <p:blipFill>
          <a:blip r:embed="rId3"/>
          <a:stretch>
            <a:fillRect/>
          </a:stretch>
        </p:blipFill>
        <p:spPr>
          <a:xfrm>
            <a:off x="381000" y="-31044"/>
            <a:ext cx="5934075" cy="6858000"/>
          </a:xfrm>
          <a:prstGeom prst="rect">
            <a:avLst/>
          </a:prstGeom>
        </p:spPr>
      </p:pic>
      <p:sp>
        <p:nvSpPr>
          <p:cNvPr id="9" name="TextBox 8">
            <a:extLst>
              <a:ext uri="{FF2B5EF4-FFF2-40B4-BE49-F238E27FC236}">
                <a16:creationId xmlns:a16="http://schemas.microsoft.com/office/drawing/2014/main" id="{630D78BF-F10D-09AD-C934-35288670F4B3}"/>
              </a:ext>
            </a:extLst>
          </p:cNvPr>
          <p:cNvSpPr txBox="1"/>
          <p:nvPr/>
        </p:nvSpPr>
        <p:spPr>
          <a:xfrm>
            <a:off x="685800" y="1676400"/>
            <a:ext cx="946093" cy="307777"/>
          </a:xfrm>
          <a:prstGeom prst="rect">
            <a:avLst/>
          </a:prstGeom>
          <a:noFill/>
        </p:spPr>
        <p:txBody>
          <a:bodyPr wrap="none" rtlCol="0">
            <a:spAutoFit/>
          </a:bodyPr>
          <a:lstStyle/>
          <a:p>
            <a:r>
              <a:rPr lang="en-US" sz="1400" dirty="0"/>
              <a:t>0.25 W3</a:t>
            </a:r>
            <a:endParaRPr lang="en-IN" sz="1400" dirty="0"/>
          </a:p>
        </p:txBody>
      </p:sp>
    </p:spTree>
    <p:extLst>
      <p:ext uri="{BB962C8B-B14F-4D97-AF65-F5344CB8AC3E}">
        <p14:creationId xmlns:p14="http://schemas.microsoft.com/office/powerpoint/2010/main" val="3915253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4F4E-C9DA-48A3-A607-583FC4D0BE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1FA681-3975-407A-AC99-E5B5A56267C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0D32B68-48DE-40FC-BAF2-5A3FD49AC2DB}"/>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6" name="Picture 5">
            <a:extLst>
              <a:ext uri="{FF2B5EF4-FFF2-40B4-BE49-F238E27FC236}">
                <a16:creationId xmlns:a16="http://schemas.microsoft.com/office/drawing/2014/main" id="{540EE27E-573C-42E7-991E-528E01224A62}"/>
              </a:ext>
            </a:extLst>
          </p:cNvPr>
          <p:cNvPicPr>
            <a:picLocks noChangeAspect="1"/>
          </p:cNvPicPr>
          <p:nvPr/>
        </p:nvPicPr>
        <p:blipFill>
          <a:blip r:embed="rId2"/>
          <a:stretch>
            <a:fillRect/>
          </a:stretch>
        </p:blipFill>
        <p:spPr>
          <a:xfrm>
            <a:off x="152400" y="74800"/>
            <a:ext cx="5334000" cy="6708399"/>
          </a:xfrm>
          <a:prstGeom prst="rect">
            <a:avLst/>
          </a:prstGeom>
        </p:spPr>
      </p:pic>
      <p:pic>
        <p:nvPicPr>
          <p:cNvPr id="8" name="Picture 7">
            <a:extLst>
              <a:ext uri="{FF2B5EF4-FFF2-40B4-BE49-F238E27FC236}">
                <a16:creationId xmlns:a16="http://schemas.microsoft.com/office/drawing/2014/main" id="{7EBA6130-1C4A-4C35-B8E6-9C4DEB6BACFC}"/>
              </a:ext>
            </a:extLst>
          </p:cNvPr>
          <p:cNvPicPr>
            <a:picLocks noChangeAspect="1"/>
          </p:cNvPicPr>
          <p:nvPr/>
        </p:nvPicPr>
        <p:blipFill>
          <a:blip r:embed="rId3"/>
          <a:stretch>
            <a:fillRect/>
          </a:stretch>
        </p:blipFill>
        <p:spPr>
          <a:xfrm>
            <a:off x="5803211" y="89773"/>
            <a:ext cx="6248399" cy="6615827"/>
          </a:xfrm>
          <a:prstGeom prst="rect">
            <a:avLst/>
          </a:prstGeom>
        </p:spPr>
      </p:pic>
    </p:spTree>
    <p:extLst>
      <p:ext uri="{BB962C8B-B14F-4D97-AF65-F5344CB8AC3E}">
        <p14:creationId xmlns:p14="http://schemas.microsoft.com/office/powerpoint/2010/main" val="2298496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BC032-AF9A-4B5C-951A-F8957139F4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9FC868-48E4-4E29-9813-B7F0B75F7DB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6B438E2-D3CF-4F6C-8C55-22AB465BE218}"/>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6" name="Picture 5">
            <a:extLst>
              <a:ext uri="{FF2B5EF4-FFF2-40B4-BE49-F238E27FC236}">
                <a16:creationId xmlns:a16="http://schemas.microsoft.com/office/drawing/2014/main" id="{DEFF5CB1-2B89-47A4-908D-B0BBD6AAADCE}"/>
              </a:ext>
            </a:extLst>
          </p:cNvPr>
          <p:cNvPicPr>
            <a:picLocks noChangeAspect="1"/>
          </p:cNvPicPr>
          <p:nvPr/>
        </p:nvPicPr>
        <p:blipFill>
          <a:blip r:embed="rId2"/>
          <a:stretch>
            <a:fillRect/>
          </a:stretch>
        </p:blipFill>
        <p:spPr>
          <a:xfrm>
            <a:off x="381000" y="15949"/>
            <a:ext cx="5410199" cy="6689651"/>
          </a:xfrm>
          <a:prstGeom prst="rect">
            <a:avLst/>
          </a:prstGeom>
        </p:spPr>
      </p:pic>
      <p:pic>
        <p:nvPicPr>
          <p:cNvPr id="8" name="Picture 7">
            <a:extLst>
              <a:ext uri="{FF2B5EF4-FFF2-40B4-BE49-F238E27FC236}">
                <a16:creationId xmlns:a16="http://schemas.microsoft.com/office/drawing/2014/main" id="{CA14D8A1-2141-44B5-8AAE-0F9AE1D8BC31}"/>
              </a:ext>
            </a:extLst>
          </p:cNvPr>
          <p:cNvPicPr>
            <a:picLocks noChangeAspect="1"/>
          </p:cNvPicPr>
          <p:nvPr/>
        </p:nvPicPr>
        <p:blipFill>
          <a:blip r:embed="rId3"/>
          <a:stretch>
            <a:fillRect/>
          </a:stretch>
        </p:blipFill>
        <p:spPr>
          <a:xfrm>
            <a:off x="6089650" y="56635"/>
            <a:ext cx="5949949" cy="6648965"/>
          </a:xfrm>
          <a:prstGeom prst="rect">
            <a:avLst/>
          </a:prstGeom>
        </p:spPr>
      </p:pic>
    </p:spTree>
    <p:extLst>
      <p:ext uri="{BB962C8B-B14F-4D97-AF65-F5344CB8AC3E}">
        <p14:creationId xmlns:p14="http://schemas.microsoft.com/office/powerpoint/2010/main" val="2090912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3C18-8473-4F45-B154-459ACF1856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389DE0-B024-4B05-9D56-D1F5DFC2E2B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0A78427-0E67-4BAF-8B03-9C325C6EC639}"/>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6" name="Picture 5">
            <a:extLst>
              <a:ext uri="{FF2B5EF4-FFF2-40B4-BE49-F238E27FC236}">
                <a16:creationId xmlns:a16="http://schemas.microsoft.com/office/drawing/2014/main" id="{7E6C4E59-E2BD-4904-BA9C-F308D2CE0555}"/>
              </a:ext>
            </a:extLst>
          </p:cNvPr>
          <p:cNvPicPr>
            <a:picLocks noChangeAspect="1"/>
          </p:cNvPicPr>
          <p:nvPr/>
        </p:nvPicPr>
        <p:blipFill>
          <a:blip r:embed="rId2"/>
          <a:stretch>
            <a:fillRect/>
          </a:stretch>
        </p:blipFill>
        <p:spPr>
          <a:xfrm>
            <a:off x="228600" y="136451"/>
            <a:ext cx="5293211" cy="6637338"/>
          </a:xfrm>
          <a:prstGeom prst="rect">
            <a:avLst/>
          </a:prstGeom>
        </p:spPr>
      </p:pic>
      <p:pic>
        <p:nvPicPr>
          <p:cNvPr id="8" name="Picture 7">
            <a:extLst>
              <a:ext uri="{FF2B5EF4-FFF2-40B4-BE49-F238E27FC236}">
                <a16:creationId xmlns:a16="http://schemas.microsoft.com/office/drawing/2014/main" id="{967D362E-DB06-42AC-B521-A302AABD3783}"/>
              </a:ext>
            </a:extLst>
          </p:cNvPr>
          <p:cNvPicPr>
            <a:picLocks noChangeAspect="1"/>
          </p:cNvPicPr>
          <p:nvPr/>
        </p:nvPicPr>
        <p:blipFill>
          <a:blip r:embed="rId3"/>
          <a:stretch>
            <a:fillRect/>
          </a:stretch>
        </p:blipFill>
        <p:spPr>
          <a:xfrm>
            <a:off x="6059444" y="152400"/>
            <a:ext cx="5760022" cy="6705600"/>
          </a:xfrm>
          <a:prstGeom prst="rect">
            <a:avLst/>
          </a:prstGeom>
        </p:spPr>
      </p:pic>
    </p:spTree>
    <p:extLst>
      <p:ext uri="{BB962C8B-B14F-4D97-AF65-F5344CB8AC3E}">
        <p14:creationId xmlns:p14="http://schemas.microsoft.com/office/powerpoint/2010/main" val="1231048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4396-4256-4DD8-B45C-F9D6A31216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4BF891-D93D-45F9-8FE6-79C817A26F8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B379775-6436-47CF-8BA2-30B52C7B3212}"/>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6" name="Picture 5">
            <a:extLst>
              <a:ext uri="{FF2B5EF4-FFF2-40B4-BE49-F238E27FC236}">
                <a16:creationId xmlns:a16="http://schemas.microsoft.com/office/drawing/2014/main" id="{F19C4BC0-95CB-4320-85B6-89112EFD41F3}"/>
              </a:ext>
            </a:extLst>
          </p:cNvPr>
          <p:cNvPicPr>
            <a:picLocks noChangeAspect="1"/>
          </p:cNvPicPr>
          <p:nvPr/>
        </p:nvPicPr>
        <p:blipFill>
          <a:blip r:embed="rId2"/>
          <a:stretch>
            <a:fillRect/>
          </a:stretch>
        </p:blipFill>
        <p:spPr>
          <a:xfrm>
            <a:off x="304800" y="67339"/>
            <a:ext cx="5616869" cy="6723321"/>
          </a:xfrm>
          <a:prstGeom prst="rect">
            <a:avLst/>
          </a:prstGeom>
        </p:spPr>
      </p:pic>
      <p:pic>
        <p:nvPicPr>
          <p:cNvPr id="8" name="Picture 7">
            <a:extLst>
              <a:ext uri="{FF2B5EF4-FFF2-40B4-BE49-F238E27FC236}">
                <a16:creationId xmlns:a16="http://schemas.microsoft.com/office/drawing/2014/main" id="{32085F85-8D00-4256-88E0-E83F059CCF5A}"/>
              </a:ext>
            </a:extLst>
          </p:cNvPr>
          <p:cNvPicPr>
            <a:picLocks noChangeAspect="1"/>
          </p:cNvPicPr>
          <p:nvPr/>
        </p:nvPicPr>
        <p:blipFill>
          <a:blip r:embed="rId3"/>
          <a:stretch>
            <a:fillRect/>
          </a:stretch>
        </p:blipFill>
        <p:spPr>
          <a:xfrm>
            <a:off x="6386646" y="144461"/>
            <a:ext cx="5512564" cy="6569076"/>
          </a:xfrm>
          <a:prstGeom prst="rect">
            <a:avLst/>
          </a:prstGeom>
        </p:spPr>
      </p:pic>
    </p:spTree>
    <p:extLst>
      <p:ext uri="{BB962C8B-B14F-4D97-AF65-F5344CB8AC3E}">
        <p14:creationId xmlns:p14="http://schemas.microsoft.com/office/powerpoint/2010/main" val="5588373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97DA6-286D-727C-36C2-F704596D4E0A}"/>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9259676B-AD57-E7EA-4BE0-CD2B205D4E1A}"/>
              </a:ext>
            </a:extLst>
          </p:cNvPr>
          <p:cNvSpPr>
            <a:spLocks noGrp="1"/>
          </p:cNvSpPr>
          <p:nvPr>
            <p:ph idx="1"/>
          </p:nvPr>
        </p:nvSpPr>
        <p:spPr/>
        <p:txBody>
          <a:bodyPr/>
          <a:lstStyle/>
          <a:p>
            <a:pPr marL="0" indent="0">
              <a:buNone/>
            </a:pPr>
            <a:r>
              <a:rPr lang="en-US" sz="1800" dirty="0"/>
              <a:t>Consider a multilayer feed-forward neural network given below. Let the learning rate be 0.5. Assume initial values of weights and biases as given in the figure below. Show weight and bias updates by using back-propagation algorithm. Assume that sigmoid activation function is used in the network. </a:t>
            </a:r>
            <a:endParaRPr lang="en-IN" sz="1800" dirty="0"/>
          </a:p>
        </p:txBody>
      </p:sp>
      <p:sp>
        <p:nvSpPr>
          <p:cNvPr id="4" name="Slide Number Placeholder 3">
            <a:extLst>
              <a:ext uri="{FF2B5EF4-FFF2-40B4-BE49-F238E27FC236}">
                <a16:creationId xmlns:a16="http://schemas.microsoft.com/office/drawing/2014/main" id="{22CB1641-9859-06F5-3FAC-D09F6E247652}"/>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6" name="Picture 5">
            <a:extLst>
              <a:ext uri="{FF2B5EF4-FFF2-40B4-BE49-F238E27FC236}">
                <a16:creationId xmlns:a16="http://schemas.microsoft.com/office/drawing/2014/main" id="{4CC124D5-048A-B560-880A-0C884855A8F9}"/>
              </a:ext>
            </a:extLst>
          </p:cNvPr>
          <p:cNvPicPr>
            <a:picLocks noChangeAspect="1"/>
          </p:cNvPicPr>
          <p:nvPr/>
        </p:nvPicPr>
        <p:blipFill>
          <a:blip r:embed="rId2"/>
          <a:stretch>
            <a:fillRect/>
          </a:stretch>
        </p:blipFill>
        <p:spPr>
          <a:xfrm>
            <a:off x="2514601" y="2828438"/>
            <a:ext cx="4658375" cy="3496163"/>
          </a:xfrm>
          <a:prstGeom prst="rect">
            <a:avLst/>
          </a:prstGeom>
        </p:spPr>
      </p:pic>
    </p:spTree>
    <p:extLst>
      <p:ext uri="{BB962C8B-B14F-4D97-AF65-F5344CB8AC3E}">
        <p14:creationId xmlns:p14="http://schemas.microsoft.com/office/powerpoint/2010/main" val="2010930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5A706-1F26-5F1C-E8D7-2B9C4D27E255}"/>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F536822B-E29B-B587-0BE6-FE63A13F05E8}"/>
              </a:ext>
            </a:extLst>
          </p:cNvPr>
          <p:cNvSpPr>
            <a:spLocks noGrp="1"/>
          </p:cNvSpPr>
          <p:nvPr>
            <p:ph idx="1"/>
          </p:nvPr>
        </p:nvSpPr>
        <p:spPr/>
        <p:txBody>
          <a:bodyPr/>
          <a:lstStyle/>
          <a:p>
            <a:pPr marL="0" indent="0">
              <a:buNone/>
            </a:pPr>
            <a:r>
              <a:rPr lang="en-US" sz="1600" dirty="0"/>
              <a:t>Apply the backpropagation algorithm for the network given below to update the weights w1- w8 to obtain the expected output with the learning rate 0.6. Use sigmoid activation function to train the network. In the network, i1, i2 are input layer neurons, h1 and h2 in hidden layer neurons and o1 and o2 are output layer neurons.</a:t>
            </a:r>
            <a:endParaRPr lang="en-IN" sz="1600" dirty="0"/>
          </a:p>
        </p:txBody>
      </p:sp>
      <p:sp>
        <p:nvSpPr>
          <p:cNvPr id="4" name="Slide Number Placeholder 3">
            <a:extLst>
              <a:ext uri="{FF2B5EF4-FFF2-40B4-BE49-F238E27FC236}">
                <a16:creationId xmlns:a16="http://schemas.microsoft.com/office/drawing/2014/main" id="{80A0E59C-0E7E-84B2-A8AF-4F268762E37C}"/>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6" name="Picture 5">
            <a:extLst>
              <a:ext uri="{FF2B5EF4-FFF2-40B4-BE49-F238E27FC236}">
                <a16:creationId xmlns:a16="http://schemas.microsoft.com/office/drawing/2014/main" id="{3CD7E97C-F4B8-0CC7-97AB-FD506F27F9E6}"/>
              </a:ext>
            </a:extLst>
          </p:cNvPr>
          <p:cNvPicPr>
            <a:picLocks noChangeAspect="1"/>
          </p:cNvPicPr>
          <p:nvPr/>
        </p:nvPicPr>
        <p:blipFill>
          <a:blip r:embed="rId2"/>
          <a:stretch>
            <a:fillRect/>
          </a:stretch>
        </p:blipFill>
        <p:spPr>
          <a:xfrm>
            <a:off x="3429000" y="2356925"/>
            <a:ext cx="4210404" cy="3854261"/>
          </a:xfrm>
          <a:prstGeom prst="rect">
            <a:avLst/>
          </a:prstGeom>
        </p:spPr>
      </p:pic>
    </p:spTree>
    <p:extLst>
      <p:ext uri="{BB962C8B-B14F-4D97-AF65-F5344CB8AC3E}">
        <p14:creationId xmlns:p14="http://schemas.microsoft.com/office/powerpoint/2010/main" val="3687414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419F-25A4-7CE0-0E6F-02780EA7CE11}"/>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68A58B03-6B9B-7BE0-C1FF-A31A8C0FEFEF}"/>
              </a:ext>
            </a:extLst>
          </p:cNvPr>
          <p:cNvSpPr>
            <a:spLocks noGrp="1"/>
          </p:cNvSpPr>
          <p:nvPr>
            <p:ph idx="1"/>
          </p:nvPr>
        </p:nvSpPr>
        <p:spPr/>
        <p:txBody>
          <a:bodyPr/>
          <a:lstStyle/>
          <a:p>
            <a:pPr marL="0" indent="0" algn="just">
              <a:buNone/>
            </a:pPr>
            <a:r>
              <a:rPr lang="en-US" sz="1800" dirty="0"/>
              <a:t>Assume that the neurons have the sigmoid activation function to perform forward and backward pass on the network. And also assume that the actual output of y is 0.5 and the learning rate is 1. Show weight updates by using back-propagation algorithm.</a:t>
            </a:r>
            <a:endParaRPr lang="en-IN" sz="1800" dirty="0"/>
          </a:p>
        </p:txBody>
      </p:sp>
      <p:sp>
        <p:nvSpPr>
          <p:cNvPr id="4" name="Slide Number Placeholder 3">
            <a:extLst>
              <a:ext uri="{FF2B5EF4-FFF2-40B4-BE49-F238E27FC236}">
                <a16:creationId xmlns:a16="http://schemas.microsoft.com/office/drawing/2014/main" id="{48D1CC2C-0945-A9FD-7AA5-8E8BA7F55A1B}"/>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6" name="Picture 5">
            <a:extLst>
              <a:ext uri="{FF2B5EF4-FFF2-40B4-BE49-F238E27FC236}">
                <a16:creationId xmlns:a16="http://schemas.microsoft.com/office/drawing/2014/main" id="{5543EC0D-EE7B-529D-24FB-17D9D9279856}"/>
              </a:ext>
            </a:extLst>
          </p:cNvPr>
          <p:cNvPicPr>
            <a:picLocks noChangeAspect="1"/>
          </p:cNvPicPr>
          <p:nvPr/>
        </p:nvPicPr>
        <p:blipFill>
          <a:blip r:embed="rId2"/>
          <a:stretch>
            <a:fillRect/>
          </a:stretch>
        </p:blipFill>
        <p:spPr>
          <a:xfrm>
            <a:off x="2196202" y="2500183"/>
            <a:ext cx="6118498" cy="2910017"/>
          </a:xfrm>
          <a:prstGeom prst="rect">
            <a:avLst/>
          </a:prstGeom>
        </p:spPr>
      </p:pic>
    </p:spTree>
    <p:extLst>
      <p:ext uri="{BB962C8B-B14F-4D97-AF65-F5344CB8AC3E}">
        <p14:creationId xmlns:p14="http://schemas.microsoft.com/office/powerpoint/2010/main" val="4025377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59BB-56AB-A5B6-2DBE-B6601AD81034}"/>
              </a:ext>
            </a:extLst>
          </p:cNvPr>
          <p:cNvSpPr>
            <a:spLocks noGrp="1"/>
          </p:cNvSpPr>
          <p:nvPr>
            <p:ph type="title"/>
          </p:nvPr>
        </p:nvSpPr>
        <p:spPr/>
        <p:txBody>
          <a:bodyPr/>
          <a:lstStyle/>
          <a:p>
            <a:r>
              <a:rPr lang="en-US" dirty="0" err="1"/>
              <a:t>Question:Back</a:t>
            </a:r>
            <a:r>
              <a:rPr lang="en-US" dirty="0"/>
              <a:t> Propagation algorithm</a:t>
            </a:r>
            <a:endParaRPr lang="en-IN" dirty="0"/>
          </a:p>
        </p:txBody>
      </p:sp>
      <p:sp>
        <p:nvSpPr>
          <p:cNvPr id="3" name="Content Placeholder 2">
            <a:extLst>
              <a:ext uri="{FF2B5EF4-FFF2-40B4-BE49-F238E27FC236}">
                <a16:creationId xmlns:a16="http://schemas.microsoft.com/office/drawing/2014/main" id="{DCEEF520-93FD-299D-915E-1940D6C2CDC0}"/>
              </a:ext>
            </a:extLst>
          </p:cNvPr>
          <p:cNvSpPr>
            <a:spLocks noGrp="1"/>
          </p:cNvSpPr>
          <p:nvPr>
            <p:ph idx="1"/>
          </p:nvPr>
        </p:nvSpPr>
        <p:spPr/>
        <p:txBody>
          <a:bodyPr/>
          <a:lstStyle/>
          <a:p>
            <a:r>
              <a:rPr lang="en-US" sz="1600" dirty="0"/>
              <a:t>Consider the network given below apply the backpropagation algorithm to update the weights w1- w8 to obtain the output expected output with the learning rate 0.6. Use sigmoid activation function to train the network.</a:t>
            </a:r>
            <a:endParaRPr lang="en-IN" sz="1600" dirty="0"/>
          </a:p>
          <a:p>
            <a:endParaRPr lang="en-IN" sz="1600" dirty="0"/>
          </a:p>
        </p:txBody>
      </p:sp>
      <p:sp>
        <p:nvSpPr>
          <p:cNvPr id="4" name="Slide Number Placeholder 3">
            <a:extLst>
              <a:ext uri="{FF2B5EF4-FFF2-40B4-BE49-F238E27FC236}">
                <a16:creationId xmlns:a16="http://schemas.microsoft.com/office/drawing/2014/main" id="{472748C3-34D8-9DD3-F5C7-CAD6560E0C2F}"/>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5" name="Picture 4">
            <a:extLst>
              <a:ext uri="{FF2B5EF4-FFF2-40B4-BE49-F238E27FC236}">
                <a16:creationId xmlns:a16="http://schemas.microsoft.com/office/drawing/2014/main" id="{E31BFA2E-C125-C3E0-500F-0C92BD278579}"/>
              </a:ext>
            </a:extLst>
          </p:cNvPr>
          <p:cNvPicPr>
            <a:picLocks noChangeAspect="1"/>
          </p:cNvPicPr>
          <p:nvPr/>
        </p:nvPicPr>
        <p:blipFill>
          <a:blip r:embed="rId2"/>
          <a:stretch>
            <a:fillRect/>
          </a:stretch>
        </p:blipFill>
        <p:spPr>
          <a:xfrm>
            <a:off x="2819401" y="2153371"/>
            <a:ext cx="5865825" cy="3160859"/>
          </a:xfrm>
          <a:prstGeom prst="rect">
            <a:avLst/>
          </a:prstGeom>
        </p:spPr>
      </p:pic>
    </p:spTree>
    <p:extLst>
      <p:ext uri="{BB962C8B-B14F-4D97-AF65-F5344CB8AC3E}">
        <p14:creationId xmlns:p14="http://schemas.microsoft.com/office/powerpoint/2010/main" val="3794258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sz="2800" dirty="0"/>
              <a:t>Hessian and its role in online learning</a:t>
            </a:r>
            <a:endParaRPr lang="en-US" altLang="en-US" sz="28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45</a:t>
            </a:fld>
            <a:endParaRPr lang="en-US"/>
          </a:p>
        </p:txBody>
      </p:sp>
      <p:sp>
        <p:nvSpPr>
          <p:cNvPr id="2" name="Subtitle 1">
            <a:extLst>
              <a:ext uri="{FF2B5EF4-FFF2-40B4-BE49-F238E27FC236}">
                <a16:creationId xmlns:a16="http://schemas.microsoft.com/office/drawing/2014/main" id="{1C5B143F-765D-4BC7-90A0-301C01306B1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8786226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00CB0-0865-4A9F-8CFF-ABAA5AA9B209}"/>
              </a:ext>
            </a:extLst>
          </p:cNvPr>
          <p:cNvSpPr>
            <a:spLocks noGrp="1"/>
          </p:cNvSpPr>
          <p:nvPr>
            <p:ph type="title"/>
          </p:nvPr>
        </p:nvSpPr>
        <p:spPr/>
        <p:txBody>
          <a:bodyPr/>
          <a:lstStyle/>
          <a:p>
            <a:r>
              <a:rPr lang="en-US" dirty="0"/>
              <a:t>Why Do We Need the Hessian?</a:t>
            </a:r>
            <a:endParaRPr lang="en-IN" dirty="0"/>
          </a:p>
        </p:txBody>
      </p:sp>
      <p:sp>
        <p:nvSpPr>
          <p:cNvPr id="3" name="Content Placeholder 2">
            <a:extLst>
              <a:ext uri="{FF2B5EF4-FFF2-40B4-BE49-F238E27FC236}">
                <a16:creationId xmlns:a16="http://schemas.microsoft.com/office/drawing/2014/main" id="{47394F0F-F0E7-4B47-9E96-58027610295D}"/>
              </a:ext>
            </a:extLst>
          </p:cNvPr>
          <p:cNvSpPr>
            <a:spLocks noGrp="1"/>
          </p:cNvSpPr>
          <p:nvPr>
            <p:ph idx="1"/>
          </p:nvPr>
        </p:nvSpPr>
        <p:spPr/>
        <p:txBody>
          <a:bodyPr/>
          <a:lstStyle/>
          <a:p>
            <a:pPr algn="just"/>
            <a:r>
              <a:rPr lang="en-US" sz="2000" dirty="0"/>
              <a:t>So far, in backpropagation learning, we have focused on:</a:t>
            </a:r>
          </a:p>
          <a:p>
            <a:pPr algn="just">
              <a:buFont typeface="Arial" panose="020B0604020202020204" pitchFamily="34" charset="0"/>
              <a:buChar char="•"/>
            </a:pPr>
            <a:r>
              <a:rPr lang="en-US" sz="2000" b="1" dirty="0"/>
              <a:t>First-order derivative</a:t>
            </a:r>
            <a:r>
              <a:rPr lang="en-US" sz="2000" dirty="0"/>
              <a:t> → Gradient of the error surface</a:t>
            </a:r>
          </a:p>
          <a:p>
            <a:pPr algn="just">
              <a:buFont typeface="Arial" panose="020B0604020202020204" pitchFamily="34" charset="0"/>
              <a:buChar char="•"/>
            </a:pPr>
            <a:r>
              <a:rPr lang="en-US" sz="2000" dirty="0"/>
              <a:t>Used to decide the </a:t>
            </a:r>
            <a:r>
              <a:rPr lang="en-US" sz="2000" b="1" dirty="0"/>
              <a:t>direction of weight update</a:t>
            </a:r>
            <a:endParaRPr lang="en-US" sz="2000" dirty="0"/>
          </a:p>
          <a:p>
            <a:pPr algn="just"/>
            <a:endParaRPr lang="en-US" sz="2000" dirty="0"/>
          </a:p>
          <a:p>
            <a:pPr algn="just"/>
            <a:r>
              <a:rPr lang="en-US" sz="2000" dirty="0"/>
              <a:t>However, we often observe that:</a:t>
            </a:r>
          </a:p>
          <a:p>
            <a:pPr algn="just">
              <a:buFont typeface="Arial" panose="020B0604020202020204" pitchFamily="34" charset="0"/>
              <a:buChar char="•"/>
            </a:pPr>
            <a:r>
              <a:rPr lang="en-US" sz="2000" dirty="0"/>
              <a:t>Learning is fast in some cases and very slow in others</a:t>
            </a:r>
          </a:p>
          <a:p>
            <a:pPr algn="just">
              <a:buFont typeface="Arial" panose="020B0604020202020204" pitchFamily="34" charset="0"/>
              <a:buChar char="•"/>
            </a:pPr>
            <a:r>
              <a:rPr lang="en-US" sz="2000" dirty="0"/>
              <a:t>Learning may oscillate or become unstable</a:t>
            </a:r>
          </a:p>
          <a:p>
            <a:pPr algn="just">
              <a:buFont typeface="Arial" panose="020B0604020202020204" pitchFamily="34" charset="0"/>
              <a:buChar char="•"/>
            </a:pPr>
            <a:r>
              <a:rPr lang="en-US" sz="2000" dirty="0"/>
              <a:t>Lower layers learn slowly compared to upper layers</a:t>
            </a:r>
          </a:p>
          <a:p>
            <a:pPr algn="just"/>
            <a:endParaRPr lang="en-US" sz="2000" dirty="0"/>
          </a:p>
          <a:p>
            <a:pPr algn="just"/>
            <a:r>
              <a:rPr lang="en-US" sz="2000" dirty="0"/>
              <a:t>These behaviors </a:t>
            </a:r>
            <a:r>
              <a:rPr lang="en-US" sz="2000" b="1" dirty="0"/>
              <a:t>cannot be explained by gradients alone</a:t>
            </a:r>
            <a:r>
              <a:rPr lang="en-US" sz="2000" dirty="0"/>
              <a:t>.</a:t>
            </a:r>
            <a:br>
              <a:rPr lang="en-US" sz="2000" dirty="0"/>
            </a:br>
            <a:r>
              <a:rPr lang="en-US" sz="2000" dirty="0"/>
              <a:t>To understand them, we must study the </a:t>
            </a:r>
            <a:r>
              <a:rPr lang="en-US" sz="2000" b="1" dirty="0"/>
              <a:t>second-order structure</a:t>
            </a:r>
            <a:r>
              <a:rPr lang="en-US" sz="2000" dirty="0"/>
              <a:t> of the error surface — </a:t>
            </a:r>
            <a:r>
              <a:rPr lang="en-US" sz="2000" b="1" dirty="0"/>
              <a:t>the Hessian matrix</a:t>
            </a:r>
            <a:r>
              <a:rPr lang="en-US" sz="2000" dirty="0"/>
              <a:t>.</a:t>
            </a:r>
          </a:p>
          <a:p>
            <a:endParaRPr lang="en-IN" sz="2000" dirty="0"/>
          </a:p>
        </p:txBody>
      </p:sp>
      <p:sp>
        <p:nvSpPr>
          <p:cNvPr id="4" name="Slide Number Placeholder 3">
            <a:extLst>
              <a:ext uri="{FF2B5EF4-FFF2-40B4-BE49-F238E27FC236}">
                <a16:creationId xmlns:a16="http://schemas.microsoft.com/office/drawing/2014/main" id="{C1251D40-A157-4485-A8C9-9FD55ED4A012}"/>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275107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CE19-10E3-4C40-93A5-0C0C0C61CD7C}"/>
              </a:ext>
            </a:extLst>
          </p:cNvPr>
          <p:cNvSpPr>
            <a:spLocks noGrp="1"/>
          </p:cNvSpPr>
          <p:nvPr>
            <p:ph type="title"/>
          </p:nvPr>
        </p:nvSpPr>
        <p:spPr/>
        <p:txBody>
          <a:bodyPr/>
          <a:lstStyle/>
          <a:p>
            <a:r>
              <a:rPr lang="en-US" dirty="0"/>
              <a:t>Definition of the Hessian Matrix</a:t>
            </a:r>
            <a:endParaRPr lang="en-IN" dirty="0"/>
          </a:p>
        </p:txBody>
      </p:sp>
      <p:sp>
        <p:nvSpPr>
          <p:cNvPr id="3" name="Content Placeholder 2">
            <a:extLst>
              <a:ext uri="{FF2B5EF4-FFF2-40B4-BE49-F238E27FC236}">
                <a16:creationId xmlns:a16="http://schemas.microsoft.com/office/drawing/2014/main" id="{24FF6CEF-8121-403B-9469-65C43855CB4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7A7D7A8-011E-4CD5-87CB-736A980EA730}"/>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6" name="Picture 5">
            <a:extLst>
              <a:ext uri="{FF2B5EF4-FFF2-40B4-BE49-F238E27FC236}">
                <a16:creationId xmlns:a16="http://schemas.microsoft.com/office/drawing/2014/main" id="{8E9AB79B-184E-45A4-8E83-0501F0CCADCD}"/>
              </a:ext>
            </a:extLst>
          </p:cNvPr>
          <p:cNvPicPr>
            <a:picLocks noChangeAspect="1"/>
          </p:cNvPicPr>
          <p:nvPr/>
        </p:nvPicPr>
        <p:blipFill>
          <a:blip r:embed="rId2"/>
          <a:stretch>
            <a:fillRect/>
          </a:stretch>
        </p:blipFill>
        <p:spPr>
          <a:xfrm>
            <a:off x="755651" y="1295400"/>
            <a:ext cx="5826785" cy="4267200"/>
          </a:xfrm>
          <a:prstGeom prst="rect">
            <a:avLst/>
          </a:prstGeom>
        </p:spPr>
      </p:pic>
      <p:sp>
        <p:nvSpPr>
          <p:cNvPr id="7" name="TextBox 6">
            <a:extLst>
              <a:ext uri="{FF2B5EF4-FFF2-40B4-BE49-F238E27FC236}">
                <a16:creationId xmlns:a16="http://schemas.microsoft.com/office/drawing/2014/main" id="{17A9D68F-7B68-4E12-A334-0A594EECBBC4}"/>
              </a:ext>
            </a:extLst>
          </p:cNvPr>
          <p:cNvSpPr txBox="1"/>
          <p:nvPr/>
        </p:nvSpPr>
        <p:spPr>
          <a:xfrm>
            <a:off x="6684391" y="5602069"/>
            <a:ext cx="4785284" cy="646331"/>
          </a:xfrm>
          <a:prstGeom prst="rect">
            <a:avLst/>
          </a:prstGeom>
          <a:noFill/>
        </p:spPr>
        <p:txBody>
          <a:bodyPr wrap="none" rtlCol="0">
            <a:spAutoFit/>
          </a:bodyPr>
          <a:lstStyle/>
          <a:p>
            <a:r>
              <a:rPr lang="en-US" dirty="0"/>
              <a:t>Gradient tells us </a:t>
            </a:r>
            <a:r>
              <a:rPr lang="en-US" i="1" dirty="0"/>
              <a:t>where to go</a:t>
            </a:r>
            <a:r>
              <a:rPr lang="en-US" dirty="0"/>
              <a:t>;</a:t>
            </a:r>
            <a:br>
              <a:rPr lang="en-US" dirty="0"/>
            </a:br>
            <a:r>
              <a:rPr lang="en-US" dirty="0"/>
              <a:t>Hessian tells us </a:t>
            </a:r>
            <a:r>
              <a:rPr lang="en-US" i="1" dirty="0"/>
              <a:t>how the surface bends</a:t>
            </a:r>
            <a:r>
              <a:rPr lang="en-US" dirty="0"/>
              <a:t>.</a:t>
            </a:r>
            <a:endParaRPr lang="en-IN" dirty="0"/>
          </a:p>
        </p:txBody>
      </p:sp>
      <p:pic>
        <p:nvPicPr>
          <p:cNvPr id="9" name="Picture 8">
            <a:extLst>
              <a:ext uri="{FF2B5EF4-FFF2-40B4-BE49-F238E27FC236}">
                <a16:creationId xmlns:a16="http://schemas.microsoft.com/office/drawing/2014/main" id="{5173DDE9-0889-4DA2-AD25-91941FA91332}"/>
              </a:ext>
            </a:extLst>
          </p:cNvPr>
          <p:cNvPicPr>
            <a:picLocks noChangeAspect="1"/>
          </p:cNvPicPr>
          <p:nvPr/>
        </p:nvPicPr>
        <p:blipFill>
          <a:blip r:embed="rId3"/>
          <a:stretch>
            <a:fillRect/>
          </a:stretch>
        </p:blipFill>
        <p:spPr>
          <a:xfrm>
            <a:off x="6684391" y="2966999"/>
            <a:ext cx="3672569" cy="1533601"/>
          </a:xfrm>
          <a:prstGeom prst="rect">
            <a:avLst/>
          </a:prstGeom>
        </p:spPr>
      </p:pic>
    </p:spTree>
    <p:extLst>
      <p:ext uri="{BB962C8B-B14F-4D97-AF65-F5344CB8AC3E}">
        <p14:creationId xmlns:p14="http://schemas.microsoft.com/office/powerpoint/2010/main" val="2192792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08F4-AF10-42DE-BA58-713C9A34CDC8}"/>
              </a:ext>
            </a:extLst>
          </p:cNvPr>
          <p:cNvSpPr>
            <a:spLocks noGrp="1"/>
          </p:cNvSpPr>
          <p:nvPr>
            <p:ph type="title"/>
          </p:nvPr>
        </p:nvSpPr>
        <p:spPr/>
        <p:txBody>
          <a:bodyPr/>
          <a:lstStyle/>
          <a:p>
            <a:r>
              <a:rPr lang="en-US" dirty="0"/>
              <a:t>Role of the Hessian in Neural Network Learning</a:t>
            </a:r>
            <a:endParaRPr lang="en-IN" dirty="0"/>
          </a:p>
        </p:txBody>
      </p:sp>
      <p:sp>
        <p:nvSpPr>
          <p:cNvPr id="3" name="Content Placeholder 2">
            <a:extLst>
              <a:ext uri="{FF2B5EF4-FFF2-40B4-BE49-F238E27FC236}">
                <a16:creationId xmlns:a16="http://schemas.microsoft.com/office/drawing/2014/main" id="{9C966481-D9C2-45CD-832E-C13F6CF87027}"/>
              </a:ext>
            </a:extLst>
          </p:cNvPr>
          <p:cNvSpPr>
            <a:spLocks noGrp="1"/>
          </p:cNvSpPr>
          <p:nvPr>
            <p:ph idx="1"/>
          </p:nvPr>
        </p:nvSpPr>
        <p:spPr/>
        <p:txBody>
          <a:bodyPr/>
          <a:lstStyle/>
          <a:p>
            <a:r>
              <a:rPr lang="en-US" sz="2400" dirty="0"/>
              <a:t>The Hessian plays an important role in neural networks, especially in:</a:t>
            </a:r>
          </a:p>
          <a:p>
            <a:pPr>
              <a:buFont typeface="Arial" panose="020B0604020202020204" pitchFamily="34" charset="0"/>
              <a:buChar char="•"/>
            </a:pPr>
            <a:r>
              <a:rPr lang="en-US" sz="2400" b="1" dirty="0"/>
              <a:t>Backpropagation learning dynamics</a:t>
            </a:r>
            <a:endParaRPr lang="en-US" sz="2400" dirty="0"/>
          </a:p>
          <a:p>
            <a:pPr>
              <a:buFont typeface="Arial" panose="020B0604020202020204" pitchFamily="34" charset="0"/>
              <a:buChar char="•"/>
            </a:pPr>
            <a:r>
              <a:rPr lang="en-US" sz="2400" b="1" dirty="0"/>
              <a:t>Stability of learning</a:t>
            </a:r>
            <a:endParaRPr lang="en-US" sz="2400" dirty="0"/>
          </a:p>
          <a:p>
            <a:pPr>
              <a:buFont typeface="Arial" panose="020B0604020202020204" pitchFamily="34" charset="0"/>
              <a:buChar char="•"/>
            </a:pPr>
            <a:r>
              <a:rPr lang="en-US" sz="2400" b="1" dirty="0"/>
              <a:t>Speed of convergence</a:t>
            </a:r>
            <a:endParaRPr lang="en-US" sz="2400" dirty="0"/>
          </a:p>
          <a:p>
            <a:endParaRPr lang="en-US" sz="2400" dirty="0"/>
          </a:p>
          <a:p>
            <a:r>
              <a:rPr lang="en-US" sz="2400" dirty="0"/>
              <a:t>The </a:t>
            </a:r>
            <a:r>
              <a:rPr lang="en-US" sz="2400" b="1" dirty="0" err="1"/>
              <a:t>eigenstructure</a:t>
            </a:r>
            <a:r>
              <a:rPr lang="en-US" sz="2400" b="1" dirty="0"/>
              <a:t> of the Hessian</a:t>
            </a:r>
            <a:r>
              <a:rPr lang="en-US" sz="2400" dirty="0"/>
              <a:t> strongly influences learning behavior in backpropagation.</a:t>
            </a:r>
          </a:p>
          <a:p>
            <a:endParaRPr lang="en-IN" sz="2400" dirty="0"/>
          </a:p>
          <a:p>
            <a:endParaRPr lang="en-IN" sz="2400" dirty="0"/>
          </a:p>
        </p:txBody>
      </p:sp>
      <p:sp>
        <p:nvSpPr>
          <p:cNvPr id="4" name="Slide Number Placeholder 3">
            <a:extLst>
              <a:ext uri="{FF2B5EF4-FFF2-40B4-BE49-F238E27FC236}">
                <a16:creationId xmlns:a16="http://schemas.microsoft.com/office/drawing/2014/main" id="{F45D80C7-D8F5-4EEB-BCB4-C9534B8D3A47}"/>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1797801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6E4B-5727-4D38-A27A-9A46C4F9831F}"/>
              </a:ext>
            </a:extLst>
          </p:cNvPr>
          <p:cNvSpPr>
            <a:spLocks noGrp="1"/>
          </p:cNvSpPr>
          <p:nvPr>
            <p:ph type="title"/>
          </p:nvPr>
        </p:nvSpPr>
        <p:spPr/>
        <p:txBody>
          <a:bodyPr/>
          <a:lstStyle/>
          <a:p>
            <a:r>
              <a:rPr lang="en-IN" dirty="0"/>
              <a:t>Eigenvalues of the Hessian</a:t>
            </a:r>
          </a:p>
        </p:txBody>
      </p:sp>
      <p:sp>
        <p:nvSpPr>
          <p:cNvPr id="3" name="Content Placeholder 2">
            <a:extLst>
              <a:ext uri="{FF2B5EF4-FFF2-40B4-BE49-F238E27FC236}">
                <a16:creationId xmlns:a16="http://schemas.microsoft.com/office/drawing/2014/main" id="{12E7D816-B9F3-40B1-AF4F-A375E5E3942C}"/>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2DAB849-8C0E-42BD-B623-84D395EBA682}"/>
              </a:ext>
            </a:extLst>
          </p:cNvPr>
          <p:cNvSpPr>
            <a:spLocks noGrp="1"/>
          </p:cNvSpPr>
          <p:nvPr>
            <p:ph type="sldNum" sz="quarter" idx="12"/>
          </p:nvPr>
        </p:nvSpPr>
        <p:spPr/>
        <p:txBody>
          <a:bodyPr/>
          <a:lstStyle/>
          <a:p>
            <a:fld id="{BB2CE0DE-867F-455F-B20B-96D381B4AB71}" type="slidenum">
              <a:rPr lang="en-US" smtClean="0"/>
              <a:t>49</a:t>
            </a:fld>
            <a:endParaRPr lang="en-US"/>
          </a:p>
        </p:txBody>
      </p:sp>
      <p:pic>
        <p:nvPicPr>
          <p:cNvPr id="6" name="Picture 5">
            <a:extLst>
              <a:ext uri="{FF2B5EF4-FFF2-40B4-BE49-F238E27FC236}">
                <a16:creationId xmlns:a16="http://schemas.microsoft.com/office/drawing/2014/main" id="{E623A765-5F2A-4108-8E25-3BBC5F33FB5F}"/>
              </a:ext>
            </a:extLst>
          </p:cNvPr>
          <p:cNvPicPr>
            <a:picLocks noChangeAspect="1"/>
          </p:cNvPicPr>
          <p:nvPr/>
        </p:nvPicPr>
        <p:blipFill>
          <a:blip r:embed="rId2"/>
          <a:stretch>
            <a:fillRect/>
          </a:stretch>
        </p:blipFill>
        <p:spPr>
          <a:xfrm>
            <a:off x="766233" y="1066798"/>
            <a:ext cx="10668000" cy="2710591"/>
          </a:xfrm>
          <a:prstGeom prst="rect">
            <a:avLst/>
          </a:prstGeom>
        </p:spPr>
      </p:pic>
    </p:spTree>
    <p:extLst>
      <p:ext uri="{BB962C8B-B14F-4D97-AF65-F5344CB8AC3E}">
        <p14:creationId xmlns:p14="http://schemas.microsoft.com/office/powerpoint/2010/main" val="29067854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8A205-5CCF-47A8-BCA0-D62714BB462F}"/>
              </a:ext>
            </a:extLst>
          </p:cNvPr>
          <p:cNvSpPr>
            <a:spLocks noGrp="1"/>
          </p:cNvSpPr>
          <p:nvPr>
            <p:ph type="title"/>
          </p:nvPr>
        </p:nvSpPr>
        <p:spPr/>
        <p:txBody>
          <a:bodyPr/>
          <a:lstStyle/>
          <a:p>
            <a:r>
              <a:rPr lang="en-IN" dirty="0"/>
              <a:t>Typical Eigenvalue Composition in MLPs</a:t>
            </a:r>
          </a:p>
        </p:txBody>
      </p:sp>
      <p:sp>
        <p:nvSpPr>
          <p:cNvPr id="3" name="Content Placeholder 2">
            <a:extLst>
              <a:ext uri="{FF2B5EF4-FFF2-40B4-BE49-F238E27FC236}">
                <a16:creationId xmlns:a16="http://schemas.microsoft.com/office/drawing/2014/main" id="{7914EF51-7DF4-4DC4-BDDF-B0453775DD3A}"/>
              </a:ext>
            </a:extLst>
          </p:cNvPr>
          <p:cNvSpPr>
            <a:spLocks noGrp="1"/>
          </p:cNvSpPr>
          <p:nvPr>
            <p:ph idx="1"/>
          </p:nvPr>
        </p:nvSpPr>
        <p:spPr/>
        <p:txBody>
          <a:bodyPr/>
          <a:lstStyle/>
          <a:p>
            <a:pPr marL="0" indent="0">
              <a:buNone/>
            </a:pPr>
            <a:r>
              <a:rPr lang="en-US" dirty="0"/>
              <a:t>For a multilayer perceptron trained using backpropagation, experiments show that the Hessian has:</a:t>
            </a:r>
          </a:p>
          <a:p>
            <a:pPr>
              <a:buFont typeface="Arial" panose="020B0604020202020204" pitchFamily="34" charset="0"/>
              <a:buChar char="•"/>
            </a:pPr>
            <a:r>
              <a:rPr lang="en-US" dirty="0"/>
              <a:t>a </a:t>
            </a:r>
            <a:r>
              <a:rPr lang="en-US" b="1" dirty="0"/>
              <a:t>small number of small eigenvalues</a:t>
            </a:r>
            <a:endParaRPr lang="en-US" dirty="0"/>
          </a:p>
          <a:p>
            <a:pPr>
              <a:buFont typeface="Arial" panose="020B0604020202020204" pitchFamily="34" charset="0"/>
              <a:buChar char="•"/>
            </a:pPr>
            <a:r>
              <a:rPr lang="en-US" dirty="0"/>
              <a:t>a </a:t>
            </a:r>
            <a:r>
              <a:rPr lang="en-US" b="1" dirty="0"/>
              <a:t>large number of medium-sized eigenvalues</a:t>
            </a:r>
            <a:endParaRPr lang="en-US" dirty="0"/>
          </a:p>
          <a:p>
            <a:pPr>
              <a:buFont typeface="Arial" panose="020B0604020202020204" pitchFamily="34" charset="0"/>
              <a:buChar char="•"/>
            </a:pPr>
            <a:r>
              <a:rPr lang="en-US" dirty="0"/>
              <a:t>a </a:t>
            </a:r>
            <a:r>
              <a:rPr lang="en-US" b="1" dirty="0"/>
              <a:t>small number of large eigenvalues</a:t>
            </a:r>
            <a:endParaRPr lang="en-US" dirty="0"/>
          </a:p>
          <a:p>
            <a:endParaRPr lang="en-IN" dirty="0"/>
          </a:p>
        </p:txBody>
      </p:sp>
      <p:sp>
        <p:nvSpPr>
          <p:cNvPr id="4" name="Slide Number Placeholder 3">
            <a:extLst>
              <a:ext uri="{FF2B5EF4-FFF2-40B4-BE49-F238E27FC236}">
                <a16:creationId xmlns:a16="http://schemas.microsoft.com/office/drawing/2014/main" id="{462523B1-F596-4E14-8CDD-8D2AED514746}"/>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1072652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8F9B-2120-4CB9-A8B3-8E258B6D5BF8}"/>
              </a:ext>
            </a:extLst>
          </p:cNvPr>
          <p:cNvSpPr>
            <a:spLocks noGrp="1"/>
          </p:cNvSpPr>
          <p:nvPr>
            <p:ph type="title"/>
          </p:nvPr>
        </p:nvSpPr>
        <p:spPr/>
        <p:txBody>
          <a:bodyPr/>
          <a:lstStyle/>
          <a:p>
            <a:r>
              <a:rPr lang="en-IN" dirty="0"/>
              <a:t>Factors Affecting Hessian Eigenvalues</a:t>
            </a:r>
          </a:p>
        </p:txBody>
      </p:sp>
      <p:sp>
        <p:nvSpPr>
          <p:cNvPr id="3" name="Content Placeholder 2">
            <a:extLst>
              <a:ext uri="{FF2B5EF4-FFF2-40B4-BE49-F238E27FC236}">
                <a16:creationId xmlns:a16="http://schemas.microsoft.com/office/drawing/2014/main" id="{7506F9DA-EF4F-44D4-BEB8-86FA2810A076}"/>
              </a:ext>
            </a:extLst>
          </p:cNvPr>
          <p:cNvSpPr>
            <a:spLocks noGrp="1"/>
          </p:cNvSpPr>
          <p:nvPr>
            <p:ph idx="1"/>
          </p:nvPr>
        </p:nvSpPr>
        <p:spPr/>
        <p:txBody>
          <a:bodyPr/>
          <a:lstStyle/>
          <a:p>
            <a:pPr marL="0" indent="0">
              <a:buNone/>
            </a:pPr>
            <a:r>
              <a:rPr lang="en-IN" sz="1800" b="1" dirty="0"/>
              <a:t>(</a:t>
            </a:r>
            <a:r>
              <a:rPr lang="en-IN" sz="1800" b="1" dirty="0" err="1"/>
              <a:t>i</a:t>
            </a:r>
            <a:r>
              <a:rPr lang="en-IN" sz="1800" b="1" dirty="0"/>
              <a:t>) Nonzero-Mean Input or Output Signals</a:t>
            </a:r>
          </a:p>
          <a:p>
            <a:pPr>
              <a:buFont typeface="Arial" panose="020B0604020202020204" pitchFamily="34" charset="0"/>
              <a:buChar char="•"/>
            </a:pPr>
            <a:r>
              <a:rPr lang="en-IN" sz="1800" dirty="0"/>
              <a:t>If inputs or induced neural outputs have </a:t>
            </a:r>
            <a:r>
              <a:rPr lang="en-IN" sz="1800" b="1" dirty="0"/>
              <a:t>nonzero mean</a:t>
            </a:r>
            <a:r>
              <a:rPr lang="en-IN" sz="1800" dirty="0"/>
              <a:t>:</a:t>
            </a:r>
          </a:p>
          <a:p>
            <a:pPr marL="742950" lvl="1" indent="-285750">
              <a:buFont typeface="Arial" panose="020B0604020202020204" pitchFamily="34" charset="0"/>
              <a:buChar char="•"/>
            </a:pPr>
            <a:r>
              <a:rPr lang="en-IN" sz="1600" dirty="0"/>
              <a:t>Hessian eigenvalue spread increases</a:t>
            </a:r>
          </a:p>
          <a:p>
            <a:pPr marL="742950" lvl="1" indent="-285750">
              <a:buFont typeface="Arial" panose="020B0604020202020204" pitchFamily="34" charset="0"/>
              <a:buChar char="•"/>
            </a:pPr>
            <a:r>
              <a:rPr lang="en-IN" sz="1600" dirty="0"/>
              <a:t>Learning becomes slower and more unstable</a:t>
            </a:r>
          </a:p>
          <a:p>
            <a:r>
              <a:rPr lang="en-IN" sz="1800" b="1" dirty="0"/>
              <a:t>Design Principle: </a:t>
            </a:r>
            <a:r>
              <a:rPr lang="en-IN" sz="1800" dirty="0"/>
              <a:t>Avoid nonzero-mean input signals whenever possible.</a:t>
            </a:r>
          </a:p>
          <a:p>
            <a:pPr marL="0" indent="0">
              <a:buNone/>
            </a:pPr>
            <a:r>
              <a:rPr lang="en-US" sz="1800" b="1" dirty="0"/>
              <a:t>(ii) Correlation Between Inputs and Outputs</a:t>
            </a:r>
          </a:p>
          <a:p>
            <a:pPr>
              <a:buFont typeface="Arial" panose="020B0604020202020204" pitchFamily="34" charset="0"/>
              <a:buChar char="•"/>
            </a:pPr>
            <a:r>
              <a:rPr lang="en-US" sz="1800" dirty="0"/>
              <a:t>High correlation between input vector elements</a:t>
            </a:r>
          </a:p>
          <a:p>
            <a:pPr>
              <a:buFont typeface="Arial" panose="020B0604020202020204" pitchFamily="34" charset="0"/>
              <a:buChar char="•"/>
            </a:pPr>
            <a:r>
              <a:rPr lang="en-US" sz="1800" dirty="0"/>
              <a:t>High correlation between neuron outputs</a:t>
            </a:r>
          </a:p>
          <a:p>
            <a:r>
              <a:rPr lang="en-US" sz="1800" dirty="0"/>
              <a:t>Leads to: Ill-conditioned Hessian and Slow convergence</a:t>
            </a:r>
          </a:p>
          <a:p>
            <a:pPr marL="0" indent="0">
              <a:buNone/>
            </a:pPr>
            <a:r>
              <a:rPr lang="en-US" sz="1800" b="1" dirty="0"/>
              <a:t>(iii)Layer-Wise Variations in Second-Order Derivatives</a:t>
            </a:r>
          </a:p>
          <a:p>
            <a:pPr>
              <a:buFont typeface="Arial" panose="020B0604020202020204" pitchFamily="34" charset="0"/>
              <a:buChar char="•"/>
            </a:pPr>
            <a:r>
              <a:rPr lang="en-US" sz="1800" dirty="0"/>
              <a:t>Second derivatives are:</a:t>
            </a:r>
          </a:p>
          <a:p>
            <a:pPr marL="742950" lvl="1" indent="-285750">
              <a:buFont typeface="Arial" panose="020B0604020202020204" pitchFamily="34" charset="0"/>
              <a:buChar char="•"/>
            </a:pPr>
            <a:r>
              <a:rPr lang="en-US" sz="1600" b="1" dirty="0"/>
              <a:t>Smaller in lower layers</a:t>
            </a:r>
            <a:endParaRPr lang="en-US" sz="1600" dirty="0"/>
          </a:p>
          <a:p>
            <a:pPr marL="742950" lvl="1" indent="-285750">
              <a:buFont typeface="Arial" panose="020B0604020202020204" pitchFamily="34" charset="0"/>
              <a:buChar char="•"/>
            </a:pPr>
            <a:r>
              <a:rPr lang="en-US" sz="1600" b="1" dirty="0"/>
              <a:t>Larger in higher layers</a:t>
            </a:r>
          </a:p>
          <a:p>
            <a:r>
              <a:rPr lang="en-US" sz="1600" b="1" dirty="0"/>
              <a:t>Important Insight</a:t>
            </a:r>
            <a:endParaRPr lang="en-US" sz="1600" dirty="0"/>
          </a:p>
          <a:p>
            <a:pPr>
              <a:buFont typeface="Arial" panose="020B0604020202020204" pitchFamily="34" charset="0"/>
              <a:buChar char="•"/>
            </a:pPr>
            <a:r>
              <a:rPr lang="en-US" sz="1600" dirty="0"/>
              <a:t>Weights in the first hidden layer learning slowly</a:t>
            </a:r>
          </a:p>
          <a:p>
            <a:pPr>
              <a:buFont typeface="Arial" panose="020B0604020202020204" pitchFamily="34" charset="0"/>
              <a:buChar char="•"/>
            </a:pPr>
            <a:r>
              <a:rPr lang="en-US" sz="1600" dirty="0"/>
              <a:t>Weights in the </a:t>
            </a:r>
            <a:r>
              <a:rPr lang="en-US" sz="1600" b="1" dirty="0"/>
              <a:t>last layers learn faster</a:t>
            </a:r>
            <a:endParaRPr lang="en-US" sz="1600" dirty="0"/>
          </a:p>
          <a:p>
            <a:endParaRPr lang="en-US" sz="900" dirty="0"/>
          </a:p>
          <a:p>
            <a:pPr marL="742950" lvl="1" indent="-285750">
              <a:buFont typeface="Arial" panose="020B0604020202020204" pitchFamily="34" charset="0"/>
              <a:buChar char="•"/>
            </a:pPr>
            <a:endParaRPr lang="en-US" sz="1600" dirty="0"/>
          </a:p>
          <a:p>
            <a:endParaRPr lang="en-US" sz="1800" dirty="0"/>
          </a:p>
          <a:p>
            <a:endParaRPr lang="en-IN" sz="1800" dirty="0"/>
          </a:p>
        </p:txBody>
      </p:sp>
      <p:sp>
        <p:nvSpPr>
          <p:cNvPr id="4" name="Slide Number Placeholder 3">
            <a:extLst>
              <a:ext uri="{FF2B5EF4-FFF2-40B4-BE49-F238E27FC236}">
                <a16:creationId xmlns:a16="http://schemas.microsoft.com/office/drawing/2014/main" id="{7B4051DA-5803-4458-A563-5759936FAA2A}"/>
              </a:ext>
            </a:extLst>
          </p:cNvPr>
          <p:cNvSpPr>
            <a:spLocks noGrp="1"/>
          </p:cNvSpPr>
          <p:nvPr>
            <p:ph type="sldNum" sz="quarter" idx="12"/>
          </p:nvPr>
        </p:nvSpPr>
        <p:spPr/>
        <p:txBody>
          <a:bodyPr/>
          <a:lstStyle/>
          <a:p>
            <a:fld id="{BB2CE0DE-867F-455F-B20B-96D381B4AB71}" type="slidenum">
              <a:rPr lang="en-US" smtClean="0"/>
              <a:t>51</a:t>
            </a:fld>
            <a:endParaRPr lang="en-US"/>
          </a:p>
        </p:txBody>
      </p:sp>
    </p:spTree>
    <p:extLst>
      <p:ext uri="{BB962C8B-B14F-4D97-AF65-F5344CB8AC3E}">
        <p14:creationId xmlns:p14="http://schemas.microsoft.com/office/powerpoint/2010/main" val="8663378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34C3C-FEEB-4BA6-94E8-1642FB5179E8}"/>
              </a:ext>
            </a:extLst>
          </p:cNvPr>
          <p:cNvSpPr>
            <a:spLocks noGrp="1"/>
          </p:cNvSpPr>
          <p:nvPr>
            <p:ph type="title"/>
          </p:nvPr>
        </p:nvSpPr>
        <p:spPr/>
        <p:txBody>
          <a:bodyPr/>
          <a:lstStyle/>
          <a:p>
            <a:r>
              <a:rPr lang="en-IN" dirty="0"/>
              <a:t>Avoidance of Nonzero-mean Inputs</a:t>
            </a:r>
          </a:p>
        </p:txBody>
      </p:sp>
      <p:sp>
        <p:nvSpPr>
          <p:cNvPr id="3" name="Content Placeholder 2">
            <a:extLst>
              <a:ext uri="{FF2B5EF4-FFF2-40B4-BE49-F238E27FC236}">
                <a16:creationId xmlns:a16="http://schemas.microsoft.com/office/drawing/2014/main" id="{59652F7C-0653-48E8-9A01-191E76EFB71F}"/>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9051F97-C146-47B3-A617-297C0AED6898}"/>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6" name="Picture 5">
            <a:extLst>
              <a:ext uri="{FF2B5EF4-FFF2-40B4-BE49-F238E27FC236}">
                <a16:creationId xmlns:a16="http://schemas.microsoft.com/office/drawing/2014/main" id="{F038E508-6CA8-4A1F-91A3-1AEF8DE808BC}"/>
              </a:ext>
            </a:extLst>
          </p:cNvPr>
          <p:cNvPicPr>
            <a:picLocks noChangeAspect="1"/>
          </p:cNvPicPr>
          <p:nvPr/>
        </p:nvPicPr>
        <p:blipFill>
          <a:blip r:embed="rId2"/>
          <a:stretch>
            <a:fillRect/>
          </a:stretch>
        </p:blipFill>
        <p:spPr>
          <a:xfrm>
            <a:off x="766233" y="1066757"/>
            <a:ext cx="7713800" cy="4648200"/>
          </a:xfrm>
          <a:prstGeom prst="rect">
            <a:avLst/>
          </a:prstGeom>
        </p:spPr>
      </p:pic>
      <p:pic>
        <p:nvPicPr>
          <p:cNvPr id="8" name="Picture 7">
            <a:extLst>
              <a:ext uri="{FF2B5EF4-FFF2-40B4-BE49-F238E27FC236}">
                <a16:creationId xmlns:a16="http://schemas.microsoft.com/office/drawing/2014/main" id="{D8D42D9A-FE06-4EC3-BFB6-ACFF7E58E4FC}"/>
              </a:ext>
            </a:extLst>
          </p:cNvPr>
          <p:cNvPicPr>
            <a:picLocks noChangeAspect="1"/>
          </p:cNvPicPr>
          <p:nvPr/>
        </p:nvPicPr>
        <p:blipFill>
          <a:blip r:embed="rId3"/>
          <a:stretch>
            <a:fillRect/>
          </a:stretch>
        </p:blipFill>
        <p:spPr>
          <a:xfrm>
            <a:off x="766233" y="6019757"/>
            <a:ext cx="8735117" cy="533443"/>
          </a:xfrm>
          <a:prstGeom prst="rect">
            <a:avLst/>
          </a:prstGeom>
        </p:spPr>
      </p:pic>
      <p:pic>
        <p:nvPicPr>
          <p:cNvPr id="10" name="Picture 9">
            <a:extLst>
              <a:ext uri="{FF2B5EF4-FFF2-40B4-BE49-F238E27FC236}">
                <a16:creationId xmlns:a16="http://schemas.microsoft.com/office/drawing/2014/main" id="{9AB2B68A-BBE0-4D3A-A057-C3302C24903E}"/>
              </a:ext>
            </a:extLst>
          </p:cNvPr>
          <p:cNvPicPr>
            <a:picLocks noChangeAspect="1"/>
          </p:cNvPicPr>
          <p:nvPr/>
        </p:nvPicPr>
        <p:blipFill>
          <a:blip r:embed="rId4"/>
          <a:stretch>
            <a:fillRect/>
          </a:stretch>
        </p:blipFill>
        <p:spPr>
          <a:xfrm>
            <a:off x="6172200" y="1905000"/>
            <a:ext cx="2369345" cy="762000"/>
          </a:xfrm>
          <a:prstGeom prst="rect">
            <a:avLst/>
          </a:prstGeom>
        </p:spPr>
      </p:pic>
    </p:spTree>
    <p:extLst>
      <p:ext uri="{BB962C8B-B14F-4D97-AF65-F5344CB8AC3E}">
        <p14:creationId xmlns:p14="http://schemas.microsoft.com/office/powerpoint/2010/main" val="1929850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B21B-B689-4E72-847C-07D9C1C5FC76}"/>
              </a:ext>
            </a:extLst>
          </p:cNvPr>
          <p:cNvSpPr>
            <a:spLocks noGrp="1"/>
          </p:cNvSpPr>
          <p:nvPr>
            <p:ph type="title"/>
          </p:nvPr>
        </p:nvSpPr>
        <p:spPr/>
        <p:txBody>
          <a:bodyPr/>
          <a:lstStyle/>
          <a:p>
            <a:r>
              <a:rPr lang="en-US" sz="2800" dirty="0"/>
              <a:t>How to Avoid Nonzero-Mean Signals in Neural Networks</a:t>
            </a:r>
            <a:endParaRPr lang="en-IN" sz="2800" dirty="0"/>
          </a:p>
        </p:txBody>
      </p:sp>
      <p:sp>
        <p:nvSpPr>
          <p:cNvPr id="3" name="Content Placeholder 2">
            <a:extLst>
              <a:ext uri="{FF2B5EF4-FFF2-40B4-BE49-F238E27FC236}">
                <a16:creationId xmlns:a16="http://schemas.microsoft.com/office/drawing/2014/main" id="{8D6E19B5-D63E-44EF-B23C-3344390695F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75828A0-DA58-4E9E-860F-15E69BD3EE3C}"/>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6" name="Picture 5">
            <a:extLst>
              <a:ext uri="{FF2B5EF4-FFF2-40B4-BE49-F238E27FC236}">
                <a16:creationId xmlns:a16="http://schemas.microsoft.com/office/drawing/2014/main" id="{21F650DA-6BF4-4BA4-A5DC-2445649ABF1F}"/>
              </a:ext>
            </a:extLst>
          </p:cNvPr>
          <p:cNvPicPr>
            <a:picLocks noChangeAspect="1"/>
          </p:cNvPicPr>
          <p:nvPr/>
        </p:nvPicPr>
        <p:blipFill>
          <a:blip r:embed="rId3"/>
          <a:stretch>
            <a:fillRect/>
          </a:stretch>
        </p:blipFill>
        <p:spPr>
          <a:xfrm>
            <a:off x="755651" y="1066799"/>
            <a:ext cx="5205935" cy="2494510"/>
          </a:xfrm>
          <a:prstGeom prst="rect">
            <a:avLst/>
          </a:prstGeom>
        </p:spPr>
      </p:pic>
      <p:pic>
        <p:nvPicPr>
          <p:cNvPr id="8" name="Picture 7">
            <a:extLst>
              <a:ext uri="{FF2B5EF4-FFF2-40B4-BE49-F238E27FC236}">
                <a16:creationId xmlns:a16="http://schemas.microsoft.com/office/drawing/2014/main" id="{ACF42932-E446-4354-B380-F7D530920804}"/>
              </a:ext>
            </a:extLst>
          </p:cNvPr>
          <p:cNvPicPr>
            <a:picLocks noChangeAspect="1"/>
          </p:cNvPicPr>
          <p:nvPr/>
        </p:nvPicPr>
        <p:blipFill>
          <a:blip r:embed="rId4"/>
          <a:stretch>
            <a:fillRect/>
          </a:stretch>
        </p:blipFill>
        <p:spPr>
          <a:xfrm>
            <a:off x="755651" y="3711527"/>
            <a:ext cx="6080834" cy="1141026"/>
          </a:xfrm>
          <a:prstGeom prst="rect">
            <a:avLst/>
          </a:prstGeom>
        </p:spPr>
      </p:pic>
      <p:pic>
        <p:nvPicPr>
          <p:cNvPr id="10" name="Picture 9">
            <a:extLst>
              <a:ext uri="{FF2B5EF4-FFF2-40B4-BE49-F238E27FC236}">
                <a16:creationId xmlns:a16="http://schemas.microsoft.com/office/drawing/2014/main" id="{2EE7F6B0-7591-4D95-A5E6-BD89A7E9854F}"/>
              </a:ext>
            </a:extLst>
          </p:cNvPr>
          <p:cNvPicPr>
            <a:picLocks noChangeAspect="1"/>
          </p:cNvPicPr>
          <p:nvPr/>
        </p:nvPicPr>
        <p:blipFill>
          <a:blip r:embed="rId5"/>
          <a:stretch>
            <a:fillRect/>
          </a:stretch>
        </p:blipFill>
        <p:spPr>
          <a:xfrm>
            <a:off x="695248" y="5014353"/>
            <a:ext cx="6201640" cy="981212"/>
          </a:xfrm>
          <a:prstGeom prst="rect">
            <a:avLst/>
          </a:prstGeom>
        </p:spPr>
      </p:pic>
      <p:sp>
        <p:nvSpPr>
          <p:cNvPr id="13" name="TextBox 12">
            <a:extLst>
              <a:ext uri="{FF2B5EF4-FFF2-40B4-BE49-F238E27FC236}">
                <a16:creationId xmlns:a16="http://schemas.microsoft.com/office/drawing/2014/main" id="{9EAB4330-13A3-4E22-BD31-895481B44A91}"/>
              </a:ext>
            </a:extLst>
          </p:cNvPr>
          <p:cNvSpPr txBox="1"/>
          <p:nvPr/>
        </p:nvSpPr>
        <p:spPr>
          <a:xfrm>
            <a:off x="7051613" y="5832901"/>
            <a:ext cx="5165773" cy="523220"/>
          </a:xfrm>
          <a:prstGeom prst="rect">
            <a:avLst/>
          </a:prstGeom>
          <a:noFill/>
        </p:spPr>
        <p:txBody>
          <a:bodyPr wrap="none" rtlCol="0">
            <a:spAutoFit/>
          </a:bodyPr>
          <a:lstStyle/>
          <a:p>
            <a:r>
              <a:rPr lang="en-IN" sz="1400" dirty="0"/>
              <a:t>Zero-mean signals → better Hessian → faster learning</a:t>
            </a:r>
          </a:p>
          <a:p>
            <a:r>
              <a:rPr lang="en-IN" sz="1400" dirty="0"/>
              <a:t>Nonzero-mean signals → poor Hessian → slow learning</a:t>
            </a:r>
          </a:p>
        </p:txBody>
      </p:sp>
    </p:spTree>
    <p:extLst>
      <p:ext uri="{BB962C8B-B14F-4D97-AF65-F5344CB8AC3E}">
        <p14:creationId xmlns:p14="http://schemas.microsoft.com/office/powerpoint/2010/main" val="40343426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E2A4-C9D9-452E-B1AA-A192D6497847}"/>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D749B657-8884-43B4-97A7-6199E601CA81}"/>
              </a:ext>
            </a:extLst>
          </p:cNvPr>
          <p:cNvSpPr>
            <a:spLocks noGrp="1"/>
          </p:cNvSpPr>
          <p:nvPr>
            <p:ph idx="1"/>
          </p:nvPr>
        </p:nvSpPr>
        <p:spPr/>
        <p:txBody>
          <a:bodyPr/>
          <a:lstStyle/>
          <a:p>
            <a:pPr marL="0" indent="0">
              <a:buNone/>
            </a:pPr>
            <a:r>
              <a:rPr lang="en-US" sz="1800" dirty="0"/>
              <a:t>Asymptotic behavior refers to:</a:t>
            </a:r>
          </a:p>
          <a:p>
            <a:r>
              <a:rPr lang="en-US" sz="1800" dirty="0"/>
              <a:t>The behavior of the learning process after a very large number of iterations</a:t>
            </a:r>
            <a:br>
              <a:rPr lang="en-US" sz="1800" dirty="0"/>
            </a:br>
            <a:r>
              <a:rPr lang="en-US" sz="1800" dirty="0"/>
              <a:t>(i.e., as n→∞)</a:t>
            </a:r>
          </a:p>
          <a:p>
            <a:pPr marL="0" indent="0">
              <a:buNone/>
            </a:pPr>
            <a:r>
              <a:rPr lang="en-US" sz="1800" dirty="0"/>
              <a:t>In simple terms:</a:t>
            </a:r>
          </a:p>
          <a:p>
            <a:r>
              <a:rPr lang="en-US" sz="1800" dirty="0"/>
              <a:t>What happens to the weights after long training?</a:t>
            </a:r>
          </a:p>
          <a:p>
            <a:r>
              <a:rPr lang="en-US" sz="1800" dirty="0"/>
              <a:t>Do they converge?</a:t>
            </a:r>
          </a:p>
          <a:p>
            <a:r>
              <a:rPr lang="en-US" sz="1800" dirty="0"/>
              <a:t>Do they fluctuate?</a:t>
            </a:r>
          </a:p>
          <a:p>
            <a:r>
              <a:rPr lang="en-US" sz="1800" dirty="0"/>
              <a:t>How stable is the learning?</a:t>
            </a:r>
          </a:p>
          <a:p>
            <a:pPr marL="0" indent="0">
              <a:buNone/>
            </a:pPr>
            <a:endParaRPr lang="en-US" sz="1800" dirty="0"/>
          </a:p>
          <a:p>
            <a:r>
              <a:rPr lang="en-US" sz="1800" dirty="0"/>
              <a:t>In </a:t>
            </a:r>
            <a:r>
              <a:rPr lang="en-US" sz="1800" b="1" dirty="0"/>
              <a:t>on-line learning</a:t>
            </a:r>
            <a:r>
              <a:rPr lang="en-US" sz="1800" dirty="0"/>
              <a:t>:</a:t>
            </a:r>
          </a:p>
          <a:p>
            <a:pPr>
              <a:buFont typeface="Arial" panose="020B0604020202020204" pitchFamily="34" charset="0"/>
              <a:buChar char="•"/>
            </a:pPr>
            <a:r>
              <a:rPr lang="en-US" sz="1800" dirty="0"/>
              <a:t>Network weights are updated </a:t>
            </a:r>
            <a:r>
              <a:rPr lang="en-US" sz="1800" b="1" dirty="0"/>
              <a:t>one sample at a time</a:t>
            </a:r>
            <a:endParaRPr lang="en-US" sz="1800" dirty="0"/>
          </a:p>
          <a:p>
            <a:pPr>
              <a:buFont typeface="Arial" panose="020B0604020202020204" pitchFamily="34" charset="0"/>
              <a:buChar char="•"/>
            </a:pPr>
            <a:r>
              <a:rPr lang="en-US" sz="1800" dirty="0"/>
              <a:t>Learning is </a:t>
            </a:r>
            <a:r>
              <a:rPr lang="en-US" sz="1800" b="1" dirty="0"/>
              <a:t>stochastic</a:t>
            </a:r>
            <a:r>
              <a:rPr lang="en-US" sz="1800" dirty="0"/>
              <a:t> (contains randomness)</a:t>
            </a:r>
          </a:p>
          <a:p>
            <a:pPr>
              <a:buFont typeface="Arial" panose="020B0604020202020204" pitchFamily="34" charset="0"/>
              <a:buChar char="•"/>
            </a:pPr>
            <a:r>
              <a:rPr lang="en-US" sz="1800" dirty="0"/>
              <a:t>Error does not decrease smoothly</a:t>
            </a:r>
          </a:p>
          <a:p>
            <a:r>
              <a:rPr lang="en-US" sz="1800" dirty="0"/>
              <a:t>To understand such learning, we study how the </a:t>
            </a:r>
            <a:r>
              <a:rPr lang="en-US" sz="1800" b="1" dirty="0"/>
              <a:t>average learning curve</a:t>
            </a:r>
            <a:r>
              <a:rPr lang="en-US" sz="1800" dirty="0"/>
              <a:t> behaves </a:t>
            </a:r>
            <a:r>
              <a:rPr lang="en-US" sz="1800" b="1" dirty="0"/>
              <a:t>over a long period of time</a:t>
            </a:r>
            <a:r>
              <a:rPr lang="en-US" sz="1800" dirty="0"/>
              <a:t>.</a:t>
            </a:r>
          </a:p>
          <a:p>
            <a:pPr marL="0" indent="0">
              <a:buNone/>
            </a:pPr>
            <a:endParaRPr lang="en-US" sz="1800" dirty="0"/>
          </a:p>
          <a:p>
            <a:endParaRPr lang="en-US" sz="1800" dirty="0"/>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DCF89ADD-32EB-4D5D-9F5A-7DCAE559B9B0}"/>
              </a:ext>
            </a:extLst>
          </p:cNvPr>
          <p:cNvSpPr>
            <a:spLocks noGrp="1"/>
          </p:cNvSpPr>
          <p:nvPr>
            <p:ph type="sldNum" sz="quarter" idx="12"/>
          </p:nvPr>
        </p:nvSpPr>
        <p:spPr/>
        <p:txBody>
          <a:bodyPr/>
          <a:lstStyle/>
          <a:p>
            <a:fld id="{BB2CE0DE-867F-455F-B20B-96D381B4AB71}" type="slidenum">
              <a:rPr lang="en-US" smtClean="0"/>
              <a:t>54</a:t>
            </a:fld>
            <a:endParaRPr lang="en-US"/>
          </a:p>
        </p:txBody>
      </p:sp>
    </p:spTree>
    <p:extLst>
      <p:ext uri="{BB962C8B-B14F-4D97-AF65-F5344CB8AC3E}">
        <p14:creationId xmlns:p14="http://schemas.microsoft.com/office/powerpoint/2010/main" val="29478732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BD04-0448-4A30-BB39-DCA6EB994722}"/>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CBCF11F0-FF16-49AE-A9AC-5D0254DC1249}"/>
              </a:ext>
            </a:extLst>
          </p:cNvPr>
          <p:cNvSpPr>
            <a:spLocks noGrp="1"/>
          </p:cNvSpPr>
          <p:nvPr>
            <p:ph idx="1"/>
          </p:nvPr>
        </p:nvSpPr>
        <p:spPr/>
        <p:txBody>
          <a:bodyPr/>
          <a:lstStyle/>
          <a:p>
            <a:pPr algn="just"/>
            <a:r>
              <a:rPr lang="en-US" sz="2000" dirty="0"/>
              <a:t>In on-line learning, weights are updated one sample at a time, so learning is stochastic. Because of this randomness, even after a very long time, the weights do not settle exactly at the minimum — they fluctuate around it.</a:t>
            </a:r>
          </a:p>
          <a:p>
            <a:pPr algn="just"/>
            <a:r>
              <a:rPr lang="en-US" sz="2000" dirty="0"/>
              <a:t>“This long-term behavior of weights is what we call </a:t>
            </a:r>
            <a:r>
              <a:rPr lang="en-US" sz="2000" b="1" dirty="0"/>
              <a:t>asymptotic behavior</a:t>
            </a:r>
            <a:r>
              <a:rPr lang="en-US" sz="2000" dirty="0"/>
              <a:t>.”</a:t>
            </a:r>
          </a:p>
          <a:p>
            <a:pPr algn="just"/>
            <a:endParaRPr lang="en-US" sz="2000" dirty="0"/>
          </a:p>
          <a:p>
            <a:pPr algn="just"/>
            <a:r>
              <a:rPr lang="en-US" sz="2000" dirty="0"/>
              <a:t>“If the weights are fluctuating, what controls how large these fluctuations are?”</a:t>
            </a:r>
          </a:p>
          <a:p>
            <a:pPr algn="just"/>
            <a:r>
              <a:rPr lang="en-US" sz="2000" dirty="0"/>
              <a:t>The answer is — the learning rate.</a:t>
            </a:r>
          </a:p>
          <a:p>
            <a:pPr algn="just"/>
            <a:endParaRPr lang="en-US" sz="2000" dirty="0"/>
          </a:p>
          <a:p>
            <a:pPr algn="just"/>
            <a:endParaRPr lang="en-US" sz="2000" dirty="0"/>
          </a:p>
          <a:p>
            <a:pPr algn="just"/>
            <a:endParaRPr lang="en-IN" sz="2000" dirty="0"/>
          </a:p>
          <a:p>
            <a:pPr marL="304800" indent="-285750" algn="just">
              <a:buFont typeface="Arial" panose="020B0604020202020204" pitchFamily="34" charset="0"/>
              <a:buChar char="•"/>
            </a:pPr>
            <a:endParaRPr lang="en-US" sz="2000" b="1" dirty="0"/>
          </a:p>
          <a:p>
            <a:pPr marL="19050" indent="0" algn="just">
              <a:buNone/>
            </a:pPr>
            <a:endParaRPr lang="en-US" sz="2000" dirty="0"/>
          </a:p>
          <a:p>
            <a:pPr algn="just"/>
            <a:endParaRPr lang="en-IN" sz="2000" dirty="0"/>
          </a:p>
          <a:p>
            <a:pPr algn="just"/>
            <a:endParaRPr lang="en-IN" sz="2000" dirty="0"/>
          </a:p>
        </p:txBody>
      </p:sp>
      <p:sp>
        <p:nvSpPr>
          <p:cNvPr id="4" name="Slide Number Placeholder 3">
            <a:extLst>
              <a:ext uri="{FF2B5EF4-FFF2-40B4-BE49-F238E27FC236}">
                <a16:creationId xmlns:a16="http://schemas.microsoft.com/office/drawing/2014/main" id="{37522107-4535-4444-BD62-B9EE9E7598DD}"/>
              </a:ext>
            </a:extLst>
          </p:cNvPr>
          <p:cNvSpPr>
            <a:spLocks noGrp="1"/>
          </p:cNvSpPr>
          <p:nvPr>
            <p:ph type="sldNum" sz="quarter" idx="12"/>
          </p:nvPr>
        </p:nvSpPr>
        <p:spPr/>
        <p:txBody>
          <a:bodyPr/>
          <a:lstStyle/>
          <a:p>
            <a:fld id="{BB2CE0DE-867F-455F-B20B-96D381B4AB71}" type="slidenum">
              <a:rPr lang="en-US" smtClean="0"/>
              <a:t>55</a:t>
            </a:fld>
            <a:endParaRPr lang="en-US"/>
          </a:p>
        </p:txBody>
      </p:sp>
    </p:spTree>
    <p:extLst>
      <p:ext uri="{BB962C8B-B14F-4D97-AF65-F5344CB8AC3E}">
        <p14:creationId xmlns:p14="http://schemas.microsoft.com/office/powerpoint/2010/main" val="14119139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BD04-0448-4A30-BB39-DCA6EB994722}"/>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CBCF11F0-FF16-49AE-A9AC-5D0254DC1249}"/>
              </a:ext>
            </a:extLst>
          </p:cNvPr>
          <p:cNvSpPr>
            <a:spLocks noGrp="1"/>
          </p:cNvSpPr>
          <p:nvPr>
            <p:ph idx="1"/>
          </p:nvPr>
        </p:nvSpPr>
        <p:spPr/>
        <p:txBody>
          <a:bodyPr/>
          <a:lstStyle/>
          <a:p>
            <a:r>
              <a:rPr lang="en-US" sz="2000" dirty="0"/>
              <a:t>To ensure </a:t>
            </a:r>
            <a:r>
              <a:rPr lang="en-US" sz="2000" b="1" dirty="0"/>
              <a:t>stable learning</a:t>
            </a:r>
            <a:r>
              <a:rPr lang="en-US" sz="2000" dirty="0"/>
              <a:t>, the learning rate must satisfy:</a:t>
            </a:r>
          </a:p>
          <a:p>
            <a:endParaRPr lang="en-US" sz="2000" dirty="0"/>
          </a:p>
          <a:p>
            <a:endParaRPr lang="en-US" sz="2000" dirty="0"/>
          </a:p>
          <a:p>
            <a:endParaRPr lang="en-US" sz="2000" dirty="0"/>
          </a:p>
          <a:p>
            <a:r>
              <a:rPr lang="en-US" sz="2000" dirty="0"/>
              <a:t>where: </a:t>
            </a:r>
            <a:r>
              <a:rPr lang="en-US" sz="2000" dirty="0" err="1"/>
              <a:t>λ</a:t>
            </a:r>
            <a:r>
              <a:rPr lang="en-US" sz="2000" baseline="-25000" dirty="0" err="1"/>
              <a:t>max</a:t>
            </a:r>
            <a:r>
              <a:rPr lang="en-US" sz="2000" dirty="0"/>
              <a:t>​ = largest eigenvalue of the Hessian</a:t>
            </a:r>
          </a:p>
          <a:p>
            <a:r>
              <a:rPr lang="en-US" sz="2000" dirty="0"/>
              <a:t>If η is too large:</a:t>
            </a:r>
          </a:p>
          <a:p>
            <a:pPr>
              <a:buFont typeface="Arial" panose="020B0604020202020204" pitchFamily="34" charset="0"/>
              <a:buChar char="•"/>
            </a:pPr>
            <a:r>
              <a:rPr lang="en-US" sz="2000" dirty="0"/>
              <a:t>Learning becomes unstable</a:t>
            </a:r>
          </a:p>
          <a:p>
            <a:pPr>
              <a:buFont typeface="Arial" panose="020B0604020202020204" pitchFamily="34" charset="0"/>
              <a:buChar char="•"/>
            </a:pPr>
            <a:r>
              <a:rPr lang="en-US" sz="2000" dirty="0"/>
              <a:t>Weights may diverge</a:t>
            </a:r>
          </a:p>
          <a:p>
            <a:endParaRPr lang="en-IN" sz="2000" dirty="0"/>
          </a:p>
          <a:p>
            <a:endParaRPr lang="en-IN" sz="2000" dirty="0"/>
          </a:p>
        </p:txBody>
      </p:sp>
      <p:sp>
        <p:nvSpPr>
          <p:cNvPr id="4" name="Slide Number Placeholder 3">
            <a:extLst>
              <a:ext uri="{FF2B5EF4-FFF2-40B4-BE49-F238E27FC236}">
                <a16:creationId xmlns:a16="http://schemas.microsoft.com/office/drawing/2014/main" id="{37522107-4535-4444-BD62-B9EE9E7598DD}"/>
              </a:ext>
            </a:extLst>
          </p:cNvPr>
          <p:cNvSpPr>
            <a:spLocks noGrp="1"/>
          </p:cNvSpPr>
          <p:nvPr>
            <p:ph type="sldNum" sz="quarter" idx="12"/>
          </p:nvPr>
        </p:nvSpPr>
        <p:spPr/>
        <p:txBody>
          <a:bodyPr/>
          <a:lstStyle/>
          <a:p>
            <a:fld id="{BB2CE0DE-867F-455F-B20B-96D381B4AB71}" type="slidenum">
              <a:rPr lang="en-US" smtClean="0"/>
              <a:t>56</a:t>
            </a:fld>
            <a:endParaRPr lang="en-US"/>
          </a:p>
        </p:txBody>
      </p:sp>
      <p:pic>
        <p:nvPicPr>
          <p:cNvPr id="6" name="Picture 5">
            <a:extLst>
              <a:ext uri="{FF2B5EF4-FFF2-40B4-BE49-F238E27FC236}">
                <a16:creationId xmlns:a16="http://schemas.microsoft.com/office/drawing/2014/main" id="{A4CE4F9D-9B47-424E-8070-24C169D2D900}"/>
              </a:ext>
            </a:extLst>
          </p:cNvPr>
          <p:cNvPicPr>
            <a:picLocks noChangeAspect="1"/>
          </p:cNvPicPr>
          <p:nvPr/>
        </p:nvPicPr>
        <p:blipFill>
          <a:blip r:embed="rId3"/>
          <a:stretch>
            <a:fillRect/>
          </a:stretch>
        </p:blipFill>
        <p:spPr>
          <a:xfrm>
            <a:off x="1981200" y="1600200"/>
            <a:ext cx="990600" cy="671406"/>
          </a:xfrm>
          <a:prstGeom prst="rect">
            <a:avLst/>
          </a:prstGeom>
        </p:spPr>
      </p:pic>
      <p:pic>
        <p:nvPicPr>
          <p:cNvPr id="8" name="Picture 7">
            <a:extLst>
              <a:ext uri="{FF2B5EF4-FFF2-40B4-BE49-F238E27FC236}">
                <a16:creationId xmlns:a16="http://schemas.microsoft.com/office/drawing/2014/main" id="{EF2471C1-5701-43B8-917A-EE64FC13BF47}"/>
              </a:ext>
            </a:extLst>
          </p:cNvPr>
          <p:cNvPicPr>
            <a:picLocks noChangeAspect="1"/>
          </p:cNvPicPr>
          <p:nvPr/>
        </p:nvPicPr>
        <p:blipFill>
          <a:blip r:embed="rId4"/>
          <a:stretch>
            <a:fillRect/>
          </a:stretch>
        </p:blipFill>
        <p:spPr>
          <a:xfrm>
            <a:off x="789270" y="4419600"/>
            <a:ext cx="8828014" cy="1676400"/>
          </a:xfrm>
          <a:prstGeom prst="rect">
            <a:avLst/>
          </a:prstGeom>
        </p:spPr>
      </p:pic>
    </p:spTree>
    <p:extLst>
      <p:ext uri="{BB962C8B-B14F-4D97-AF65-F5344CB8AC3E}">
        <p14:creationId xmlns:p14="http://schemas.microsoft.com/office/powerpoint/2010/main" val="3459918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9141-BBC7-616E-9DEA-EAF5E9575AA9}"/>
              </a:ext>
            </a:extLst>
          </p:cNvPr>
          <p:cNvSpPr>
            <a:spLocks noGrp="1"/>
          </p:cNvSpPr>
          <p:nvPr>
            <p:ph type="title"/>
          </p:nvPr>
        </p:nvSpPr>
        <p:spPr/>
        <p:txBody>
          <a:bodyPr/>
          <a:lstStyle/>
          <a:p>
            <a:r>
              <a:rPr lang="en-US" sz="2400" dirty="0"/>
              <a:t>Question: Hessian and its role in online learning</a:t>
            </a:r>
            <a:endParaRPr lang="en-IN" sz="2400" dirty="0"/>
          </a:p>
        </p:txBody>
      </p:sp>
      <p:sp>
        <p:nvSpPr>
          <p:cNvPr id="3" name="Content Placeholder 2">
            <a:extLst>
              <a:ext uri="{FF2B5EF4-FFF2-40B4-BE49-F238E27FC236}">
                <a16:creationId xmlns:a16="http://schemas.microsoft.com/office/drawing/2014/main" id="{2F2E0B58-87F0-CC4F-0959-03638337DE6F}"/>
              </a:ext>
            </a:extLst>
          </p:cNvPr>
          <p:cNvSpPr>
            <a:spLocks noGrp="1"/>
          </p:cNvSpPr>
          <p:nvPr>
            <p:ph idx="1"/>
          </p:nvPr>
        </p:nvSpPr>
        <p:spPr/>
        <p:txBody>
          <a:bodyPr/>
          <a:lstStyle/>
          <a:p>
            <a:pPr algn="just"/>
            <a:r>
              <a:rPr lang="en-US" sz="2000" dirty="0"/>
              <a:t>What is the role of the Hessian in study of neural networks, how does avoiding nonzero-mean inputs impact the learning process, and what is the importance of asymptotic behavior of assuming a fixed learning-rate parameter?</a:t>
            </a:r>
            <a:endParaRPr lang="en-IN" sz="2000" dirty="0"/>
          </a:p>
        </p:txBody>
      </p:sp>
      <p:sp>
        <p:nvSpPr>
          <p:cNvPr id="4" name="Slide Number Placeholder 3">
            <a:extLst>
              <a:ext uri="{FF2B5EF4-FFF2-40B4-BE49-F238E27FC236}">
                <a16:creationId xmlns:a16="http://schemas.microsoft.com/office/drawing/2014/main" id="{0FB92E6B-7413-5355-F5BD-A7D7DA572599}"/>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7846033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sz="2800" dirty="0"/>
              <a:t>Generalization</a:t>
            </a:r>
            <a:endParaRPr lang="en-US" altLang="en-US" sz="28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58</a:t>
            </a:fld>
            <a:endParaRPr lang="en-US"/>
          </a:p>
        </p:txBody>
      </p:sp>
      <p:sp>
        <p:nvSpPr>
          <p:cNvPr id="2" name="Subtitle 1">
            <a:extLst>
              <a:ext uri="{FF2B5EF4-FFF2-40B4-BE49-F238E27FC236}">
                <a16:creationId xmlns:a16="http://schemas.microsoft.com/office/drawing/2014/main" id="{1C5B143F-765D-4BC7-90A0-301C01306B1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18068799"/>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6BAF4-71CA-4EE3-88DE-E1BCD4A308F5}"/>
              </a:ext>
            </a:extLst>
          </p:cNvPr>
          <p:cNvSpPr>
            <a:spLocks noGrp="1"/>
          </p:cNvSpPr>
          <p:nvPr>
            <p:ph type="title"/>
          </p:nvPr>
        </p:nvSpPr>
        <p:spPr/>
        <p:txBody>
          <a:bodyPr/>
          <a:lstStyle/>
          <a:p>
            <a:r>
              <a:rPr lang="en-US" sz="3200" dirty="0"/>
              <a:t>Generalization</a:t>
            </a:r>
            <a:endParaRPr lang="en-IN" dirty="0"/>
          </a:p>
        </p:txBody>
      </p:sp>
      <p:sp>
        <p:nvSpPr>
          <p:cNvPr id="3" name="Content Placeholder 2">
            <a:extLst>
              <a:ext uri="{FF2B5EF4-FFF2-40B4-BE49-F238E27FC236}">
                <a16:creationId xmlns:a16="http://schemas.microsoft.com/office/drawing/2014/main" id="{42F0F779-BFD7-4501-9C11-336098D7D733}"/>
              </a:ext>
            </a:extLst>
          </p:cNvPr>
          <p:cNvSpPr>
            <a:spLocks noGrp="1"/>
          </p:cNvSpPr>
          <p:nvPr>
            <p:ph idx="1"/>
          </p:nvPr>
        </p:nvSpPr>
        <p:spPr/>
        <p:txBody>
          <a:bodyPr/>
          <a:lstStyle/>
          <a:p>
            <a:pPr algn="just"/>
            <a:r>
              <a:rPr lang="en-US" sz="1800" dirty="0"/>
              <a:t>In back-propagation learning, we typically start with a training sample and use the backpropagation algorithm to compute the synaptic weights of a multilayer perceptron by loading as many of the training examples as possible into the network. The hope is that the neural network so designed will generalize well. </a:t>
            </a:r>
          </a:p>
          <a:p>
            <a:pPr algn="just"/>
            <a:r>
              <a:rPr lang="en-US" sz="1800" dirty="0"/>
              <a:t>A network is said to </a:t>
            </a:r>
            <a:r>
              <a:rPr lang="en-US" sz="1800" b="1" dirty="0"/>
              <a:t>generalize</a:t>
            </a:r>
            <a:r>
              <a:rPr lang="en-US" sz="1800" dirty="0"/>
              <a:t> well when the input–output mapping computed by the network </a:t>
            </a:r>
            <a:r>
              <a:rPr lang="en-US" sz="1800" b="1" dirty="0"/>
              <a:t>is correct for test data</a:t>
            </a:r>
            <a:r>
              <a:rPr lang="en-US" sz="1800" dirty="0"/>
              <a:t>.</a:t>
            </a:r>
          </a:p>
          <a:p>
            <a:pPr algn="just"/>
            <a:r>
              <a:rPr lang="en-US" sz="1800" dirty="0"/>
              <a:t>The learning process (i.e., training of a neural network) may be viewed as a “</a:t>
            </a:r>
            <a:r>
              <a:rPr lang="en-US" sz="1800" dirty="0" err="1"/>
              <a:t>curvefitting</a:t>
            </a:r>
            <a:r>
              <a:rPr lang="en-US" sz="1800" dirty="0"/>
              <a:t>” problem. The network itself may be considered simply as a nonlinear input–output mapping. </a:t>
            </a:r>
          </a:p>
          <a:p>
            <a:pPr algn="just"/>
            <a:r>
              <a:rPr lang="en-US" sz="1800" dirty="0"/>
              <a:t>Such a viewpoint then permits us to look at </a:t>
            </a:r>
            <a:r>
              <a:rPr lang="en-US" sz="1800" b="1" dirty="0"/>
              <a:t>generalization </a:t>
            </a:r>
            <a:r>
              <a:rPr lang="en-US" sz="1800" dirty="0"/>
              <a:t>not as a mystical property of neural networks, but rather simply as the effect of a </a:t>
            </a:r>
            <a:r>
              <a:rPr lang="en-US" sz="1800" b="1" dirty="0"/>
              <a:t>nonlinear interpolation of the input data.</a:t>
            </a:r>
          </a:p>
          <a:p>
            <a:pPr algn="just"/>
            <a:r>
              <a:rPr lang="en-US" sz="1800" dirty="0"/>
              <a:t>Nonlinear interpolation is the process of estimating unknown data points within a known range by fitting a nonlinear function to the existing data, such that the interpolated points form a </a:t>
            </a:r>
            <a:r>
              <a:rPr lang="en-US" sz="1800" b="1" dirty="0"/>
              <a:t>curve rather than a straight line</a:t>
            </a:r>
            <a:r>
              <a:rPr lang="en-US" sz="1800" dirty="0"/>
              <a:t>. </a:t>
            </a:r>
          </a:p>
          <a:p>
            <a:pPr algn="just"/>
            <a:endParaRPr lang="en-IN" sz="1800" dirty="0"/>
          </a:p>
        </p:txBody>
      </p:sp>
      <p:sp>
        <p:nvSpPr>
          <p:cNvPr id="4" name="Slide Number Placeholder 3">
            <a:extLst>
              <a:ext uri="{FF2B5EF4-FFF2-40B4-BE49-F238E27FC236}">
                <a16:creationId xmlns:a16="http://schemas.microsoft.com/office/drawing/2014/main" id="{59D1F963-4BB3-464C-945C-CE05083457E3}"/>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24273371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D9BAB-417D-4AEF-8F14-0CC9C0BCB5C7}"/>
              </a:ext>
            </a:extLst>
          </p:cNvPr>
          <p:cNvSpPr>
            <a:spLocks noGrp="1"/>
          </p:cNvSpPr>
          <p:nvPr>
            <p:ph type="title"/>
          </p:nvPr>
        </p:nvSpPr>
        <p:spPr/>
        <p:txBody>
          <a:bodyPr/>
          <a:lstStyle/>
          <a:p>
            <a:r>
              <a:rPr lang="en-US" sz="3200" dirty="0"/>
              <a:t>Generalization</a:t>
            </a:r>
            <a:endParaRPr lang="en-IN" dirty="0"/>
          </a:p>
        </p:txBody>
      </p:sp>
      <p:sp>
        <p:nvSpPr>
          <p:cNvPr id="3" name="Content Placeholder 2">
            <a:extLst>
              <a:ext uri="{FF2B5EF4-FFF2-40B4-BE49-F238E27FC236}">
                <a16:creationId xmlns:a16="http://schemas.microsoft.com/office/drawing/2014/main" id="{57C3A849-BAF7-407B-A6E2-3D3C1D35E923}"/>
              </a:ext>
            </a:extLst>
          </p:cNvPr>
          <p:cNvSpPr>
            <a:spLocks noGrp="1"/>
          </p:cNvSpPr>
          <p:nvPr>
            <p:ph idx="1"/>
          </p:nvPr>
        </p:nvSpPr>
        <p:spPr/>
        <p:txBody>
          <a:bodyPr/>
          <a:lstStyle/>
          <a:p>
            <a:pPr algn="just"/>
            <a:r>
              <a:rPr lang="en-US" sz="1200" dirty="0"/>
              <a:t>Figure illustrates how generalization may occur in a hypothetical network. The nonlinear input–output mapping represented by the curve depicted in this figure is computed by the network as a result of learning the points labeled as “training data.” The point marked in blue on the curve as “generalization” is thus seen as the result of interpolation performed by the network.</a:t>
            </a:r>
          </a:p>
          <a:p>
            <a:pPr algn="just"/>
            <a:r>
              <a:rPr lang="en-US" sz="1200" dirty="0"/>
              <a:t>When, however, a neural network learns too many input–output examples, the network may end up memorizing the training data. It may do so by finding a feature (due to noise, for example) that is present in the training data, but not true of the underlying function that is to be modeled. Such a phenomenon is referred to as </a:t>
            </a:r>
            <a:r>
              <a:rPr lang="en-US" sz="1200" b="1" dirty="0"/>
              <a:t>overfitting</a:t>
            </a:r>
            <a:r>
              <a:rPr lang="en-US" sz="1200" dirty="0"/>
              <a:t> or </a:t>
            </a:r>
            <a:r>
              <a:rPr lang="en-US" sz="1200" b="1" dirty="0"/>
              <a:t>overtraining</a:t>
            </a:r>
            <a:r>
              <a:rPr lang="en-US" sz="1200" dirty="0"/>
              <a:t>. When the network is overtrained, it loses the ability to generalize between similar input–output patterns.</a:t>
            </a:r>
            <a:endParaRPr lang="en-IN" sz="1200" dirty="0"/>
          </a:p>
        </p:txBody>
      </p:sp>
      <p:sp>
        <p:nvSpPr>
          <p:cNvPr id="4" name="Slide Number Placeholder 3">
            <a:extLst>
              <a:ext uri="{FF2B5EF4-FFF2-40B4-BE49-F238E27FC236}">
                <a16:creationId xmlns:a16="http://schemas.microsoft.com/office/drawing/2014/main" id="{A843E87E-06DC-4C32-A414-931D8A22CEE8}"/>
              </a:ext>
            </a:extLst>
          </p:cNvPr>
          <p:cNvSpPr>
            <a:spLocks noGrp="1"/>
          </p:cNvSpPr>
          <p:nvPr>
            <p:ph type="sldNum" sz="quarter" idx="12"/>
          </p:nvPr>
        </p:nvSpPr>
        <p:spPr/>
        <p:txBody>
          <a:bodyPr/>
          <a:lstStyle/>
          <a:p>
            <a:fld id="{BB2CE0DE-867F-455F-B20B-96D381B4AB71}" type="slidenum">
              <a:rPr lang="en-US" smtClean="0"/>
              <a:t>60</a:t>
            </a:fld>
            <a:endParaRPr lang="en-US"/>
          </a:p>
        </p:txBody>
      </p:sp>
      <p:pic>
        <p:nvPicPr>
          <p:cNvPr id="6" name="Picture 5">
            <a:extLst>
              <a:ext uri="{FF2B5EF4-FFF2-40B4-BE49-F238E27FC236}">
                <a16:creationId xmlns:a16="http://schemas.microsoft.com/office/drawing/2014/main" id="{631669EE-73DF-4803-BEF0-4548881206F0}"/>
              </a:ext>
            </a:extLst>
          </p:cNvPr>
          <p:cNvPicPr>
            <a:picLocks noChangeAspect="1"/>
          </p:cNvPicPr>
          <p:nvPr/>
        </p:nvPicPr>
        <p:blipFill>
          <a:blip r:embed="rId2"/>
          <a:stretch>
            <a:fillRect/>
          </a:stretch>
        </p:blipFill>
        <p:spPr>
          <a:xfrm>
            <a:off x="766233" y="2680225"/>
            <a:ext cx="5471876" cy="3271413"/>
          </a:xfrm>
          <a:prstGeom prst="rect">
            <a:avLst/>
          </a:prstGeom>
        </p:spPr>
      </p:pic>
      <p:pic>
        <p:nvPicPr>
          <p:cNvPr id="8" name="Picture 7">
            <a:extLst>
              <a:ext uri="{FF2B5EF4-FFF2-40B4-BE49-F238E27FC236}">
                <a16:creationId xmlns:a16="http://schemas.microsoft.com/office/drawing/2014/main" id="{82FD61E9-D91B-4C4E-A287-69CF14C6EBFB}"/>
              </a:ext>
            </a:extLst>
          </p:cNvPr>
          <p:cNvPicPr>
            <a:picLocks noChangeAspect="1"/>
          </p:cNvPicPr>
          <p:nvPr/>
        </p:nvPicPr>
        <p:blipFill>
          <a:blip r:embed="rId3"/>
          <a:stretch>
            <a:fillRect/>
          </a:stretch>
        </p:blipFill>
        <p:spPr>
          <a:xfrm>
            <a:off x="6723482" y="2680225"/>
            <a:ext cx="4381742" cy="3145465"/>
          </a:xfrm>
          <a:prstGeom prst="rect">
            <a:avLst/>
          </a:prstGeom>
        </p:spPr>
      </p:pic>
      <p:sp>
        <p:nvSpPr>
          <p:cNvPr id="9" name="TextBox 8">
            <a:extLst>
              <a:ext uri="{FF2B5EF4-FFF2-40B4-BE49-F238E27FC236}">
                <a16:creationId xmlns:a16="http://schemas.microsoft.com/office/drawing/2014/main" id="{8046D814-4191-457E-8074-3C680E564A7A}"/>
              </a:ext>
            </a:extLst>
          </p:cNvPr>
          <p:cNvSpPr txBox="1"/>
          <p:nvPr/>
        </p:nvSpPr>
        <p:spPr>
          <a:xfrm>
            <a:off x="1039328" y="5981282"/>
            <a:ext cx="10573985" cy="276999"/>
          </a:xfrm>
          <a:prstGeom prst="rect">
            <a:avLst/>
          </a:prstGeom>
          <a:noFill/>
        </p:spPr>
        <p:txBody>
          <a:bodyPr wrap="none" rtlCol="0">
            <a:spAutoFit/>
          </a:bodyPr>
          <a:lstStyle/>
          <a:p>
            <a:pPr marL="342900" indent="-342900">
              <a:buAutoNum type="alphaLcParenBoth"/>
            </a:pPr>
            <a:r>
              <a:rPr lang="en-US" sz="1200" dirty="0"/>
              <a:t>Properly fitted nonlinear mapping with </a:t>
            </a:r>
            <a:r>
              <a:rPr lang="en-US" sz="1200" b="1" dirty="0"/>
              <a:t>good generalization</a:t>
            </a:r>
            <a:r>
              <a:rPr lang="en-US" sz="1200" dirty="0"/>
              <a:t>.         (b) Overfitted nonlinear mapping with </a:t>
            </a:r>
            <a:r>
              <a:rPr lang="en-US" sz="1200" b="1" dirty="0"/>
              <a:t>poor generalization</a:t>
            </a:r>
            <a:r>
              <a:rPr lang="en-US" sz="1200" dirty="0"/>
              <a:t>.</a:t>
            </a:r>
            <a:endParaRPr lang="en-IN" sz="1200" dirty="0"/>
          </a:p>
        </p:txBody>
      </p:sp>
    </p:spTree>
    <p:extLst>
      <p:ext uri="{BB962C8B-B14F-4D97-AF65-F5344CB8AC3E}">
        <p14:creationId xmlns:p14="http://schemas.microsoft.com/office/powerpoint/2010/main" val="17315388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chemeClr val="bg1">
                    <a:lumMod val="50000"/>
                  </a:schemeClr>
                </a:solidFill>
                <a:latin typeface="Inter"/>
              </a:rPr>
              <a:t>Multilayer Perceptron: </a:t>
            </a:r>
            <a:r>
              <a:rPr lang="en-US" sz="2000" dirty="0">
                <a:solidFill>
                  <a:schemeClr val="bg1">
                    <a:lumMod val="50000"/>
                  </a:schemeClr>
                </a:solidFill>
                <a:latin typeface="Inter"/>
              </a:rPr>
              <a:t>Introduction, Batch Learning and on-line Learning, The Back- Propagation Algorithm, The Hessian and its Role in On-Line Learning, Generalization, </a:t>
            </a:r>
            <a:r>
              <a:rPr lang="en-US" sz="2000" dirty="0">
                <a:solidFill>
                  <a:srgbClr val="262626"/>
                </a:solidFill>
                <a:latin typeface="Inter"/>
              </a:rPr>
              <a:t>Approximation of Functions, Cross-Validation, Complexity Regularization and Network Pruning, 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61</a:t>
            </a:fld>
            <a:endParaRPr lang="en-US"/>
          </a:p>
        </p:txBody>
      </p:sp>
    </p:spTree>
    <p:extLst>
      <p:ext uri="{BB962C8B-B14F-4D97-AF65-F5344CB8AC3E}">
        <p14:creationId xmlns:p14="http://schemas.microsoft.com/office/powerpoint/2010/main" val="180163589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2B166-F49B-4DB6-873D-D68D25D515C2}"/>
              </a:ext>
            </a:extLst>
          </p:cNvPr>
          <p:cNvSpPr>
            <a:spLocks noGrp="1"/>
          </p:cNvSpPr>
          <p:nvPr>
            <p:ph type="title"/>
          </p:nvPr>
        </p:nvSpPr>
        <p:spPr/>
        <p:txBody>
          <a:bodyPr/>
          <a:lstStyle/>
          <a:p>
            <a:r>
              <a:rPr lang="en-IN" dirty="0"/>
              <a:t>APPROXIMATIONS OF FUNCTIONS</a:t>
            </a:r>
          </a:p>
        </p:txBody>
      </p:sp>
      <p:sp>
        <p:nvSpPr>
          <p:cNvPr id="3" name="Content Placeholder 2">
            <a:extLst>
              <a:ext uri="{FF2B5EF4-FFF2-40B4-BE49-F238E27FC236}">
                <a16:creationId xmlns:a16="http://schemas.microsoft.com/office/drawing/2014/main" id="{4B3E38B9-CFF4-4F7B-B821-1E8688E957B5}"/>
              </a:ext>
            </a:extLst>
          </p:cNvPr>
          <p:cNvSpPr>
            <a:spLocks noGrp="1"/>
          </p:cNvSpPr>
          <p:nvPr>
            <p:ph idx="1"/>
          </p:nvPr>
        </p:nvSpPr>
        <p:spPr/>
        <p:txBody>
          <a:bodyPr/>
          <a:lstStyle/>
          <a:p>
            <a:pPr marL="0" indent="0" algn="just">
              <a:buNone/>
            </a:pPr>
            <a:r>
              <a:rPr lang="en-US" sz="1600" dirty="0"/>
              <a:t>A multilayer perceptron trained with the back-propagation algorithm may be viewed as a practical vehicle for performing a nonlinear input–output mapping of a general nature.</a:t>
            </a:r>
          </a:p>
          <a:p>
            <a:pPr marL="0" indent="0" algn="just">
              <a:buNone/>
            </a:pPr>
            <a:r>
              <a:rPr lang="en-US" sz="1600" dirty="0"/>
              <a:t>To be specific, let </a:t>
            </a:r>
            <a:r>
              <a:rPr lang="en-US" sz="1600" b="1" dirty="0"/>
              <a:t>m0</a:t>
            </a:r>
            <a:r>
              <a:rPr lang="en-US" sz="1600" dirty="0"/>
              <a:t> denote the number of </a:t>
            </a:r>
            <a:r>
              <a:rPr lang="en-US" sz="1600" dirty="0">
                <a:solidFill>
                  <a:srgbClr val="C00000"/>
                </a:solidFill>
              </a:rPr>
              <a:t>input</a:t>
            </a:r>
            <a:r>
              <a:rPr lang="en-US" sz="1600" dirty="0"/>
              <a:t> (source) nodes of a multilayer perceptron, and let </a:t>
            </a:r>
            <a:r>
              <a:rPr lang="en-US" sz="1600" b="1" dirty="0"/>
              <a:t>M = m</a:t>
            </a:r>
            <a:r>
              <a:rPr lang="en-US" sz="1600" b="1" baseline="-25000" dirty="0"/>
              <a:t>L</a:t>
            </a:r>
            <a:r>
              <a:rPr lang="en-US" sz="1600" b="1" dirty="0"/>
              <a:t> </a:t>
            </a:r>
            <a:r>
              <a:rPr lang="en-US" sz="1600" dirty="0"/>
              <a:t>denote the number of neurons in the </a:t>
            </a:r>
            <a:r>
              <a:rPr lang="en-US" sz="1600" dirty="0">
                <a:solidFill>
                  <a:srgbClr val="C00000"/>
                </a:solidFill>
              </a:rPr>
              <a:t>output</a:t>
            </a:r>
            <a:r>
              <a:rPr lang="en-US" sz="1600" dirty="0"/>
              <a:t> layer of the network. </a:t>
            </a:r>
          </a:p>
          <a:p>
            <a:pPr marL="0" indent="0" algn="just">
              <a:buNone/>
            </a:pPr>
            <a:r>
              <a:rPr lang="en-US" sz="1600" dirty="0"/>
              <a:t>The input–output relationship of the network defines a mapping from an m0-dimensional Euclidean input space to an M-dimensional Euclidean output space, which is infinitely continuously differentiable when the activation function is likewise. </a:t>
            </a:r>
          </a:p>
          <a:p>
            <a:pPr marL="0" indent="0" algn="just">
              <a:buNone/>
            </a:pPr>
            <a:r>
              <a:rPr lang="en-US" sz="1600" dirty="0"/>
              <a:t>In assessing the capability of the multilayer perceptron from this viewpoint of input–output mapping, the following fundamental question arises:</a:t>
            </a:r>
            <a:endParaRPr lang="en-IN" sz="1600" dirty="0"/>
          </a:p>
        </p:txBody>
      </p:sp>
      <p:sp>
        <p:nvSpPr>
          <p:cNvPr id="4" name="Slide Number Placeholder 3">
            <a:extLst>
              <a:ext uri="{FF2B5EF4-FFF2-40B4-BE49-F238E27FC236}">
                <a16:creationId xmlns:a16="http://schemas.microsoft.com/office/drawing/2014/main" id="{6EDC981C-78A7-4646-8264-7F4398608D1D}"/>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6" name="Picture 5">
            <a:extLst>
              <a:ext uri="{FF2B5EF4-FFF2-40B4-BE49-F238E27FC236}">
                <a16:creationId xmlns:a16="http://schemas.microsoft.com/office/drawing/2014/main" id="{FB7605B4-7C30-4101-B4A9-FAA8A8CEA41E}"/>
              </a:ext>
            </a:extLst>
          </p:cNvPr>
          <p:cNvPicPr>
            <a:picLocks noChangeAspect="1"/>
          </p:cNvPicPr>
          <p:nvPr/>
        </p:nvPicPr>
        <p:blipFill>
          <a:blip r:embed="rId2"/>
          <a:stretch>
            <a:fillRect/>
          </a:stretch>
        </p:blipFill>
        <p:spPr>
          <a:xfrm>
            <a:off x="789269" y="3733800"/>
            <a:ext cx="10535837" cy="762000"/>
          </a:xfrm>
          <a:prstGeom prst="rect">
            <a:avLst/>
          </a:prstGeom>
        </p:spPr>
      </p:pic>
    </p:spTree>
    <p:extLst>
      <p:ext uri="{BB962C8B-B14F-4D97-AF65-F5344CB8AC3E}">
        <p14:creationId xmlns:p14="http://schemas.microsoft.com/office/powerpoint/2010/main" val="1665666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704D-E687-4501-91E7-95709CFB3EAE}"/>
              </a:ext>
            </a:extLst>
          </p:cNvPr>
          <p:cNvSpPr>
            <a:spLocks noGrp="1"/>
          </p:cNvSpPr>
          <p:nvPr>
            <p:ph type="title"/>
          </p:nvPr>
        </p:nvSpPr>
        <p:spPr/>
        <p:txBody>
          <a:bodyPr/>
          <a:lstStyle/>
          <a:p>
            <a:r>
              <a:rPr lang="en-IN" sz="3200"/>
              <a:t>Universal Approximation Theorem</a:t>
            </a:r>
            <a:endParaRPr lang="en-IN" dirty="0"/>
          </a:p>
        </p:txBody>
      </p:sp>
      <p:sp>
        <p:nvSpPr>
          <p:cNvPr id="3" name="Content Placeholder 2">
            <a:extLst>
              <a:ext uri="{FF2B5EF4-FFF2-40B4-BE49-F238E27FC236}">
                <a16:creationId xmlns:a16="http://schemas.microsoft.com/office/drawing/2014/main" id="{235538FD-BF6D-49E8-BA75-EB205E80FC9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9BB08CF4-D45A-4CA5-B831-01E3947FCFA2}"/>
              </a:ext>
            </a:extLst>
          </p:cNvPr>
          <p:cNvSpPr>
            <a:spLocks noGrp="1"/>
          </p:cNvSpPr>
          <p:nvPr>
            <p:ph type="sldNum" sz="quarter" idx="12"/>
          </p:nvPr>
        </p:nvSpPr>
        <p:spPr/>
        <p:txBody>
          <a:bodyPr/>
          <a:lstStyle/>
          <a:p>
            <a:fld id="{BB2CE0DE-867F-455F-B20B-96D381B4AB71}" type="slidenum">
              <a:rPr lang="en-US" smtClean="0"/>
              <a:t>63</a:t>
            </a:fld>
            <a:endParaRPr lang="en-US"/>
          </a:p>
        </p:txBody>
      </p:sp>
      <p:pic>
        <p:nvPicPr>
          <p:cNvPr id="6" name="Picture 5">
            <a:extLst>
              <a:ext uri="{FF2B5EF4-FFF2-40B4-BE49-F238E27FC236}">
                <a16:creationId xmlns:a16="http://schemas.microsoft.com/office/drawing/2014/main" id="{E3A8B330-A01A-4D81-8225-74844E79C8B8}"/>
              </a:ext>
            </a:extLst>
          </p:cNvPr>
          <p:cNvPicPr>
            <a:picLocks noChangeAspect="1"/>
          </p:cNvPicPr>
          <p:nvPr/>
        </p:nvPicPr>
        <p:blipFill>
          <a:blip r:embed="rId2"/>
          <a:stretch>
            <a:fillRect/>
          </a:stretch>
        </p:blipFill>
        <p:spPr>
          <a:xfrm>
            <a:off x="766232" y="1256414"/>
            <a:ext cx="11028269" cy="1639186"/>
          </a:xfrm>
          <a:prstGeom prst="rect">
            <a:avLst/>
          </a:prstGeom>
        </p:spPr>
      </p:pic>
    </p:spTree>
    <p:extLst>
      <p:ext uri="{BB962C8B-B14F-4D97-AF65-F5344CB8AC3E}">
        <p14:creationId xmlns:p14="http://schemas.microsoft.com/office/powerpoint/2010/main" val="21420872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2DBF-779F-4472-8C08-B07EE658748B}"/>
              </a:ext>
            </a:extLst>
          </p:cNvPr>
          <p:cNvSpPr>
            <a:spLocks noGrp="1"/>
          </p:cNvSpPr>
          <p:nvPr>
            <p:ph type="title"/>
          </p:nvPr>
        </p:nvSpPr>
        <p:spPr/>
        <p:txBody>
          <a:bodyPr/>
          <a:lstStyle/>
          <a:p>
            <a:r>
              <a:rPr lang="en-US" dirty="0"/>
              <a:t>Consider a Neural Network</a:t>
            </a:r>
            <a:endParaRPr lang="en-IN" dirty="0"/>
          </a:p>
        </p:txBody>
      </p:sp>
      <p:sp>
        <p:nvSpPr>
          <p:cNvPr id="3" name="Content Placeholder 2">
            <a:extLst>
              <a:ext uri="{FF2B5EF4-FFF2-40B4-BE49-F238E27FC236}">
                <a16:creationId xmlns:a16="http://schemas.microsoft.com/office/drawing/2014/main" id="{1F84F4B6-2DD9-418D-8CB6-EC4ABF936DDF}"/>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A52AA2DF-7E68-49EE-8165-64C4A7306044}"/>
              </a:ext>
            </a:extLst>
          </p:cNvPr>
          <p:cNvSpPr>
            <a:spLocks noGrp="1"/>
          </p:cNvSpPr>
          <p:nvPr>
            <p:ph type="sldNum" sz="quarter" idx="12"/>
          </p:nvPr>
        </p:nvSpPr>
        <p:spPr/>
        <p:txBody>
          <a:bodyPr/>
          <a:lstStyle/>
          <a:p>
            <a:fld id="{BB2CE0DE-867F-455F-B20B-96D381B4AB71}" type="slidenum">
              <a:rPr lang="en-US" smtClean="0"/>
              <a:t>64</a:t>
            </a:fld>
            <a:endParaRPr lang="en-US"/>
          </a:p>
        </p:txBody>
      </p:sp>
      <p:pic>
        <p:nvPicPr>
          <p:cNvPr id="6" name="Picture 5">
            <a:extLst>
              <a:ext uri="{FF2B5EF4-FFF2-40B4-BE49-F238E27FC236}">
                <a16:creationId xmlns:a16="http://schemas.microsoft.com/office/drawing/2014/main" id="{C7555AD4-D385-49A4-8F08-AD63D2031406}"/>
              </a:ext>
            </a:extLst>
          </p:cNvPr>
          <p:cNvPicPr>
            <a:picLocks noChangeAspect="1"/>
          </p:cNvPicPr>
          <p:nvPr/>
        </p:nvPicPr>
        <p:blipFill>
          <a:blip r:embed="rId2"/>
          <a:stretch>
            <a:fillRect/>
          </a:stretch>
        </p:blipFill>
        <p:spPr>
          <a:xfrm>
            <a:off x="755651" y="1066799"/>
            <a:ext cx="10494820" cy="1905000"/>
          </a:xfrm>
          <a:prstGeom prst="rect">
            <a:avLst/>
          </a:prstGeom>
        </p:spPr>
      </p:pic>
      <p:pic>
        <p:nvPicPr>
          <p:cNvPr id="7" name="Picture 6">
            <a:extLst>
              <a:ext uri="{FF2B5EF4-FFF2-40B4-BE49-F238E27FC236}">
                <a16:creationId xmlns:a16="http://schemas.microsoft.com/office/drawing/2014/main" id="{C8613AF5-D998-4465-8DAD-3E9CBE9963EF}"/>
              </a:ext>
            </a:extLst>
          </p:cNvPr>
          <p:cNvPicPr>
            <a:picLocks noChangeAspect="1"/>
          </p:cNvPicPr>
          <p:nvPr/>
        </p:nvPicPr>
        <p:blipFill>
          <a:blip r:embed="rId3"/>
          <a:stretch>
            <a:fillRect/>
          </a:stretch>
        </p:blipFill>
        <p:spPr>
          <a:xfrm rot="16200000">
            <a:off x="1644364" y="2631064"/>
            <a:ext cx="3569273" cy="4419601"/>
          </a:xfrm>
          <a:prstGeom prst="rect">
            <a:avLst/>
          </a:prstGeom>
        </p:spPr>
      </p:pic>
    </p:spTree>
    <p:extLst>
      <p:ext uri="{BB962C8B-B14F-4D97-AF65-F5344CB8AC3E}">
        <p14:creationId xmlns:p14="http://schemas.microsoft.com/office/powerpoint/2010/main" val="14891381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E482F-C35B-D010-C472-89AB3F7CE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0E386B-2BB7-D248-E77C-B360F461591D}"/>
              </a:ext>
            </a:extLst>
          </p:cNvPr>
          <p:cNvSpPr>
            <a:spLocks noGrp="1"/>
          </p:cNvSpPr>
          <p:nvPr>
            <p:ph type="title"/>
          </p:nvPr>
        </p:nvSpPr>
        <p:spPr/>
        <p:txBody>
          <a:bodyPr/>
          <a:lstStyle/>
          <a:p>
            <a:r>
              <a:rPr lang="en-US" dirty="0"/>
              <a:t>Consider a Neural Network</a:t>
            </a:r>
            <a:endParaRPr lang="en-IN" dirty="0"/>
          </a:p>
        </p:txBody>
      </p:sp>
      <p:sp>
        <p:nvSpPr>
          <p:cNvPr id="3" name="Content Placeholder 2">
            <a:extLst>
              <a:ext uri="{FF2B5EF4-FFF2-40B4-BE49-F238E27FC236}">
                <a16:creationId xmlns:a16="http://schemas.microsoft.com/office/drawing/2014/main" id="{FBACC41C-FFDC-2109-C98D-D88FA4E8CE4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DF6D09CA-3B7B-D319-4AA9-517D2DFDABAA}"/>
              </a:ext>
            </a:extLst>
          </p:cNvPr>
          <p:cNvSpPr>
            <a:spLocks noGrp="1"/>
          </p:cNvSpPr>
          <p:nvPr>
            <p:ph type="sldNum" sz="quarter" idx="12"/>
          </p:nvPr>
        </p:nvSpPr>
        <p:spPr/>
        <p:txBody>
          <a:bodyPr/>
          <a:lstStyle/>
          <a:p>
            <a:fld id="{BB2CE0DE-867F-455F-B20B-96D381B4AB71}" type="slidenum">
              <a:rPr lang="en-US" smtClean="0"/>
              <a:t>65</a:t>
            </a:fld>
            <a:endParaRPr lang="en-US"/>
          </a:p>
        </p:txBody>
      </p:sp>
      <p:pic>
        <p:nvPicPr>
          <p:cNvPr id="6" name="Picture 5">
            <a:extLst>
              <a:ext uri="{FF2B5EF4-FFF2-40B4-BE49-F238E27FC236}">
                <a16:creationId xmlns:a16="http://schemas.microsoft.com/office/drawing/2014/main" id="{656C94D9-0A4A-D0DE-A72F-D34C0304EFFD}"/>
              </a:ext>
            </a:extLst>
          </p:cNvPr>
          <p:cNvPicPr>
            <a:picLocks noChangeAspect="1"/>
          </p:cNvPicPr>
          <p:nvPr/>
        </p:nvPicPr>
        <p:blipFill>
          <a:blip r:embed="rId2"/>
          <a:stretch>
            <a:fillRect/>
          </a:stretch>
        </p:blipFill>
        <p:spPr>
          <a:xfrm>
            <a:off x="755651" y="1066799"/>
            <a:ext cx="10494820" cy="1905000"/>
          </a:xfrm>
          <a:prstGeom prst="rect">
            <a:avLst/>
          </a:prstGeom>
        </p:spPr>
      </p:pic>
      <p:pic>
        <p:nvPicPr>
          <p:cNvPr id="7" name="Picture 6">
            <a:extLst>
              <a:ext uri="{FF2B5EF4-FFF2-40B4-BE49-F238E27FC236}">
                <a16:creationId xmlns:a16="http://schemas.microsoft.com/office/drawing/2014/main" id="{C3390824-128F-230E-AD54-33735C2A14FD}"/>
              </a:ext>
            </a:extLst>
          </p:cNvPr>
          <p:cNvPicPr>
            <a:picLocks noChangeAspect="1"/>
          </p:cNvPicPr>
          <p:nvPr/>
        </p:nvPicPr>
        <p:blipFill>
          <a:blip r:embed="rId3"/>
          <a:stretch>
            <a:fillRect/>
          </a:stretch>
        </p:blipFill>
        <p:spPr>
          <a:xfrm rot="16200000">
            <a:off x="1180025" y="2521318"/>
            <a:ext cx="3781809" cy="4682771"/>
          </a:xfrm>
          <a:prstGeom prst="rect">
            <a:avLst/>
          </a:prstGeom>
        </p:spPr>
      </p:pic>
      <p:pic>
        <p:nvPicPr>
          <p:cNvPr id="8" name="Picture 7">
            <a:extLst>
              <a:ext uri="{FF2B5EF4-FFF2-40B4-BE49-F238E27FC236}">
                <a16:creationId xmlns:a16="http://schemas.microsoft.com/office/drawing/2014/main" id="{7E057127-2401-0A44-B504-7F8FBE9B7566}"/>
              </a:ext>
            </a:extLst>
          </p:cNvPr>
          <p:cNvPicPr>
            <a:picLocks noChangeAspect="1"/>
          </p:cNvPicPr>
          <p:nvPr/>
        </p:nvPicPr>
        <p:blipFill>
          <a:blip r:embed="rId4"/>
          <a:stretch>
            <a:fillRect/>
          </a:stretch>
        </p:blipFill>
        <p:spPr>
          <a:xfrm>
            <a:off x="6248400" y="3872091"/>
            <a:ext cx="5510770" cy="914398"/>
          </a:xfrm>
          <a:prstGeom prst="rect">
            <a:avLst/>
          </a:prstGeom>
        </p:spPr>
      </p:pic>
    </p:spTree>
    <p:extLst>
      <p:ext uri="{BB962C8B-B14F-4D97-AF65-F5344CB8AC3E}">
        <p14:creationId xmlns:p14="http://schemas.microsoft.com/office/powerpoint/2010/main" val="1007680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EF0D-916A-45E4-8F49-F32A9EC0F4CC}"/>
              </a:ext>
            </a:extLst>
          </p:cNvPr>
          <p:cNvSpPr>
            <a:spLocks noGrp="1"/>
          </p:cNvSpPr>
          <p:nvPr>
            <p:ph type="title"/>
          </p:nvPr>
        </p:nvSpPr>
        <p:spPr/>
        <p:txBody>
          <a:bodyPr/>
          <a:lstStyle/>
          <a:p>
            <a:r>
              <a:rPr lang="en-IN" dirty="0"/>
              <a:t>Universal Approximation Theorem </a:t>
            </a:r>
          </a:p>
        </p:txBody>
      </p:sp>
      <p:sp>
        <p:nvSpPr>
          <p:cNvPr id="3" name="Content Placeholder 2">
            <a:extLst>
              <a:ext uri="{FF2B5EF4-FFF2-40B4-BE49-F238E27FC236}">
                <a16:creationId xmlns:a16="http://schemas.microsoft.com/office/drawing/2014/main" id="{47C1FEC7-3844-47DC-A288-8FB59D2720DC}"/>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CF56D77E-28C6-40D7-A4DA-472A76677F00}"/>
              </a:ext>
            </a:extLst>
          </p:cNvPr>
          <p:cNvSpPr>
            <a:spLocks noGrp="1"/>
          </p:cNvSpPr>
          <p:nvPr>
            <p:ph type="sldNum" sz="quarter" idx="12"/>
          </p:nvPr>
        </p:nvSpPr>
        <p:spPr/>
        <p:txBody>
          <a:bodyPr/>
          <a:lstStyle/>
          <a:p>
            <a:fld id="{BB2CE0DE-867F-455F-B20B-96D381B4AB71}" type="slidenum">
              <a:rPr lang="en-US" smtClean="0"/>
              <a:t>66</a:t>
            </a:fld>
            <a:endParaRPr lang="en-US"/>
          </a:p>
        </p:txBody>
      </p:sp>
      <p:pic>
        <p:nvPicPr>
          <p:cNvPr id="6" name="Picture 5">
            <a:extLst>
              <a:ext uri="{FF2B5EF4-FFF2-40B4-BE49-F238E27FC236}">
                <a16:creationId xmlns:a16="http://schemas.microsoft.com/office/drawing/2014/main" id="{9CC03D22-672D-43F4-8C82-8A167E9E34C7}"/>
              </a:ext>
            </a:extLst>
          </p:cNvPr>
          <p:cNvPicPr>
            <a:picLocks noChangeAspect="1"/>
          </p:cNvPicPr>
          <p:nvPr/>
        </p:nvPicPr>
        <p:blipFill>
          <a:blip r:embed="rId2"/>
          <a:stretch>
            <a:fillRect/>
          </a:stretch>
        </p:blipFill>
        <p:spPr>
          <a:xfrm>
            <a:off x="533400" y="1219200"/>
            <a:ext cx="10409622" cy="3934522"/>
          </a:xfrm>
          <a:prstGeom prst="rect">
            <a:avLst/>
          </a:prstGeom>
        </p:spPr>
      </p:pic>
      <p:pic>
        <p:nvPicPr>
          <p:cNvPr id="7" name="Picture 6">
            <a:extLst>
              <a:ext uri="{FF2B5EF4-FFF2-40B4-BE49-F238E27FC236}">
                <a16:creationId xmlns:a16="http://schemas.microsoft.com/office/drawing/2014/main" id="{F88AC72C-6426-4B3A-B373-2F724AA2B344}"/>
              </a:ext>
            </a:extLst>
          </p:cNvPr>
          <p:cNvPicPr>
            <a:picLocks noChangeAspect="1"/>
          </p:cNvPicPr>
          <p:nvPr/>
        </p:nvPicPr>
        <p:blipFill>
          <a:blip r:embed="rId3"/>
          <a:stretch>
            <a:fillRect/>
          </a:stretch>
        </p:blipFill>
        <p:spPr>
          <a:xfrm rot="16200000">
            <a:off x="9209241" y="3951441"/>
            <a:ext cx="2688918" cy="3276600"/>
          </a:xfrm>
          <a:prstGeom prst="rect">
            <a:avLst/>
          </a:prstGeom>
        </p:spPr>
      </p:pic>
    </p:spTree>
    <p:extLst>
      <p:ext uri="{BB962C8B-B14F-4D97-AF65-F5344CB8AC3E}">
        <p14:creationId xmlns:p14="http://schemas.microsoft.com/office/powerpoint/2010/main" val="35746845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2C4BB-133B-41CE-9E7F-EC63855D2455}"/>
              </a:ext>
            </a:extLst>
          </p:cNvPr>
          <p:cNvSpPr>
            <a:spLocks noGrp="1"/>
          </p:cNvSpPr>
          <p:nvPr>
            <p:ph type="title"/>
          </p:nvPr>
        </p:nvSpPr>
        <p:spPr/>
        <p:txBody>
          <a:bodyPr/>
          <a:lstStyle/>
          <a:p>
            <a:r>
              <a:rPr lang="en-US" i="0" dirty="0">
                <a:solidFill>
                  <a:srgbClr val="273239"/>
                </a:solidFill>
                <a:effectLst/>
                <a:latin typeface="Nunito" pitchFamily="2" charset="0"/>
              </a:rPr>
              <a:t>Theoretical Insights of the Theorem</a:t>
            </a:r>
            <a:endParaRPr lang="en-IN" dirty="0"/>
          </a:p>
        </p:txBody>
      </p:sp>
      <p:sp>
        <p:nvSpPr>
          <p:cNvPr id="3" name="Content Placeholder 2">
            <a:extLst>
              <a:ext uri="{FF2B5EF4-FFF2-40B4-BE49-F238E27FC236}">
                <a16:creationId xmlns:a16="http://schemas.microsoft.com/office/drawing/2014/main" id="{1D3E6A57-C5DD-4342-B4E8-12392D735617}"/>
              </a:ext>
            </a:extLst>
          </p:cNvPr>
          <p:cNvSpPr>
            <a:spLocks noGrp="1"/>
          </p:cNvSpPr>
          <p:nvPr>
            <p:ph idx="1"/>
          </p:nvPr>
        </p:nvSpPr>
        <p:spPr/>
        <p:txBody>
          <a:bodyPr/>
          <a:lstStyle/>
          <a:p>
            <a:pPr algn="just" rtl="0" fontAlgn="base"/>
            <a:r>
              <a:rPr lang="en-US" sz="2000" b="0" i="0" dirty="0">
                <a:solidFill>
                  <a:srgbClr val="273239"/>
                </a:solidFill>
                <a:effectLst/>
                <a:latin typeface="Nunito" pitchFamily="2" charset="0"/>
              </a:rPr>
              <a:t>The Universal Approximation Theorem provides theoretical assurance that neural networks are capable of learning almost any function. Specifically, a </a:t>
            </a:r>
            <a:r>
              <a:rPr lang="en-US" sz="2000" b="1" i="0" dirty="0">
                <a:solidFill>
                  <a:srgbClr val="273239"/>
                </a:solidFill>
                <a:effectLst/>
                <a:latin typeface="Nunito" pitchFamily="2" charset="0"/>
              </a:rPr>
              <a:t>single hidden layer neural network</a:t>
            </a:r>
            <a:r>
              <a:rPr lang="en-US" sz="2000" b="0" i="0" dirty="0">
                <a:solidFill>
                  <a:srgbClr val="273239"/>
                </a:solidFill>
                <a:effectLst/>
                <a:latin typeface="Nunito" pitchFamily="2" charset="0"/>
              </a:rPr>
              <a:t> can approximate any continuous function on a compact subset of real numbers, given enough neurons and an appropriate activation function.</a:t>
            </a:r>
          </a:p>
          <a:p>
            <a:pPr algn="just" rtl="0" fontAlgn="base"/>
            <a:r>
              <a:rPr lang="en-US" sz="2000" b="0" i="0" dirty="0">
                <a:solidFill>
                  <a:srgbClr val="273239"/>
                </a:solidFill>
                <a:effectLst/>
                <a:latin typeface="Nunito" pitchFamily="2" charset="0"/>
              </a:rPr>
              <a:t>This highlights the strength of neural networks:</a:t>
            </a:r>
          </a:p>
          <a:p>
            <a:pPr algn="just" fontAlgn="base">
              <a:buFont typeface="Arial" panose="020B0604020202020204" pitchFamily="34" charset="0"/>
              <a:buChar char="•"/>
            </a:pPr>
            <a:r>
              <a:rPr lang="en-US" sz="2000" b="1" i="0" dirty="0">
                <a:solidFill>
                  <a:srgbClr val="273239"/>
                </a:solidFill>
                <a:effectLst/>
                <a:latin typeface="Nunito" pitchFamily="2" charset="0"/>
              </a:rPr>
              <a:t>Expressiveness</a:t>
            </a:r>
            <a:r>
              <a:rPr lang="en-US" sz="2000" b="0" i="0" dirty="0">
                <a:solidFill>
                  <a:srgbClr val="273239"/>
                </a:solidFill>
                <a:effectLst/>
                <a:latin typeface="Nunito" pitchFamily="2" charset="0"/>
              </a:rPr>
              <a:t>: Neural networks can model functions of varying complexity.</a:t>
            </a:r>
          </a:p>
          <a:p>
            <a:pPr algn="just" fontAlgn="base">
              <a:buFont typeface="Arial" panose="020B0604020202020204" pitchFamily="34" charset="0"/>
              <a:buChar char="•"/>
            </a:pPr>
            <a:r>
              <a:rPr lang="en-US" sz="2000" b="1" i="0" dirty="0">
                <a:solidFill>
                  <a:srgbClr val="273239"/>
                </a:solidFill>
                <a:effectLst/>
                <a:latin typeface="Nunito" pitchFamily="2" charset="0"/>
              </a:rPr>
              <a:t>Scalability</a:t>
            </a:r>
            <a:r>
              <a:rPr lang="en-US" sz="2000" b="0" i="0" dirty="0">
                <a:solidFill>
                  <a:srgbClr val="273239"/>
                </a:solidFill>
                <a:effectLst/>
                <a:latin typeface="Nunito" pitchFamily="2" charset="0"/>
              </a:rPr>
              <a:t>: Larger networks (more neurons and layers) can approximate more complex functions with greater precision.</a:t>
            </a:r>
          </a:p>
          <a:p>
            <a:pPr algn="just"/>
            <a:endParaRPr lang="en-IN" sz="2000" dirty="0"/>
          </a:p>
        </p:txBody>
      </p:sp>
      <p:sp>
        <p:nvSpPr>
          <p:cNvPr id="4" name="Slide Number Placeholder 3">
            <a:extLst>
              <a:ext uri="{FF2B5EF4-FFF2-40B4-BE49-F238E27FC236}">
                <a16:creationId xmlns:a16="http://schemas.microsoft.com/office/drawing/2014/main" id="{BBCCAB9B-7F98-4986-B348-1D1C955D24DF}"/>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0818497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9FA59-E085-4A4F-A64F-DABDBBC29DC5}"/>
              </a:ext>
            </a:extLst>
          </p:cNvPr>
          <p:cNvSpPr>
            <a:spLocks noGrp="1"/>
          </p:cNvSpPr>
          <p:nvPr>
            <p:ph type="title"/>
          </p:nvPr>
        </p:nvSpPr>
        <p:spPr/>
        <p:txBody>
          <a:bodyPr/>
          <a:lstStyle/>
          <a:p>
            <a:r>
              <a:rPr lang="en-IN" b="1" i="0" dirty="0">
                <a:solidFill>
                  <a:srgbClr val="273239"/>
                </a:solidFill>
                <a:effectLst/>
                <a:latin typeface="Nunito" pitchFamily="2" charset="0"/>
              </a:rPr>
              <a:t>Practical Limitations of UAT</a:t>
            </a:r>
            <a:endParaRPr lang="en-IN" dirty="0"/>
          </a:p>
        </p:txBody>
      </p:sp>
      <p:sp>
        <p:nvSpPr>
          <p:cNvPr id="3" name="Content Placeholder 2">
            <a:extLst>
              <a:ext uri="{FF2B5EF4-FFF2-40B4-BE49-F238E27FC236}">
                <a16:creationId xmlns:a16="http://schemas.microsoft.com/office/drawing/2014/main" id="{E8B567BC-28D7-4320-92FD-0554DC8DC9E3}"/>
              </a:ext>
            </a:extLst>
          </p:cNvPr>
          <p:cNvSpPr>
            <a:spLocks noGrp="1"/>
          </p:cNvSpPr>
          <p:nvPr>
            <p:ph idx="1"/>
          </p:nvPr>
        </p:nvSpPr>
        <p:spPr/>
        <p:txBody>
          <a:bodyPr/>
          <a:lstStyle/>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While the Universal Approximation Theorem is mathematically elegant, it comes with certain practical limitations:</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1. Network Size and Efficiency</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theorem guarantees that a neural network can approximate any continuous function, but it doesn’t specify the size of the network required. In some cases, the number of neurons required to achieve a high degree of accuracy may be impractically large.</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2. Overfitting</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network may fit the training data perfectly, but it can also overfit, meaning it performs poorly on unseen data. Regularization techniques like dropout or early stopping are needed to mitigate this risk.</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3. Generalization</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theorem applies to the </a:t>
            </a:r>
            <a:r>
              <a:rPr lang="en-US" sz="1800" b="1" i="0" dirty="0">
                <a:solidFill>
                  <a:srgbClr val="273239"/>
                </a:solidFill>
                <a:effectLst/>
                <a:latin typeface="Times New Roman" panose="02020603050405020304" pitchFamily="18" charset="0"/>
                <a:cs typeface="Times New Roman" panose="02020603050405020304" pitchFamily="18" charset="0"/>
              </a:rPr>
              <a:t>function approximation</a:t>
            </a:r>
            <a:r>
              <a:rPr lang="en-US" sz="1800" b="0" i="0" dirty="0">
                <a:solidFill>
                  <a:srgbClr val="273239"/>
                </a:solidFill>
                <a:effectLst/>
                <a:latin typeface="Times New Roman" panose="02020603050405020304" pitchFamily="18" charset="0"/>
                <a:cs typeface="Times New Roman" panose="02020603050405020304" pitchFamily="18" charset="0"/>
              </a:rPr>
              <a:t> on the given training set, but it doesn’t guarantee how well the network will generalize to new, unseen data. Techniques such as cross-validation help ensure good generalization.</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4. Training Difficulties</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While the theorem assures that such an approximation exists, it doesn't provide insights on how to efficiently train the network. Gradient-based optimization methods can get stuck in local minima or saddle points, making it challenging to find the optimal solution.</a:t>
            </a:r>
          </a:p>
          <a:p>
            <a:pPr marL="0" indent="0" algn="just">
              <a:buNone/>
            </a:pPr>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A02B5FE-EC78-4AEC-8DE0-8BEFB7180C5F}"/>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25766386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87D1C-6E73-9EAF-69CD-B590B3DDE261}"/>
              </a:ext>
            </a:extLst>
          </p:cNvPr>
          <p:cNvSpPr>
            <a:spLocks noGrp="1"/>
          </p:cNvSpPr>
          <p:nvPr>
            <p:ph type="title"/>
          </p:nvPr>
        </p:nvSpPr>
        <p:spPr/>
        <p:txBody>
          <a:bodyPr/>
          <a:lstStyle/>
          <a:p>
            <a:r>
              <a:rPr lang="en-US" dirty="0"/>
              <a:t>Question: Approximation functions</a:t>
            </a:r>
            <a:endParaRPr lang="en-IN" dirty="0"/>
          </a:p>
        </p:txBody>
      </p:sp>
      <p:sp>
        <p:nvSpPr>
          <p:cNvPr id="3" name="Content Placeholder 2">
            <a:extLst>
              <a:ext uri="{FF2B5EF4-FFF2-40B4-BE49-F238E27FC236}">
                <a16:creationId xmlns:a16="http://schemas.microsoft.com/office/drawing/2014/main" id="{8FF6EB31-DDB5-4170-2AD4-767ECCF1A3F1}"/>
              </a:ext>
            </a:extLst>
          </p:cNvPr>
          <p:cNvSpPr>
            <a:spLocks noGrp="1"/>
          </p:cNvSpPr>
          <p:nvPr>
            <p:ph idx="1"/>
          </p:nvPr>
        </p:nvSpPr>
        <p:spPr/>
        <p:txBody>
          <a:bodyPr/>
          <a:lstStyle/>
          <a:p>
            <a:r>
              <a:rPr lang="en-IN" dirty="0"/>
              <a:t>Write  an expression for the Universal approximation theorem (UAT) for a nonlinear input -output mapping and explain the intuition behind UAT.</a:t>
            </a:r>
          </a:p>
        </p:txBody>
      </p:sp>
      <p:sp>
        <p:nvSpPr>
          <p:cNvPr id="4" name="Slide Number Placeholder 3">
            <a:extLst>
              <a:ext uri="{FF2B5EF4-FFF2-40B4-BE49-F238E27FC236}">
                <a16:creationId xmlns:a16="http://schemas.microsoft.com/office/drawing/2014/main" id="{2C56968A-6D4C-5797-9E6A-5A7761904CC0}"/>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22283491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5A56-DD63-45F3-BD2C-B06A6996BAE2}"/>
              </a:ext>
            </a:extLst>
          </p:cNvPr>
          <p:cNvSpPr>
            <a:spLocks noGrp="1"/>
          </p:cNvSpPr>
          <p:nvPr>
            <p:ph type="title"/>
          </p:nvPr>
        </p:nvSpPr>
        <p:spPr/>
        <p:txBody>
          <a:bodyPr/>
          <a:lstStyle/>
          <a:p>
            <a:r>
              <a:rPr lang="en-US" b="0" i="0" dirty="0">
                <a:solidFill>
                  <a:srgbClr val="273239"/>
                </a:solidFill>
                <a:effectLst/>
                <a:latin typeface="Nunito" pitchFamily="2" charset="0"/>
              </a:rPr>
              <a:t>Cross-validation</a:t>
            </a:r>
            <a:endParaRPr lang="en-IN" dirty="0"/>
          </a:p>
        </p:txBody>
      </p:sp>
      <p:sp>
        <p:nvSpPr>
          <p:cNvPr id="3" name="Content Placeholder 2">
            <a:extLst>
              <a:ext uri="{FF2B5EF4-FFF2-40B4-BE49-F238E27FC236}">
                <a16:creationId xmlns:a16="http://schemas.microsoft.com/office/drawing/2014/main" id="{9D3100FB-BE81-4A8F-A8E8-42A713380DA7}"/>
              </a:ext>
            </a:extLst>
          </p:cNvPr>
          <p:cNvSpPr>
            <a:spLocks noGrp="1"/>
          </p:cNvSpPr>
          <p:nvPr>
            <p:ph idx="1"/>
          </p:nvPr>
        </p:nvSpPr>
        <p:spPr/>
        <p:txBody>
          <a:bodyPr/>
          <a:lstStyle/>
          <a:p>
            <a:pPr marL="0" indent="0" algn="l" rtl="0" fontAlgn="base">
              <a:buNone/>
            </a:pPr>
            <a:r>
              <a:rPr lang="en-US" sz="2400" b="0" i="0" dirty="0">
                <a:solidFill>
                  <a:srgbClr val="273239"/>
                </a:solidFill>
                <a:effectLst/>
                <a:latin typeface="Nunito" pitchFamily="2" charset="0"/>
              </a:rPr>
              <a:t>Cross-validation is a technique used to check how well a machine learning model performs on unseen data while preventing </a:t>
            </a:r>
            <a:r>
              <a:rPr lang="en-US" sz="2400" b="1" i="0" dirty="0">
                <a:solidFill>
                  <a:srgbClr val="273239"/>
                </a:solidFill>
                <a:effectLst/>
                <a:latin typeface="Nunito" pitchFamily="2" charset="0"/>
              </a:rPr>
              <a:t>overfitting.</a:t>
            </a:r>
            <a:r>
              <a:rPr lang="en-US" sz="2400" b="0" i="0" dirty="0">
                <a:solidFill>
                  <a:srgbClr val="273239"/>
                </a:solidFill>
                <a:effectLst/>
                <a:latin typeface="Nunito" pitchFamily="2" charset="0"/>
              </a:rPr>
              <a:t> It works by:</a:t>
            </a:r>
          </a:p>
          <a:p>
            <a:pPr algn="l" fontAlgn="base">
              <a:buFont typeface="Arial" panose="020B0604020202020204" pitchFamily="34" charset="0"/>
              <a:buChar char="•"/>
            </a:pPr>
            <a:r>
              <a:rPr lang="en-US" sz="2400" b="0" i="0" dirty="0">
                <a:solidFill>
                  <a:srgbClr val="273239"/>
                </a:solidFill>
                <a:effectLst/>
                <a:latin typeface="Nunito" pitchFamily="2" charset="0"/>
              </a:rPr>
              <a:t>Splitting the dataset into several parts.</a:t>
            </a:r>
          </a:p>
          <a:p>
            <a:pPr algn="l" fontAlgn="base">
              <a:buFont typeface="Arial" panose="020B0604020202020204" pitchFamily="34" charset="0"/>
              <a:buChar char="•"/>
            </a:pPr>
            <a:r>
              <a:rPr lang="en-US" sz="2400" b="0" i="0" dirty="0">
                <a:solidFill>
                  <a:srgbClr val="273239"/>
                </a:solidFill>
                <a:effectLst/>
                <a:latin typeface="Nunito" pitchFamily="2" charset="0"/>
              </a:rPr>
              <a:t>Training the model on some parts and testing it on the remaining part.</a:t>
            </a:r>
          </a:p>
          <a:p>
            <a:pPr algn="l" fontAlgn="base">
              <a:buFont typeface="Arial" panose="020B0604020202020204" pitchFamily="34" charset="0"/>
              <a:buChar char="•"/>
            </a:pPr>
            <a:r>
              <a:rPr lang="en-US" sz="2400" b="0" i="0" dirty="0">
                <a:solidFill>
                  <a:srgbClr val="273239"/>
                </a:solidFill>
                <a:effectLst/>
                <a:latin typeface="Nunito" pitchFamily="2" charset="0"/>
              </a:rPr>
              <a:t>Repeating this resampling process multiple times by choosing different parts of the dataset.</a:t>
            </a:r>
          </a:p>
          <a:p>
            <a:pPr algn="l" fontAlgn="base">
              <a:buFont typeface="Arial" panose="020B0604020202020204" pitchFamily="34" charset="0"/>
              <a:buChar char="•"/>
            </a:pPr>
            <a:r>
              <a:rPr lang="en-US" sz="2400" b="0" i="0" dirty="0">
                <a:solidFill>
                  <a:srgbClr val="273239"/>
                </a:solidFill>
                <a:effectLst/>
                <a:latin typeface="Nunito" pitchFamily="2" charset="0"/>
              </a:rPr>
              <a:t>Averaging the results from each validation step to get the final performance.</a:t>
            </a:r>
          </a:p>
          <a:p>
            <a:endParaRPr lang="en-IN" sz="2400" dirty="0"/>
          </a:p>
        </p:txBody>
      </p:sp>
      <p:sp>
        <p:nvSpPr>
          <p:cNvPr id="4" name="Slide Number Placeholder 3">
            <a:extLst>
              <a:ext uri="{FF2B5EF4-FFF2-40B4-BE49-F238E27FC236}">
                <a16:creationId xmlns:a16="http://schemas.microsoft.com/office/drawing/2014/main" id="{F58204BD-8200-4F7E-94E7-E51BB8655C5A}"/>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20126476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B846-1F47-4985-BC7D-26F8506A45BC}"/>
              </a:ext>
            </a:extLst>
          </p:cNvPr>
          <p:cNvSpPr>
            <a:spLocks noGrp="1"/>
          </p:cNvSpPr>
          <p:nvPr>
            <p:ph type="title"/>
          </p:nvPr>
        </p:nvSpPr>
        <p:spPr/>
        <p:txBody>
          <a:bodyPr/>
          <a:lstStyle/>
          <a:p>
            <a:r>
              <a:rPr lang="en-US" dirty="0"/>
              <a:t>Cross Validation</a:t>
            </a:r>
            <a:endParaRPr lang="en-IN" dirty="0"/>
          </a:p>
        </p:txBody>
      </p:sp>
      <p:sp>
        <p:nvSpPr>
          <p:cNvPr id="3" name="Content Placeholder 2">
            <a:extLst>
              <a:ext uri="{FF2B5EF4-FFF2-40B4-BE49-F238E27FC236}">
                <a16:creationId xmlns:a16="http://schemas.microsoft.com/office/drawing/2014/main" id="{562028E6-ACFD-48B7-AAC5-9BDA3CEB89FE}"/>
              </a:ext>
            </a:extLst>
          </p:cNvPr>
          <p:cNvSpPr>
            <a:spLocks noGrp="1"/>
          </p:cNvSpPr>
          <p:nvPr>
            <p:ph idx="1"/>
          </p:nvPr>
        </p:nvSpPr>
        <p:spPr/>
        <p:txBody>
          <a:bodyPr/>
          <a:lstStyle/>
          <a:p>
            <a:r>
              <a:rPr lang="en-US" dirty="0"/>
              <a:t>The use of cross-validation is appealing particularly when we have to design a </a:t>
            </a:r>
            <a:r>
              <a:rPr lang="en-US" b="1" dirty="0"/>
              <a:t>large neural network </a:t>
            </a:r>
            <a:r>
              <a:rPr lang="en-US" dirty="0"/>
              <a:t>with </a:t>
            </a:r>
            <a:r>
              <a:rPr lang="en-US" b="1" dirty="0"/>
              <a:t>good generalization </a:t>
            </a:r>
            <a:r>
              <a:rPr lang="en-US" dirty="0"/>
              <a:t>as the goal. </a:t>
            </a:r>
          </a:p>
          <a:p>
            <a:r>
              <a:rPr lang="en-US" dirty="0"/>
              <a:t>We can use cross-validation to determine the –</a:t>
            </a:r>
          </a:p>
          <a:p>
            <a:pPr lvl="1"/>
            <a:r>
              <a:rPr lang="en-US" dirty="0"/>
              <a:t>multilayer perceptron with the best number of hidden neurons (</a:t>
            </a:r>
            <a:r>
              <a:rPr lang="en-US" dirty="0">
                <a:solidFill>
                  <a:srgbClr val="0000FF"/>
                </a:solidFill>
              </a:rPr>
              <a:t>Model Selection</a:t>
            </a:r>
            <a:r>
              <a:rPr lang="en-US" dirty="0"/>
              <a:t>)</a:t>
            </a:r>
          </a:p>
          <a:p>
            <a:pPr lvl="1"/>
            <a:r>
              <a:rPr lang="en-US" dirty="0"/>
              <a:t>to figure out when it is best to stop training (</a:t>
            </a:r>
            <a:r>
              <a:rPr lang="en-US" dirty="0">
                <a:solidFill>
                  <a:srgbClr val="0000FF"/>
                </a:solidFill>
              </a:rPr>
              <a:t>Early Stopping Method for Training</a:t>
            </a:r>
            <a:r>
              <a:rPr lang="en-US" dirty="0"/>
              <a:t>)</a:t>
            </a:r>
            <a:endParaRPr lang="en-IN" dirty="0"/>
          </a:p>
        </p:txBody>
      </p:sp>
      <p:sp>
        <p:nvSpPr>
          <p:cNvPr id="4" name="Slide Number Placeholder 3">
            <a:extLst>
              <a:ext uri="{FF2B5EF4-FFF2-40B4-BE49-F238E27FC236}">
                <a16:creationId xmlns:a16="http://schemas.microsoft.com/office/drawing/2014/main" id="{92892C02-BF08-49D7-8655-EEFC1756F4B4}"/>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1349764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DB226-9563-44AF-8038-39CDC29E544B}"/>
              </a:ext>
            </a:extLst>
          </p:cNvPr>
          <p:cNvSpPr>
            <a:spLocks noGrp="1"/>
          </p:cNvSpPr>
          <p:nvPr>
            <p:ph type="title"/>
          </p:nvPr>
        </p:nvSpPr>
        <p:spPr/>
        <p:txBody>
          <a:bodyPr/>
          <a:lstStyle/>
          <a:p>
            <a:r>
              <a:rPr lang="en-IN" dirty="0"/>
              <a:t>Cross-Validation for Model Selection</a:t>
            </a:r>
          </a:p>
        </p:txBody>
      </p:sp>
      <p:sp>
        <p:nvSpPr>
          <p:cNvPr id="3" name="Content Placeholder 2">
            <a:extLst>
              <a:ext uri="{FF2B5EF4-FFF2-40B4-BE49-F238E27FC236}">
                <a16:creationId xmlns:a16="http://schemas.microsoft.com/office/drawing/2014/main" id="{EB8213A1-C28C-47D7-87A8-349DC2108A24}"/>
              </a:ext>
            </a:extLst>
          </p:cNvPr>
          <p:cNvSpPr>
            <a:spLocks noGrp="1"/>
          </p:cNvSpPr>
          <p:nvPr>
            <p:ph idx="1"/>
          </p:nvPr>
        </p:nvSpPr>
        <p:spPr/>
        <p:txBody>
          <a:bodyPr/>
          <a:lstStyle/>
          <a:p>
            <a:pPr marL="0" indent="0">
              <a:buNone/>
            </a:pPr>
            <a:r>
              <a:rPr lang="en-IN" sz="2000" b="1" dirty="0"/>
              <a:t>Problem</a:t>
            </a:r>
          </a:p>
          <a:p>
            <a:pPr>
              <a:buFont typeface="Arial" panose="020B0604020202020204" pitchFamily="34" charset="0"/>
              <a:buChar char="•"/>
            </a:pPr>
            <a:r>
              <a:rPr lang="en-IN" sz="2000" dirty="0"/>
              <a:t>Too few hidden neurons → </a:t>
            </a:r>
            <a:r>
              <a:rPr lang="en-IN" sz="2000" b="1" dirty="0"/>
              <a:t>Underfitting</a:t>
            </a:r>
            <a:endParaRPr lang="en-IN" sz="2000" dirty="0"/>
          </a:p>
          <a:p>
            <a:pPr>
              <a:buFont typeface="Arial" panose="020B0604020202020204" pitchFamily="34" charset="0"/>
              <a:buChar char="•"/>
            </a:pPr>
            <a:r>
              <a:rPr lang="en-IN" sz="2000" dirty="0"/>
              <a:t>Too many hidden neurons → </a:t>
            </a:r>
            <a:r>
              <a:rPr lang="en-IN" sz="2000" b="1" dirty="0"/>
              <a:t>Overfitting</a:t>
            </a:r>
            <a:endParaRPr lang="en-IN" sz="2000" dirty="0"/>
          </a:p>
          <a:p>
            <a:pPr marL="0" indent="0">
              <a:buNone/>
            </a:pPr>
            <a:r>
              <a:rPr lang="en-IN" sz="2000" b="1" dirty="0"/>
              <a:t>Procedure </a:t>
            </a:r>
          </a:p>
          <a:p>
            <a:pPr>
              <a:buFont typeface="+mj-lt"/>
              <a:buAutoNum type="arabicPeriod"/>
            </a:pPr>
            <a:r>
              <a:rPr lang="en-IN" sz="2000" dirty="0"/>
              <a:t>Fix learning algorithm and activation functions</a:t>
            </a:r>
          </a:p>
          <a:p>
            <a:pPr>
              <a:buFont typeface="+mj-lt"/>
              <a:buAutoNum type="arabicPeriod"/>
            </a:pPr>
            <a:r>
              <a:rPr lang="en-IN" sz="2000" dirty="0"/>
              <a:t>Choose different candidate architectures:</a:t>
            </a:r>
          </a:p>
          <a:p>
            <a:pPr marL="800100" lvl="1" indent="-342900">
              <a:buFont typeface="+mj-lt"/>
              <a:buAutoNum type="alphaLcPeriod"/>
            </a:pPr>
            <a:r>
              <a:rPr lang="en-IN" sz="1800" dirty="0"/>
              <a:t>MLP with 5, 10, 15, 20 hidden neurons</a:t>
            </a:r>
          </a:p>
          <a:p>
            <a:pPr>
              <a:buFont typeface="+mj-lt"/>
              <a:buAutoNum type="arabicPeriod"/>
            </a:pPr>
            <a:r>
              <a:rPr lang="en-IN" sz="2000" dirty="0"/>
              <a:t>For each architecture:</a:t>
            </a:r>
          </a:p>
          <a:p>
            <a:pPr marL="800100" lvl="1" indent="-342900">
              <a:buFont typeface="+mj-lt"/>
              <a:buAutoNum type="alphaLcPeriod"/>
            </a:pPr>
            <a:r>
              <a:rPr lang="en-IN" sz="1800" dirty="0"/>
              <a:t>Train on training set</a:t>
            </a:r>
          </a:p>
          <a:p>
            <a:pPr marL="800100" lvl="1" indent="-342900">
              <a:buFont typeface="+mj-lt"/>
              <a:buAutoNum type="alphaLcPeriod"/>
            </a:pPr>
            <a:r>
              <a:rPr lang="en-IN" sz="1800" dirty="0"/>
              <a:t>Measure error on validation set</a:t>
            </a:r>
          </a:p>
          <a:p>
            <a:pPr>
              <a:buFont typeface="+mj-lt"/>
              <a:buAutoNum type="arabicPeriod"/>
            </a:pPr>
            <a:r>
              <a:rPr lang="en-IN" sz="2000" dirty="0"/>
              <a:t>Select the architecture with </a:t>
            </a:r>
            <a:r>
              <a:rPr lang="en-IN" sz="2000" b="1" dirty="0"/>
              <a:t>minimum validation error</a:t>
            </a:r>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28D8D16D-42E0-4181-8042-F6A3291603B8}"/>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32950301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AEA09-740F-4A6D-AF77-E035C8A6B73E}"/>
              </a:ext>
            </a:extLst>
          </p:cNvPr>
          <p:cNvSpPr>
            <a:spLocks noGrp="1"/>
          </p:cNvSpPr>
          <p:nvPr>
            <p:ph type="title"/>
          </p:nvPr>
        </p:nvSpPr>
        <p:spPr/>
        <p:txBody>
          <a:bodyPr/>
          <a:lstStyle/>
          <a:p>
            <a:r>
              <a:rPr lang="en-US" sz="2800" dirty="0"/>
              <a:t>Cross Validation: Early Stopping Method for Training</a:t>
            </a:r>
            <a:endParaRPr lang="en-IN" sz="2800" dirty="0"/>
          </a:p>
        </p:txBody>
      </p:sp>
      <p:sp>
        <p:nvSpPr>
          <p:cNvPr id="3" name="Content Placeholder 2">
            <a:extLst>
              <a:ext uri="{FF2B5EF4-FFF2-40B4-BE49-F238E27FC236}">
                <a16:creationId xmlns:a16="http://schemas.microsoft.com/office/drawing/2014/main" id="{1A12F4A1-F921-4A45-96F7-42ECEAB644BC}"/>
              </a:ext>
            </a:extLst>
          </p:cNvPr>
          <p:cNvSpPr>
            <a:spLocks noGrp="1"/>
          </p:cNvSpPr>
          <p:nvPr>
            <p:ph idx="1"/>
          </p:nvPr>
        </p:nvSpPr>
        <p:spPr/>
        <p:txBody>
          <a:bodyPr/>
          <a:lstStyle/>
          <a:p>
            <a:pPr marL="0" indent="0">
              <a:buNone/>
            </a:pPr>
            <a:r>
              <a:rPr lang="en-US" sz="1400" b="1" dirty="0"/>
              <a:t>X-axis:</a:t>
            </a:r>
            <a:r>
              <a:rPr lang="en-US" sz="1400" dirty="0"/>
              <a:t> Number of epochs</a:t>
            </a:r>
            <a:br>
              <a:rPr lang="en-US" sz="1400" dirty="0"/>
            </a:br>
            <a:r>
              <a:rPr lang="en-US" sz="1400" b="1" dirty="0"/>
              <a:t>Y-axis:</a:t>
            </a:r>
            <a:r>
              <a:rPr lang="en-US" sz="1400" dirty="0"/>
              <a:t> Mean Square Error (MSE)</a:t>
            </a:r>
          </a:p>
          <a:p>
            <a:pPr>
              <a:buFont typeface="Arial" panose="020B0604020202020204" pitchFamily="34" charset="0"/>
              <a:buChar char="•"/>
            </a:pPr>
            <a:r>
              <a:rPr lang="en-US" sz="1400" b="1" dirty="0"/>
              <a:t>Training error (black curve)</a:t>
            </a:r>
            <a:r>
              <a:rPr lang="en-US" sz="1400" dirty="0"/>
              <a:t>:</a:t>
            </a:r>
          </a:p>
          <a:p>
            <a:pPr marL="742950" lvl="1" indent="-285750">
              <a:buFont typeface="Arial" panose="020B0604020202020204" pitchFamily="34" charset="0"/>
              <a:buChar char="•"/>
            </a:pPr>
            <a:r>
              <a:rPr lang="en-US" sz="1200" dirty="0"/>
              <a:t>Decreases continuously</a:t>
            </a:r>
          </a:p>
          <a:p>
            <a:pPr>
              <a:buFont typeface="Arial" panose="020B0604020202020204" pitchFamily="34" charset="0"/>
              <a:buChar char="•"/>
            </a:pPr>
            <a:r>
              <a:rPr lang="en-US" sz="1400" b="1" dirty="0"/>
              <a:t>Validation error (blue curve)</a:t>
            </a:r>
            <a:r>
              <a:rPr lang="en-US" sz="1400" dirty="0"/>
              <a:t>:</a:t>
            </a:r>
          </a:p>
          <a:p>
            <a:pPr marL="742950" lvl="1" indent="-285750">
              <a:buFont typeface="Arial" panose="020B0604020202020204" pitchFamily="34" charset="0"/>
              <a:buChar char="•"/>
            </a:pPr>
            <a:r>
              <a:rPr lang="en-US" sz="1200" dirty="0"/>
              <a:t>Decreases initially</a:t>
            </a:r>
          </a:p>
          <a:p>
            <a:pPr marL="742950" lvl="1" indent="-285750">
              <a:buFont typeface="Arial" panose="020B0604020202020204" pitchFamily="34" charset="0"/>
              <a:buChar char="•"/>
            </a:pPr>
            <a:r>
              <a:rPr lang="en-US" sz="1200" dirty="0"/>
              <a:t>Starts increasing after a point</a:t>
            </a:r>
          </a:p>
          <a:p>
            <a:pPr marL="0" indent="0">
              <a:buNone/>
            </a:pPr>
            <a:r>
              <a:rPr lang="en-US" sz="1200" b="1" dirty="0"/>
              <a:t>Early Stopping Rule</a:t>
            </a:r>
          </a:p>
          <a:p>
            <a:r>
              <a:rPr lang="en-US" sz="1200" b="1" dirty="0"/>
              <a:t>Stop training at the epoch where validation error is minimum</a:t>
            </a:r>
            <a:endParaRPr lang="en-US" sz="1200" dirty="0"/>
          </a:p>
          <a:p>
            <a:r>
              <a:rPr lang="en-US" sz="1200" dirty="0"/>
              <a:t>This point is called the </a:t>
            </a:r>
            <a:r>
              <a:rPr lang="en-US" sz="1200" b="1" dirty="0"/>
              <a:t>early stopping point</a:t>
            </a:r>
            <a:r>
              <a:rPr lang="en-US" sz="1200" dirty="0"/>
              <a:t>.</a:t>
            </a:r>
          </a:p>
          <a:p>
            <a:r>
              <a:rPr lang="en-US" sz="1200" b="1" dirty="0"/>
              <a:t>Why It Works</a:t>
            </a:r>
          </a:p>
          <a:p>
            <a:pPr>
              <a:buFont typeface="Arial" panose="020B0604020202020204" pitchFamily="34" charset="0"/>
              <a:buChar char="•"/>
            </a:pPr>
            <a:r>
              <a:rPr lang="en-US" sz="1200" dirty="0"/>
              <a:t>Acts as a </a:t>
            </a:r>
            <a:r>
              <a:rPr lang="en-US" sz="1200" b="1" dirty="0"/>
              <a:t>regularization technique</a:t>
            </a:r>
            <a:endParaRPr lang="en-US" sz="1200" dirty="0"/>
          </a:p>
          <a:p>
            <a:pPr>
              <a:buFont typeface="Arial" panose="020B0604020202020204" pitchFamily="34" charset="0"/>
              <a:buChar char="•"/>
            </a:pPr>
            <a:r>
              <a:rPr lang="en-US" sz="1200" dirty="0"/>
              <a:t>Prevents the network from memorizing training data</a:t>
            </a:r>
          </a:p>
          <a:p>
            <a:endParaRPr lang="en-IN" sz="1200" dirty="0"/>
          </a:p>
          <a:p>
            <a:pPr marL="0" indent="0">
              <a:buNone/>
            </a:pPr>
            <a:endParaRPr lang="en-IN" sz="1200" dirty="0"/>
          </a:p>
        </p:txBody>
      </p:sp>
      <p:sp>
        <p:nvSpPr>
          <p:cNvPr id="4" name="Slide Number Placeholder 3">
            <a:extLst>
              <a:ext uri="{FF2B5EF4-FFF2-40B4-BE49-F238E27FC236}">
                <a16:creationId xmlns:a16="http://schemas.microsoft.com/office/drawing/2014/main" id="{C6E162DA-556C-4ECB-A81F-0FFE8F7E50CE}"/>
              </a:ext>
            </a:extLst>
          </p:cNvPr>
          <p:cNvSpPr>
            <a:spLocks noGrp="1"/>
          </p:cNvSpPr>
          <p:nvPr>
            <p:ph type="sldNum" sz="quarter" idx="12"/>
          </p:nvPr>
        </p:nvSpPr>
        <p:spPr/>
        <p:txBody>
          <a:bodyPr/>
          <a:lstStyle/>
          <a:p>
            <a:fld id="{BB2CE0DE-867F-455F-B20B-96D381B4AB71}" type="slidenum">
              <a:rPr lang="en-US" smtClean="0"/>
              <a:t>73</a:t>
            </a:fld>
            <a:endParaRPr lang="en-US"/>
          </a:p>
        </p:txBody>
      </p:sp>
      <p:pic>
        <p:nvPicPr>
          <p:cNvPr id="6" name="Picture 5">
            <a:extLst>
              <a:ext uri="{FF2B5EF4-FFF2-40B4-BE49-F238E27FC236}">
                <a16:creationId xmlns:a16="http://schemas.microsoft.com/office/drawing/2014/main" id="{5ABADBC9-270B-4B77-B77B-90B78EF4F9AE}"/>
              </a:ext>
            </a:extLst>
          </p:cNvPr>
          <p:cNvPicPr>
            <a:picLocks noChangeAspect="1"/>
          </p:cNvPicPr>
          <p:nvPr/>
        </p:nvPicPr>
        <p:blipFill>
          <a:blip r:embed="rId3"/>
          <a:stretch>
            <a:fillRect/>
          </a:stretch>
        </p:blipFill>
        <p:spPr>
          <a:xfrm>
            <a:off x="6858000" y="1198958"/>
            <a:ext cx="5149566" cy="4327826"/>
          </a:xfrm>
          <a:prstGeom prst="rect">
            <a:avLst/>
          </a:prstGeom>
        </p:spPr>
      </p:pic>
      <p:sp>
        <p:nvSpPr>
          <p:cNvPr id="7" name="TextBox 6">
            <a:extLst>
              <a:ext uri="{FF2B5EF4-FFF2-40B4-BE49-F238E27FC236}">
                <a16:creationId xmlns:a16="http://schemas.microsoft.com/office/drawing/2014/main" id="{C1FC67CD-EF61-417F-9EB1-AD57C79F6FF9}"/>
              </a:ext>
            </a:extLst>
          </p:cNvPr>
          <p:cNvSpPr txBox="1"/>
          <p:nvPr/>
        </p:nvSpPr>
        <p:spPr>
          <a:xfrm>
            <a:off x="7824777" y="5530328"/>
            <a:ext cx="3582776" cy="523220"/>
          </a:xfrm>
          <a:prstGeom prst="rect">
            <a:avLst/>
          </a:prstGeom>
          <a:noFill/>
        </p:spPr>
        <p:txBody>
          <a:bodyPr wrap="none" rtlCol="0">
            <a:spAutoFit/>
          </a:bodyPr>
          <a:lstStyle/>
          <a:p>
            <a:pPr algn="ctr"/>
            <a:r>
              <a:rPr lang="en-US" sz="1400" dirty="0"/>
              <a:t>Illustration of the early-stopping rule </a:t>
            </a:r>
          </a:p>
          <a:p>
            <a:pPr algn="ctr"/>
            <a:r>
              <a:rPr lang="en-US" sz="1400" dirty="0"/>
              <a:t>based on cross-validation.</a:t>
            </a:r>
            <a:endParaRPr lang="en-IN" sz="1400" dirty="0"/>
          </a:p>
        </p:txBody>
      </p:sp>
    </p:spTree>
    <p:extLst>
      <p:ext uri="{BB962C8B-B14F-4D97-AF65-F5344CB8AC3E}">
        <p14:creationId xmlns:p14="http://schemas.microsoft.com/office/powerpoint/2010/main" val="37965110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31737-49C0-469E-8282-7BEE6B7D4628}"/>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8F2CD99C-6A9F-447D-B1F6-1A5BA045A03A}"/>
              </a:ext>
            </a:extLst>
          </p:cNvPr>
          <p:cNvSpPr>
            <a:spLocks noGrp="1"/>
          </p:cNvSpPr>
          <p:nvPr>
            <p:ph idx="1"/>
          </p:nvPr>
        </p:nvSpPr>
        <p:spPr/>
        <p:txBody>
          <a:bodyPr/>
          <a:lstStyle/>
          <a:p>
            <a:pPr algn="just"/>
            <a:r>
              <a:rPr lang="en-US" sz="1600" b="0" i="0" dirty="0">
                <a:solidFill>
                  <a:schemeClr val="tx1"/>
                </a:solidFill>
                <a:effectLst/>
                <a:latin typeface="Roboto" panose="02000000000000000000" pitchFamily="2" charset="0"/>
              </a:rPr>
              <a:t>The </a:t>
            </a:r>
            <a:r>
              <a:rPr lang="en-US" sz="1600" b="1" i="0" dirty="0">
                <a:solidFill>
                  <a:srgbClr val="0000FF"/>
                </a:solidFill>
                <a:effectLst/>
                <a:latin typeface="Roboto" panose="02000000000000000000" pitchFamily="2" charset="0"/>
              </a:rPr>
              <a:t>hold-out method </a:t>
            </a:r>
            <a:r>
              <a:rPr lang="en-US" sz="1600" b="0" i="0" dirty="0">
                <a:solidFill>
                  <a:schemeClr val="tx1"/>
                </a:solidFill>
                <a:effectLst/>
                <a:latin typeface="Roboto" panose="02000000000000000000" pitchFamily="2" charset="0"/>
              </a:rPr>
              <a:t>involves splitting the data into multiple parts and using one part for training the model and the rest for validating and testing it.</a:t>
            </a:r>
          </a:p>
          <a:p>
            <a:pPr algn="just"/>
            <a:r>
              <a:rPr lang="en-US" sz="1600" b="1" dirty="0">
                <a:solidFill>
                  <a:srgbClr val="0000FF"/>
                </a:solidFill>
              </a:rPr>
              <a:t>Multifold</a:t>
            </a:r>
            <a:r>
              <a:rPr lang="en-US" sz="1600" dirty="0">
                <a:solidFill>
                  <a:schemeClr val="tx1"/>
                </a:solidFill>
              </a:rPr>
              <a:t> cross-validation by dividing the available set of N examples into K subsets, where K  1; this procedure assumes that K is divisible into N. The model is trained on all the subsets except for one, and the validation error is measured by testing it on the subset that is left out. This procedure is repeated for a total of K trials, each time using a different subset for validation. The performance of the model is assessed by averaging the squared error under validation over all the trials of the experiment. There is a disadvantage to multifold cross-validation: It may require an </a:t>
            </a:r>
            <a:r>
              <a:rPr lang="en-US" sz="1600" b="1" dirty="0">
                <a:solidFill>
                  <a:schemeClr val="tx1"/>
                </a:solidFill>
              </a:rPr>
              <a:t>excessive amount of computation</a:t>
            </a:r>
            <a:r>
              <a:rPr lang="en-US" sz="1600" dirty="0">
                <a:solidFill>
                  <a:schemeClr val="tx1"/>
                </a:solidFill>
              </a:rPr>
              <a:t>, since the model has to be trained K times, where 1  &lt; K &lt;= N</a:t>
            </a:r>
            <a:endParaRPr lang="en-IN" sz="1600" dirty="0">
              <a:solidFill>
                <a:schemeClr val="tx1"/>
              </a:solidFill>
            </a:endParaRPr>
          </a:p>
        </p:txBody>
      </p:sp>
      <p:sp>
        <p:nvSpPr>
          <p:cNvPr id="4" name="Slide Number Placeholder 3">
            <a:extLst>
              <a:ext uri="{FF2B5EF4-FFF2-40B4-BE49-F238E27FC236}">
                <a16:creationId xmlns:a16="http://schemas.microsoft.com/office/drawing/2014/main" id="{87A29F9D-C3CE-488E-AC87-915A38740A15}"/>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6" name="Picture 5">
            <a:extLst>
              <a:ext uri="{FF2B5EF4-FFF2-40B4-BE49-F238E27FC236}">
                <a16:creationId xmlns:a16="http://schemas.microsoft.com/office/drawing/2014/main" id="{527AEB06-AF7E-4303-B15E-FAC3D42878D1}"/>
              </a:ext>
            </a:extLst>
          </p:cNvPr>
          <p:cNvPicPr>
            <a:picLocks noChangeAspect="1"/>
          </p:cNvPicPr>
          <p:nvPr/>
        </p:nvPicPr>
        <p:blipFill>
          <a:blip r:embed="rId2"/>
          <a:stretch>
            <a:fillRect/>
          </a:stretch>
        </p:blipFill>
        <p:spPr>
          <a:xfrm>
            <a:off x="2209800" y="4016402"/>
            <a:ext cx="2971800" cy="2294021"/>
          </a:xfrm>
          <a:prstGeom prst="rect">
            <a:avLst/>
          </a:prstGeom>
        </p:spPr>
      </p:pic>
      <p:sp>
        <p:nvSpPr>
          <p:cNvPr id="7" name="TextBox 6">
            <a:extLst>
              <a:ext uri="{FF2B5EF4-FFF2-40B4-BE49-F238E27FC236}">
                <a16:creationId xmlns:a16="http://schemas.microsoft.com/office/drawing/2014/main" id="{84D7A6F6-D15F-4C27-B045-43CAE5B23357}"/>
              </a:ext>
            </a:extLst>
          </p:cNvPr>
          <p:cNvSpPr txBox="1"/>
          <p:nvPr/>
        </p:nvSpPr>
        <p:spPr>
          <a:xfrm>
            <a:off x="5246428" y="4863330"/>
            <a:ext cx="4642618" cy="600164"/>
          </a:xfrm>
          <a:prstGeom prst="rect">
            <a:avLst/>
          </a:prstGeom>
          <a:noFill/>
        </p:spPr>
        <p:txBody>
          <a:bodyPr wrap="none" rtlCol="0">
            <a:spAutoFit/>
          </a:bodyPr>
          <a:lstStyle/>
          <a:p>
            <a:r>
              <a:rPr lang="en-US" sz="1100" dirty="0"/>
              <a:t>Illustration of the </a:t>
            </a:r>
            <a:r>
              <a:rPr lang="en-US" sz="1100" b="1" dirty="0"/>
              <a:t>multifold</a:t>
            </a:r>
            <a:r>
              <a:rPr lang="en-US" sz="1100" dirty="0"/>
              <a:t> method (K=4) of </a:t>
            </a:r>
            <a:r>
              <a:rPr lang="en-US" sz="1100" dirty="0" err="1"/>
              <a:t>crossvalidation</a:t>
            </a:r>
            <a:r>
              <a:rPr lang="en-US" sz="1100" dirty="0"/>
              <a:t>. </a:t>
            </a:r>
          </a:p>
          <a:p>
            <a:r>
              <a:rPr lang="en-US" sz="1100" dirty="0"/>
              <a:t>For a given trial, the subset of data shaded in blue is </a:t>
            </a:r>
          </a:p>
          <a:p>
            <a:r>
              <a:rPr lang="en-US" sz="1100" dirty="0"/>
              <a:t>used to validate the model trained on the remaining data.</a:t>
            </a:r>
            <a:endParaRPr lang="en-IN" sz="1100" dirty="0"/>
          </a:p>
        </p:txBody>
      </p:sp>
    </p:spTree>
    <p:extLst>
      <p:ext uri="{BB962C8B-B14F-4D97-AF65-F5344CB8AC3E}">
        <p14:creationId xmlns:p14="http://schemas.microsoft.com/office/powerpoint/2010/main" val="2904003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E6E0-F382-425F-84C6-881A2B12A60C}"/>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31A65AD9-2A89-4CA8-802B-5864E0E43EB2}"/>
              </a:ext>
            </a:extLst>
          </p:cNvPr>
          <p:cNvSpPr>
            <a:spLocks noGrp="1"/>
          </p:cNvSpPr>
          <p:nvPr>
            <p:ph idx="1"/>
          </p:nvPr>
        </p:nvSpPr>
        <p:spPr/>
        <p:txBody>
          <a:bodyPr/>
          <a:lstStyle/>
          <a:p>
            <a:pPr marL="0" indent="0" algn="just">
              <a:buNone/>
            </a:pPr>
            <a:r>
              <a:rPr lang="en-US" sz="2000" dirty="0">
                <a:solidFill>
                  <a:srgbClr val="0000FF"/>
                </a:solidFill>
              </a:rPr>
              <a:t>Leave-one-out method: </a:t>
            </a:r>
          </a:p>
          <a:p>
            <a:pPr algn="just"/>
            <a:r>
              <a:rPr lang="en-US" sz="2000" dirty="0"/>
              <a:t>In this case, N - 1 examples are used to train the model, and the model is validated by testing it on the example that is left out. </a:t>
            </a:r>
          </a:p>
          <a:p>
            <a:pPr algn="just"/>
            <a:r>
              <a:rPr lang="en-US" sz="2000" dirty="0"/>
              <a:t>The experiment is repeated for a total of N times, each time leaving out a different example for validation. </a:t>
            </a:r>
          </a:p>
          <a:p>
            <a:pPr algn="just"/>
            <a:r>
              <a:rPr lang="en-US" sz="2000" dirty="0"/>
              <a:t>The squared error under validation is then averaged over the N trials of the experiment.</a:t>
            </a:r>
            <a:endParaRPr lang="en-IN" sz="2000" dirty="0"/>
          </a:p>
        </p:txBody>
      </p:sp>
      <p:sp>
        <p:nvSpPr>
          <p:cNvPr id="4" name="Slide Number Placeholder 3">
            <a:extLst>
              <a:ext uri="{FF2B5EF4-FFF2-40B4-BE49-F238E27FC236}">
                <a16:creationId xmlns:a16="http://schemas.microsoft.com/office/drawing/2014/main" id="{0DDA57B8-C412-4B5E-8C17-D467ADE384D7}"/>
              </a:ext>
            </a:extLst>
          </p:cNvPr>
          <p:cNvSpPr>
            <a:spLocks noGrp="1"/>
          </p:cNvSpPr>
          <p:nvPr>
            <p:ph type="sldNum" sz="quarter" idx="12"/>
          </p:nvPr>
        </p:nvSpPr>
        <p:spPr/>
        <p:txBody>
          <a:bodyPr/>
          <a:lstStyle/>
          <a:p>
            <a:fld id="{BB2CE0DE-867F-455F-B20B-96D381B4AB71}" type="slidenum">
              <a:rPr lang="en-US" smtClean="0"/>
              <a:t>75</a:t>
            </a:fld>
            <a:endParaRPr lang="en-US"/>
          </a:p>
        </p:txBody>
      </p:sp>
    </p:spTree>
    <p:extLst>
      <p:ext uri="{BB962C8B-B14F-4D97-AF65-F5344CB8AC3E}">
        <p14:creationId xmlns:p14="http://schemas.microsoft.com/office/powerpoint/2010/main" val="4971614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E6E0-F382-425F-84C6-881A2B12A60C}"/>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31A65AD9-2A89-4CA8-802B-5864E0E43EB2}"/>
              </a:ext>
            </a:extLst>
          </p:cNvPr>
          <p:cNvSpPr>
            <a:spLocks noGrp="1"/>
          </p:cNvSpPr>
          <p:nvPr>
            <p:ph idx="1"/>
          </p:nvPr>
        </p:nvSpPr>
        <p:spPr/>
        <p:txBody>
          <a:bodyPr/>
          <a:lstStyle/>
          <a:p>
            <a:pPr marL="0" indent="0" algn="just">
              <a:buNone/>
            </a:pPr>
            <a:r>
              <a:rPr lang="en-US" sz="2000" dirty="0">
                <a:solidFill>
                  <a:srgbClr val="0000FF"/>
                </a:solidFill>
              </a:rPr>
              <a:t>Leave-one-out method: </a:t>
            </a:r>
          </a:p>
          <a:p>
            <a:pPr algn="just"/>
            <a:r>
              <a:rPr lang="en-US" sz="2000" dirty="0"/>
              <a:t>In this case, N - 1 examples are used to train the model, and the model is validated by testing it on the example that is left out. </a:t>
            </a:r>
          </a:p>
          <a:p>
            <a:pPr algn="just"/>
            <a:r>
              <a:rPr lang="en-US" sz="2000" dirty="0"/>
              <a:t>The experiment is repeated for a total of N times, each time leaving out a different example for validation. </a:t>
            </a:r>
          </a:p>
          <a:p>
            <a:pPr algn="just"/>
            <a:r>
              <a:rPr lang="en-US" sz="2000" dirty="0"/>
              <a:t>The squared error under validation is then averaged over the N trials of the experiment.</a:t>
            </a:r>
            <a:endParaRPr lang="en-IN" sz="2000" dirty="0"/>
          </a:p>
        </p:txBody>
      </p:sp>
      <p:sp>
        <p:nvSpPr>
          <p:cNvPr id="4" name="Slide Number Placeholder 3">
            <a:extLst>
              <a:ext uri="{FF2B5EF4-FFF2-40B4-BE49-F238E27FC236}">
                <a16:creationId xmlns:a16="http://schemas.microsoft.com/office/drawing/2014/main" id="{0DDA57B8-C412-4B5E-8C17-D467ADE384D7}"/>
              </a:ext>
            </a:extLst>
          </p:cNvPr>
          <p:cNvSpPr>
            <a:spLocks noGrp="1"/>
          </p:cNvSpPr>
          <p:nvPr>
            <p:ph type="sldNum" sz="quarter" idx="12"/>
          </p:nvPr>
        </p:nvSpPr>
        <p:spPr/>
        <p:txBody>
          <a:bodyPr/>
          <a:lstStyle/>
          <a:p>
            <a:fld id="{BB2CE0DE-867F-455F-B20B-96D381B4AB71}" type="slidenum">
              <a:rPr lang="en-US" smtClean="0"/>
              <a:t>76</a:t>
            </a:fld>
            <a:endParaRPr lang="en-US"/>
          </a:p>
        </p:txBody>
      </p:sp>
      <p:pic>
        <p:nvPicPr>
          <p:cNvPr id="5" name="Picture 4">
            <a:extLst>
              <a:ext uri="{FF2B5EF4-FFF2-40B4-BE49-F238E27FC236}">
                <a16:creationId xmlns:a16="http://schemas.microsoft.com/office/drawing/2014/main" id="{CB18ABC4-44ED-4755-BAEF-04AE948D3224}"/>
              </a:ext>
            </a:extLst>
          </p:cNvPr>
          <p:cNvPicPr>
            <a:picLocks noChangeAspect="1"/>
          </p:cNvPicPr>
          <p:nvPr/>
        </p:nvPicPr>
        <p:blipFill>
          <a:blip r:embed="rId2"/>
          <a:stretch>
            <a:fillRect/>
          </a:stretch>
        </p:blipFill>
        <p:spPr>
          <a:xfrm>
            <a:off x="609600" y="3962400"/>
            <a:ext cx="4833938" cy="1873521"/>
          </a:xfrm>
          <a:prstGeom prst="rect">
            <a:avLst/>
          </a:prstGeom>
        </p:spPr>
      </p:pic>
      <p:pic>
        <p:nvPicPr>
          <p:cNvPr id="6" name="Picture 5">
            <a:extLst>
              <a:ext uri="{FF2B5EF4-FFF2-40B4-BE49-F238E27FC236}">
                <a16:creationId xmlns:a16="http://schemas.microsoft.com/office/drawing/2014/main" id="{2700C17E-C942-4A0B-90C4-1597FB2BC52D}"/>
              </a:ext>
            </a:extLst>
          </p:cNvPr>
          <p:cNvPicPr>
            <a:picLocks noChangeAspect="1"/>
          </p:cNvPicPr>
          <p:nvPr/>
        </p:nvPicPr>
        <p:blipFill>
          <a:blip r:embed="rId3"/>
          <a:stretch>
            <a:fillRect/>
          </a:stretch>
        </p:blipFill>
        <p:spPr>
          <a:xfrm>
            <a:off x="6248400" y="3307671"/>
            <a:ext cx="3810000" cy="2915920"/>
          </a:xfrm>
          <a:prstGeom prst="rect">
            <a:avLst/>
          </a:prstGeom>
        </p:spPr>
      </p:pic>
      <p:sp>
        <p:nvSpPr>
          <p:cNvPr id="7" name="TextBox 6">
            <a:extLst>
              <a:ext uri="{FF2B5EF4-FFF2-40B4-BE49-F238E27FC236}">
                <a16:creationId xmlns:a16="http://schemas.microsoft.com/office/drawing/2014/main" id="{B1017C0E-BDDA-429E-AB16-C5CC93C4377A}"/>
              </a:ext>
            </a:extLst>
          </p:cNvPr>
          <p:cNvSpPr txBox="1"/>
          <p:nvPr/>
        </p:nvSpPr>
        <p:spPr>
          <a:xfrm>
            <a:off x="1571357" y="5860731"/>
            <a:ext cx="3340145" cy="338554"/>
          </a:xfrm>
          <a:prstGeom prst="rect">
            <a:avLst/>
          </a:prstGeom>
          <a:noFill/>
        </p:spPr>
        <p:txBody>
          <a:bodyPr wrap="none" rtlCol="0">
            <a:spAutoFit/>
          </a:bodyPr>
          <a:lstStyle/>
          <a:p>
            <a:r>
              <a:rPr lang="en-US" sz="1600" dirty="0">
                <a:solidFill>
                  <a:srgbClr val="C00000"/>
                </a:solidFill>
              </a:rPr>
              <a:t>Multifold Cross validation, k=3</a:t>
            </a:r>
            <a:endParaRPr lang="en-IN" sz="1600" dirty="0">
              <a:solidFill>
                <a:srgbClr val="C00000"/>
              </a:solidFill>
            </a:endParaRPr>
          </a:p>
        </p:txBody>
      </p:sp>
      <p:sp>
        <p:nvSpPr>
          <p:cNvPr id="8" name="TextBox 7">
            <a:extLst>
              <a:ext uri="{FF2B5EF4-FFF2-40B4-BE49-F238E27FC236}">
                <a16:creationId xmlns:a16="http://schemas.microsoft.com/office/drawing/2014/main" id="{EF3E32B0-DBA2-49DB-8F7B-699E38744136}"/>
              </a:ext>
            </a:extLst>
          </p:cNvPr>
          <p:cNvSpPr txBox="1"/>
          <p:nvPr/>
        </p:nvSpPr>
        <p:spPr>
          <a:xfrm flipH="1">
            <a:off x="6400800" y="6251944"/>
            <a:ext cx="4297681" cy="369332"/>
          </a:xfrm>
          <a:prstGeom prst="rect">
            <a:avLst/>
          </a:prstGeom>
          <a:noFill/>
        </p:spPr>
        <p:txBody>
          <a:bodyPr wrap="square" rtlCol="0">
            <a:spAutoFit/>
          </a:bodyPr>
          <a:lstStyle/>
          <a:p>
            <a:r>
              <a:rPr lang="en-US" dirty="0">
                <a:solidFill>
                  <a:srgbClr val="C00000"/>
                </a:solidFill>
              </a:rPr>
              <a:t>Leave-one-out- Cross validation</a:t>
            </a:r>
            <a:endParaRPr lang="en-IN" dirty="0">
              <a:solidFill>
                <a:srgbClr val="C00000"/>
              </a:solidFill>
            </a:endParaRPr>
          </a:p>
        </p:txBody>
      </p:sp>
    </p:spTree>
    <p:extLst>
      <p:ext uri="{BB962C8B-B14F-4D97-AF65-F5344CB8AC3E}">
        <p14:creationId xmlns:p14="http://schemas.microsoft.com/office/powerpoint/2010/main" val="5533682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2033-420F-42CC-8C01-8FA0D68E7D66}"/>
              </a:ext>
            </a:extLst>
          </p:cNvPr>
          <p:cNvSpPr>
            <a:spLocks noGrp="1"/>
          </p:cNvSpPr>
          <p:nvPr>
            <p:ph type="title"/>
          </p:nvPr>
        </p:nvSpPr>
        <p:spPr/>
        <p:txBody>
          <a:bodyPr/>
          <a:lstStyle/>
          <a:p>
            <a:r>
              <a:rPr lang="en-US" sz="2400" dirty="0"/>
              <a:t>COMPLEXITY REGULARIZATION AND NETWORK PRUNING</a:t>
            </a:r>
            <a:endParaRPr lang="en-IN" sz="2400" dirty="0"/>
          </a:p>
        </p:txBody>
      </p:sp>
      <p:sp>
        <p:nvSpPr>
          <p:cNvPr id="3" name="Content Placeholder 2">
            <a:extLst>
              <a:ext uri="{FF2B5EF4-FFF2-40B4-BE49-F238E27FC236}">
                <a16:creationId xmlns:a16="http://schemas.microsoft.com/office/drawing/2014/main" id="{99B221AB-771D-4E43-95D4-969A584868B8}"/>
              </a:ext>
            </a:extLst>
          </p:cNvPr>
          <p:cNvSpPr>
            <a:spLocks noGrp="1"/>
          </p:cNvSpPr>
          <p:nvPr>
            <p:ph idx="1"/>
          </p:nvPr>
        </p:nvSpPr>
        <p:spPr/>
        <p:txBody>
          <a:bodyPr/>
          <a:lstStyle/>
          <a:p>
            <a:pPr marL="0" indent="0">
              <a:buNone/>
            </a:pPr>
            <a:r>
              <a:rPr lang="en-US" sz="2000" dirty="0"/>
              <a:t>Why Do We Need Regularization?</a:t>
            </a:r>
          </a:p>
          <a:p>
            <a:r>
              <a:rPr lang="en-US" sz="2000" dirty="0"/>
              <a:t>When training a neural network:</a:t>
            </a:r>
          </a:p>
          <a:p>
            <a:pPr lvl="1"/>
            <a:r>
              <a:rPr lang="en-US" sz="1600" dirty="0"/>
              <a:t>If the network is too </a:t>
            </a:r>
            <a:r>
              <a:rPr lang="en-US" sz="1600" dirty="0">
                <a:solidFill>
                  <a:srgbClr val="C00000"/>
                </a:solidFill>
              </a:rPr>
              <a:t>flexible</a:t>
            </a:r>
            <a:r>
              <a:rPr lang="en-US" sz="1600" dirty="0"/>
              <a:t>, it may memorize training data → </a:t>
            </a:r>
            <a:r>
              <a:rPr lang="en-US" sz="1600" dirty="0">
                <a:solidFill>
                  <a:srgbClr val="0000FF"/>
                </a:solidFill>
              </a:rPr>
              <a:t>overfitting</a:t>
            </a:r>
          </a:p>
          <a:p>
            <a:pPr lvl="1"/>
            <a:r>
              <a:rPr lang="en-US" sz="1600" dirty="0"/>
              <a:t>If the network is too </a:t>
            </a:r>
            <a:r>
              <a:rPr lang="en-US" sz="1600" dirty="0">
                <a:solidFill>
                  <a:srgbClr val="C00000"/>
                </a:solidFill>
              </a:rPr>
              <a:t>simple</a:t>
            </a:r>
            <a:r>
              <a:rPr lang="en-US" sz="1600" dirty="0"/>
              <a:t>, it may not learn enough → </a:t>
            </a:r>
            <a:r>
              <a:rPr lang="en-US" sz="1600" dirty="0">
                <a:solidFill>
                  <a:srgbClr val="0000FF"/>
                </a:solidFill>
              </a:rPr>
              <a:t>underfitting</a:t>
            </a:r>
          </a:p>
          <a:p>
            <a:pPr marL="0" indent="0">
              <a:buNone/>
            </a:pPr>
            <a:endParaRPr lang="en-US" sz="2000" dirty="0"/>
          </a:p>
          <a:p>
            <a:pPr marL="0" indent="0">
              <a:buNone/>
            </a:pPr>
            <a:r>
              <a:rPr lang="en-US" sz="2000" dirty="0"/>
              <a:t> We need a balance between:</a:t>
            </a:r>
          </a:p>
          <a:p>
            <a:r>
              <a:rPr lang="en-US" sz="2000" dirty="0"/>
              <a:t>Accuracy on training data</a:t>
            </a:r>
          </a:p>
          <a:p>
            <a:r>
              <a:rPr lang="en-US" sz="2000" dirty="0"/>
              <a:t>Simplicity (complexity control) of the network</a:t>
            </a:r>
          </a:p>
          <a:p>
            <a:pPr marL="0" indent="0">
              <a:buNone/>
            </a:pPr>
            <a:endParaRPr lang="en-US" sz="2000" dirty="0"/>
          </a:p>
          <a:p>
            <a:pPr marL="0" indent="0">
              <a:buNone/>
            </a:pPr>
            <a:r>
              <a:rPr lang="en-US" sz="2000" dirty="0"/>
              <a:t>This balance is achieved using </a:t>
            </a:r>
            <a:r>
              <a:rPr lang="en-US" sz="2000" b="1" dirty="0"/>
              <a:t>regularization</a:t>
            </a:r>
            <a:r>
              <a:rPr lang="en-US" sz="2000" dirty="0"/>
              <a:t>.</a:t>
            </a:r>
          </a:p>
          <a:p>
            <a:endParaRPr lang="en-IN" sz="2000" dirty="0"/>
          </a:p>
        </p:txBody>
      </p:sp>
      <p:sp>
        <p:nvSpPr>
          <p:cNvPr id="4" name="Slide Number Placeholder 3">
            <a:extLst>
              <a:ext uri="{FF2B5EF4-FFF2-40B4-BE49-F238E27FC236}">
                <a16:creationId xmlns:a16="http://schemas.microsoft.com/office/drawing/2014/main" id="{CEA2B757-62BD-492E-80FB-B609D838F048}"/>
              </a:ext>
            </a:extLst>
          </p:cNvPr>
          <p:cNvSpPr>
            <a:spLocks noGrp="1"/>
          </p:cNvSpPr>
          <p:nvPr>
            <p:ph type="sldNum" sz="quarter" idx="12"/>
          </p:nvPr>
        </p:nvSpPr>
        <p:spPr/>
        <p:txBody>
          <a:bodyPr/>
          <a:lstStyle/>
          <a:p>
            <a:fld id="{BB2CE0DE-867F-455F-B20B-96D381B4AB71}" type="slidenum">
              <a:rPr lang="en-US" smtClean="0"/>
              <a:t>77</a:t>
            </a:fld>
            <a:endParaRPr lang="en-US"/>
          </a:p>
        </p:txBody>
      </p:sp>
    </p:spTree>
    <p:extLst>
      <p:ext uri="{BB962C8B-B14F-4D97-AF65-F5344CB8AC3E}">
        <p14:creationId xmlns:p14="http://schemas.microsoft.com/office/powerpoint/2010/main" val="4716761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0243B-8102-C517-FD52-73771E5A7CD9}"/>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B69DEF06-3220-116E-7057-37118D0D6A5F}"/>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F34CAA1-1393-8109-1AE7-085F96CB06C3}"/>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6" name="Picture 5">
            <a:extLst>
              <a:ext uri="{FF2B5EF4-FFF2-40B4-BE49-F238E27FC236}">
                <a16:creationId xmlns:a16="http://schemas.microsoft.com/office/drawing/2014/main" id="{536B8A3D-2B5C-F91A-0904-130DDFA5EB6D}"/>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9E4A95BB-E6BB-8BB1-BCFB-15CB55FA89BD}"/>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25A55988-B664-6490-DD05-3593F5E0C4F3}"/>
              </a:ext>
            </a:extLst>
          </p:cNvPr>
          <p:cNvPicPr>
            <a:picLocks noChangeAspect="1"/>
          </p:cNvPicPr>
          <p:nvPr/>
        </p:nvPicPr>
        <p:blipFill>
          <a:blip r:embed="rId4"/>
          <a:stretch>
            <a:fillRect/>
          </a:stretch>
        </p:blipFill>
        <p:spPr>
          <a:xfrm>
            <a:off x="2192867" y="2844800"/>
            <a:ext cx="2828518" cy="3423356"/>
          </a:xfrm>
          <a:prstGeom prst="rect">
            <a:avLst/>
          </a:prstGeom>
        </p:spPr>
      </p:pic>
    </p:spTree>
    <p:extLst>
      <p:ext uri="{BB962C8B-B14F-4D97-AF65-F5344CB8AC3E}">
        <p14:creationId xmlns:p14="http://schemas.microsoft.com/office/powerpoint/2010/main" val="15259959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F43A9-3A2D-C5E0-BF20-C1484AA97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53B90-19F4-1E53-92EE-18E80F3A5DBE}"/>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EF38E3B5-360E-EC8F-F70E-5C0DA61BDAAD}"/>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2984A311-3A05-42BF-7098-281712F1D7A8}"/>
              </a:ext>
            </a:extLst>
          </p:cNvPr>
          <p:cNvSpPr>
            <a:spLocks noGrp="1"/>
          </p:cNvSpPr>
          <p:nvPr>
            <p:ph type="sldNum" sz="quarter" idx="12"/>
          </p:nvPr>
        </p:nvSpPr>
        <p:spPr/>
        <p:txBody>
          <a:bodyPr/>
          <a:lstStyle/>
          <a:p>
            <a:fld id="{BB2CE0DE-867F-455F-B20B-96D381B4AB71}" type="slidenum">
              <a:rPr lang="en-US" smtClean="0"/>
              <a:t>79</a:t>
            </a:fld>
            <a:endParaRPr lang="en-US"/>
          </a:p>
        </p:txBody>
      </p:sp>
      <p:pic>
        <p:nvPicPr>
          <p:cNvPr id="6" name="Picture 5">
            <a:extLst>
              <a:ext uri="{FF2B5EF4-FFF2-40B4-BE49-F238E27FC236}">
                <a16:creationId xmlns:a16="http://schemas.microsoft.com/office/drawing/2014/main" id="{EDEED0B9-D1D8-9C9B-307F-8F87D921AC27}"/>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C997E02A-65AA-1573-F8AC-0D4417975190}"/>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1520F24D-D589-8F6D-8969-D72C2C067708}"/>
              </a:ext>
            </a:extLst>
          </p:cNvPr>
          <p:cNvPicPr>
            <a:picLocks noChangeAspect="1"/>
          </p:cNvPicPr>
          <p:nvPr/>
        </p:nvPicPr>
        <p:blipFill>
          <a:blip r:embed="rId4"/>
          <a:stretch>
            <a:fillRect/>
          </a:stretch>
        </p:blipFill>
        <p:spPr>
          <a:xfrm>
            <a:off x="2192867" y="2844800"/>
            <a:ext cx="2828518" cy="3423356"/>
          </a:xfrm>
          <a:prstGeom prst="rect">
            <a:avLst/>
          </a:prstGeom>
        </p:spPr>
      </p:pic>
      <p:pic>
        <p:nvPicPr>
          <p:cNvPr id="12" name="Picture 11">
            <a:extLst>
              <a:ext uri="{FF2B5EF4-FFF2-40B4-BE49-F238E27FC236}">
                <a16:creationId xmlns:a16="http://schemas.microsoft.com/office/drawing/2014/main" id="{E23897E9-ECCC-723C-77D9-76D3D7DC9D1E}"/>
              </a:ext>
            </a:extLst>
          </p:cNvPr>
          <p:cNvPicPr>
            <a:picLocks noChangeAspect="1"/>
          </p:cNvPicPr>
          <p:nvPr/>
        </p:nvPicPr>
        <p:blipFill>
          <a:blip r:embed="rId5"/>
          <a:stretch>
            <a:fillRect/>
          </a:stretch>
        </p:blipFill>
        <p:spPr>
          <a:xfrm>
            <a:off x="5869880" y="3886200"/>
            <a:ext cx="5735439" cy="2280355"/>
          </a:xfrm>
          <a:prstGeom prst="rect">
            <a:avLst/>
          </a:prstGeom>
        </p:spPr>
      </p:pic>
      <p:pic>
        <p:nvPicPr>
          <p:cNvPr id="14" name="Picture 13">
            <a:extLst>
              <a:ext uri="{FF2B5EF4-FFF2-40B4-BE49-F238E27FC236}">
                <a16:creationId xmlns:a16="http://schemas.microsoft.com/office/drawing/2014/main" id="{D83958F1-E797-B912-B8D8-FF9CA2DADB7C}"/>
              </a:ext>
            </a:extLst>
          </p:cNvPr>
          <p:cNvPicPr>
            <a:picLocks noChangeAspect="1"/>
          </p:cNvPicPr>
          <p:nvPr/>
        </p:nvPicPr>
        <p:blipFill>
          <a:blip r:embed="rId6"/>
          <a:stretch>
            <a:fillRect/>
          </a:stretch>
        </p:blipFill>
        <p:spPr>
          <a:xfrm>
            <a:off x="6157084" y="3140322"/>
            <a:ext cx="1049314" cy="661211"/>
          </a:xfrm>
          <a:prstGeom prst="rect">
            <a:avLst/>
          </a:prstGeom>
        </p:spPr>
      </p:pic>
    </p:spTree>
    <p:extLst>
      <p:ext uri="{BB962C8B-B14F-4D97-AF65-F5344CB8AC3E}">
        <p14:creationId xmlns:p14="http://schemas.microsoft.com/office/powerpoint/2010/main" val="4806552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FA783-BE54-7C1B-2C15-E980BD310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38823-63FA-7D28-8FAF-0487D32B8F8A}"/>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D935331A-5525-1CDE-E034-0A239FC1951C}"/>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930E67D-93CE-EE7C-F43C-55453A8FC0AD}"/>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6" name="Picture 5">
            <a:extLst>
              <a:ext uri="{FF2B5EF4-FFF2-40B4-BE49-F238E27FC236}">
                <a16:creationId xmlns:a16="http://schemas.microsoft.com/office/drawing/2014/main" id="{55C9A9E6-E4C9-EFAB-5788-FF2F2CF3D041}"/>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891C75A1-D7CA-4B64-954A-930753876260}"/>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4390DA71-0AFF-DF80-78C1-DA7DDAA6FD77}"/>
              </a:ext>
            </a:extLst>
          </p:cNvPr>
          <p:cNvPicPr>
            <a:picLocks noChangeAspect="1"/>
          </p:cNvPicPr>
          <p:nvPr/>
        </p:nvPicPr>
        <p:blipFill>
          <a:blip r:embed="rId4"/>
          <a:stretch>
            <a:fillRect/>
          </a:stretch>
        </p:blipFill>
        <p:spPr>
          <a:xfrm>
            <a:off x="2192867" y="2844800"/>
            <a:ext cx="2828518" cy="3423356"/>
          </a:xfrm>
          <a:prstGeom prst="rect">
            <a:avLst/>
          </a:prstGeom>
        </p:spPr>
      </p:pic>
      <p:pic>
        <p:nvPicPr>
          <p:cNvPr id="15" name="Picture 14">
            <a:extLst>
              <a:ext uri="{FF2B5EF4-FFF2-40B4-BE49-F238E27FC236}">
                <a16:creationId xmlns:a16="http://schemas.microsoft.com/office/drawing/2014/main" id="{12ABFBA2-730D-172A-0129-A1BB7D09A7BA}"/>
              </a:ext>
            </a:extLst>
          </p:cNvPr>
          <p:cNvPicPr>
            <a:picLocks noChangeAspect="1"/>
          </p:cNvPicPr>
          <p:nvPr/>
        </p:nvPicPr>
        <p:blipFill>
          <a:blip r:embed="rId5"/>
          <a:stretch>
            <a:fillRect/>
          </a:stretch>
        </p:blipFill>
        <p:spPr>
          <a:xfrm>
            <a:off x="5494129" y="3649132"/>
            <a:ext cx="4567093" cy="2667000"/>
          </a:xfrm>
          <a:prstGeom prst="rect">
            <a:avLst/>
          </a:prstGeom>
        </p:spPr>
      </p:pic>
      <p:pic>
        <p:nvPicPr>
          <p:cNvPr id="17" name="Picture 16">
            <a:extLst>
              <a:ext uri="{FF2B5EF4-FFF2-40B4-BE49-F238E27FC236}">
                <a16:creationId xmlns:a16="http://schemas.microsoft.com/office/drawing/2014/main" id="{FC822782-EF70-81A2-001E-E93D98C3732A}"/>
              </a:ext>
            </a:extLst>
          </p:cNvPr>
          <p:cNvPicPr>
            <a:picLocks noChangeAspect="1"/>
          </p:cNvPicPr>
          <p:nvPr/>
        </p:nvPicPr>
        <p:blipFill>
          <a:blip r:embed="rId6"/>
          <a:stretch>
            <a:fillRect/>
          </a:stretch>
        </p:blipFill>
        <p:spPr>
          <a:xfrm>
            <a:off x="5791200" y="2985911"/>
            <a:ext cx="1019222" cy="611534"/>
          </a:xfrm>
          <a:prstGeom prst="rect">
            <a:avLst/>
          </a:prstGeom>
        </p:spPr>
      </p:pic>
    </p:spTree>
    <p:extLst>
      <p:ext uri="{BB962C8B-B14F-4D97-AF65-F5344CB8AC3E}">
        <p14:creationId xmlns:p14="http://schemas.microsoft.com/office/powerpoint/2010/main" val="14977865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A9AE-0F22-2E52-C301-E6EDC75B4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B2F28-A616-6260-2578-9A7F1ADEA4E5}"/>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12585EBB-7DCE-3B99-B557-F181BAC25A52}"/>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CDBD3AA2-9C23-5673-23CE-0181B212B933}"/>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6" name="Picture 5">
            <a:extLst>
              <a:ext uri="{FF2B5EF4-FFF2-40B4-BE49-F238E27FC236}">
                <a16:creationId xmlns:a16="http://schemas.microsoft.com/office/drawing/2014/main" id="{23273A56-1DDE-4883-87DC-3030C283B6C3}"/>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4F15087E-90B1-BD6A-88C2-693A2A611668}"/>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E1627744-7CE9-DB1C-72B3-939E97098214}"/>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84ADC42-FCF4-D6F4-80CF-9418124BB462}"/>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484ADC42-FCF4-D6F4-80CF-9418124BB462}"/>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CCBEFF-A0C5-1268-60D0-D600C4F8F709}"/>
                  </a:ext>
                </a:extLst>
              </p:cNvPr>
              <p:cNvSpPr txBox="1"/>
              <p:nvPr/>
            </p:nvSpPr>
            <p:spPr>
              <a:xfrm>
                <a:off x="5459123" y="3429000"/>
                <a:ext cx="1711494" cy="369332"/>
              </a:xfrm>
              <a:prstGeom prst="rect">
                <a:avLst/>
              </a:prstGeom>
              <a:noFill/>
            </p:spPr>
            <p:txBody>
              <a:bodyPr wrap="none" rtlCol="0">
                <a:spAutoFit/>
              </a:bodyPr>
              <a:lstStyle/>
              <a:p>
                <a:r>
                  <a:rPr lang="en-IN" dirty="0"/>
                  <a:t>Case 1: </a:t>
                </a:r>
                <a14:m>
                  <m:oMath xmlns:m="http://schemas.openxmlformats.org/officeDocument/2006/math">
                    <m:r>
                      <a:rPr lang="en-IN" i="1">
                        <a:latin typeface="Cambria Math" panose="02040503050406030204" pitchFamily="18" charset="0"/>
                      </a:rPr>
                      <m:t>𝜆</m:t>
                    </m:r>
                    <m:r>
                      <a:rPr lang="en-IN">
                        <a:latin typeface="Cambria Math" panose="02040503050406030204" pitchFamily="18" charset="0"/>
                      </a:rPr>
                      <m:t>=</m:t>
                    </m:r>
                    <m:r>
                      <a:rPr lang="en-IN">
                        <a:latin typeface="Cambria Math" panose="02040503050406030204" pitchFamily="18" charset="0"/>
                      </a:rPr>
                      <m:t>0</m:t>
                    </m:r>
                  </m:oMath>
                </a14:m>
                <a:endParaRPr lang="en-IN" dirty="0"/>
              </a:p>
            </p:txBody>
          </p:sp>
        </mc:Choice>
        <mc:Fallback xmlns="">
          <p:sp>
            <p:nvSpPr>
              <p:cNvPr id="7" name="TextBox 6">
                <a:extLst>
                  <a:ext uri="{FF2B5EF4-FFF2-40B4-BE49-F238E27FC236}">
                    <a16:creationId xmlns:a16="http://schemas.microsoft.com/office/drawing/2014/main" id="{04CCBEFF-A0C5-1268-60D0-D600C4F8F709}"/>
                  </a:ext>
                </a:extLst>
              </p:cNvPr>
              <p:cNvSpPr txBox="1">
                <a:spLocks noRot="1" noChangeAspect="1" noMove="1" noResize="1" noEditPoints="1" noAdjustHandles="1" noChangeArrowheads="1" noChangeShapeType="1" noTextEdit="1"/>
              </p:cNvSpPr>
              <p:nvPr/>
            </p:nvSpPr>
            <p:spPr>
              <a:xfrm>
                <a:off x="5459123" y="3429000"/>
                <a:ext cx="1711494" cy="369332"/>
              </a:xfrm>
              <a:prstGeom prst="rect">
                <a:avLst/>
              </a:prstGeom>
              <a:blipFill>
                <a:blip r:embed="rId7"/>
                <a:stretch>
                  <a:fillRect l="-3214" t="-10000" b="-25000"/>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A2FCCECB-7CCE-72F5-CDF6-9CE9655A9A1A}"/>
              </a:ext>
            </a:extLst>
          </p:cNvPr>
          <p:cNvPicPr>
            <a:picLocks noChangeAspect="1"/>
          </p:cNvPicPr>
          <p:nvPr/>
        </p:nvPicPr>
        <p:blipFill>
          <a:blip r:embed="rId8"/>
          <a:stretch>
            <a:fillRect/>
          </a:stretch>
        </p:blipFill>
        <p:spPr>
          <a:xfrm>
            <a:off x="5538473" y="3919961"/>
            <a:ext cx="2349423" cy="677440"/>
          </a:xfrm>
          <a:prstGeom prst="rect">
            <a:avLst/>
          </a:prstGeom>
        </p:spPr>
      </p:pic>
      <p:sp>
        <p:nvSpPr>
          <p:cNvPr id="14" name="TextBox 13">
            <a:extLst>
              <a:ext uri="{FF2B5EF4-FFF2-40B4-BE49-F238E27FC236}">
                <a16:creationId xmlns:a16="http://schemas.microsoft.com/office/drawing/2014/main" id="{9E7918BB-5556-09F3-10A2-A2CF5BF97DBE}"/>
              </a:ext>
            </a:extLst>
          </p:cNvPr>
          <p:cNvSpPr txBox="1"/>
          <p:nvPr/>
        </p:nvSpPr>
        <p:spPr>
          <a:xfrm>
            <a:off x="5563845" y="4682869"/>
            <a:ext cx="5339923" cy="923330"/>
          </a:xfrm>
          <a:prstGeom prst="rect">
            <a:avLst/>
          </a:prstGeom>
          <a:noFill/>
        </p:spPr>
        <p:txBody>
          <a:bodyPr wrap="none" rtlCol="0">
            <a:spAutoFit/>
          </a:bodyPr>
          <a:lstStyle/>
          <a:p>
            <a:r>
              <a:rPr lang="en-US" dirty="0"/>
              <a:t>No regularization</a:t>
            </a:r>
          </a:p>
          <a:p>
            <a:r>
              <a:rPr lang="en-US" dirty="0"/>
              <a:t>Network determined </a:t>
            </a:r>
            <a:r>
              <a:rPr lang="en-US" b="1" dirty="0"/>
              <a:t>only by training data</a:t>
            </a:r>
            <a:endParaRPr lang="en-US" dirty="0"/>
          </a:p>
          <a:p>
            <a:r>
              <a:rPr lang="en-US" dirty="0"/>
              <a:t>High risk of </a:t>
            </a:r>
            <a:r>
              <a:rPr lang="en-US" b="1" dirty="0"/>
              <a:t>overfitting</a:t>
            </a:r>
            <a:endParaRPr lang="en-IN" dirty="0"/>
          </a:p>
        </p:txBody>
      </p:sp>
    </p:spTree>
    <p:extLst>
      <p:ext uri="{BB962C8B-B14F-4D97-AF65-F5344CB8AC3E}">
        <p14:creationId xmlns:p14="http://schemas.microsoft.com/office/powerpoint/2010/main" val="33296126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D48F3-22F3-0FFB-BA18-7DDA40D2E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8F8AA-4DD2-E311-7B65-B0795162F53D}"/>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56B95C51-6AAB-161F-73A9-C968799EC6B9}"/>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20BBAF52-E3CB-50AC-669D-303FE55B765D}"/>
              </a:ext>
            </a:extLst>
          </p:cNvPr>
          <p:cNvSpPr>
            <a:spLocks noGrp="1"/>
          </p:cNvSpPr>
          <p:nvPr>
            <p:ph type="sldNum" sz="quarter" idx="12"/>
          </p:nvPr>
        </p:nvSpPr>
        <p:spPr/>
        <p:txBody>
          <a:bodyPr/>
          <a:lstStyle/>
          <a:p>
            <a:fld id="{BB2CE0DE-867F-455F-B20B-96D381B4AB71}" type="slidenum">
              <a:rPr lang="en-US" smtClean="0"/>
              <a:t>82</a:t>
            </a:fld>
            <a:endParaRPr lang="en-US"/>
          </a:p>
        </p:txBody>
      </p:sp>
      <p:pic>
        <p:nvPicPr>
          <p:cNvPr id="6" name="Picture 5">
            <a:extLst>
              <a:ext uri="{FF2B5EF4-FFF2-40B4-BE49-F238E27FC236}">
                <a16:creationId xmlns:a16="http://schemas.microsoft.com/office/drawing/2014/main" id="{238217E9-2205-422E-131A-F32582D7735F}"/>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E1B02A6A-86CF-A2A7-EEBC-D8D436EC0FEA}"/>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D65E6E37-7961-199C-6C17-EDBBDE958432}"/>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43D6FF7-8E5C-9B3E-4BAB-FBF58F66A4D6}"/>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B43D6FF7-8E5C-9B3E-4BAB-FBF58F66A4D6}"/>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B211FE4-5421-24DA-B86B-AFEE178C3F26}"/>
                  </a:ext>
                </a:extLst>
              </p:cNvPr>
              <p:cNvSpPr txBox="1"/>
              <p:nvPr/>
            </p:nvSpPr>
            <p:spPr>
              <a:xfrm>
                <a:off x="5528672" y="3505200"/>
                <a:ext cx="1976182" cy="400110"/>
              </a:xfrm>
              <a:prstGeom prst="rect">
                <a:avLst/>
              </a:prstGeom>
              <a:noFill/>
            </p:spPr>
            <p:txBody>
              <a:bodyPr wrap="none" rtlCol="0">
                <a:spAutoFit/>
              </a:bodyPr>
              <a:lstStyle/>
              <a:p>
                <a:r>
                  <a:rPr lang="en-IN" sz="2000" dirty="0"/>
                  <a:t>Case 2: </a:t>
                </a:r>
                <a14:m>
                  <m:oMath xmlns:m="http://schemas.openxmlformats.org/officeDocument/2006/math">
                    <m:r>
                      <a:rPr lang="en-IN" sz="2000" i="1">
                        <a:latin typeface="Cambria Math" panose="02040503050406030204" pitchFamily="18" charset="0"/>
                      </a:rPr>
                      <m:t>𝜆</m:t>
                    </m:r>
                    <m:r>
                      <a:rPr lang="en-IN" sz="2000">
                        <a:latin typeface="Cambria Math" panose="02040503050406030204" pitchFamily="18" charset="0"/>
                      </a:rPr>
                      <m:t>→</m:t>
                    </m:r>
                    <m:r>
                      <a:rPr lang="en-IN" sz="2000">
                        <a:latin typeface="Cambria Math" panose="02040503050406030204" pitchFamily="18" charset="0"/>
                      </a:rPr>
                      <m:t>∞</m:t>
                    </m:r>
                  </m:oMath>
                </a14:m>
                <a:endParaRPr lang="en-IN" sz="2000" dirty="0"/>
              </a:p>
            </p:txBody>
          </p:sp>
        </mc:Choice>
        <mc:Fallback xmlns="">
          <p:sp>
            <p:nvSpPr>
              <p:cNvPr id="9" name="TextBox 8">
                <a:extLst>
                  <a:ext uri="{FF2B5EF4-FFF2-40B4-BE49-F238E27FC236}">
                    <a16:creationId xmlns:a16="http://schemas.microsoft.com/office/drawing/2014/main" id="{3B211FE4-5421-24DA-B86B-AFEE178C3F26}"/>
                  </a:ext>
                </a:extLst>
              </p:cNvPr>
              <p:cNvSpPr txBox="1">
                <a:spLocks noRot="1" noChangeAspect="1" noMove="1" noResize="1" noEditPoints="1" noAdjustHandles="1" noChangeArrowheads="1" noChangeShapeType="1" noTextEdit="1"/>
              </p:cNvSpPr>
              <p:nvPr/>
            </p:nvSpPr>
            <p:spPr>
              <a:xfrm>
                <a:off x="5528672" y="3505200"/>
                <a:ext cx="1976182" cy="400110"/>
              </a:xfrm>
              <a:prstGeom prst="rect">
                <a:avLst/>
              </a:prstGeom>
              <a:blipFill>
                <a:blip r:embed="rId7"/>
                <a:stretch>
                  <a:fillRect l="-3395" t="-7576" b="-25758"/>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82176EBD-90BA-5C94-A9D3-4B73450FF64E}"/>
              </a:ext>
            </a:extLst>
          </p:cNvPr>
          <p:cNvPicPr>
            <a:picLocks noChangeAspect="1"/>
          </p:cNvPicPr>
          <p:nvPr/>
        </p:nvPicPr>
        <p:blipFill>
          <a:blip r:embed="rId8"/>
          <a:stretch>
            <a:fillRect/>
          </a:stretch>
        </p:blipFill>
        <p:spPr>
          <a:xfrm>
            <a:off x="5510479" y="3927887"/>
            <a:ext cx="1994375" cy="564446"/>
          </a:xfrm>
          <a:prstGeom prst="rect">
            <a:avLst/>
          </a:prstGeom>
        </p:spPr>
      </p:pic>
      <p:sp>
        <p:nvSpPr>
          <p:cNvPr id="15" name="TextBox 14">
            <a:extLst>
              <a:ext uri="{FF2B5EF4-FFF2-40B4-BE49-F238E27FC236}">
                <a16:creationId xmlns:a16="http://schemas.microsoft.com/office/drawing/2014/main" id="{5A864029-970D-1AF7-94E3-E9E6A8379121}"/>
              </a:ext>
            </a:extLst>
          </p:cNvPr>
          <p:cNvSpPr txBox="1"/>
          <p:nvPr/>
        </p:nvSpPr>
        <p:spPr>
          <a:xfrm>
            <a:off x="5257800" y="4567450"/>
            <a:ext cx="5674951" cy="1754326"/>
          </a:xfrm>
          <a:prstGeom prst="rect">
            <a:avLst/>
          </a:prstGeom>
          <a:noFill/>
        </p:spPr>
        <p:txBody>
          <a:bodyPr wrap="none" rtlCol="0">
            <a:spAutoFit/>
          </a:bodyPr>
          <a:lstStyle/>
          <a:p>
            <a:r>
              <a:rPr lang="en-US" dirty="0"/>
              <a:t>Complexity penalty dominates</a:t>
            </a:r>
          </a:p>
          <a:p>
            <a:r>
              <a:rPr lang="en-US" dirty="0"/>
              <a:t>Training data becomes unreliable</a:t>
            </a:r>
          </a:p>
          <a:p>
            <a:r>
              <a:rPr lang="en-US" dirty="0"/>
              <a:t>Network weights forced to be very small</a:t>
            </a:r>
          </a:p>
          <a:p>
            <a:r>
              <a:rPr lang="en-US" dirty="0"/>
              <a:t>Model becomes </a:t>
            </a:r>
            <a:r>
              <a:rPr lang="en-US" b="1" dirty="0"/>
              <a:t>overly simple (underfitting)</a:t>
            </a:r>
            <a:endParaRPr lang="en-US" dirty="0"/>
          </a:p>
          <a:p>
            <a:endParaRPr lang="en-IN" dirty="0"/>
          </a:p>
          <a:p>
            <a:endParaRPr lang="en-IN" dirty="0"/>
          </a:p>
        </p:txBody>
      </p:sp>
    </p:spTree>
    <p:extLst>
      <p:ext uri="{BB962C8B-B14F-4D97-AF65-F5344CB8AC3E}">
        <p14:creationId xmlns:p14="http://schemas.microsoft.com/office/powerpoint/2010/main" val="11130013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B16C4-BB82-0605-2960-349EEEAD5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2D46-562E-6C9D-341F-3EEBA51ABC8B}"/>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311CE9D7-BE5F-021B-E5C7-9FFE0D9B5224}"/>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55117E6-F4A0-C7D6-BFC8-069B385FAD17}"/>
              </a:ext>
            </a:extLst>
          </p:cNvPr>
          <p:cNvSpPr>
            <a:spLocks noGrp="1"/>
          </p:cNvSpPr>
          <p:nvPr>
            <p:ph type="sldNum" sz="quarter" idx="12"/>
          </p:nvPr>
        </p:nvSpPr>
        <p:spPr/>
        <p:txBody>
          <a:bodyPr/>
          <a:lstStyle/>
          <a:p>
            <a:fld id="{BB2CE0DE-867F-455F-B20B-96D381B4AB71}" type="slidenum">
              <a:rPr lang="en-US" smtClean="0"/>
              <a:t>83</a:t>
            </a:fld>
            <a:endParaRPr lang="en-US"/>
          </a:p>
        </p:txBody>
      </p:sp>
      <p:pic>
        <p:nvPicPr>
          <p:cNvPr id="6" name="Picture 5">
            <a:extLst>
              <a:ext uri="{FF2B5EF4-FFF2-40B4-BE49-F238E27FC236}">
                <a16:creationId xmlns:a16="http://schemas.microsoft.com/office/drawing/2014/main" id="{FEEE9A72-4942-D4D7-5E68-60FC4BC3DFFE}"/>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70F6B21C-8D61-A914-846C-9A624347707C}"/>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58B0DA19-8FA9-0A91-C60F-92B9C090F001}"/>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C7546E7-6F19-92FD-5CFB-1161BDF08692}"/>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AC7546E7-6F19-92FD-5CFB-1161BDF08692}"/>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28A709BB-2EDE-184F-F4AE-ECA0BB22DB4D}"/>
              </a:ext>
            </a:extLst>
          </p:cNvPr>
          <p:cNvSpPr txBox="1"/>
          <p:nvPr/>
        </p:nvSpPr>
        <p:spPr>
          <a:xfrm>
            <a:off x="5528672" y="3505200"/>
            <a:ext cx="2255746" cy="400110"/>
          </a:xfrm>
          <a:prstGeom prst="rect">
            <a:avLst/>
          </a:prstGeom>
          <a:noFill/>
        </p:spPr>
        <p:txBody>
          <a:bodyPr wrap="none" rtlCol="0">
            <a:spAutoFit/>
          </a:bodyPr>
          <a:lstStyle/>
          <a:p>
            <a:r>
              <a:rPr lang="en-IN" sz="2000" dirty="0"/>
              <a:t>Case 3: </a:t>
            </a:r>
            <a:r>
              <a:rPr lang="el-GR" sz="2000" dirty="0"/>
              <a:t>0&lt;λ&lt;∞</a:t>
            </a:r>
            <a:endParaRPr lang="en-IN" sz="2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5B7FEC-6D8D-9FBF-3236-F49F820114BD}"/>
                  </a:ext>
                </a:extLst>
              </p:cNvPr>
              <p:cNvSpPr txBox="1"/>
              <p:nvPr/>
            </p:nvSpPr>
            <p:spPr>
              <a:xfrm>
                <a:off x="5495550" y="3938419"/>
                <a:ext cx="6199069" cy="1594091"/>
              </a:xfrm>
              <a:prstGeom prst="rect">
                <a:avLst/>
              </a:prstGeom>
              <a:noFill/>
            </p:spPr>
            <p:txBody>
              <a:bodyPr wrap="none" rtlCol="0">
                <a:spAutoFit/>
              </a:bodyPr>
              <a:lstStyle/>
              <a:p>
                <a:r>
                  <a:rPr lang="en-US" sz="1600" dirty="0"/>
                  <a:t>Balanced learning</a:t>
                </a:r>
              </a:p>
              <a:p>
                <a:r>
                  <a:rPr lang="en-US" sz="1600" dirty="0"/>
                  <a:t>Good generalization</a:t>
                </a:r>
              </a:p>
              <a:p>
                <a:r>
                  <a:rPr lang="en-US" sz="1600" dirty="0"/>
                  <a:t>Best compromise between:</a:t>
                </a:r>
              </a:p>
              <a:p>
                <a:pPr lvl="1"/>
                <a:r>
                  <a:rPr lang="en-US" sz="1600" dirty="0"/>
                  <a:t>Accuracy</a:t>
                </a:r>
              </a:p>
              <a:p>
                <a:pPr lvl="1"/>
                <a:r>
                  <a:rPr lang="en-US" sz="1600" dirty="0"/>
                  <a:t>Simplicity</a:t>
                </a:r>
              </a:p>
              <a:p>
                <a:r>
                  <a:rPr lang="en-US" sz="1600" b="1" dirty="0"/>
                  <a:t>Choosing </a:t>
                </a:r>
                <a14:m>
                  <m:oMath xmlns:m="http://schemas.openxmlformats.org/officeDocument/2006/math">
                    <m:r>
                      <a:rPr lang="en-US" i="1">
                        <a:latin typeface="Cambria Math" panose="02040503050406030204" pitchFamily="18" charset="0"/>
                      </a:rPr>
                      <m:t>𝜆</m:t>
                    </m:r>
                  </m:oMath>
                </a14:m>
                <a:r>
                  <a:rPr lang="en-US" sz="1600" b="1" dirty="0"/>
                  <a:t> is crucial</a:t>
                </a:r>
                <a:r>
                  <a:rPr lang="en-US" sz="1600" dirty="0"/>
                  <a:t> (often done using validation data).</a:t>
                </a:r>
                <a:endParaRPr lang="en-IN" sz="1600" dirty="0"/>
              </a:p>
            </p:txBody>
          </p:sp>
        </mc:Choice>
        <mc:Fallback xmlns="">
          <p:sp>
            <p:nvSpPr>
              <p:cNvPr id="7" name="TextBox 6">
                <a:extLst>
                  <a:ext uri="{FF2B5EF4-FFF2-40B4-BE49-F238E27FC236}">
                    <a16:creationId xmlns:a16="http://schemas.microsoft.com/office/drawing/2014/main" id="{D15B7FEC-6D8D-9FBF-3236-F49F820114BD}"/>
                  </a:ext>
                </a:extLst>
              </p:cNvPr>
              <p:cNvSpPr txBox="1">
                <a:spLocks noRot="1" noChangeAspect="1" noMove="1" noResize="1" noEditPoints="1" noAdjustHandles="1" noChangeArrowheads="1" noChangeShapeType="1" noTextEdit="1"/>
              </p:cNvSpPr>
              <p:nvPr/>
            </p:nvSpPr>
            <p:spPr>
              <a:xfrm>
                <a:off x="5495550" y="3938419"/>
                <a:ext cx="6199069" cy="1594091"/>
              </a:xfrm>
              <a:prstGeom prst="rect">
                <a:avLst/>
              </a:prstGeom>
              <a:blipFill>
                <a:blip r:embed="rId7"/>
                <a:stretch>
                  <a:fillRect l="-591" t="-1145" b="-3435"/>
                </a:stretch>
              </a:blipFill>
            </p:spPr>
            <p:txBody>
              <a:bodyPr/>
              <a:lstStyle/>
              <a:p>
                <a:r>
                  <a:rPr lang="en-IN">
                    <a:noFill/>
                  </a:rPr>
                  <a:t> </a:t>
                </a:r>
              </a:p>
            </p:txBody>
          </p:sp>
        </mc:Fallback>
      </mc:AlternateContent>
    </p:spTree>
    <p:extLst>
      <p:ext uri="{BB962C8B-B14F-4D97-AF65-F5344CB8AC3E}">
        <p14:creationId xmlns:p14="http://schemas.microsoft.com/office/powerpoint/2010/main" val="36315129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A6439-23F5-58D9-9204-1B832F8AE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364FA-3E42-A830-D5CC-CD07DDA3AC90}"/>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7BB89B11-1059-9657-15BA-78B532ACF2EB}"/>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DE16AF4C-D7D9-2543-BA85-960B7C6F7083}"/>
              </a:ext>
            </a:extLst>
          </p:cNvPr>
          <p:cNvSpPr>
            <a:spLocks noGrp="1"/>
          </p:cNvSpPr>
          <p:nvPr>
            <p:ph type="sldNum" sz="quarter" idx="12"/>
          </p:nvPr>
        </p:nvSpPr>
        <p:spPr/>
        <p:txBody>
          <a:bodyPr/>
          <a:lstStyle/>
          <a:p>
            <a:fld id="{BB2CE0DE-867F-455F-B20B-96D381B4AB71}" type="slidenum">
              <a:rPr lang="en-US" smtClean="0"/>
              <a:t>84</a:t>
            </a:fld>
            <a:endParaRPr lang="en-US"/>
          </a:p>
        </p:txBody>
      </p:sp>
      <p:pic>
        <p:nvPicPr>
          <p:cNvPr id="6" name="Picture 5">
            <a:extLst>
              <a:ext uri="{FF2B5EF4-FFF2-40B4-BE49-F238E27FC236}">
                <a16:creationId xmlns:a16="http://schemas.microsoft.com/office/drawing/2014/main" id="{48AAC2B1-9422-A73C-B5CD-5EEC7D44883E}"/>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1956952E-05C9-F92C-906B-B9426560B625}"/>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75C882E2-1297-A3D7-F71A-263560CB1541}"/>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6A2A923-5E2E-386F-39D3-ACD6B4140A2A}"/>
                  </a:ext>
                </a:extLst>
              </p:cNvPr>
              <p:cNvSpPr txBox="1"/>
              <p:nvPr/>
            </p:nvSpPr>
            <p:spPr>
              <a:xfrm>
                <a:off x="5378636" y="3338943"/>
                <a:ext cx="6349815" cy="1754326"/>
              </a:xfrm>
              <a:prstGeom prst="rect">
                <a:avLst/>
              </a:prstGeom>
              <a:noFill/>
            </p:spPr>
            <p:txBody>
              <a:bodyPr wrap="none" rtlCol="0">
                <a:spAutoFit/>
              </a:bodyPr>
              <a:lstStyle/>
              <a:p>
                <a:r>
                  <a:rPr lang="en-IN" b="1" dirty="0"/>
                  <a:t>Total risk = training error + complexity penalty</a:t>
                </a:r>
                <a:endParaRPr lang="en-IN" dirty="0"/>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ℰ</m:t>
                        </m:r>
                      </m:e>
                      <m:sub>
                        <m:r>
                          <a:rPr lang="ar-AE" i="1">
                            <a:latin typeface="Cambria Math" panose="02040503050406030204" pitchFamily="18" charset="0"/>
                          </a:rPr>
                          <m:t>𝑎𝑣</m:t>
                        </m:r>
                      </m:sub>
                    </m:sSub>
                  </m:oMath>
                </a14:m>
                <a:r>
                  <a:rPr lang="ar-AE" dirty="0"/>
                  <a:t>→ </a:t>
                </a:r>
                <a:r>
                  <a:rPr lang="en-IN" dirty="0"/>
                  <a:t>depends on data + network</a:t>
                </a:r>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ℰ</m:t>
                        </m:r>
                      </m:e>
                      <m:sub>
                        <m:r>
                          <a:rPr lang="ar-AE" i="1">
                            <a:latin typeface="Cambria Math" panose="02040503050406030204" pitchFamily="18" charset="0"/>
                          </a:rPr>
                          <m:t>𝑐</m:t>
                        </m:r>
                      </m:sub>
                    </m:sSub>
                  </m:oMath>
                </a14:m>
                <a:r>
                  <a:rPr lang="ar-AE" dirty="0"/>
                  <a:t>→ </a:t>
                </a:r>
                <a:r>
                  <a:rPr lang="en-IN" dirty="0"/>
                  <a:t>depends only on weights</a:t>
                </a:r>
              </a:p>
              <a:p>
                <a14:m>
                  <m:oMath xmlns:m="http://schemas.openxmlformats.org/officeDocument/2006/math">
                    <m:r>
                      <a:rPr lang="en-IN" i="1">
                        <a:latin typeface="Cambria Math" panose="02040503050406030204" pitchFamily="18" charset="0"/>
                      </a:rPr>
                      <m:t>𝜆</m:t>
                    </m:r>
                  </m:oMath>
                </a14:m>
                <a:r>
                  <a:rPr lang="en-IN" dirty="0"/>
                  <a:t> controls </a:t>
                </a:r>
                <a:r>
                  <a:rPr lang="en-IN" dirty="0" err="1"/>
                  <a:t>tradeoff</a:t>
                </a:r>
                <a:r>
                  <a:rPr lang="en-IN" dirty="0"/>
                  <a:t> between:</a:t>
                </a:r>
              </a:p>
              <a:p>
                <a:r>
                  <a:rPr lang="en-IN" dirty="0"/>
                  <a:t>	Overfitting</a:t>
                </a:r>
              </a:p>
              <a:p>
                <a:r>
                  <a:rPr lang="en-IN" dirty="0"/>
                  <a:t>	Underfitting</a:t>
                </a:r>
              </a:p>
            </p:txBody>
          </p:sp>
        </mc:Choice>
        <mc:Fallback xmlns="">
          <p:sp>
            <p:nvSpPr>
              <p:cNvPr id="11" name="TextBox 10">
                <a:extLst>
                  <a:ext uri="{FF2B5EF4-FFF2-40B4-BE49-F238E27FC236}">
                    <a16:creationId xmlns:a16="http://schemas.microsoft.com/office/drawing/2014/main" id="{66A2A923-5E2E-386F-39D3-ACD6B4140A2A}"/>
                  </a:ext>
                </a:extLst>
              </p:cNvPr>
              <p:cNvSpPr txBox="1">
                <a:spLocks noRot="1" noChangeAspect="1" noMove="1" noResize="1" noEditPoints="1" noAdjustHandles="1" noChangeArrowheads="1" noChangeShapeType="1" noTextEdit="1"/>
              </p:cNvSpPr>
              <p:nvPr/>
            </p:nvSpPr>
            <p:spPr>
              <a:xfrm>
                <a:off x="5378636" y="3338943"/>
                <a:ext cx="6349815" cy="1754326"/>
              </a:xfrm>
              <a:prstGeom prst="rect">
                <a:avLst/>
              </a:prstGeom>
              <a:blipFill>
                <a:blip r:embed="rId6"/>
                <a:stretch>
                  <a:fillRect l="-768" t="-2083" b="-4514"/>
                </a:stretch>
              </a:blipFill>
            </p:spPr>
            <p:txBody>
              <a:bodyPr/>
              <a:lstStyle/>
              <a:p>
                <a:r>
                  <a:rPr lang="en-IN">
                    <a:noFill/>
                  </a:rPr>
                  <a:t> </a:t>
                </a:r>
              </a:p>
            </p:txBody>
          </p:sp>
        </mc:Fallback>
      </mc:AlternateContent>
    </p:spTree>
    <p:extLst>
      <p:ext uri="{BB962C8B-B14F-4D97-AF65-F5344CB8AC3E}">
        <p14:creationId xmlns:p14="http://schemas.microsoft.com/office/powerpoint/2010/main" val="10530206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A7B5-FFAD-FA01-6E7F-D04D43046A0E}"/>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E1CDF02B-3621-A30F-C1BF-61D0555CB4F7}"/>
              </a:ext>
            </a:extLst>
          </p:cNvPr>
          <p:cNvSpPr>
            <a:spLocks noGrp="1"/>
          </p:cNvSpPr>
          <p:nvPr>
            <p:ph idx="1"/>
          </p:nvPr>
        </p:nvSpPr>
        <p:spPr/>
        <p:txBody>
          <a:bodyPr/>
          <a:lstStyle/>
          <a:p>
            <a:pPr marL="0" indent="0">
              <a:buNone/>
            </a:pPr>
            <a:r>
              <a:rPr lang="en-US" sz="2000" b="1" dirty="0"/>
              <a:t>Why Do Neural Networks Need Regularization and Pruning?</a:t>
            </a:r>
          </a:p>
          <a:p>
            <a:r>
              <a:rPr lang="en-US" sz="2000" dirty="0"/>
              <a:t>Think of a neural network as a </a:t>
            </a:r>
            <a:r>
              <a:rPr lang="en-US" sz="2000" b="1" dirty="0"/>
              <a:t>very flexible curve-fitting machine</a:t>
            </a:r>
            <a:r>
              <a:rPr lang="en-US" sz="2000" dirty="0"/>
              <a:t>.</a:t>
            </a:r>
          </a:p>
          <a:p>
            <a:r>
              <a:rPr lang="en-US" sz="2000" dirty="0"/>
              <a:t>More weights → more flexibility</a:t>
            </a:r>
          </a:p>
          <a:p>
            <a:r>
              <a:rPr lang="en-US" sz="2000" dirty="0"/>
              <a:t>Too much flexibility → memorization → poor performance on new data</a:t>
            </a:r>
          </a:p>
          <a:p>
            <a:pPr marL="0" indent="0">
              <a:buNone/>
            </a:pPr>
            <a:endParaRPr lang="en-US" sz="2000" dirty="0"/>
          </a:p>
          <a:p>
            <a:pPr marL="0" indent="0">
              <a:buNone/>
            </a:pPr>
            <a:r>
              <a:rPr lang="en-US" sz="2000" dirty="0"/>
              <a:t>So we need techniques that:</a:t>
            </a:r>
          </a:p>
          <a:p>
            <a:r>
              <a:rPr lang="en-US" sz="2000" b="1" dirty="0"/>
              <a:t>Control complexity while learning</a:t>
            </a:r>
            <a:endParaRPr lang="en-US" sz="2000" dirty="0"/>
          </a:p>
          <a:p>
            <a:r>
              <a:rPr lang="en-US" sz="2000" b="1" dirty="0"/>
              <a:t>Remove unnecessary parts after learning</a:t>
            </a:r>
            <a:endParaRPr lang="en-US" sz="2000" dirty="0"/>
          </a:p>
          <a:p>
            <a:pPr marL="0" indent="0">
              <a:buNone/>
            </a:pPr>
            <a:endParaRPr lang="en-US" sz="2000" dirty="0"/>
          </a:p>
          <a:p>
            <a:pPr marL="0" indent="0">
              <a:buNone/>
            </a:pPr>
            <a:r>
              <a:rPr lang="en-US" sz="2000" dirty="0"/>
              <a:t>This leads to:</a:t>
            </a:r>
          </a:p>
          <a:p>
            <a:r>
              <a:rPr lang="en-US" sz="2000" b="1" dirty="0"/>
              <a:t>Weight Decay</a:t>
            </a:r>
            <a:r>
              <a:rPr lang="en-US" sz="2000" dirty="0"/>
              <a:t> → controls complexity during training</a:t>
            </a:r>
          </a:p>
          <a:p>
            <a:r>
              <a:rPr lang="en-US" sz="2000" b="1" dirty="0"/>
              <a:t>Network Pruning</a:t>
            </a:r>
            <a:r>
              <a:rPr lang="en-US" sz="2000" dirty="0"/>
              <a:t> → removes redundancy after training</a:t>
            </a:r>
          </a:p>
          <a:p>
            <a:endParaRPr lang="en-IN" sz="2000" dirty="0"/>
          </a:p>
        </p:txBody>
      </p:sp>
      <p:sp>
        <p:nvSpPr>
          <p:cNvPr id="4" name="Slide Number Placeholder 3">
            <a:extLst>
              <a:ext uri="{FF2B5EF4-FFF2-40B4-BE49-F238E27FC236}">
                <a16:creationId xmlns:a16="http://schemas.microsoft.com/office/drawing/2014/main" id="{982DCDBB-AFB1-5363-7751-851FD3C0AF88}"/>
              </a:ext>
            </a:extLst>
          </p:cNvPr>
          <p:cNvSpPr>
            <a:spLocks noGrp="1"/>
          </p:cNvSpPr>
          <p:nvPr>
            <p:ph type="sldNum" sz="quarter" idx="12"/>
          </p:nvPr>
        </p:nvSpPr>
        <p:spPr/>
        <p:txBody>
          <a:bodyPr/>
          <a:lstStyle/>
          <a:p>
            <a:fld id="{BB2CE0DE-867F-455F-B20B-96D381B4AB71}" type="slidenum">
              <a:rPr lang="en-US" smtClean="0"/>
              <a:t>85</a:t>
            </a:fld>
            <a:endParaRPr lang="en-US"/>
          </a:p>
        </p:txBody>
      </p:sp>
    </p:spTree>
    <p:extLst>
      <p:ext uri="{BB962C8B-B14F-4D97-AF65-F5344CB8AC3E}">
        <p14:creationId xmlns:p14="http://schemas.microsoft.com/office/powerpoint/2010/main" val="1634020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BB0FC-0173-1E0D-5220-4DD61E684DA6}"/>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83E410F8-8E6F-9149-8FFF-938283BB8A7C}"/>
              </a:ext>
            </a:extLst>
          </p:cNvPr>
          <p:cNvSpPr>
            <a:spLocks noGrp="1"/>
          </p:cNvSpPr>
          <p:nvPr>
            <p:ph idx="1"/>
          </p:nvPr>
        </p:nvSpPr>
        <p:spPr/>
        <p:txBody>
          <a:bodyPr/>
          <a:lstStyle/>
          <a:p>
            <a:pPr marL="0" indent="0">
              <a:buNone/>
            </a:pPr>
            <a:r>
              <a:rPr lang="en-IN" sz="1800" dirty="0"/>
              <a:t>Intuition Behind </a:t>
            </a:r>
            <a:r>
              <a:rPr lang="en-IN" sz="1800" b="1" dirty="0">
                <a:solidFill>
                  <a:srgbClr val="0000CC"/>
                </a:solidFill>
              </a:rPr>
              <a:t>Weight Decay</a:t>
            </a:r>
          </a:p>
          <a:p>
            <a:pPr marL="0" indent="0">
              <a:buNone/>
            </a:pPr>
            <a:r>
              <a:rPr lang="en-IN" sz="1800" b="1" dirty="0"/>
              <a:t>Simple Analogy: </a:t>
            </a:r>
            <a:r>
              <a:rPr lang="en-IN" sz="1800" dirty="0"/>
              <a:t>Imagine tuning a radio:</a:t>
            </a:r>
          </a:p>
          <a:p>
            <a:r>
              <a:rPr lang="en-IN" sz="1800" dirty="0"/>
              <a:t>Turning volume too high → noise</a:t>
            </a:r>
          </a:p>
          <a:p>
            <a:r>
              <a:rPr lang="en-IN" sz="1800" dirty="0"/>
              <a:t>Turning volume too low → cannot hear</a:t>
            </a:r>
          </a:p>
          <a:p>
            <a:r>
              <a:rPr lang="en-IN" sz="1800" dirty="0"/>
              <a:t>Best sound → moderate volume</a:t>
            </a:r>
          </a:p>
          <a:p>
            <a:pPr marL="0" indent="0">
              <a:buNone/>
            </a:pPr>
            <a:endParaRPr lang="en-IN" sz="1800" b="1" dirty="0"/>
          </a:p>
          <a:p>
            <a:pPr marL="0" indent="0">
              <a:buNone/>
            </a:pPr>
            <a:endParaRPr lang="en-IN" sz="1800" b="1" dirty="0"/>
          </a:p>
          <a:p>
            <a:pPr marL="0" indent="0">
              <a:buNone/>
            </a:pPr>
            <a:r>
              <a:rPr lang="en-IN" sz="1800" b="1" dirty="0"/>
              <a:t>Weights in a neural network behave like volume knobs</a:t>
            </a:r>
            <a:endParaRPr lang="en-IN" sz="1800" dirty="0"/>
          </a:p>
          <a:p>
            <a:r>
              <a:rPr lang="en-IN" sz="1800" dirty="0"/>
              <a:t>Large weights → network reacts strongly → overfitting</a:t>
            </a:r>
          </a:p>
          <a:p>
            <a:r>
              <a:rPr lang="en-IN" sz="1800" dirty="0"/>
              <a:t>Small weights → smoother, more stable behaviour</a:t>
            </a:r>
          </a:p>
          <a:p>
            <a:pPr marL="0" indent="0">
              <a:buNone/>
            </a:pPr>
            <a:endParaRPr lang="en-IN" sz="1800" b="1" dirty="0"/>
          </a:p>
          <a:p>
            <a:pPr marL="0" indent="0">
              <a:buNone/>
            </a:pPr>
            <a:r>
              <a:rPr lang="en-IN" sz="1800" b="1" dirty="0">
                <a:solidFill>
                  <a:srgbClr val="0000CC"/>
                </a:solidFill>
              </a:rPr>
              <a:t>Weight decay </a:t>
            </a:r>
            <a:r>
              <a:rPr lang="en-IN" sz="1800" b="1" dirty="0"/>
              <a:t>gently pulls weights toward smaller values.</a:t>
            </a:r>
            <a:endParaRPr lang="en-IN" sz="1800" dirty="0"/>
          </a:p>
        </p:txBody>
      </p:sp>
      <p:sp>
        <p:nvSpPr>
          <p:cNvPr id="4" name="Slide Number Placeholder 3">
            <a:extLst>
              <a:ext uri="{FF2B5EF4-FFF2-40B4-BE49-F238E27FC236}">
                <a16:creationId xmlns:a16="http://schemas.microsoft.com/office/drawing/2014/main" id="{142E4ECF-93EE-1D70-2D8B-74D4775971EE}"/>
              </a:ext>
            </a:extLst>
          </p:cNvPr>
          <p:cNvSpPr>
            <a:spLocks noGrp="1"/>
          </p:cNvSpPr>
          <p:nvPr>
            <p:ph type="sldNum" sz="quarter" idx="12"/>
          </p:nvPr>
        </p:nvSpPr>
        <p:spPr/>
        <p:txBody>
          <a:bodyPr/>
          <a:lstStyle/>
          <a:p>
            <a:fld id="{BB2CE0DE-867F-455F-B20B-96D381B4AB71}" type="slidenum">
              <a:rPr lang="en-US" smtClean="0"/>
              <a:t>86</a:t>
            </a:fld>
            <a:endParaRPr lang="en-US"/>
          </a:p>
        </p:txBody>
      </p:sp>
    </p:spTree>
    <p:extLst>
      <p:ext uri="{BB962C8B-B14F-4D97-AF65-F5344CB8AC3E}">
        <p14:creationId xmlns:p14="http://schemas.microsoft.com/office/powerpoint/2010/main" val="8633348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F503-BA3E-7189-9D45-74D9AE55E7A5}"/>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43A4D06F-DC52-5BD5-8ABB-A6683F89337D}"/>
              </a:ext>
            </a:extLst>
          </p:cNvPr>
          <p:cNvSpPr>
            <a:spLocks noGrp="1"/>
          </p:cNvSpPr>
          <p:nvPr>
            <p:ph idx="1"/>
          </p:nvPr>
        </p:nvSpPr>
        <p:spPr/>
        <p:txBody>
          <a:bodyPr/>
          <a:lstStyle/>
          <a:p>
            <a:pPr marL="0" indent="0">
              <a:buNone/>
            </a:pPr>
            <a:r>
              <a:rPr lang="en-US" sz="1800" b="1" dirty="0"/>
              <a:t>Why </a:t>
            </a:r>
            <a:r>
              <a:rPr lang="en-US" sz="2000" b="1" dirty="0">
                <a:solidFill>
                  <a:srgbClr val="0000CC"/>
                </a:solidFill>
              </a:rPr>
              <a:t>Prune a Network</a:t>
            </a:r>
            <a:r>
              <a:rPr lang="en-US" sz="1800" b="1" dirty="0"/>
              <a:t>?</a:t>
            </a:r>
          </a:p>
          <a:p>
            <a:r>
              <a:rPr lang="en-US" sz="1800" dirty="0"/>
              <a:t>After training:</a:t>
            </a:r>
          </a:p>
          <a:p>
            <a:pPr lvl="1"/>
            <a:r>
              <a:rPr lang="en-US" sz="1400" dirty="0"/>
              <a:t>Many weights exist</a:t>
            </a:r>
          </a:p>
          <a:p>
            <a:pPr lvl="1"/>
            <a:r>
              <a:rPr lang="en-US" sz="1400" dirty="0"/>
              <a:t>Some are important</a:t>
            </a:r>
          </a:p>
          <a:p>
            <a:pPr lvl="1"/>
            <a:r>
              <a:rPr lang="en-US" sz="1400" dirty="0"/>
              <a:t>Some are barely used</a:t>
            </a:r>
          </a:p>
          <a:p>
            <a:pPr marL="0" indent="0">
              <a:buNone/>
            </a:pPr>
            <a:r>
              <a:rPr lang="en-US" sz="1800" dirty="0"/>
              <a:t> </a:t>
            </a:r>
            <a:r>
              <a:rPr lang="en-US" sz="1800" b="1" dirty="0"/>
              <a:t>Just because a weight exists does not mean it matters</a:t>
            </a:r>
            <a:endParaRPr lang="en-US" sz="1800" dirty="0"/>
          </a:p>
          <a:p>
            <a:pPr marL="0" indent="0">
              <a:buNone/>
            </a:pPr>
            <a:r>
              <a:rPr lang="en-US" sz="1800" dirty="0"/>
              <a:t>Pruning removes:</a:t>
            </a:r>
          </a:p>
          <a:p>
            <a:r>
              <a:rPr lang="en-US" sz="1800" dirty="0"/>
              <a:t>Redundant connections</a:t>
            </a:r>
          </a:p>
          <a:p>
            <a:r>
              <a:rPr lang="en-US" sz="1800" dirty="0"/>
              <a:t>Ineffective neurons</a:t>
            </a:r>
            <a:br>
              <a:rPr lang="en-US" sz="1800" dirty="0"/>
            </a:br>
            <a:endParaRPr lang="en-US" sz="1800" dirty="0"/>
          </a:p>
          <a:p>
            <a:pPr marL="0" indent="0">
              <a:buNone/>
            </a:pPr>
            <a:r>
              <a:rPr lang="en-US" sz="1800" b="1" dirty="0"/>
              <a:t>Simple Analogy for Pruning</a:t>
            </a:r>
          </a:p>
          <a:p>
            <a:pPr marL="471487" lvl="1" indent="0">
              <a:buNone/>
            </a:pPr>
            <a:r>
              <a:rPr lang="en-US" sz="1400" b="1" dirty="0"/>
              <a:t>Analogy: Team Project</a:t>
            </a:r>
          </a:p>
          <a:p>
            <a:pPr lvl="1"/>
            <a:r>
              <a:rPr lang="en-US" sz="1400" dirty="0"/>
              <a:t>A team has 10 members</a:t>
            </a:r>
          </a:p>
          <a:p>
            <a:pPr lvl="1"/>
            <a:r>
              <a:rPr lang="en-US" sz="1400" dirty="0"/>
              <a:t>Only 6 are doing real work</a:t>
            </a:r>
          </a:p>
          <a:p>
            <a:pPr lvl="1"/>
            <a:r>
              <a:rPr lang="en-US" sz="1400" dirty="0"/>
              <a:t>Removing the other 4 does not affect output</a:t>
            </a:r>
          </a:p>
          <a:p>
            <a:pPr lvl="1"/>
            <a:endParaRPr lang="en-US" sz="1400" dirty="0"/>
          </a:p>
          <a:p>
            <a:pPr marL="0" indent="0">
              <a:buNone/>
            </a:pPr>
            <a:r>
              <a:rPr lang="en-US" sz="1800" dirty="0">
                <a:solidFill>
                  <a:srgbClr val="0000CC"/>
                </a:solidFill>
              </a:rPr>
              <a:t>Pruning</a:t>
            </a:r>
            <a:r>
              <a:rPr lang="en-US" sz="1800" dirty="0"/>
              <a:t> removes </a:t>
            </a:r>
            <a:r>
              <a:rPr lang="en-US" sz="1800" b="1" dirty="0"/>
              <a:t>non-contributing members.</a:t>
            </a:r>
            <a:endParaRPr lang="en-US" sz="1800" dirty="0"/>
          </a:p>
          <a:p>
            <a:endParaRPr lang="en-IN" sz="1800" dirty="0"/>
          </a:p>
        </p:txBody>
      </p:sp>
      <p:sp>
        <p:nvSpPr>
          <p:cNvPr id="4" name="Slide Number Placeholder 3">
            <a:extLst>
              <a:ext uri="{FF2B5EF4-FFF2-40B4-BE49-F238E27FC236}">
                <a16:creationId xmlns:a16="http://schemas.microsoft.com/office/drawing/2014/main" id="{2FCC5866-2821-007A-F03D-6A50558D960F}"/>
              </a:ext>
            </a:extLst>
          </p:cNvPr>
          <p:cNvSpPr>
            <a:spLocks noGrp="1"/>
          </p:cNvSpPr>
          <p:nvPr>
            <p:ph type="sldNum" sz="quarter" idx="12"/>
          </p:nvPr>
        </p:nvSpPr>
        <p:spPr/>
        <p:txBody>
          <a:bodyPr/>
          <a:lstStyle/>
          <a:p>
            <a:fld id="{BB2CE0DE-867F-455F-B20B-96D381B4AB71}" type="slidenum">
              <a:rPr lang="en-US" smtClean="0"/>
              <a:t>87</a:t>
            </a:fld>
            <a:endParaRPr lang="en-US"/>
          </a:p>
        </p:txBody>
      </p:sp>
    </p:spTree>
    <p:extLst>
      <p:ext uri="{BB962C8B-B14F-4D97-AF65-F5344CB8AC3E}">
        <p14:creationId xmlns:p14="http://schemas.microsoft.com/office/powerpoint/2010/main" val="21473755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531E-E500-E3CA-9F63-0146DBFCDBE9}"/>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C319C15B-313C-863D-7125-53E728009357}"/>
              </a:ext>
            </a:extLst>
          </p:cNvPr>
          <p:cNvSpPr>
            <a:spLocks noGrp="1"/>
          </p:cNvSpPr>
          <p:nvPr>
            <p:ph idx="1"/>
          </p:nvPr>
        </p:nvSpPr>
        <p:spPr/>
        <p:txBody>
          <a:bodyPr/>
          <a:lstStyle/>
          <a:p>
            <a:pPr algn="just"/>
            <a:r>
              <a:rPr lang="en-US" sz="2400" b="1" dirty="0">
                <a:solidFill>
                  <a:srgbClr val="0000FF"/>
                </a:solidFill>
              </a:rPr>
              <a:t>Weight decay </a:t>
            </a:r>
            <a:r>
              <a:rPr lang="en-US" sz="2400" dirty="0"/>
              <a:t>prevents a neural network from becoming too complex by discouraging large weights during learning. </a:t>
            </a:r>
          </a:p>
          <a:p>
            <a:pPr algn="just"/>
            <a:r>
              <a:rPr lang="en-US" sz="2400" b="1" dirty="0">
                <a:solidFill>
                  <a:srgbClr val="0000FF"/>
                </a:solidFill>
              </a:rPr>
              <a:t>Network pruning</a:t>
            </a:r>
            <a:r>
              <a:rPr lang="en-US" sz="2400" dirty="0"/>
              <a:t>, goes a step further by carefully removing unnecessary connections after training while preserving performance. </a:t>
            </a:r>
          </a:p>
          <a:p>
            <a:pPr algn="just"/>
            <a:endParaRPr lang="en-US" sz="2400" dirty="0"/>
          </a:p>
          <a:p>
            <a:pPr marL="0" indent="0" algn="just">
              <a:buNone/>
            </a:pPr>
            <a:r>
              <a:rPr lang="en-US" sz="2400" dirty="0"/>
              <a:t>Together (</a:t>
            </a:r>
            <a:r>
              <a:rPr lang="en-US" sz="2400" dirty="0">
                <a:solidFill>
                  <a:srgbClr val="0000FF"/>
                </a:solidFill>
              </a:rPr>
              <a:t>Weight Decay and Network Pruning</a:t>
            </a:r>
            <a:r>
              <a:rPr lang="en-US" sz="2400" dirty="0"/>
              <a:t>), they help build models that are accurate, efficient, and generalize well.</a:t>
            </a:r>
            <a:endParaRPr lang="en-IN" sz="2400" dirty="0"/>
          </a:p>
        </p:txBody>
      </p:sp>
      <p:sp>
        <p:nvSpPr>
          <p:cNvPr id="4" name="Slide Number Placeholder 3">
            <a:extLst>
              <a:ext uri="{FF2B5EF4-FFF2-40B4-BE49-F238E27FC236}">
                <a16:creationId xmlns:a16="http://schemas.microsoft.com/office/drawing/2014/main" id="{26BEB693-9B7E-563B-5F9E-8EF5E50EBE12}"/>
              </a:ext>
            </a:extLst>
          </p:cNvPr>
          <p:cNvSpPr>
            <a:spLocks noGrp="1"/>
          </p:cNvSpPr>
          <p:nvPr>
            <p:ph type="sldNum" sz="quarter" idx="12"/>
          </p:nvPr>
        </p:nvSpPr>
        <p:spPr/>
        <p:txBody>
          <a:bodyPr/>
          <a:lstStyle/>
          <a:p>
            <a:fld id="{BB2CE0DE-867F-455F-B20B-96D381B4AB71}" type="slidenum">
              <a:rPr lang="en-US" smtClean="0"/>
              <a:t>88</a:t>
            </a:fld>
            <a:endParaRPr lang="en-US"/>
          </a:p>
        </p:txBody>
      </p:sp>
    </p:spTree>
    <p:extLst>
      <p:ext uri="{BB962C8B-B14F-4D97-AF65-F5344CB8AC3E}">
        <p14:creationId xmlns:p14="http://schemas.microsoft.com/office/powerpoint/2010/main" val="17834143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chemeClr val="bg1">
                    <a:lumMod val="50000"/>
                  </a:schemeClr>
                </a:solidFill>
                <a:latin typeface="Inter"/>
              </a:rPr>
              <a:t>Multilayer Perceptron: </a:t>
            </a:r>
            <a:r>
              <a:rPr lang="en-US" sz="2000" dirty="0">
                <a:solidFill>
                  <a:schemeClr val="bg1">
                    <a:lumMod val="50000"/>
                  </a:schemeClr>
                </a:solidFill>
                <a:latin typeface="Inter"/>
              </a:rPr>
              <a:t>Introduction, Batch Learning and on-line Learning, The Back- Propagation Algorithm, The Hessian and its Role in On-Line Learning, Generalization, Approximation of Functions, Cross-Validation, Complexity Regularization and Network Pruning, </a:t>
            </a:r>
            <a:r>
              <a:rPr lang="en-US" sz="2000" dirty="0">
                <a:solidFill>
                  <a:srgbClr val="262626"/>
                </a:solidFill>
                <a:latin typeface="Inter"/>
              </a:rPr>
              <a:t>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89</a:t>
            </a:fld>
            <a:endParaRPr lang="en-US"/>
          </a:p>
        </p:txBody>
      </p:sp>
    </p:spTree>
    <p:extLst>
      <p:ext uri="{BB962C8B-B14F-4D97-AF65-F5344CB8AC3E}">
        <p14:creationId xmlns:p14="http://schemas.microsoft.com/office/powerpoint/2010/main" val="2390536721"/>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B86F5-0290-4D10-BFC0-F4FA279F9EFB}"/>
              </a:ext>
            </a:extLst>
          </p:cNvPr>
          <p:cNvSpPr>
            <a:spLocks noGrp="1"/>
          </p:cNvSpPr>
          <p:nvPr>
            <p:ph type="title"/>
          </p:nvPr>
        </p:nvSpPr>
        <p:spPr/>
        <p:txBody>
          <a:bodyPr/>
          <a:lstStyle/>
          <a:p>
            <a:r>
              <a:rPr lang="en-US" dirty="0"/>
              <a:t>What is machine learning optimization?</a:t>
            </a:r>
            <a:endParaRPr lang="en-IN" dirty="0"/>
          </a:p>
        </p:txBody>
      </p:sp>
      <p:sp>
        <p:nvSpPr>
          <p:cNvPr id="3" name="Content Placeholder 2">
            <a:extLst>
              <a:ext uri="{FF2B5EF4-FFF2-40B4-BE49-F238E27FC236}">
                <a16:creationId xmlns:a16="http://schemas.microsoft.com/office/drawing/2014/main" id="{6E31C7E8-7B0F-4F30-B32D-686239534016}"/>
              </a:ext>
            </a:extLst>
          </p:cNvPr>
          <p:cNvSpPr>
            <a:spLocks noGrp="1"/>
          </p:cNvSpPr>
          <p:nvPr>
            <p:ph idx="1"/>
          </p:nvPr>
        </p:nvSpPr>
        <p:spPr/>
        <p:txBody>
          <a:bodyPr/>
          <a:lstStyle/>
          <a:p>
            <a:pPr algn="just" fontAlgn="base"/>
            <a:r>
              <a:rPr lang="en-US" sz="2000" b="0" i="0" dirty="0">
                <a:solidFill>
                  <a:schemeClr val="tx1"/>
                </a:solidFill>
                <a:effectLst/>
                <a:latin typeface="Inter"/>
              </a:rPr>
              <a:t>A major goal of training a machine learning algorithm is to minimize the degree of error between the predicted output and the true output. </a:t>
            </a:r>
          </a:p>
          <a:p>
            <a:pPr algn="just" fontAlgn="base"/>
            <a:r>
              <a:rPr lang="en-US" sz="2000" b="0" i="0" dirty="0">
                <a:solidFill>
                  <a:schemeClr val="tx1"/>
                </a:solidFill>
                <a:effectLst/>
                <a:latin typeface="Inter"/>
              </a:rPr>
              <a:t>Optimization is measured through a loss or cost function, which is typically a way of defining the difference between the predicted and actual value of data. Machine learning models aim to minimize this loss function, or lower the gap between prediction and reality of output data. Iterative optimization will mean that the machine learning model becomes more accurate at predicting an outcome or classifying data.  </a:t>
            </a:r>
          </a:p>
          <a:p>
            <a:pPr algn="just"/>
            <a:endParaRPr lang="en-IN" sz="2000" dirty="0">
              <a:solidFill>
                <a:schemeClr val="bg1">
                  <a:lumMod val="50000"/>
                </a:schemeClr>
              </a:solidFill>
            </a:endParaRPr>
          </a:p>
        </p:txBody>
      </p:sp>
      <p:sp>
        <p:nvSpPr>
          <p:cNvPr id="4" name="Slide Number Placeholder 3">
            <a:extLst>
              <a:ext uri="{FF2B5EF4-FFF2-40B4-BE49-F238E27FC236}">
                <a16:creationId xmlns:a16="http://schemas.microsoft.com/office/drawing/2014/main" id="{3846C788-EED0-4E31-91F7-1D4B2ADA7BB8}"/>
              </a:ext>
            </a:extLst>
          </p:cNvPr>
          <p:cNvSpPr>
            <a:spLocks noGrp="1"/>
          </p:cNvSpPr>
          <p:nvPr>
            <p:ph type="sldNum" sz="quarter" idx="12"/>
          </p:nvPr>
        </p:nvSpPr>
        <p:spPr/>
        <p:txBody>
          <a:bodyPr/>
          <a:lstStyle/>
          <a:p>
            <a:fld id="{BB2CE0DE-867F-455F-B20B-96D381B4AB71}" type="slidenum">
              <a:rPr lang="en-US" smtClean="0"/>
              <a:t>90</a:t>
            </a:fld>
            <a:endParaRPr lang="en-US"/>
          </a:p>
        </p:txBody>
      </p:sp>
    </p:spTree>
    <p:extLst>
      <p:ext uri="{BB962C8B-B14F-4D97-AF65-F5344CB8AC3E}">
        <p14:creationId xmlns:p14="http://schemas.microsoft.com/office/powerpoint/2010/main" val="29758303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C07D9-FF35-42AD-AD00-74A581C6AD5B}"/>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C395E627-6DE6-4DDE-93B7-CF526099319F}"/>
              </a:ext>
            </a:extLst>
          </p:cNvPr>
          <p:cNvSpPr>
            <a:spLocks noGrp="1"/>
          </p:cNvSpPr>
          <p:nvPr>
            <p:ph idx="1"/>
          </p:nvPr>
        </p:nvSpPr>
        <p:spPr/>
        <p:txBody>
          <a:bodyPr/>
          <a:lstStyle/>
          <a:p>
            <a:r>
              <a:rPr lang="en-US" sz="2000" dirty="0"/>
              <a:t>Supervised learning is not just weight updating — it is a structured optimization problem on a nonlinear error surface.</a:t>
            </a:r>
          </a:p>
          <a:p>
            <a:r>
              <a:rPr lang="en-IN" sz="1600" dirty="0"/>
              <a:t>What Makes the Error Surface Nonlinear in Neural Networks: Neural networks include: Nonlinear activation functions (</a:t>
            </a:r>
            <a:r>
              <a:rPr lang="en-IN" sz="1600" dirty="0" err="1"/>
              <a:t>ReLU</a:t>
            </a:r>
            <a:r>
              <a:rPr lang="en-IN" sz="1600" dirty="0"/>
              <a:t>, sigmoid, tanh) and Multiple layers</a:t>
            </a:r>
          </a:p>
          <a:p>
            <a:endParaRPr lang="en-IN" sz="2000" dirty="0"/>
          </a:p>
        </p:txBody>
      </p:sp>
      <p:sp>
        <p:nvSpPr>
          <p:cNvPr id="4" name="Slide Number Placeholder 3">
            <a:extLst>
              <a:ext uri="{FF2B5EF4-FFF2-40B4-BE49-F238E27FC236}">
                <a16:creationId xmlns:a16="http://schemas.microsoft.com/office/drawing/2014/main" id="{E8C7F15B-8E28-4643-94F0-0944ABE3097C}"/>
              </a:ext>
            </a:extLst>
          </p:cNvPr>
          <p:cNvSpPr>
            <a:spLocks noGrp="1"/>
          </p:cNvSpPr>
          <p:nvPr>
            <p:ph type="sldNum" sz="quarter" idx="12"/>
          </p:nvPr>
        </p:nvSpPr>
        <p:spPr/>
        <p:txBody>
          <a:bodyPr/>
          <a:lstStyle/>
          <a:p>
            <a:fld id="{BB2CE0DE-867F-455F-B20B-96D381B4AB71}" type="slidenum">
              <a:rPr lang="en-US" smtClean="0"/>
              <a:t>91</a:t>
            </a:fld>
            <a:endParaRPr lang="en-US"/>
          </a:p>
        </p:txBody>
      </p:sp>
      <p:pic>
        <p:nvPicPr>
          <p:cNvPr id="1026" name="Picture 2" descr="-Error Surface Shape, (a) linear transfer function and (b) nonlinear  ">
            <a:extLst>
              <a:ext uri="{FF2B5EF4-FFF2-40B4-BE49-F238E27FC236}">
                <a16:creationId xmlns:a16="http://schemas.microsoft.com/office/drawing/2014/main" id="{71A86706-C516-4F5D-812F-EF0748202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754867"/>
            <a:ext cx="8096250" cy="2971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1B0214F-C86B-4130-8F63-945D6BC2FAF8}"/>
              </a:ext>
            </a:extLst>
          </p:cNvPr>
          <p:cNvSpPr txBox="1"/>
          <p:nvPr/>
        </p:nvSpPr>
        <p:spPr>
          <a:xfrm>
            <a:off x="2133600" y="5879068"/>
            <a:ext cx="6922088" cy="369332"/>
          </a:xfrm>
          <a:prstGeom prst="rect">
            <a:avLst/>
          </a:prstGeom>
          <a:noFill/>
        </p:spPr>
        <p:txBody>
          <a:bodyPr wrap="none" rtlCol="0">
            <a:spAutoFit/>
          </a:bodyPr>
          <a:lstStyle/>
          <a:p>
            <a:r>
              <a:rPr lang="en-US" b="0" i="0" dirty="0">
                <a:solidFill>
                  <a:srgbClr val="111111"/>
                </a:solidFill>
                <a:effectLst/>
                <a:latin typeface="Roboto" panose="02000000000000000000" pitchFamily="2" charset="0"/>
              </a:rPr>
              <a:t>Error Surface Shape, (a) linear transfer function and (b) nonlinear  </a:t>
            </a:r>
            <a:endParaRPr lang="en-IN" dirty="0"/>
          </a:p>
        </p:txBody>
      </p:sp>
    </p:spTree>
    <p:extLst>
      <p:ext uri="{BB962C8B-B14F-4D97-AF65-F5344CB8AC3E}">
        <p14:creationId xmlns:p14="http://schemas.microsoft.com/office/powerpoint/2010/main" val="40834043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3533A-FB97-4B43-9D12-362BDB3001C1}"/>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CE4663B8-3E5A-45C7-AED9-D6ADE5909D9E}"/>
              </a:ext>
            </a:extLst>
          </p:cNvPr>
          <p:cNvSpPr>
            <a:spLocks noGrp="1"/>
          </p:cNvSpPr>
          <p:nvPr>
            <p:ph idx="1"/>
          </p:nvPr>
        </p:nvSpPr>
        <p:spPr/>
        <p:txBody>
          <a:bodyPr/>
          <a:lstStyle/>
          <a:p>
            <a:r>
              <a:rPr lang="en-US" sz="1800" dirty="0"/>
              <a:t>Up to now, supervised learning may have been explained as:</a:t>
            </a:r>
          </a:p>
          <a:p>
            <a:pPr>
              <a:buFont typeface="Arial" panose="020B0604020202020204" pitchFamily="34" charset="0"/>
              <a:buChar char="•"/>
            </a:pPr>
            <a:r>
              <a:rPr lang="en-US" sz="1800" dirty="0"/>
              <a:t>adjusting weights using backpropagation,</a:t>
            </a:r>
          </a:p>
          <a:p>
            <a:pPr>
              <a:buFont typeface="Arial" panose="020B0604020202020204" pitchFamily="34" charset="0"/>
              <a:buChar char="•"/>
            </a:pPr>
            <a:r>
              <a:rPr lang="en-US" sz="1800" dirty="0"/>
              <a:t>reducing error epoch by epoch.</a:t>
            </a:r>
          </a:p>
          <a:p>
            <a:pPr marL="0" indent="0">
              <a:buNone/>
            </a:pPr>
            <a:endParaRPr lang="en-US" sz="1800" b="1" dirty="0"/>
          </a:p>
          <a:p>
            <a:pPr marL="0" indent="0">
              <a:buNone/>
            </a:pPr>
            <a:r>
              <a:rPr lang="en-US" sz="1800" b="1" dirty="0"/>
              <a:t>Here, the viewpoint changes</a:t>
            </a:r>
            <a:r>
              <a:rPr lang="en-US" sz="1800" dirty="0"/>
              <a:t>:</a:t>
            </a:r>
          </a:p>
          <a:p>
            <a:r>
              <a:rPr lang="en-US" sz="1800" b="1" dirty="0"/>
              <a:t>Training a neural network is treated as a numerical optimization problem.</a:t>
            </a:r>
            <a:endParaRPr lang="en-US" sz="1800" dirty="0"/>
          </a:p>
          <a:p>
            <a:r>
              <a:rPr lang="en-US" sz="1800" dirty="0"/>
              <a:t>That is:</a:t>
            </a:r>
          </a:p>
          <a:p>
            <a:pPr>
              <a:buFont typeface="Arial" panose="020B0604020202020204" pitchFamily="34" charset="0"/>
              <a:buChar char="•"/>
            </a:pPr>
            <a:r>
              <a:rPr lang="en-US" sz="1800" dirty="0"/>
              <a:t>The neural network is a </a:t>
            </a:r>
            <a:r>
              <a:rPr lang="en-US" sz="1800" b="1" dirty="0"/>
              <a:t>function</a:t>
            </a:r>
            <a:endParaRPr lang="en-US" sz="1800" dirty="0"/>
          </a:p>
          <a:p>
            <a:pPr>
              <a:buFont typeface="Arial" panose="020B0604020202020204" pitchFamily="34" charset="0"/>
              <a:buChar char="•"/>
            </a:pPr>
            <a:r>
              <a:rPr lang="en-US" sz="1800" dirty="0"/>
              <a:t>The weights are </a:t>
            </a:r>
            <a:r>
              <a:rPr lang="en-US" sz="1800" b="1" dirty="0"/>
              <a:t>variables</a:t>
            </a:r>
            <a:endParaRPr lang="en-US" sz="1800" dirty="0"/>
          </a:p>
          <a:p>
            <a:pPr>
              <a:buFont typeface="Arial" panose="020B0604020202020204" pitchFamily="34" charset="0"/>
              <a:buChar char="•"/>
            </a:pPr>
            <a:r>
              <a:rPr lang="en-US" sz="1800" dirty="0"/>
              <a:t>The error is a </a:t>
            </a:r>
            <a:r>
              <a:rPr lang="en-US" sz="1800" b="1" dirty="0"/>
              <a:t>surface</a:t>
            </a:r>
            <a:endParaRPr lang="en-US" sz="1800" dirty="0"/>
          </a:p>
          <a:p>
            <a:pPr>
              <a:buFont typeface="Arial" panose="020B0604020202020204" pitchFamily="34" charset="0"/>
              <a:buChar char="•"/>
            </a:pPr>
            <a:r>
              <a:rPr lang="en-US" sz="1800" dirty="0"/>
              <a:t>Learning is </a:t>
            </a:r>
            <a:r>
              <a:rPr lang="en-US" sz="1800" b="1" dirty="0"/>
              <a:t>searching for the minimum of that surface</a:t>
            </a:r>
            <a:endParaRPr lang="en-US" sz="1800" dirty="0"/>
          </a:p>
          <a:p>
            <a:endParaRPr lang="en-IN" sz="1800" dirty="0"/>
          </a:p>
          <a:p>
            <a:endParaRPr lang="en-IN" sz="1800" dirty="0"/>
          </a:p>
        </p:txBody>
      </p:sp>
      <p:sp>
        <p:nvSpPr>
          <p:cNvPr id="4" name="Slide Number Placeholder 3">
            <a:extLst>
              <a:ext uri="{FF2B5EF4-FFF2-40B4-BE49-F238E27FC236}">
                <a16:creationId xmlns:a16="http://schemas.microsoft.com/office/drawing/2014/main" id="{492FB638-743E-45A9-A545-E5E387954BAE}"/>
              </a:ext>
            </a:extLst>
          </p:cNvPr>
          <p:cNvSpPr>
            <a:spLocks noGrp="1"/>
          </p:cNvSpPr>
          <p:nvPr>
            <p:ph type="sldNum" sz="quarter" idx="12"/>
          </p:nvPr>
        </p:nvSpPr>
        <p:spPr/>
        <p:txBody>
          <a:bodyPr/>
          <a:lstStyle/>
          <a:p>
            <a:fld id="{BB2CE0DE-867F-455F-B20B-96D381B4AB71}" type="slidenum">
              <a:rPr lang="en-US" smtClean="0"/>
              <a:t>92</a:t>
            </a:fld>
            <a:endParaRPr lang="en-US"/>
          </a:p>
        </p:txBody>
      </p:sp>
    </p:spTree>
    <p:extLst>
      <p:ext uri="{BB962C8B-B14F-4D97-AF65-F5344CB8AC3E}">
        <p14:creationId xmlns:p14="http://schemas.microsoft.com/office/powerpoint/2010/main" val="42439643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B3EA4-AA3C-497C-8BAD-E3F1181FDD22}"/>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9E705543-25D0-49C6-BDB5-8B688F6C9DC6}"/>
              </a:ext>
            </a:extLst>
          </p:cNvPr>
          <p:cNvSpPr>
            <a:spLocks noGrp="1"/>
          </p:cNvSpPr>
          <p:nvPr>
            <p:ph idx="1"/>
          </p:nvPr>
        </p:nvSpPr>
        <p:spPr/>
        <p:txBody>
          <a:bodyPr/>
          <a:lstStyle/>
          <a:p>
            <a:pPr marL="0" indent="0">
              <a:buNone/>
            </a:pPr>
            <a:r>
              <a:rPr lang="en-US" sz="2400" b="1" dirty="0"/>
              <a:t>What Is Being Optimized?</a:t>
            </a:r>
          </a:p>
          <a:p>
            <a:r>
              <a:rPr lang="en-US" sz="2400" dirty="0"/>
              <a:t>The quantity being minimized is the </a:t>
            </a:r>
            <a:r>
              <a:rPr lang="en-US" sz="2400" b="1" dirty="0"/>
              <a:t>average error (cost) over training data</a:t>
            </a:r>
            <a:r>
              <a:rPr lang="en-US" sz="2400" dirty="0"/>
              <a:t>:</a:t>
            </a:r>
          </a:p>
          <a:p>
            <a:pPr>
              <a:buFont typeface="Arial" panose="020B0604020202020204" pitchFamily="34" charset="0"/>
              <a:buChar char="•"/>
            </a:pPr>
            <a:r>
              <a:rPr lang="en-US" sz="2400" dirty="0"/>
              <a:t>This error depends on </a:t>
            </a:r>
            <a:r>
              <a:rPr lang="en-US" sz="2400" b="1" dirty="0"/>
              <a:t>all weights together</a:t>
            </a:r>
            <a:endParaRPr lang="en-US" sz="2400" dirty="0"/>
          </a:p>
          <a:p>
            <a:pPr>
              <a:buFont typeface="Arial" panose="020B0604020202020204" pitchFamily="34" charset="0"/>
              <a:buChar char="•"/>
            </a:pPr>
            <a:r>
              <a:rPr lang="en-US" sz="2400" dirty="0"/>
              <a:t>Because of nonlinear activation functions, the error surface is:</a:t>
            </a:r>
          </a:p>
          <a:p>
            <a:pPr marL="742950" lvl="1" indent="-285750">
              <a:buFont typeface="Arial" panose="020B0604020202020204" pitchFamily="34" charset="0"/>
              <a:buChar char="•"/>
            </a:pPr>
            <a:r>
              <a:rPr lang="en-US" sz="2000" b="1" dirty="0"/>
              <a:t>Nonlinear</a:t>
            </a:r>
            <a:endParaRPr lang="en-US" sz="2000" dirty="0"/>
          </a:p>
          <a:p>
            <a:pPr marL="742950" lvl="1" indent="-285750">
              <a:buFont typeface="Arial" panose="020B0604020202020204" pitchFamily="34" charset="0"/>
              <a:buChar char="•"/>
            </a:pPr>
            <a:r>
              <a:rPr lang="en-US" sz="2000" b="1" dirty="0"/>
              <a:t>High-dimensional</a:t>
            </a:r>
            <a:endParaRPr lang="en-US" sz="2000" dirty="0"/>
          </a:p>
          <a:p>
            <a:pPr marL="742950" lvl="1" indent="-285750">
              <a:buFont typeface="Arial" panose="020B0604020202020204" pitchFamily="34" charset="0"/>
              <a:buChar char="•"/>
            </a:pPr>
            <a:r>
              <a:rPr lang="en-US" sz="2000" b="1" dirty="0"/>
              <a:t>Not a simple bowl</a:t>
            </a:r>
            <a:endParaRPr lang="en-US" sz="2000" dirty="0"/>
          </a:p>
          <a:p>
            <a:endParaRPr lang="en-US" sz="2400" dirty="0"/>
          </a:p>
          <a:p>
            <a:r>
              <a:rPr lang="en-US" sz="2400" dirty="0"/>
              <a:t>This is why advanced optimization methods are needed.</a:t>
            </a:r>
          </a:p>
          <a:p>
            <a:endParaRPr lang="en-IN" sz="2400" dirty="0"/>
          </a:p>
          <a:p>
            <a:endParaRPr lang="en-IN" sz="2400" dirty="0"/>
          </a:p>
        </p:txBody>
      </p:sp>
      <p:sp>
        <p:nvSpPr>
          <p:cNvPr id="4" name="Slide Number Placeholder 3">
            <a:extLst>
              <a:ext uri="{FF2B5EF4-FFF2-40B4-BE49-F238E27FC236}">
                <a16:creationId xmlns:a16="http://schemas.microsoft.com/office/drawing/2014/main" id="{086CCCB8-33FF-41DD-B4CF-1DB76492641C}"/>
              </a:ext>
            </a:extLst>
          </p:cNvPr>
          <p:cNvSpPr>
            <a:spLocks noGrp="1"/>
          </p:cNvSpPr>
          <p:nvPr>
            <p:ph type="sldNum" sz="quarter" idx="12"/>
          </p:nvPr>
        </p:nvSpPr>
        <p:spPr/>
        <p:txBody>
          <a:bodyPr/>
          <a:lstStyle/>
          <a:p>
            <a:fld id="{BB2CE0DE-867F-455F-B20B-96D381B4AB71}" type="slidenum">
              <a:rPr lang="en-US" smtClean="0"/>
              <a:t>93</a:t>
            </a:fld>
            <a:endParaRPr lang="en-US"/>
          </a:p>
        </p:txBody>
      </p:sp>
    </p:spTree>
    <p:extLst>
      <p:ext uri="{BB962C8B-B14F-4D97-AF65-F5344CB8AC3E}">
        <p14:creationId xmlns:p14="http://schemas.microsoft.com/office/powerpoint/2010/main" val="33845523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36CAE-2EE1-4D53-A2D7-25992D8B212C}"/>
              </a:ext>
            </a:extLst>
          </p:cNvPr>
          <p:cNvSpPr>
            <a:spLocks noGrp="1"/>
          </p:cNvSpPr>
          <p:nvPr>
            <p:ph type="title"/>
          </p:nvPr>
        </p:nvSpPr>
        <p:spPr/>
        <p:txBody>
          <a:bodyPr/>
          <a:lstStyle/>
          <a:p>
            <a:r>
              <a:rPr lang="en-US" dirty="0"/>
              <a:t>Optimization Method</a:t>
            </a:r>
            <a:endParaRPr lang="en-IN" dirty="0"/>
          </a:p>
        </p:txBody>
      </p:sp>
      <p:sp>
        <p:nvSpPr>
          <p:cNvPr id="3" name="Content Placeholder 2">
            <a:extLst>
              <a:ext uri="{FF2B5EF4-FFF2-40B4-BE49-F238E27FC236}">
                <a16:creationId xmlns:a16="http://schemas.microsoft.com/office/drawing/2014/main" id="{06EDD242-20A4-402D-9A77-E618B79E44E9}"/>
              </a:ext>
            </a:extLst>
          </p:cNvPr>
          <p:cNvSpPr>
            <a:spLocks noGrp="1"/>
          </p:cNvSpPr>
          <p:nvPr>
            <p:ph idx="1"/>
          </p:nvPr>
        </p:nvSpPr>
        <p:spPr/>
        <p:txBody>
          <a:bodyPr/>
          <a:lstStyle/>
          <a:p>
            <a:r>
              <a:rPr lang="en-US" dirty="0"/>
              <a:t>Gradient Descent</a:t>
            </a:r>
          </a:p>
          <a:p>
            <a:r>
              <a:rPr lang="en-US" dirty="0"/>
              <a:t>Conjugate Gradient</a:t>
            </a:r>
          </a:p>
          <a:p>
            <a:r>
              <a:rPr lang="en-US" dirty="0"/>
              <a:t>Quasi-Newton</a:t>
            </a:r>
          </a:p>
          <a:p>
            <a:endParaRPr lang="en-IN" dirty="0"/>
          </a:p>
        </p:txBody>
      </p:sp>
      <p:sp>
        <p:nvSpPr>
          <p:cNvPr id="4" name="Slide Number Placeholder 3">
            <a:extLst>
              <a:ext uri="{FF2B5EF4-FFF2-40B4-BE49-F238E27FC236}">
                <a16:creationId xmlns:a16="http://schemas.microsoft.com/office/drawing/2014/main" id="{07E768D9-B191-4EFE-8152-CCCF78B77F37}"/>
              </a:ext>
            </a:extLst>
          </p:cNvPr>
          <p:cNvSpPr>
            <a:spLocks noGrp="1"/>
          </p:cNvSpPr>
          <p:nvPr>
            <p:ph type="sldNum" sz="quarter" idx="12"/>
          </p:nvPr>
        </p:nvSpPr>
        <p:spPr/>
        <p:txBody>
          <a:bodyPr/>
          <a:lstStyle/>
          <a:p>
            <a:fld id="{BB2CE0DE-867F-455F-B20B-96D381B4AB71}" type="slidenum">
              <a:rPr lang="en-US" smtClean="0"/>
              <a:t>94</a:t>
            </a:fld>
            <a:endParaRPr lang="en-US"/>
          </a:p>
        </p:txBody>
      </p:sp>
    </p:spTree>
    <p:extLst>
      <p:ext uri="{BB962C8B-B14F-4D97-AF65-F5344CB8AC3E}">
        <p14:creationId xmlns:p14="http://schemas.microsoft.com/office/powerpoint/2010/main" val="26375881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E226-831B-4BDA-819B-2A60119098DB}"/>
              </a:ext>
            </a:extLst>
          </p:cNvPr>
          <p:cNvSpPr>
            <a:spLocks noGrp="1"/>
          </p:cNvSpPr>
          <p:nvPr>
            <p:ph type="title"/>
          </p:nvPr>
        </p:nvSpPr>
        <p:spPr/>
        <p:txBody>
          <a:bodyPr/>
          <a:lstStyle/>
          <a:p>
            <a:r>
              <a:rPr lang="en-US" b="0" i="0" dirty="0">
                <a:solidFill>
                  <a:srgbClr val="515151"/>
                </a:solidFill>
                <a:effectLst/>
                <a:latin typeface="PT Serif" panose="020A0603040505020204" pitchFamily="18" charset="0"/>
              </a:rPr>
              <a:t>Gradient descent</a:t>
            </a:r>
            <a:endParaRPr lang="en-IN" dirty="0"/>
          </a:p>
        </p:txBody>
      </p:sp>
      <p:sp>
        <p:nvSpPr>
          <p:cNvPr id="3" name="Content Placeholder 2">
            <a:extLst>
              <a:ext uri="{FF2B5EF4-FFF2-40B4-BE49-F238E27FC236}">
                <a16:creationId xmlns:a16="http://schemas.microsoft.com/office/drawing/2014/main" id="{FADE8045-22E9-45E5-9966-469CB67D944C}"/>
              </a:ext>
            </a:extLst>
          </p:cNvPr>
          <p:cNvSpPr>
            <a:spLocks noGrp="1"/>
          </p:cNvSpPr>
          <p:nvPr>
            <p:ph idx="1"/>
          </p:nvPr>
        </p:nvSpPr>
        <p:spPr/>
        <p:txBody>
          <a:bodyPr/>
          <a:lstStyle/>
          <a:p>
            <a:r>
              <a:rPr lang="en-US" sz="2000" b="0" i="0" dirty="0">
                <a:solidFill>
                  <a:srgbClr val="515151"/>
                </a:solidFill>
                <a:effectLst/>
                <a:latin typeface="PT Serif" panose="020A0603040505020204" pitchFamily="18" charset="0"/>
              </a:rPr>
              <a:t>Gradient descent (GD) is a central building block for lots of gradient-based optimization algorithms, including conjugate gradient descent. </a:t>
            </a:r>
          </a:p>
          <a:p>
            <a:r>
              <a:rPr lang="en-US" sz="2000" b="0" i="0" dirty="0">
                <a:solidFill>
                  <a:srgbClr val="515151"/>
                </a:solidFill>
                <a:effectLst/>
                <a:latin typeface="PT Serif" panose="020A0603040505020204" pitchFamily="18" charset="0"/>
              </a:rPr>
              <a:t>Basic idea behind GD is to take a step in the direction of the negative gradient at each iteration.</a:t>
            </a:r>
            <a:endParaRPr lang="en-IN" sz="2000" dirty="0"/>
          </a:p>
          <a:p>
            <a:r>
              <a:rPr lang="en-US" sz="2000" b="0" i="0" dirty="0">
                <a:solidFill>
                  <a:srgbClr val="515151"/>
                </a:solidFill>
                <a:effectLst/>
                <a:latin typeface="PT Serif" panose="020A0603040505020204" pitchFamily="18" charset="0"/>
              </a:rPr>
              <a:t>Let </a:t>
            </a:r>
            <a:r>
              <a:rPr lang="en-US" sz="2000" b="0" i="0" dirty="0">
                <a:solidFill>
                  <a:srgbClr val="515151"/>
                </a:solidFill>
                <a:effectLst/>
                <a:latin typeface="MJXc-TeX-math-I"/>
              </a:rPr>
              <a:t>f</a:t>
            </a:r>
            <a:r>
              <a:rPr lang="en-US" sz="2000" b="0" i="0" dirty="0">
                <a:solidFill>
                  <a:srgbClr val="515151"/>
                </a:solidFill>
                <a:effectLst/>
                <a:latin typeface="MJXc-TeX-main-R"/>
              </a:rPr>
              <a:t>(</a:t>
            </a:r>
            <a:r>
              <a:rPr lang="en-US" sz="2000" b="0" i="0" dirty="0">
                <a:solidFill>
                  <a:srgbClr val="515151"/>
                </a:solidFill>
                <a:effectLst/>
                <a:latin typeface="MJXc-TeX-main-B"/>
              </a:rPr>
              <a:t>x</a:t>
            </a:r>
            <a:r>
              <a:rPr lang="en-US" sz="2000" b="0" i="0" dirty="0">
                <a:solidFill>
                  <a:srgbClr val="515151"/>
                </a:solidFill>
                <a:effectLst/>
                <a:latin typeface="MJXc-TeX-main-R"/>
              </a:rPr>
              <a:t>):</a:t>
            </a:r>
            <a:r>
              <a:rPr lang="en-US" sz="2000" b="0" i="0" dirty="0">
                <a:solidFill>
                  <a:srgbClr val="515151"/>
                </a:solidFill>
                <a:effectLst/>
                <a:latin typeface="MJXc-TeX-ams-R"/>
              </a:rPr>
              <a:t>R</a:t>
            </a:r>
            <a:r>
              <a:rPr lang="en-US" sz="2000" b="0" i="0" baseline="30000" dirty="0">
                <a:solidFill>
                  <a:srgbClr val="515151"/>
                </a:solidFill>
                <a:effectLst/>
                <a:latin typeface="MJXc-TeX-math-I"/>
              </a:rPr>
              <a:t>d </a:t>
            </a:r>
            <a:r>
              <a:rPr lang="en-US" sz="2000" b="0" i="0" dirty="0">
                <a:solidFill>
                  <a:srgbClr val="515151"/>
                </a:solidFill>
                <a:effectLst/>
                <a:latin typeface="MJXc-TeX-main-R"/>
              </a:rPr>
              <a:t>→ </a:t>
            </a:r>
            <a:r>
              <a:rPr lang="en-US" sz="2000" b="0" i="0" dirty="0">
                <a:solidFill>
                  <a:srgbClr val="515151"/>
                </a:solidFill>
                <a:effectLst/>
                <a:latin typeface="MJXc-TeX-ams-R"/>
              </a:rPr>
              <a:t>R</a:t>
            </a:r>
            <a:r>
              <a:rPr lang="en-US" sz="2000" b="0" i="0" dirty="0">
                <a:solidFill>
                  <a:srgbClr val="515151"/>
                </a:solidFill>
                <a:effectLst/>
                <a:latin typeface="PT Serif" panose="020A0603040505020204" pitchFamily="18" charset="0"/>
              </a:rPr>
              <a:t> be our loss function that we wish to minimize. Given a current estimate </a:t>
            </a:r>
            <a:r>
              <a:rPr lang="en-US" sz="2000" b="0" i="0" dirty="0" err="1">
                <a:solidFill>
                  <a:srgbClr val="515151"/>
                </a:solidFill>
                <a:effectLst/>
                <a:latin typeface="MJXc-TeX-main-B"/>
              </a:rPr>
              <a:t>x</a:t>
            </a:r>
            <a:r>
              <a:rPr lang="en-US" sz="2000" b="0" i="0" baseline="-25000" dirty="0" err="1">
                <a:solidFill>
                  <a:srgbClr val="515151"/>
                </a:solidFill>
                <a:effectLst/>
                <a:latin typeface="MJXc-TeX-math-I"/>
              </a:rPr>
              <a:t>t</a:t>
            </a:r>
            <a:r>
              <a:rPr lang="en-US" sz="2000" b="0" i="0" dirty="0">
                <a:solidFill>
                  <a:srgbClr val="515151"/>
                </a:solidFill>
                <a:effectLst/>
                <a:latin typeface="PT Serif" panose="020A0603040505020204" pitchFamily="18" charset="0"/>
              </a:rPr>
              <a:t> on the </a:t>
            </a:r>
            <a:r>
              <a:rPr lang="en-US" sz="2000" b="0" i="0" dirty="0" err="1">
                <a:solidFill>
                  <a:srgbClr val="515151"/>
                </a:solidFill>
                <a:effectLst/>
                <a:latin typeface="MJXc-TeX-math-I"/>
              </a:rPr>
              <a:t>t</a:t>
            </a:r>
            <a:r>
              <a:rPr lang="en-US" sz="2000" b="0" i="0" baseline="30000" dirty="0" err="1">
                <a:solidFill>
                  <a:srgbClr val="515151"/>
                </a:solidFill>
                <a:effectLst/>
                <a:latin typeface="PT Serif" panose="020A0603040505020204" pitchFamily="18" charset="0"/>
              </a:rPr>
              <a:t>th</a:t>
            </a:r>
            <a:r>
              <a:rPr lang="en-US" sz="2000" b="0" i="0" dirty="0">
                <a:solidFill>
                  <a:srgbClr val="515151"/>
                </a:solidFill>
                <a:effectLst/>
                <a:latin typeface="PT Serif" panose="020A0603040505020204" pitchFamily="18" charset="0"/>
              </a:rPr>
              <a:t> iteration, GD takes the following update:</a:t>
            </a:r>
          </a:p>
          <a:p>
            <a:endParaRPr lang="en-US" sz="2000" dirty="0">
              <a:solidFill>
                <a:srgbClr val="515151"/>
              </a:solidFill>
              <a:latin typeface="PT Serif" panose="020A0603040505020204" pitchFamily="18" charset="0"/>
            </a:endParaRPr>
          </a:p>
          <a:p>
            <a:endParaRPr lang="en-US" sz="2000" dirty="0">
              <a:solidFill>
                <a:srgbClr val="515151"/>
              </a:solidFill>
              <a:latin typeface="PT Serif" panose="020A0603040505020204" pitchFamily="18" charset="0"/>
            </a:endParaRPr>
          </a:p>
          <a:p>
            <a:r>
              <a:rPr lang="en-US" sz="1600" b="0" i="0" dirty="0">
                <a:solidFill>
                  <a:srgbClr val="515151"/>
                </a:solidFill>
                <a:effectLst/>
                <a:latin typeface="PT Serif" panose="020A0603040505020204" pitchFamily="18" charset="0"/>
              </a:rPr>
              <a:t>A common way of assessing convergence is to track the reduction in the loss between iterations, and to stop when this reduction falls below some threshold:</a:t>
            </a:r>
            <a:endParaRPr lang="en-IN" sz="2800" dirty="0"/>
          </a:p>
        </p:txBody>
      </p:sp>
      <p:sp>
        <p:nvSpPr>
          <p:cNvPr id="4" name="Slide Number Placeholder 3">
            <a:extLst>
              <a:ext uri="{FF2B5EF4-FFF2-40B4-BE49-F238E27FC236}">
                <a16:creationId xmlns:a16="http://schemas.microsoft.com/office/drawing/2014/main" id="{100E0836-3A0A-4DB1-AAC7-4492B45B33CE}"/>
              </a:ext>
            </a:extLst>
          </p:cNvPr>
          <p:cNvSpPr>
            <a:spLocks noGrp="1"/>
          </p:cNvSpPr>
          <p:nvPr>
            <p:ph type="sldNum" sz="quarter" idx="12"/>
          </p:nvPr>
        </p:nvSpPr>
        <p:spPr/>
        <p:txBody>
          <a:bodyPr/>
          <a:lstStyle/>
          <a:p>
            <a:fld id="{BB2CE0DE-867F-455F-B20B-96D381B4AB71}" type="slidenum">
              <a:rPr lang="en-US" smtClean="0"/>
              <a:t>95</a:t>
            </a:fld>
            <a:endParaRPr lang="en-US"/>
          </a:p>
        </p:txBody>
      </p:sp>
      <p:pic>
        <p:nvPicPr>
          <p:cNvPr id="8" name="Picture 7">
            <a:extLst>
              <a:ext uri="{FF2B5EF4-FFF2-40B4-BE49-F238E27FC236}">
                <a16:creationId xmlns:a16="http://schemas.microsoft.com/office/drawing/2014/main" id="{96A742E7-7983-4A7D-9157-A023F377676F}"/>
              </a:ext>
            </a:extLst>
          </p:cNvPr>
          <p:cNvPicPr>
            <a:picLocks noChangeAspect="1"/>
          </p:cNvPicPr>
          <p:nvPr/>
        </p:nvPicPr>
        <p:blipFill>
          <a:blip r:embed="rId3"/>
          <a:stretch>
            <a:fillRect/>
          </a:stretch>
        </p:blipFill>
        <p:spPr>
          <a:xfrm>
            <a:off x="2971800" y="3281405"/>
            <a:ext cx="2514600" cy="585592"/>
          </a:xfrm>
          <a:prstGeom prst="rect">
            <a:avLst/>
          </a:prstGeom>
        </p:spPr>
      </p:pic>
      <p:sp>
        <p:nvSpPr>
          <p:cNvPr id="9" name="TextBox 8">
            <a:extLst>
              <a:ext uri="{FF2B5EF4-FFF2-40B4-BE49-F238E27FC236}">
                <a16:creationId xmlns:a16="http://schemas.microsoft.com/office/drawing/2014/main" id="{B0482606-35EC-4FA3-8D82-C216B77E1DC9}"/>
              </a:ext>
            </a:extLst>
          </p:cNvPr>
          <p:cNvSpPr txBox="1"/>
          <p:nvPr/>
        </p:nvSpPr>
        <p:spPr>
          <a:xfrm>
            <a:off x="5943600" y="3402419"/>
            <a:ext cx="3930884" cy="369332"/>
          </a:xfrm>
          <a:prstGeom prst="rect">
            <a:avLst/>
          </a:prstGeom>
          <a:noFill/>
        </p:spPr>
        <p:txBody>
          <a:bodyPr wrap="none" rtlCol="0">
            <a:spAutoFit/>
          </a:bodyPr>
          <a:lstStyle/>
          <a:p>
            <a:r>
              <a:rPr lang="en-US" sz="1800" b="0" i="0" dirty="0">
                <a:solidFill>
                  <a:srgbClr val="515151"/>
                </a:solidFill>
                <a:effectLst/>
                <a:latin typeface="PT Serif" panose="020A0603040505020204" pitchFamily="18" charset="0"/>
              </a:rPr>
              <a:t>where </a:t>
            </a:r>
            <a:r>
              <a:rPr lang="en-US" sz="1800" b="0" i="0" dirty="0">
                <a:solidFill>
                  <a:srgbClr val="515151"/>
                </a:solidFill>
                <a:effectLst/>
                <a:latin typeface="MJXc-TeX-math-I"/>
              </a:rPr>
              <a:t>α</a:t>
            </a:r>
            <a:r>
              <a:rPr lang="en-US" sz="1800" b="0" i="0" baseline="-25000" dirty="0">
                <a:solidFill>
                  <a:srgbClr val="515151"/>
                </a:solidFill>
                <a:effectLst/>
                <a:latin typeface="MJXc-TeX-math-I"/>
              </a:rPr>
              <a:t>t</a:t>
            </a:r>
            <a:r>
              <a:rPr lang="en-US" sz="1800" b="0" i="0" dirty="0">
                <a:solidFill>
                  <a:srgbClr val="515151"/>
                </a:solidFill>
                <a:effectLst/>
                <a:latin typeface="PT Serif" panose="020A0603040505020204" pitchFamily="18" charset="0"/>
              </a:rPr>
              <a:t> is a learning rate parameter</a:t>
            </a:r>
            <a:endParaRPr lang="en-IN" dirty="0"/>
          </a:p>
        </p:txBody>
      </p:sp>
      <p:pic>
        <p:nvPicPr>
          <p:cNvPr id="11" name="Picture 10">
            <a:extLst>
              <a:ext uri="{FF2B5EF4-FFF2-40B4-BE49-F238E27FC236}">
                <a16:creationId xmlns:a16="http://schemas.microsoft.com/office/drawing/2014/main" id="{CB982472-F3B5-439B-B7DC-BA044770EF65}"/>
              </a:ext>
            </a:extLst>
          </p:cNvPr>
          <p:cNvPicPr>
            <a:picLocks noChangeAspect="1"/>
          </p:cNvPicPr>
          <p:nvPr/>
        </p:nvPicPr>
        <p:blipFill>
          <a:blip r:embed="rId4"/>
          <a:stretch>
            <a:fillRect/>
          </a:stretch>
        </p:blipFill>
        <p:spPr>
          <a:xfrm>
            <a:off x="2819400" y="4667118"/>
            <a:ext cx="3226060" cy="743082"/>
          </a:xfrm>
          <a:prstGeom prst="rect">
            <a:avLst/>
          </a:prstGeom>
        </p:spPr>
      </p:pic>
    </p:spTree>
    <p:extLst>
      <p:ext uri="{BB962C8B-B14F-4D97-AF65-F5344CB8AC3E}">
        <p14:creationId xmlns:p14="http://schemas.microsoft.com/office/powerpoint/2010/main" val="30336009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0168A-E23B-4BC2-AF50-41562CE4F7E8}"/>
              </a:ext>
            </a:extLst>
          </p:cNvPr>
          <p:cNvSpPr>
            <a:spLocks noGrp="1"/>
          </p:cNvSpPr>
          <p:nvPr>
            <p:ph type="title"/>
          </p:nvPr>
        </p:nvSpPr>
        <p:spPr/>
        <p:txBody>
          <a:bodyPr/>
          <a:lstStyle/>
          <a:p>
            <a:r>
              <a:rPr lang="en-IN" dirty="0"/>
              <a:t>Conjugate gradient descent</a:t>
            </a:r>
          </a:p>
        </p:txBody>
      </p:sp>
      <p:sp>
        <p:nvSpPr>
          <p:cNvPr id="3" name="Content Placeholder 2">
            <a:extLst>
              <a:ext uri="{FF2B5EF4-FFF2-40B4-BE49-F238E27FC236}">
                <a16:creationId xmlns:a16="http://schemas.microsoft.com/office/drawing/2014/main" id="{F7AEE5E0-3F10-4144-9271-C1F12F52BFB6}"/>
              </a:ext>
            </a:extLst>
          </p:cNvPr>
          <p:cNvSpPr>
            <a:spLocks noGrp="1"/>
          </p:cNvSpPr>
          <p:nvPr>
            <p:ph idx="1"/>
          </p:nvPr>
        </p:nvSpPr>
        <p:spPr/>
        <p:txBody>
          <a:bodyPr/>
          <a:lstStyle/>
          <a:p>
            <a:pPr algn="just"/>
            <a:r>
              <a:rPr lang="en-US" sz="2000" dirty="0"/>
              <a:t>Conjugate Gradient Descent (CGD) is an optimization algorithm that finds the minimum of a function more efficiently than standard gradient descent. It's especially powerful for solving large systems of linear equations.</a:t>
            </a:r>
            <a:endParaRPr lang="en-IN" sz="3600" dirty="0"/>
          </a:p>
        </p:txBody>
      </p:sp>
      <p:sp>
        <p:nvSpPr>
          <p:cNvPr id="4" name="Slide Number Placeholder 3">
            <a:extLst>
              <a:ext uri="{FF2B5EF4-FFF2-40B4-BE49-F238E27FC236}">
                <a16:creationId xmlns:a16="http://schemas.microsoft.com/office/drawing/2014/main" id="{66828FC6-E611-443E-BFA2-25CA82C478B9}"/>
              </a:ext>
            </a:extLst>
          </p:cNvPr>
          <p:cNvSpPr>
            <a:spLocks noGrp="1"/>
          </p:cNvSpPr>
          <p:nvPr>
            <p:ph type="sldNum" sz="quarter" idx="12"/>
          </p:nvPr>
        </p:nvSpPr>
        <p:spPr/>
        <p:txBody>
          <a:bodyPr/>
          <a:lstStyle/>
          <a:p>
            <a:fld id="{BB2CE0DE-867F-455F-B20B-96D381B4AB71}" type="slidenum">
              <a:rPr lang="en-US" smtClean="0"/>
              <a:t>96</a:t>
            </a:fld>
            <a:endParaRPr lang="en-US"/>
          </a:p>
        </p:txBody>
      </p:sp>
      <p:pic>
        <p:nvPicPr>
          <p:cNvPr id="5" name="Picture 4">
            <a:extLst>
              <a:ext uri="{FF2B5EF4-FFF2-40B4-BE49-F238E27FC236}">
                <a16:creationId xmlns:a16="http://schemas.microsoft.com/office/drawing/2014/main" id="{7ED0BE46-3151-432C-A568-0B48FC79DE55}"/>
              </a:ext>
            </a:extLst>
          </p:cNvPr>
          <p:cNvPicPr>
            <a:picLocks noChangeAspect="1"/>
          </p:cNvPicPr>
          <p:nvPr/>
        </p:nvPicPr>
        <p:blipFill>
          <a:blip r:embed="rId3"/>
          <a:stretch>
            <a:fillRect/>
          </a:stretch>
        </p:blipFill>
        <p:spPr>
          <a:xfrm>
            <a:off x="381000" y="2667000"/>
            <a:ext cx="6974219" cy="2874704"/>
          </a:xfrm>
          <a:prstGeom prst="rect">
            <a:avLst/>
          </a:prstGeom>
        </p:spPr>
      </p:pic>
      <p:sp>
        <p:nvSpPr>
          <p:cNvPr id="6" name="TextBox 5">
            <a:extLst>
              <a:ext uri="{FF2B5EF4-FFF2-40B4-BE49-F238E27FC236}">
                <a16:creationId xmlns:a16="http://schemas.microsoft.com/office/drawing/2014/main" id="{4EC1619C-4A3F-4439-B38E-661C591CC837}"/>
              </a:ext>
            </a:extLst>
          </p:cNvPr>
          <p:cNvSpPr txBox="1"/>
          <p:nvPr/>
        </p:nvSpPr>
        <p:spPr>
          <a:xfrm>
            <a:off x="7805344" y="2844224"/>
            <a:ext cx="4337726" cy="1169551"/>
          </a:xfrm>
          <a:prstGeom prst="rect">
            <a:avLst/>
          </a:prstGeom>
          <a:noFill/>
        </p:spPr>
        <p:txBody>
          <a:bodyPr wrap="none" rtlCol="0">
            <a:spAutoFit/>
          </a:bodyPr>
          <a:lstStyle/>
          <a:p>
            <a:r>
              <a:rPr lang="en-US" sz="1400" b="1" dirty="0"/>
              <a:t>Why Gradient Descent Is Slow</a:t>
            </a:r>
          </a:p>
          <a:p>
            <a:r>
              <a:rPr lang="en-US" sz="1400" dirty="0"/>
              <a:t>Because it ignores curvature.</a:t>
            </a:r>
          </a:p>
          <a:p>
            <a:r>
              <a:rPr lang="en-US" sz="1400" dirty="0"/>
              <a:t>If error surface is elongated (elliptical valley):</a:t>
            </a:r>
          </a:p>
          <a:p>
            <a:pPr lvl="1"/>
            <a:r>
              <a:rPr lang="en-US" sz="1400" dirty="0"/>
              <a:t>It zig-zags</a:t>
            </a:r>
          </a:p>
          <a:p>
            <a:pPr lvl="1"/>
            <a:r>
              <a:rPr lang="en-US" sz="1400" dirty="0"/>
              <a:t>Converges slowly</a:t>
            </a:r>
            <a:endParaRPr lang="en-IN" sz="1400" dirty="0"/>
          </a:p>
        </p:txBody>
      </p:sp>
    </p:spTree>
    <p:extLst>
      <p:ext uri="{BB962C8B-B14F-4D97-AF65-F5344CB8AC3E}">
        <p14:creationId xmlns:p14="http://schemas.microsoft.com/office/powerpoint/2010/main" val="30814770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B16E-0F9A-F610-06CF-AEC9252B8C9F}"/>
              </a:ext>
            </a:extLst>
          </p:cNvPr>
          <p:cNvSpPr>
            <a:spLocks noGrp="1"/>
          </p:cNvSpPr>
          <p:nvPr>
            <p:ph type="title"/>
          </p:nvPr>
        </p:nvSpPr>
        <p:spPr/>
        <p:txBody>
          <a:bodyPr/>
          <a:lstStyle/>
          <a:p>
            <a:r>
              <a:rPr lang="en-US" dirty="0"/>
              <a:t>Taylor Series</a:t>
            </a:r>
            <a:endParaRPr lang="en-IN" dirty="0"/>
          </a:p>
        </p:txBody>
      </p:sp>
      <p:sp>
        <p:nvSpPr>
          <p:cNvPr id="3" name="Content Placeholder 2">
            <a:extLst>
              <a:ext uri="{FF2B5EF4-FFF2-40B4-BE49-F238E27FC236}">
                <a16:creationId xmlns:a16="http://schemas.microsoft.com/office/drawing/2014/main" id="{9D48130F-F22E-CDF5-0942-1EA4C552CB13}"/>
              </a:ext>
            </a:extLst>
          </p:cNvPr>
          <p:cNvSpPr>
            <a:spLocks noGrp="1"/>
          </p:cNvSpPr>
          <p:nvPr>
            <p:ph idx="1"/>
          </p:nvPr>
        </p:nvSpPr>
        <p:spPr/>
        <p:txBody>
          <a:bodyPr/>
          <a:lstStyle/>
          <a:p>
            <a:r>
              <a:rPr lang="en-US" dirty="0"/>
              <a:t>A Taylor series is a series expansion of a function about a point. </a:t>
            </a:r>
          </a:p>
          <a:p>
            <a:r>
              <a:rPr lang="en-US" dirty="0"/>
              <a:t>A one-dimensional Taylor series is an expansion of a real function f(x) about a point x=a is given by</a:t>
            </a:r>
            <a:endParaRPr lang="en-IN" dirty="0"/>
          </a:p>
          <a:p>
            <a:endParaRPr lang="en-IN" dirty="0"/>
          </a:p>
        </p:txBody>
      </p:sp>
      <p:sp>
        <p:nvSpPr>
          <p:cNvPr id="4" name="Slide Number Placeholder 3">
            <a:extLst>
              <a:ext uri="{FF2B5EF4-FFF2-40B4-BE49-F238E27FC236}">
                <a16:creationId xmlns:a16="http://schemas.microsoft.com/office/drawing/2014/main" id="{E3E8B7D7-A6BB-ED25-AE06-CB5F52ED46EF}"/>
              </a:ext>
            </a:extLst>
          </p:cNvPr>
          <p:cNvSpPr>
            <a:spLocks noGrp="1"/>
          </p:cNvSpPr>
          <p:nvPr>
            <p:ph type="sldNum" sz="quarter" idx="12"/>
          </p:nvPr>
        </p:nvSpPr>
        <p:spPr/>
        <p:txBody>
          <a:bodyPr/>
          <a:lstStyle/>
          <a:p>
            <a:fld id="{BB2CE0DE-867F-455F-B20B-96D381B4AB71}" type="slidenum">
              <a:rPr lang="en-US" smtClean="0"/>
              <a:t>97</a:t>
            </a:fld>
            <a:endParaRPr lang="en-US"/>
          </a:p>
        </p:txBody>
      </p:sp>
      <p:pic>
        <p:nvPicPr>
          <p:cNvPr id="6" name="Picture 5">
            <a:extLst>
              <a:ext uri="{FF2B5EF4-FFF2-40B4-BE49-F238E27FC236}">
                <a16:creationId xmlns:a16="http://schemas.microsoft.com/office/drawing/2014/main" id="{5001AD57-BB0E-0608-36C5-35825475AA7F}"/>
              </a:ext>
            </a:extLst>
          </p:cNvPr>
          <p:cNvPicPr>
            <a:picLocks noChangeAspect="1"/>
          </p:cNvPicPr>
          <p:nvPr/>
        </p:nvPicPr>
        <p:blipFill>
          <a:blip r:embed="rId3"/>
          <a:stretch>
            <a:fillRect/>
          </a:stretch>
        </p:blipFill>
        <p:spPr>
          <a:xfrm>
            <a:off x="1020237" y="3581400"/>
            <a:ext cx="10413996" cy="762000"/>
          </a:xfrm>
          <a:prstGeom prst="rect">
            <a:avLst/>
          </a:prstGeom>
        </p:spPr>
      </p:pic>
    </p:spTree>
    <p:extLst>
      <p:ext uri="{BB962C8B-B14F-4D97-AF65-F5344CB8AC3E}">
        <p14:creationId xmlns:p14="http://schemas.microsoft.com/office/powerpoint/2010/main" val="13124118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800" dirty="0"/>
              <a:t>Now expand error around current weight vector w(n).</a:t>
            </a:r>
          </a:p>
          <a:p>
            <a:r>
              <a:rPr lang="en-US" sz="1800" dirty="0"/>
              <a:t>Let </a:t>
            </a:r>
            <a:r>
              <a:rPr lang="en-US" sz="1800" dirty="0" err="1"/>
              <a:t>E</a:t>
            </a:r>
            <a:r>
              <a:rPr lang="en-US" sz="1800" baseline="-25000" dirty="0" err="1"/>
              <a:t>av</a:t>
            </a:r>
            <a:r>
              <a:rPr lang="en-US" sz="1800" dirty="0"/>
              <a:t>(w)denote the cost function, averaged over the training sample. Using the Taylor series, we may expand </a:t>
            </a:r>
            <a:r>
              <a:rPr lang="en-US" sz="1800" dirty="0" err="1"/>
              <a:t>E</a:t>
            </a:r>
            <a:r>
              <a:rPr lang="en-US" sz="1800" baseline="-25000" dirty="0" err="1"/>
              <a:t>av</a:t>
            </a:r>
            <a:r>
              <a:rPr lang="en-US" sz="18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98</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1278484" y="243840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1447800" y="5371957"/>
            <a:ext cx="2581635" cy="1028844"/>
          </a:xfrm>
          <a:prstGeom prst="rect">
            <a:avLst/>
          </a:prstGeom>
        </p:spPr>
      </p:pic>
    </p:spTree>
    <p:extLst>
      <p:ext uri="{BB962C8B-B14F-4D97-AF65-F5344CB8AC3E}">
        <p14:creationId xmlns:p14="http://schemas.microsoft.com/office/powerpoint/2010/main" val="38495058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800" dirty="0"/>
              <a:t>Now expand error around current weight vector w(n).</a:t>
            </a:r>
          </a:p>
          <a:p>
            <a:r>
              <a:rPr lang="en-US" sz="1800" dirty="0"/>
              <a:t>Let </a:t>
            </a:r>
            <a:r>
              <a:rPr lang="en-US" sz="1800" dirty="0" err="1"/>
              <a:t>E</a:t>
            </a:r>
            <a:r>
              <a:rPr lang="en-US" sz="1800" baseline="-25000" dirty="0" err="1"/>
              <a:t>av</a:t>
            </a:r>
            <a:r>
              <a:rPr lang="en-US" sz="1800" dirty="0"/>
              <a:t>(w)denote the cost function, averaged over the training sample. Using the Taylor series, we may expand </a:t>
            </a:r>
            <a:r>
              <a:rPr lang="en-US" sz="1800" dirty="0" err="1"/>
              <a:t>E</a:t>
            </a:r>
            <a:r>
              <a:rPr lang="en-US" sz="1800" baseline="-25000" dirty="0" err="1"/>
              <a:t>av</a:t>
            </a:r>
            <a:r>
              <a:rPr lang="en-US" sz="18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99</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1278484" y="243840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1447800" y="5371957"/>
            <a:ext cx="2581635" cy="1028844"/>
          </a:xfrm>
          <a:prstGeom prst="rect">
            <a:avLst/>
          </a:prstGeom>
        </p:spPr>
      </p:pic>
      <p:sp>
        <p:nvSpPr>
          <p:cNvPr id="14" name="TextBox 13">
            <a:extLst>
              <a:ext uri="{FF2B5EF4-FFF2-40B4-BE49-F238E27FC236}">
                <a16:creationId xmlns:a16="http://schemas.microsoft.com/office/drawing/2014/main" id="{4538D7C7-6EEF-4916-8717-4F0920A816B6}"/>
              </a:ext>
            </a:extLst>
          </p:cNvPr>
          <p:cNvSpPr txBox="1"/>
          <p:nvPr/>
        </p:nvSpPr>
        <p:spPr>
          <a:xfrm>
            <a:off x="5027535" y="5378141"/>
            <a:ext cx="6516656" cy="646331"/>
          </a:xfrm>
          <a:prstGeom prst="rect">
            <a:avLst/>
          </a:prstGeom>
          <a:noFill/>
        </p:spPr>
        <p:txBody>
          <a:bodyPr wrap="none" rtlCol="0">
            <a:spAutoFit/>
          </a:bodyPr>
          <a:lstStyle/>
          <a:p>
            <a:r>
              <a:rPr lang="en-US" sz="1200" dirty="0"/>
              <a:t>In the steepest-descent method, exemplified by the back-propagation algorithm, </a:t>
            </a:r>
          </a:p>
          <a:p>
            <a:r>
              <a:rPr lang="en-US" sz="1200" dirty="0"/>
              <a:t>the adjustment</a:t>
            </a:r>
            <a:r>
              <a:rPr lang="en-IN" sz="1200" b="0" i="0" dirty="0">
                <a:solidFill>
                  <a:srgbClr val="474747"/>
                </a:solidFill>
                <a:effectLst/>
                <a:latin typeface="Arial" panose="020B0604020202020204" pitchFamily="34" charset="0"/>
              </a:rPr>
              <a:t> </a:t>
            </a:r>
            <a:r>
              <a:rPr lang="el-GR" sz="1200" b="0" i="0" dirty="0">
                <a:solidFill>
                  <a:srgbClr val="474747"/>
                </a:solidFill>
                <a:effectLst/>
                <a:latin typeface="Arial" panose="020B0604020202020204" pitchFamily="34" charset="0"/>
              </a:rPr>
              <a:t> Δ</a:t>
            </a:r>
            <a:r>
              <a:rPr lang="en-US" sz="1200" dirty="0"/>
              <a:t>w(n) applied to the synaptic weight vector w(n) is defined by</a:t>
            </a:r>
            <a:endParaRPr lang="en-IN" sz="1200" dirty="0"/>
          </a:p>
          <a:p>
            <a:endParaRPr lang="en-IN" sz="1200" dirty="0"/>
          </a:p>
        </p:txBody>
      </p:sp>
      <p:pic>
        <p:nvPicPr>
          <p:cNvPr id="16" name="Picture 15">
            <a:extLst>
              <a:ext uri="{FF2B5EF4-FFF2-40B4-BE49-F238E27FC236}">
                <a16:creationId xmlns:a16="http://schemas.microsoft.com/office/drawing/2014/main" id="{DC81D31F-7B0B-4B5F-811E-F1987A554809}"/>
              </a:ext>
            </a:extLst>
          </p:cNvPr>
          <p:cNvPicPr>
            <a:picLocks noChangeAspect="1"/>
          </p:cNvPicPr>
          <p:nvPr/>
        </p:nvPicPr>
        <p:blipFill>
          <a:blip r:embed="rId5"/>
          <a:stretch>
            <a:fillRect/>
          </a:stretch>
        </p:blipFill>
        <p:spPr>
          <a:xfrm>
            <a:off x="5454700" y="5882835"/>
            <a:ext cx="1857634" cy="438211"/>
          </a:xfrm>
          <a:prstGeom prst="rect">
            <a:avLst/>
          </a:prstGeom>
        </p:spPr>
      </p:pic>
    </p:spTree>
    <p:extLst>
      <p:ext uri="{BB962C8B-B14F-4D97-AF65-F5344CB8AC3E}">
        <p14:creationId xmlns:p14="http://schemas.microsoft.com/office/powerpoint/2010/main" val="28488001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600" dirty="0"/>
              <a:t>Now expand error around current weight vector w(n).</a:t>
            </a:r>
          </a:p>
          <a:p>
            <a:r>
              <a:rPr lang="en-US" sz="1600" dirty="0"/>
              <a:t>Let </a:t>
            </a:r>
            <a:r>
              <a:rPr lang="en-US" sz="1600" dirty="0" err="1"/>
              <a:t>E</a:t>
            </a:r>
            <a:r>
              <a:rPr lang="en-US" sz="1600" baseline="-25000" dirty="0" err="1"/>
              <a:t>av</a:t>
            </a:r>
            <a:r>
              <a:rPr lang="en-US" sz="1600" dirty="0"/>
              <a:t>(w)denote the cost function, averaged over the training sample. Using the Taylor series, we may expand </a:t>
            </a:r>
            <a:r>
              <a:rPr lang="en-US" sz="1600" dirty="0" err="1"/>
              <a:t>E</a:t>
            </a:r>
            <a:r>
              <a:rPr lang="en-US" sz="1600" baseline="-25000" dirty="0" err="1"/>
              <a:t>av</a:t>
            </a:r>
            <a:r>
              <a:rPr lang="en-US" sz="16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100</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990600" y="213813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990600" y="4953000"/>
            <a:ext cx="2868082" cy="1143000"/>
          </a:xfrm>
          <a:prstGeom prst="rect">
            <a:avLst/>
          </a:prstGeom>
        </p:spPr>
      </p:pic>
      <p:sp>
        <p:nvSpPr>
          <p:cNvPr id="5" name="TextBox 4">
            <a:extLst>
              <a:ext uri="{FF2B5EF4-FFF2-40B4-BE49-F238E27FC236}">
                <a16:creationId xmlns:a16="http://schemas.microsoft.com/office/drawing/2014/main" id="{839C92C1-5DFC-4B53-AC61-4521DBCD142C}"/>
              </a:ext>
            </a:extLst>
          </p:cNvPr>
          <p:cNvSpPr txBox="1"/>
          <p:nvPr/>
        </p:nvSpPr>
        <p:spPr>
          <a:xfrm>
            <a:off x="4017174" y="4953000"/>
            <a:ext cx="8137612" cy="954107"/>
          </a:xfrm>
          <a:prstGeom prst="rect">
            <a:avLst/>
          </a:prstGeom>
          <a:noFill/>
        </p:spPr>
        <p:txBody>
          <a:bodyPr wrap="none" rtlCol="0">
            <a:spAutoFit/>
          </a:bodyPr>
          <a:lstStyle/>
          <a:p>
            <a:r>
              <a:rPr lang="en-US" sz="1400" dirty="0"/>
              <a:t>In order to produce a significant improvement in the convergence performance of a </a:t>
            </a:r>
          </a:p>
          <a:p>
            <a:r>
              <a:rPr lang="en-US" sz="1400" dirty="0"/>
              <a:t>multilayer perceptron (compared with back-propagation learning), we have to use </a:t>
            </a:r>
          </a:p>
          <a:p>
            <a:r>
              <a:rPr lang="en-US" sz="1400" dirty="0"/>
              <a:t>higher-order information in the training process. We may do so by invoking a quadratic </a:t>
            </a:r>
          </a:p>
          <a:p>
            <a:r>
              <a:rPr lang="en-US" sz="1400" dirty="0"/>
              <a:t>approximation of the error surface around the current point w(n).</a:t>
            </a:r>
            <a:endParaRPr lang="en-IN" sz="1400" dirty="0"/>
          </a:p>
        </p:txBody>
      </p:sp>
    </p:spTree>
    <p:extLst>
      <p:ext uri="{BB962C8B-B14F-4D97-AF65-F5344CB8AC3E}">
        <p14:creationId xmlns:p14="http://schemas.microsoft.com/office/powerpoint/2010/main" val="8906022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6754-7CF3-4F32-8AC4-40631C83CD7C}"/>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73C597A7-FA98-48A3-B6A8-D1D5CD18388E}"/>
              </a:ext>
            </a:extLst>
          </p:cNvPr>
          <p:cNvSpPr>
            <a:spLocks noGrp="1"/>
          </p:cNvSpPr>
          <p:nvPr>
            <p:ph idx="1"/>
          </p:nvPr>
        </p:nvSpPr>
        <p:spPr/>
        <p:txBody>
          <a:bodyPr/>
          <a:lstStyle/>
          <a:p>
            <a:pPr marL="0" indent="0">
              <a:buNone/>
            </a:pPr>
            <a:r>
              <a:rPr lang="en-US" sz="2400" dirty="0"/>
              <a:t>Suppose we want to solve the system of linear equations</a:t>
            </a:r>
          </a:p>
          <a:p>
            <a:pPr marL="0" indent="0">
              <a:buNone/>
            </a:pPr>
            <a:r>
              <a:rPr lang="en-US" sz="2400" dirty="0"/>
              <a:t>		</a:t>
            </a:r>
          </a:p>
          <a:p>
            <a:pPr marL="0" indent="0">
              <a:buNone/>
            </a:pPr>
            <a:r>
              <a:rPr lang="en-US" sz="2400" dirty="0"/>
              <a:t>		Ax=b</a:t>
            </a:r>
          </a:p>
          <a:p>
            <a:pPr marL="0" indent="0">
              <a:buNone/>
            </a:pPr>
            <a:endParaRPr lang="en-US" sz="2400" dirty="0"/>
          </a:p>
          <a:p>
            <a:pPr marL="0" indent="0">
              <a:buNone/>
            </a:pPr>
            <a:r>
              <a:rPr lang="en-US" sz="2400" dirty="0"/>
              <a:t>for the vector x, </a:t>
            </a:r>
          </a:p>
          <a:p>
            <a:pPr marL="0" indent="0">
              <a:buNone/>
            </a:pPr>
            <a:r>
              <a:rPr lang="en-US" sz="2400" dirty="0"/>
              <a:t>where the known n×n matrix A is symmetric (i.e., A</a:t>
            </a:r>
            <a:r>
              <a:rPr lang="en-US" sz="2400" baseline="30000" dirty="0"/>
              <a:t>T</a:t>
            </a:r>
            <a:r>
              <a:rPr lang="en-US" sz="2400" dirty="0"/>
              <a:t>=A), positive definite (i.e. x</a:t>
            </a:r>
            <a:r>
              <a:rPr lang="en-US" sz="2400" baseline="30000" dirty="0"/>
              <a:t>T</a:t>
            </a:r>
            <a:r>
              <a:rPr lang="en-US" sz="2400" dirty="0"/>
              <a:t>Ax&gt;0 for all non-zero vectors x in R</a:t>
            </a:r>
            <a:r>
              <a:rPr lang="en-US" sz="2400" baseline="30000" dirty="0"/>
              <a:t>n</a:t>
            </a:r>
            <a:r>
              <a:rPr lang="en-US" sz="2400" dirty="0"/>
              <a:t>), and real, and b is known as well. </a:t>
            </a:r>
          </a:p>
          <a:p>
            <a:pPr marL="0" indent="0">
              <a:buNone/>
            </a:pPr>
            <a:endParaRPr lang="en-US" sz="2400" dirty="0"/>
          </a:p>
          <a:p>
            <a:pPr marL="0" indent="0">
              <a:buNone/>
            </a:pPr>
            <a:r>
              <a:rPr lang="en-US" sz="2400" dirty="0"/>
              <a:t>Then the equation has a solution x∗</a:t>
            </a:r>
          </a:p>
          <a:p>
            <a:endParaRPr lang="en-US" sz="2400" dirty="0"/>
          </a:p>
          <a:p>
            <a:endParaRPr lang="en-IN" sz="2400" dirty="0"/>
          </a:p>
        </p:txBody>
      </p:sp>
      <p:sp>
        <p:nvSpPr>
          <p:cNvPr id="4" name="Slide Number Placeholder 3">
            <a:extLst>
              <a:ext uri="{FF2B5EF4-FFF2-40B4-BE49-F238E27FC236}">
                <a16:creationId xmlns:a16="http://schemas.microsoft.com/office/drawing/2014/main" id="{8EE88325-C496-4FC7-89ED-A1B4ADFFA86A}"/>
              </a:ext>
            </a:extLst>
          </p:cNvPr>
          <p:cNvSpPr>
            <a:spLocks noGrp="1"/>
          </p:cNvSpPr>
          <p:nvPr>
            <p:ph type="sldNum" sz="quarter" idx="12"/>
          </p:nvPr>
        </p:nvSpPr>
        <p:spPr/>
        <p:txBody>
          <a:bodyPr/>
          <a:lstStyle/>
          <a:p>
            <a:fld id="{BB2CE0DE-867F-455F-B20B-96D381B4AB71}" type="slidenum">
              <a:rPr lang="en-US" smtClean="0"/>
              <a:t>101</a:t>
            </a:fld>
            <a:endParaRPr lang="en-US"/>
          </a:p>
        </p:txBody>
      </p:sp>
      <p:pic>
        <p:nvPicPr>
          <p:cNvPr id="19" name="Picture 18">
            <a:extLst>
              <a:ext uri="{FF2B5EF4-FFF2-40B4-BE49-F238E27FC236}">
                <a16:creationId xmlns:a16="http://schemas.microsoft.com/office/drawing/2014/main" id="{7F7A49B3-FFAC-4DA4-8C73-7F2897E1B753}"/>
              </a:ext>
            </a:extLst>
          </p:cNvPr>
          <p:cNvPicPr>
            <a:picLocks noChangeAspect="1"/>
          </p:cNvPicPr>
          <p:nvPr/>
        </p:nvPicPr>
        <p:blipFill>
          <a:blip r:embed="rId3"/>
          <a:stretch>
            <a:fillRect/>
          </a:stretch>
        </p:blipFill>
        <p:spPr>
          <a:xfrm>
            <a:off x="4683967" y="1828800"/>
            <a:ext cx="2824066" cy="1219200"/>
          </a:xfrm>
          <a:prstGeom prst="rect">
            <a:avLst/>
          </a:prstGeom>
        </p:spPr>
      </p:pic>
    </p:spTree>
    <p:extLst>
      <p:ext uri="{BB962C8B-B14F-4D97-AF65-F5344CB8AC3E}">
        <p14:creationId xmlns:p14="http://schemas.microsoft.com/office/powerpoint/2010/main" val="39397316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2995F-BFDC-B1BD-29DB-68BE2ED76B4C}"/>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625BEC-C545-36B3-A86B-674B8427EE30}"/>
                  </a:ext>
                </a:extLst>
              </p:cNvPr>
              <p:cNvSpPr>
                <a:spLocks noGrp="1"/>
              </p:cNvSpPr>
              <p:nvPr>
                <p:ph idx="1"/>
              </p:nvPr>
            </p:nvSpPr>
            <p:spPr/>
            <p:txBody>
              <a:bodyPr/>
              <a:lstStyle/>
              <a:p>
                <a:pPr marL="0" indent="0">
                  <a:buNone/>
                </a:pPr>
                <a:r>
                  <a:rPr lang="en-IN" dirty="0"/>
                  <a:t>Solve Ax=b  </a:t>
                </a:r>
              </a:p>
              <a:p>
                <a:pPr marL="0" indent="0">
                  <a:buNone/>
                </a:pPr>
                <a:r>
                  <a:rPr lang="en-IN" dirty="0"/>
                  <a:t>is equivalent to</a:t>
                </a:r>
              </a:p>
              <a:p>
                <a:pPr marL="0" indent="0">
                  <a:buNone/>
                </a:pPr>
                <a14:m>
                  <m:oMathPara xmlns:m="http://schemas.openxmlformats.org/officeDocument/2006/math">
                    <m:oMathParaPr>
                      <m:jc m:val="centerGroup"/>
                    </m:oMathParaPr>
                    <m:oMath xmlns:m="http://schemas.openxmlformats.org/officeDocument/2006/math">
                      <m:r>
                        <m:rPr>
                          <m:nor/>
                        </m:rPr>
                        <a:rPr lang="en-IN" b="0"/>
                        <m:t>Minimize</m:t>
                      </m:r>
                      <m:r>
                        <m:rPr>
                          <m:nor/>
                        </m:rPr>
                        <a:rPr lang="en-IN" b="0" i="1"/>
                        <m:t> </m:t>
                      </m:r>
                      <m:r>
                        <a:rPr lang="en-IN" b="0" i="1">
                          <a:latin typeface="Cambria Math" panose="02040503050406030204" pitchFamily="18" charset="0"/>
                        </a:rPr>
                        <m:t>𝑓</m:t>
                      </m:r>
                      <m:d>
                        <m:dPr>
                          <m:ctrlPr>
                            <a:rPr lang="ar-AE" i="1">
                              <a:latin typeface="Cambria Math" panose="02040503050406030204" pitchFamily="18" charset="0"/>
                            </a:rPr>
                          </m:ctrlPr>
                        </m:dPr>
                        <m:e>
                          <m:r>
                            <a:rPr lang="ar-AE" b="0" i="1">
                              <a:latin typeface="Cambria Math" panose="02040503050406030204" pitchFamily="18" charset="0"/>
                            </a:rPr>
                            <m:t>𝑥</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1">
                              <a:latin typeface="Cambria Math" panose="02040503050406030204" pitchFamily="18" charset="0"/>
                            </a:rPr>
                            <m:t>𝑇</m:t>
                          </m:r>
                        </m:sup>
                      </m:sSup>
                      <m:r>
                        <a:rPr lang="ar-AE" i="1">
                          <a:latin typeface="Cambria Math" panose="02040503050406030204" pitchFamily="18" charset="0"/>
                        </a:rPr>
                        <m:t>𝐴𝑥</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i="1">
                              <a:latin typeface="Cambria Math" panose="02040503050406030204" pitchFamily="18" charset="0"/>
                            </a:rPr>
                            <m:t>𝑇</m:t>
                          </m:r>
                        </m:sup>
                      </m:sSup>
                      <m:r>
                        <a:rPr lang="ar-AE" i="1">
                          <a:latin typeface="Cambria Math" panose="02040503050406030204" pitchFamily="18" charset="0"/>
                        </a:rPr>
                        <m:t>𝑥</m:t>
                      </m:r>
                    </m:oMath>
                  </m:oMathPara>
                </a14:m>
                <a:endParaRPr lang="ar-AE" b="0" dirty="0"/>
              </a:p>
              <a:p>
                <a:endParaRPr lang="en-IN" dirty="0"/>
              </a:p>
            </p:txBody>
          </p:sp>
        </mc:Choice>
        <mc:Fallback xmlns="">
          <p:sp>
            <p:nvSpPr>
              <p:cNvPr id="3" name="Content Placeholder 2">
                <a:extLst>
                  <a:ext uri="{FF2B5EF4-FFF2-40B4-BE49-F238E27FC236}">
                    <a16:creationId xmlns:a16="http://schemas.microsoft.com/office/drawing/2014/main" id="{72625BEC-C545-36B3-A86B-674B8427EE30}"/>
                  </a:ext>
                </a:extLst>
              </p:cNvPr>
              <p:cNvSpPr>
                <a:spLocks noGrp="1" noRot="1" noChangeAspect="1" noMove="1" noResize="1" noEditPoints="1" noAdjustHandles="1" noChangeArrowheads="1" noChangeShapeType="1" noTextEdit="1"/>
              </p:cNvSpPr>
              <p:nvPr>
                <p:ph idx="1"/>
              </p:nvPr>
            </p:nvSpPr>
            <p:spPr>
              <a:blipFill>
                <a:blip r:embed="rId2"/>
                <a:stretch>
                  <a:fillRect l="-1371" t="-157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B5DAC513-349E-40DD-56DB-9CA908C652FF}"/>
              </a:ext>
            </a:extLst>
          </p:cNvPr>
          <p:cNvSpPr>
            <a:spLocks noGrp="1"/>
          </p:cNvSpPr>
          <p:nvPr>
            <p:ph type="sldNum" sz="quarter" idx="12"/>
          </p:nvPr>
        </p:nvSpPr>
        <p:spPr/>
        <p:txBody>
          <a:bodyPr/>
          <a:lstStyle/>
          <a:p>
            <a:fld id="{BB2CE0DE-867F-455F-B20B-96D381B4AB71}" type="slidenum">
              <a:rPr lang="en-US" smtClean="0"/>
              <a:t>102</a:t>
            </a:fld>
            <a:endParaRPr lang="en-US"/>
          </a:p>
        </p:txBody>
      </p:sp>
      <p:pic>
        <p:nvPicPr>
          <p:cNvPr id="8" name="Picture 7">
            <a:extLst>
              <a:ext uri="{FF2B5EF4-FFF2-40B4-BE49-F238E27FC236}">
                <a16:creationId xmlns:a16="http://schemas.microsoft.com/office/drawing/2014/main" id="{49F618D8-4B1E-C0CC-9E6A-2DD9F088D3B0}"/>
              </a:ext>
            </a:extLst>
          </p:cNvPr>
          <p:cNvPicPr>
            <a:picLocks noChangeAspect="1"/>
          </p:cNvPicPr>
          <p:nvPr/>
        </p:nvPicPr>
        <p:blipFill>
          <a:blip r:embed="rId3"/>
          <a:stretch>
            <a:fillRect/>
          </a:stretch>
        </p:blipFill>
        <p:spPr>
          <a:xfrm>
            <a:off x="3048000" y="3657600"/>
            <a:ext cx="6173378" cy="2362200"/>
          </a:xfrm>
          <a:prstGeom prst="rect">
            <a:avLst/>
          </a:prstGeom>
        </p:spPr>
      </p:pic>
    </p:spTree>
    <p:extLst>
      <p:ext uri="{BB962C8B-B14F-4D97-AF65-F5344CB8AC3E}">
        <p14:creationId xmlns:p14="http://schemas.microsoft.com/office/powerpoint/2010/main" val="5046377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9065-A640-AC66-51A2-B9CA1708F201}"/>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9E9D8F-1681-9CB0-0AA3-F87665C7DCBB}"/>
                  </a:ext>
                </a:extLst>
              </p:cNvPr>
              <p:cNvSpPr>
                <a:spLocks noGrp="1"/>
              </p:cNvSpPr>
              <p:nvPr>
                <p:ph idx="1"/>
              </p:nvPr>
            </p:nvSpPr>
            <p:spPr/>
            <p:txBody>
              <a:bodyPr/>
              <a:lstStyle/>
              <a:p>
                <a:pPr marL="0" indent="0">
                  <a:buNone/>
                </a:pPr>
                <a:r>
                  <a:rPr lang="en-IN" sz="2000" dirty="0"/>
                  <a:t>To minimize </a:t>
                </a:r>
                <a14:m>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r>
                  <a:rPr lang="ar-AE" sz="2000" dirty="0"/>
                  <a:t>, </a:t>
                </a:r>
                <a:r>
                  <a:rPr lang="en-IN" sz="2000" dirty="0"/>
                  <a:t>we compute its </a:t>
                </a:r>
                <a:r>
                  <a:rPr lang="en-IN" sz="2000" b="1" dirty="0"/>
                  <a:t>gradient</a:t>
                </a:r>
                <a:r>
                  <a:rPr lang="en-IN" sz="2000" dirty="0"/>
                  <a:t> and set it to zero.</a:t>
                </a:r>
              </a:p>
              <a:p>
                <a:pPr marL="0" indent="0">
                  <a:buNone/>
                </a:pPr>
                <a:r>
                  <a:rPr lang="en-IN" sz="2000" b="1" dirty="0"/>
                  <a:t>Gradient of </a:t>
                </a:r>
                <a14:m>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endParaRPr lang="ar-AE" sz="2000" b="1" dirty="0"/>
              </a:p>
              <a:p>
                <a:pPr marL="0" indent="0">
                  <a:buNone/>
                </a:pPr>
                <a:r>
                  <a:rPr lang="en-IN" sz="2000" dirty="0"/>
                  <a:t>Using matrix calculus:</a:t>
                </a:r>
              </a:p>
              <a:p>
                <a:pPr marL="0" indent="0">
                  <a:buNone/>
                </a:pPr>
                <a14:m>
                  <m:oMathPara xmlns:m="http://schemas.openxmlformats.org/officeDocument/2006/math">
                    <m:oMathParaPr>
                      <m:jc m:val="centerGroup"/>
                    </m:oMathParaPr>
                    <m:oMath xmlns:m="http://schemas.openxmlformats.org/officeDocument/2006/math">
                      <m:r>
                        <m:rPr>
                          <m:sty m:val="p"/>
                        </m:rPr>
                        <a:rPr lang="en-IN" sz="2000">
                          <a:latin typeface="Cambria Math" panose="02040503050406030204" pitchFamily="18" charset="0"/>
                        </a:rPr>
                        <m:t>∇</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r>
                        <a:rPr lang="ar-AE" sz="2000" i="1">
                          <a:latin typeface="Cambria Math" panose="02040503050406030204" pitchFamily="18" charset="0"/>
                        </a:rPr>
                        <m:t>𝐴𝑥</m:t>
                      </m:r>
                      <m:r>
                        <a:rPr lang="ar-AE" sz="2000">
                          <a:latin typeface="Cambria Math" panose="02040503050406030204" pitchFamily="18" charset="0"/>
                        </a:rPr>
                        <m:t>−</m:t>
                      </m:r>
                      <m:r>
                        <a:rPr lang="ar-AE" sz="2000" i="1">
                          <a:latin typeface="Cambria Math" panose="02040503050406030204" pitchFamily="18" charset="0"/>
                        </a:rPr>
                        <m:t>𝑏</m:t>
                      </m:r>
                    </m:oMath>
                  </m:oMathPara>
                </a14:m>
                <a:endParaRPr lang="ar-AE" sz="2000" dirty="0"/>
              </a:p>
              <a:p>
                <a:pPr marL="0" indent="0">
                  <a:buNone/>
                </a:pPr>
                <a:r>
                  <a:rPr lang="en-IN" sz="2000" dirty="0"/>
                  <a:t>Explanation:</a:t>
                </a:r>
              </a:p>
              <a:p>
                <a:endParaRPr lang="en-IN" dirty="0"/>
              </a:p>
            </p:txBody>
          </p:sp>
        </mc:Choice>
        <mc:Fallback xmlns="">
          <p:sp>
            <p:nvSpPr>
              <p:cNvPr id="3" name="Content Placeholder 2">
                <a:extLst>
                  <a:ext uri="{FF2B5EF4-FFF2-40B4-BE49-F238E27FC236}">
                    <a16:creationId xmlns:a16="http://schemas.microsoft.com/office/drawing/2014/main" id="{2B9E9D8F-1681-9CB0-0AA3-F87665C7DCBB}"/>
                  </a:ext>
                </a:extLst>
              </p:cNvPr>
              <p:cNvSpPr>
                <a:spLocks noGrp="1" noRot="1" noChangeAspect="1" noMove="1" noResize="1" noEditPoints="1" noAdjustHandles="1" noChangeArrowheads="1" noChangeShapeType="1" noTextEdit="1"/>
              </p:cNvSpPr>
              <p:nvPr>
                <p:ph idx="1"/>
              </p:nvPr>
            </p:nvSpPr>
            <p:spPr>
              <a:blipFill>
                <a:blip r:embed="rId2"/>
                <a:stretch>
                  <a:fillRect l="-629" t="-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4B30EB65-0F4C-6AD7-EE28-09A43FC5CEFE}"/>
              </a:ext>
            </a:extLst>
          </p:cNvPr>
          <p:cNvSpPr>
            <a:spLocks noGrp="1"/>
          </p:cNvSpPr>
          <p:nvPr>
            <p:ph type="sldNum" sz="quarter" idx="12"/>
          </p:nvPr>
        </p:nvSpPr>
        <p:spPr/>
        <p:txBody>
          <a:bodyPr/>
          <a:lstStyle/>
          <a:p>
            <a:fld id="{BB2CE0DE-867F-455F-B20B-96D381B4AB71}" type="slidenum">
              <a:rPr lang="en-US" smtClean="0"/>
              <a:t>103</a:t>
            </a:fld>
            <a:endParaRPr lang="en-US"/>
          </a:p>
        </p:txBody>
      </p:sp>
      <p:pic>
        <p:nvPicPr>
          <p:cNvPr id="6" name="Picture 5">
            <a:extLst>
              <a:ext uri="{FF2B5EF4-FFF2-40B4-BE49-F238E27FC236}">
                <a16:creationId xmlns:a16="http://schemas.microsoft.com/office/drawing/2014/main" id="{DD6B4D7A-AA45-12BA-9D91-4D99A44D6797}"/>
              </a:ext>
            </a:extLst>
          </p:cNvPr>
          <p:cNvPicPr>
            <a:picLocks noChangeAspect="1"/>
          </p:cNvPicPr>
          <p:nvPr/>
        </p:nvPicPr>
        <p:blipFill>
          <a:blip r:embed="rId3"/>
          <a:stretch>
            <a:fillRect/>
          </a:stretch>
        </p:blipFill>
        <p:spPr>
          <a:xfrm>
            <a:off x="381000" y="3095174"/>
            <a:ext cx="5915851" cy="361042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FD54C44-44C5-7135-127C-616AB9988941}"/>
                  </a:ext>
                </a:extLst>
              </p:cNvPr>
              <p:cNvSpPr txBox="1"/>
              <p:nvPr/>
            </p:nvSpPr>
            <p:spPr>
              <a:xfrm>
                <a:off x="8077200" y="255064"/>
                <a:ext cx="3867405" cy="976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xmlns="">
          <p:sp>
            <p:nvSpPr>
              <p:cNvPr id="7" name="TextBox 6">
                <a:extLst>
                  <a:ext uri="{FF2B5EF4-FFF2-40B4-BE49-F238E27FC236}">
                    <a16:creationId xmlns:a16="http://schemas.microsoft.com/office/drawing/2014/main" id="{5FD54C44-44C5-7135-127C-616AB9988941}"/>
                  </a:ext>
                </a:extLst>
              </p:cNvPr>
              <p:cNvSpPr txBox="1">
                <a:spLocks noRot="1" noChangeAspect="1" noMove="1" noResize="1" noEditPoints="1" noAdjustHandles="1" noChangeArrowheads="1" noChangeShapeType="1" noTextEdit="1"/>
              </p:cNvSpPr>
              <p:nvPr/>
            </p:nvSpPr>
            <p:spPr>
              <a:xfrm>
                <a:off x="8077200" y="255064"/>
                <a:ext cx="3867405" cy="976293"/>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635048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69AD-50F6-B79E-86EB-B67109DF5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BFE50-051F-90B7-E50C-134E6E24F3B0}"/>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5FADD5-7CFC-4BBD-BA42-12BC92B978C0}"/>
                  </a:ext>
                </a:extLst>
              </p:cNvPr>
              <p:cNvSpPr>
                <a:spLocks noGrp="1"/>
              </p:cNvSpPr>
              <p:nvPr>
                <p:ph idx="1"/>
              </p:nvPr>
            </p:nvSpPr>
            <p:spPr/>
            <p:txBody>
              <a:bodyPr/>
              <a:lstStyle/>
              <a:p>
                <a:pPr marL="0" indent="0">
                  <a:buNone/>
                </a:pPr>
                <a:r>
                  <a:rPr lang="en-IN" sz="2000" dirty="0"/>
                  <a:t>To minimize </a:t>
                </a:r>
                <a14:m>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r>
                  <a:rPr lang="ar-AE" sz="2000" dirty="0"/>
                  <a:t>, </a:t>
                </a:r>
                <a:r>
                  <a:rPr lang="en-IN" sz="2000" dirty="0"/>
                  <a:t>we compute its </a:t>
                </a:r>
                <a:r>
                  <a:rPr lang="en-IN" sz="2000" b="1" dirty="0"/>
                  <a:t>gradient</a:t>
                </a:r>
                <a:r>
                  <a:rPr lang="en-IN" sz="2000" dirty="0"/>
                  <a:t> and set it to zero.</a:t>
                </a:r>
              </a:p>
              <a:p>
                <a:pPr marL="0" indent="0">
                  <a:buNone/>
                </a:pPr>
                <a:r>
                  <a:rPr lang="en-IN" sz="2000" b="1" dirty="0"/>
                  <a:t>Gradient of </a:t>
                </a:r>
                <a14:m>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endParaRPr lang="ar-AE" sz="2000" b="1" dirty="0"/>
              </a:p>
              <a:p>
                <a:pPr marL="0" indent="0">
                  <a:buNone/>
                </a:pPr>
                <a:r>
                  <a:rPr lang="en-IN" sz="2000" dirty="0"/>
                  <a:t>Using matrix calculus:</a:t>
                </a:r>
              </a:p>
              <a:p>
                <a:pPr marL="0" indent="0">
                  <a:buNone/>
                </a:pPr>
                <a14:m>
                  <m:oMathPara xmlns:m="http://schemas.openxmlformats.org/officeDocument/2006/math">
                    <m:oMathParaPr>
                      <m:jc m:val="centerGroup"/>
                    </m:oMathParaPr>
                    <m:oMath xmlns:m="http://schemas.openxmlformats.org/officeDocument/2006/math">
                      <m:r>
                        <m:rPr>
                          <m:sty m:val="p"/>
                        </m:rPr>
                        <a:rPr lang="en-IN" sz="2000">
                          <a:latin typeface="Cambria Math" panose="02040503050406030204" pitchFamily="18" charset="0"/>
                        </a:rPr>
                        <m:t>∇</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r>
                        <a:rPr lang="ar-AE" sz="2000" i="1">
                          <a:latin typeface="Cambria Math" panose="02040503050406030204" pitchFamily="18" charset="0"/>
                        </a:rPr>
                        <m:t>𝐴𝑥</m:t>
                      </m:r>
                      <m:r>
                        <a:rPr lang="ar-AE" sz="2000">
                          <a:latin typeface="Cambria Math" panose="02040503050406030204" pitchFamily="18" charset="0"/>
                        </a:rPr>
                        <m:t>−</m:t>
                      </m:r>
                      <m:r>
                        <a:rPr lang="ar-AE" sz="2000" i="1">
                          <a:latin typeface="Cambria Math" panose="02040503050406030204" pitchFamily="18" charset="0"/>
                        </a:rPr>
                        <m:t>𝑏</m:t>
                      </m:r>
                    </m:oMath>
                  </m:oMathPara>
                </a14:m>
                <a:endParaRPr lang="ar-AE" sz="2000" dirty="0"/>
              </a:p>
              <a:p>
                <a:pPr marL="0" indent="0">
                  <a:buNone/>
                </a:pPr>
                <a:r>
                  <a:rPr lang="en-IN" sz="2000" dirty="0"/>
                  <a:t>Explanation:</a:t>
                </a:r>
              </a:p>
              <a:p>
                <a:endParaRPr lang="en-IN" dirty="0"/>
              </a:p>
            </p:txBody>
          </p:sp>
        </mc:Choice>
        <mc:Fallback xmlns="">
          <p:sp>
            <p:nvSpPr>
              <p:cNvPr id="3" name="Content Placeholder 2">
                <a:extLst>
                  <a:ext uri="{FF2B5EF4-FFF2-40B4-BE49-F238E27FC236}">
                    <a16:creationId xmlns:a16="http://schemas.microsoft.com/office/drawing/2014/main" id="{B15FADD5-7CFC-4BBD-BA42-12BC92B978C0}"/>
                  </a:ext>
                </a:extLst>
              </p:cNvPr>
              <p:cNvSpPr>
                <a:spLocks noGrp="1" noRot="1" noChangeAspect="1" noMove="1" noResize="1" noEditPoints="1" noAdjustHandles="1" noChangeArrowheads="1" noChangeShapeType="1" noTextEdit="1"/>
              </p:cNvSpPr>
              <p:nvPr>
                <p:ph idx="1"/>
              </p:nvPr>
            </p:nvSpPr>
            <p:spPr>
              <a:blipFill>
                <a:blip r:embed="rId2"/>
                <a:stretch>
                  <a:fillRect l="-629" t="-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9A17FC4-58DE-480C-8734-8F5BC4A8D3FF}"/>
              </a:ext>
            </a:extLst>
          </p:cNvPr>
          <p:cNvSpPr>
            <a:spLocks noGrp="1"/>
          </p:cNvSpPr>
          <p:nvPr>
            <p:ph type="sldNum" sz="quarter" idx="12"/>
          </p:nvPr>
        </p:nvSpPr>
        <p:spPr/>
        <p:txBody>
          <a:bodyPr/>
          <a:lstStyle/>
          <a:p>
            <a:fld id="{BB2CE0DE-867F-455F-B20B-96D381B4AB71}" type="slidenum">
              <a:rPr lang="en-US" smtClean="0"/>
              <a:t>104</a:t>
            </a:fld>
            <a:endParaRPr lang="en-US"/>
          </a:p>
        </p:txBody>
      </p:sp>
      <p:pic>
        <p:nvPicPr>
          <p:cNvPr id="6" name="Picture 5">
            <a:extLst>
              <a:ext uri="{FF2B5EF4-FFF2-40B4-BE49-F238E27FC236}">
                <a16:creationId xmlns:a16="http://schemas.microsoft.com/office/drawing/2014/main" id="{5020FBD0-5049-B4F8-1F8F-3BAC85E3CC3C}"/>
              </a:ext>
            </a:extLst>
          </p:cNvPr>
          <p:cNvPicPr>
            <a:picLocks noChangeAspect="1"/>
          </p:cNvPicPr>
          <p:nvPr/>
        </p:nvPicPr>
        <p:blipFill>
          <a:blip r:embed="rId3"/>
          <a:stretch>
            <a:fillRect/>
          </a:stretch>
        </p:blipFill>
        <p:spPr>
          <a:xfrm>
            <a:off x="135445" y="3095175"/>
            <a:ext cx="5915851" cy="322942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8D7837D-1D29-B2CD-A62E-3F03356D7DEA}"/>
                  </a:ext>
                </a:extLst>
              </p:cNvPr>
              <p:cNvSpPr txBox="1"/>
              <p:nvPr/>
            </p:nvSpPr>
            <p:spPr>
              <a:xfrm>
                <a:off x="8077200" y="255064"/>
                <a:ext cx="3867405" cy="976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xmlns="">
          <p:sp>
            <p:nvSpPr>
              <p:cNvPr id="7" name="TextBox 6">
                <a:extLst>
                  <a:ext uri="{FF2B5EF4-FFF2-40B4-BE49-F238E27FC236}">
                    <a16:creationId xmlns:a16="http://schemas.microsoft.com/office/drawing/2014/main" id="{48D7837D-1D29-B2CD-A62E-3F03356D7DEA}"/>
                  </a:ext>
                </a:extLst>
              </p:cNvPr>
              <p:cNvSpPr txBox="1">
                <a:spLocks noRot="1" noChangeAspect="1" noMove="1" noResize="1" noEditPoints="1" noAdjustHandles="1" noChangeArrowheads="1" noChangeShapeType="1" noTextEdit="1"/>
              </p:cNvSpPr>
              <p:nvPr/>
            </p:nvSpPr>
            <p:spPr>
              <a:xfrm>
                <a:off x="8077200" y="255064"/>
                <a:ext cx="3867405" cy="976293"/>
              </a:xfrm>
              <a:prstGeom prst="rect">
                <a:avLst/>
              </a:prstGeom>
              <a:blipFill>
                <a:blip r:embed="rId4"/>
                <a:stretch>
                  <a:fillRect/>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B2642B52-77F5-00DF-30BB-0A069B4CCD75}"/>
              </a:ext>
            </a:extLst>
          </p:cNvPr>
          <p:cNvPicPr>
            <a:picLocks noChangeAspect="1"/>
          </p:cNvPicPr>
          <p:nvPr/>
        </p:nvPicPr>
        <p:blipFill>
          <a:blip r:embed="rId5"/>
          <a:stretch>
            <a:fillRect/>
          </a:stretch>
        </p:blipFill>
        <p:spPr>
          <a:xfrm>
            <a:off x="6553200" y="3125655"/>
            <a:ext cx="5525271" cy="3229426"/>
          </a:xfrm>
          <a:prstGeom prst="rect">
            <a:avLst/>
          </a:prstGeom>
        </p:spPr>
      </p:pic>
    </p:spTree>
    <p:extLst>
      <p:ext uri="{BB962C8B-B14F-4D97-AF65-F5344CB8AC3E}">
        <p14:creationId xmlns:p14="http://schemas.microsoft.com/office/powerpoint/2010/main" val="45912917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C8495-0969-29AE-7EA0-3DDB4DA4B39E}"/>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D3CA49CA-FF98-30D2-BA16-54EEC31D9E34}"/>
              </a:ext>
            </a:extLst>
          </p:cNvPr>
          <p:cNvSpPr>
            <a:spLocks noGrp="1"/>
          </p:cNvSpPr>
          <p:nvPr>
            <p:ph idx="1"/>
          </p:nvPr>
        </p:nvSpPr>
        <p:spPr/>
        <p:txBody>
          <a:bodyPr/>
          <a:lstStyle/>
          <a:p>
            <a:r>
              <a:rPr lang="en-US" sz="2400" dirty="0"/>
              <a:t>Thus,</a:t>
            </a:r>
          </a:p>
          <a:p>
            <a:endParaRPr lang="en-US" dirty="0"/>
          </a:p>
          <a:p>
            <a:r>
              <a:rPr lang="en-US" sz="2000" dirty="0"/>
              <a:t>The point where the quadratic function reaches its minimum is exactly the solution of the linear system.</a:t>
            </a:r>
          </a:p>
          <a:p>
            <a:endParaRPr lang="en-IN" dirty="0"/>
          </a:p>
        </p:txBody>
      </p:sp>
      <p:sp>
        <p:nvSpPr>
          <p:cNvPr id="4" name="Slide Number Placeholder 3">
            <a:extLst>
              <a:ext uri="{FF2B5EF4-FFF2-40B4-BE49-F238E27FC236}">
                <a16:creationId xmlns:a16="http://schemas.microsoft.com/office/drawing/2014/main" id="{91AD39F6-EE11-0B8E-AD24-9D76001496B2}"/>
              </a:ext>
            </a:extLst>
          </p:cNvPr>
          <p:cNvSpPr>
            <a:spLocks noGrp="1"/>
          </p:cNvSpPr>
          <p:nvPr>
            <p:ph type="sldNum" sz="quarter" idx="12"/>
          </p:nvPr>
        </p:nvSpPr>
        <p:spPr/>
        <p:txBody>
          <a:bodyPr/>
          <a:lstStyle/>
          <a:p>
            <a:fld id="{BB2CE0DE-867F-455F-B20B-96D381B4AB71}" type="slidenum">
              <a:rPr lang="en-US" smtClean="0"/>
              <a:t>105</a:t>
            </a:fld>
            <a:endParaRPr lang="en-US"/>
          </a:p>
        </p:txBody>
      </p:sp>
      <p:pic>
        <p:nvPicPr>
          <p:cNvPr id="6" name="Picture 5">
            <a:extLst>
              <a:ext uri="{FF2B5EF4-FFF2-40B4-BE49-F238E27FC236}">
                <a16:creationId xmlns:a16="http://schemas.microsoft.com/office/drawing/2014/main" id="{62FE78BC-9BA2-1D8F-D74C-0DEBF97A047E}"/>
              </a:ext>
            </a:extLst>
          </p:cNvPr>
          <p:cNvPicPr>
            <a:picLocks noChangeAspect="1"/>
          </p:cNvPicPr>
          <p:nvPr/>
        </p:nvPicPr>
        <p:blipFill>
          <a:blip r:embed="rId2"/>
          <a:stretch>
            <a:fillRect/>
          </a:stretch>
        </p:blipFill>
        <p:spPr>
          <a:xfrm>
            <a:off x="2590800" y="1243052"/>
            <a:ext cx="6409020" cy="89054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39D18C-2BDC-D149-18EB-B93665514D2E}"/>
                  </a:ext>
                </a:extLst>
              </p:cNvPr>
              <p:cNvSpPr txBox="1"/>
              <p:nvPr/>
            </p:nvSpPr>
            <p:spPr>
              <a:xfrm>
                <a:off x="8124697" y="171450"/>
                <a:ext cx="3867405" cy="976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xmlns="">
          <p:sp>
            <p:nvSpPr>
              <p:cNvPr id="7" name="TextBox 6">
                <a:extLst>
                  <a:ext uri="{FF2B5EF4-FFF2-40B4-BE49-F238E27FC236}">
                    <a16:creationId xmlns:a16="http://schemas.microsoft.com/office/drawing/2014/main" id="{F939D18C-2BDC-D149-18EB-B93665514D2E}"/>
                  </a:ext>
                </a:extLst>
              </p:cNvPr>
              <p:cNvSpPr txBox="1">
                <a:spLocks noRot="1" noChangeAspect="1" noMove="1" noResize="1" noEditPoints="1" noAdjustHandles="1" noChangeArrowheads="1" noChangeShapeType="1" noTextEdit="1"/>
              </p:cNvSpPr>
              <p:nvPr/>
            </p:nvSpPr>
            <p:spPr>
              <a:xfrm>
                <a:off x="8124697" y="171450"/>
                <a:ext cx="3867405" cy="976293"/>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6486419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A7D93-7155-24D6-7B48-9C5446DD71B5}"/>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5BA6C3-91F0-BD46-71DB-79D62280DB95}"/>
                  </a:ext>
                </a:extLst>
              </p:cNvPr>
              <p:cNvSpPr>
                <a:spLocks noGrp="1"/>
              </p:cNvSpPr>
              <p:nvPr>
                <p:ph idx="1"/>
              </p:nvPr>
            </p:nvSpPr>
            <p:spPr/>
            <p:txBody>
              <a:bodyPr/>
              <a:lstStyle/>
              <a:p>
                <a:pPr marL="0" indent="0">
                  <a:buNone/>
                </a:pPr>
                <a:r>
                  <a:rPr lang="en-IN" sz="2400" dirty="0"/>
                  <a:t>Directly solving</a:t>
                </a:r>
              </a:p>
              <a:p>
                <a:pPr marL="0" indent="0">
                  <a:buNone/>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𝐴𝑥</m:t>
                      </m:r>
                      <m:r>
                        <a:rPr lang="en-IN" sz="2400" b="0" smtClean="0">
                          <a:latin typeface="Cambria Math" panose="02040503050406030204" pitchFamily="18" charset="0"/>
                        </a:rPr>
                        <m:t>=</m:t>
                      </m:r>
                      <m:r>
                        <a:rPr lang="en-IN" sz="2400" b="0" i="1" smtClean="0">
                          <a:latin typeface="Cambria Math" panose="02040503050406030204" pitchFamily="18" charset="0"/>
                        </a:rPr>
                        <m:t>𝑏</m:t>
                      </m:r>
                    </m:oMath>
                  </m:oMathPara>
                </a14:m>
                <a:endParaRPr lang="en-IN" sz="2400" dirty="0"/>
              </a:p>
              <a:p>
                <a:pPr marL="0" indent="0">
                  <a:buNone/>
                </a:pPr>
                <a:r>
                  <a:rPr lang="en-IN" sz="2400" dirty="0"/>
                  <a:t>using matrix inversion is expensive for large systems.</a:t>
                </a:r>
              </a:p>
              <a:p>
                <a:pPr marL="0" indent="0">
                  <a:buNone/>
                </a:pPr>
                <a:r>
                  <a:rPr lang="en-IN" sz="2400" dirty="0"/>
                  <a:t>Instead, we convert the problem into an optimization problem:</a:t>
                </a:r>
              </a:p>
              <a:p>
                <a:pPr marL="0" indent="0">
                  <a:buNone/>
                </a:pPr>
                <a14:m>
                  <m:oMathPara xmlns:m="http://schemas.openxmlformats.org/officeDocument/2006/math">
                    <m:oMathParaPr>
                      <m:jc m:val="centerGroup"/>
                    </m:oMathParaPr>
                    <m:oMath xmlns:m="http://schemas.openxmlformats.org/officeDocument/2006/math">
                      <m:func>
                        <m:funcPr>
                          <m:ctrlPr>
                            <a:rPr lang="ar-AE" sz="2400" i="1">
                              <a:latin typeface="Cambria Math" panose="02040503050406030204" pitchFamily="18" charset="0"/>
                            </a:rPr>
                          </m:ctrlPr>
                        </m:funcPr>
                        <m:fName>
                          <m:r>
                            <a:rPr lang="en-IN" sz="2400" b="0" i="1" smtClean="0">
                              <a:latin typeface="Cambria Math" panose="02040503050406030204" pitchFamily="18" charset="0"/>
                            </a:rPr>
                            <m:t>𝑚𝑖𝑛</m:t>
                          </m:r>
                        </m:fName>
                        <m:e>
                          <m:r>
                            <a:rPr lang="ar-AE" sz="2400" b="0" i="1" smtClean="0">
                              <a:latin typeface="Cambria Math" panose="02040503050406030204" pitchFamily="18" charset="0"/>
                            </a:rPr>
                            <m:t>𝑓</m:t>
                          </m:r>
                        </m:e>
                      </m:func>
                      <m:d>
                        <m:dPr>
                          <m:ctrlPr>
                            <a:rPr lang="ar-AE" sz="2400" i="1">
                              <a:latin typeface="Cambria Math" panose="02040503050406030204" pitchFamily="18" charset="0"/>
                            </a:rPr>
                          </m:ctrlPr>
                        </m:dPr>
                        <m:e>
                          <m:r>
                            <a:rPr lang="ar-AE" sz="2400" b="0" i="1" smtClean="0">
                              <a:latin typeface="Cambria Math" panose="02040503050406030204" pitchFamily="18" charset="0"/>
                            </a:rPr>
                            <m:t>𝑥</m:t>
                          </m:r>
                        </m:e>
                      </m:d>
                      <m:r>
                        <a:rPr lang="ar-AE" sz="2400" b="0" smtClean="0">
                          <a:latin typeface="Cambria Math" panose="02040503050406030204" pitchFamily="18" charset="0"/>
                        </a:rPr>
                        <m:t>=</m:t>
                      </m:r>
                      <m:f>
                        <m:fPr>
                          <m:ctrlPr>
                            <a:rPr lang="ar-AE" sz="2400" i="1">
                              <a:latin typeface="Cambria Math" panose="02040503050406030204" pitchFamily="18" charset="0"/>
                            </a:rPr>
                          </m:ctrlPr>
                        </m:fPr>
                        <m:num>
                          <m:r>
                            <a:rPr lang="ar-AE" sz="2400" b="0" i="1" smtClean="0">
                              <a:latin typeface="Cambria Math" panose="02040503050406030204" pitchFamily="18" charset="0"/>
                            </a:rPr>
                            <m:t>1</m:t>
                          </m:r>
                        </m:num>
                        <m:den>
                          <m:r>
                            <a:rPr lang="ar-AE" sz="2400" b="0" i="1" smtClean="0">
                              <a:latin typeface="Cambria Math" panose="02040503050406030204" pitchFamily="18" charset="0"/>
                            </a:rPr>
                            <m:t>2</m:t>
                          </m:r>
                        </m:den>
                      </m:f>
                      <m:sSup>
                        <m:sSupPr>
                          <m:ctrlPr>
                            <a:rPr lang="ar-AE" sz="2400" i="1">
                              <a:latin typeface="Cambria Math" panose="02040503050406030204" pitchFamily="18" charset="0"/>
                            </a:rPr>
                          </m:ctrlPr>
                        </m:sSupPr>
                        <m:e>
                          <m:r>
                            <a:rPr lang="ar-AE" sz="2400" b="0" i="1" smtClean="0">
                              <a:latin typeface="Cambria Math" panose="02040503050406030204" pitchFamily="18" charset="0"/>
                            </a:rPr>
                            <m:t>𝑥</m:t>
                          </m:r>
                        </m:e>
                        <m:sup>
                          <m:r>
                            <a:rPr lang="ar-AE" sz="2400" b="0" i="1" smtClean="0">
                              <a:latin typeface="Cambria Math" panose="02040503050406030204" pitchFamily="18" charset="0"/>
                            </a:rPr>
                            <m:t>𝑇</m:t>
                          </m:r>
                        </m:sup>
                      </m:sSup>
                      <m:r>
                        <a:rPr lang="ar-AE" sz="2400" b="0" i="1" smtClean="0">
                          <a:latin typeface="Cambria Math" panose="02040503050406030204" pitchFamily="18" charset="0"/>
                        </a:rPr>
                        <m:t>𝐴𝑥</m:t>
                      </m:r>
                      <m:r>
                        <a:rPr lang="ar-AE" sz="2400" b="0" smtClean="0">
                          <a:latin typeface="Cambria Math" panose="02040503050406030204" pitchFamily="18" charset="0"/>
                        </a:rPr>
                        <m:t>−</m:t>
                      </m:r>
                      <m:sSup>
                        <m:sSupPr>
                          <m:ctrlPr>
                            <a:rPr lang="ar-AE" sz="2400" i="1">
                              <a:latin typeface="Cambria Math" panose="02040503050406030204" pitchFamily="18" charset="0"/>
                            </a:rPr>
                          </m:ctrlPr>
                        </m:sSupPr>
                        <m:e>
                          <m:r>
                            <a:rPr lang="ar-AE" sz="2400" b="0" i="1" smtClean="0">
                              <a:latin typeface="Cambria Math" panose="02040503050406030204" pitchFamily="18" charset="0"/>
                            </a:rPr>
                            <m:t>𝑏</m:t>
                          </m:r>
                        </m:e>
                        <m:sup>
                          <m:r>
                            <a:rPr lang="ar-AE" sz="2400" b="0" i="1" smtClean="0">
                              <a:latin typeface="Cambria Math" panose="02040503050406030204" pitchFamily="18" charset="0"/>
                            </a:rPr>
                            <m:t>𝑇</m:t>
                          </m:r>
                        </m:sup>
                      </m:sSup>
                      <m:r>
                        <a:rPr lang="ar-AE" sz="2400" b="0" i="1" smtClean="0">
                          <a:latin typeface="Cambria Math" panose="02040503050406030204" pitchFamily="18" charset="0"/>
                        </a:rPr>
                        <m:t>𝑥</m:t>
                      </m:r>
                    </m:oMath>
                  </m:oMathPara>
                </a14:m>
                <a:endParaRPr lang="ar-AE" sz="2400" dirty="0"/>
              </a:p>
              <a:p>
                <a:pPr marL="0" indent="0">
                  <a:buNone/>
                </a:pPr>
                <a:endParaRPr lang="en-IN" sz="2400" dirty="0"/>
              </a:p>
              <a:p>
                <a:pPr marL="0" indent="0">
                  <a:buNone/>
                </a:pPr>
                <a:r>
                  <a:rPr lang="en-IN" sz="2000" dirty="0"/>
                  <a:t>Then use iterative optimization methods such as:</a:t>
                </a:r>
              </a:p>
              <a:p>
                <a:pPr marL="0" indent="0">
                  <a:buNone/>
                </a:pPr>
                <a:r>
                  <a:rPr lang="en-IN" sz="2000" dirty="0"/>
                  <a:t>Conjugate Gradient</a:t>
                </a:r>
              </a:p>
              <a:p>
                <a:pPr marL="0" indent="0">
                  <a:buNone/>
                </a:pPr>
                <a:r>
                  <a:rPr lang="en-IN" sz="2000" dirty="0"/>
                  <a:t>Quasi-Newton methods</a:t>
                </a:r>
              </a:p>
              <a:p>
                <a:pPr marL="0" indent="0">
                  <a:buNone/>
                </a:pPr>
                <a:endParaRPr lang="en-IN" sz="2000" dirty="0"/>
              </a:p>
              <a:p>
                <a:pPr marL="0" indent="0">
                  <a:buNone/>
                </a:pPr>
                <a:r>
                  <a:rPr lang="en-IN" sz="2000" dirty="0"/>
                  <a:t>These methods move toward the minimum of the quadratic function, which automatically gives the solution of </a:t>
                </a:r>
                <a14:m>
                  <m:oMath xmlns:m="http://schemas.openxmlformats.org/officeDocument/2006/math">
                    <m:r>
                      <a:rPr lang="en-IN" sz="2000" b="0" i="1" smtClean="0">
                        <a:latin typeface="Cambria Math" panose="02040503050406030204" pitchFamily="18" charset="0"/>
                      </a:rPr>
                      <m:t>𝐴𝑥</m:t>
                    </m:r>
                    <m:r>
                      <a:rPr lang="en-IN" sz="2000" b="0" smtClean="0">
                        <a:latin typeface="Cambria Math" panose="02040503050406030204" pitchFamily="18" charset="0"/>
                      </a:rPr>
                      <m:t>=</m:t>
                    </m:r>
                    <m:r>
                      <a:rPr lang="en-IN" sz="2000" b="0" i="1" smtClean="0">
                        <a:latin typeface="Cambria Math" panose="02040503050406030204" pitchFamily="18" charset="0"/>
                      </a:rPr>
                      <m:t>𝑏</m:t>
                    </m:r>
                  </m:oMath>
                </a14:m>
                <a:r>
                  <a:rPr lang="en-IN" sz="2000" dirty="0"/>
                  <a:t>.</a:t>
                </a:r>
              </a:p>
              <a:p>
                <a:pPr marL="0" indent="0">
                  <a:buNone/>
                </a:pPr>
                <a:endParaRPr lang="en-IN" sz="2400" dirty="0"/>
              </a:p>
            </p:txBody>
          </p:sp>
        </mc:Choice>
        <mc:Fallback xmlns="">
          <p:sp>
            <p:nvSpPr>
              <p:cNvPr id="3" name="Content Placeholder 2">
                <a:extLst>
                  <a:ext uri="{FF2B5EF4-FFF2-40B4-BE49-F238E27FC236}">
                    <a16:creationId xmlns:a16="http://schemas.microsoft.com/office/drawing/2014/main" id="{125BA6C3-91F0-BD46-71DB-79D62280DB95}"/>
                  </a:ext>
                </a:extLst>
              </p:cNvPr>
              <p:cNvSpPr>
                <a:spLocks noGrp="1" noRot="1" noChangeAspect="1" noMove="1" noResize="1" noEditPoints="1" noAdjustHandles="1" noChangeArrowheads="1" noChangeShapeType="1" noTextEdit="1"/>
              </p:cNvSpPr>
              <p:nvPr>
                <p:ph idx="1"/>
              </p:nvPr>
            </p:nvSpPr>
            <p:spPr>
              <a:blipFill>
                <a:blip r:embed="rId2"/>
                <a:stretch>
                  <a:fillRect l="-914" t="-970" b="-727"/>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8723D74-77AE-3AC1-CA9E-64F9AD06035C}"/>
              </a:ext>
            </a:extLst>
          </p:cNvPr>
          <p:cNvSpPr>
            <a:spLocks noGrp="1"/>
          </p:cNvSpPr>
          <p:nvPr>
            <p:ph type="sldNum" sz="quarter" idx="12"/>
          </p:nvPr>
        </p:nvSpPr>
        <p:spPr/>
        <p:txBody>
          <a:bodyPr/>
          <a:lstStyle/>
          <a:p>
            <a:fld id="{BB2CE0DE-867F-455F-B20B-96D381B4AB71}" type="slidenum">
              <a:rPr lang="en-US" smtClean="0"/>
              <a:t>106</a:t>
            </a:fld>
            <a:endParaRPr lang="en-US"/>
          </a:p>
        </p:txBody>
      </p:sp>
    </p:spTree>
    <p:extLst>
      <p:ext uri="{BB962C8B-B14F-4D97-AF65-F5344CB8AC3E}">
        <p14:creationId xmlns:p14="http://schemas.microsoft.com/office/powerpoint/2010/main" val="32814246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3748-BCC9-942B-C7E3-50773B9C8A4A}"/>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14CD3392-62F6-11AF-694F-4BEC7678729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E24799A-C4D9-C707-B84E-16F556BB7B96}"/>
              </a:ext>
            </a:extLst>
          </p:cNvPr>
          <p:cNvSpPr>
            <a:spLocks noGrp="1"/>
          </p:cNvSpPr>
          <p:nvPr>
            <p:ph type="sldNum" sz="quarter" idx="12"/>
          </p:nvPr>
        </p:nvSpPr>
        <p:spPr/>
        <p:txBody>
          <a:bodyPr/>
          <a:lstStyle/>
          <a:p>
            <a:fld id="{BB2CE0DE-867F-455F-B20B-96D381B4AB71}" type="slidenum">
              <a:rPr lang="en-US" smtClean="0"/>
              <a:t>107</a:t>
            </a:fld>
            <a:endParaRPr lang="en-US"/>
          </a:p>
        </p:txBody>
      </p:sp>
      <p:pic>
        <p:nvPicPr>
          <p:cNvPr id="6" name="Picture 5">
            <a:extLst>
              <a:ext uri="{FF2B5EF4-FFF2-40B4-BE49-F238E27FC236}">
                <a16:creationId xmlns:a16="http://schemas.microsoft.com/office/drawing/2014/main" id="{EF0415EF-AB44-7BDB-E621-1EF967518BBD}"/>
              </a:ext>
            </a:extLst>
          </p:cNvPr>
          <p:cNvPicPr>
            <a:picLocks noChangeAspect="1"/>
          </p:cNvPicPr>
          <p:nvPr/>
        </p:nvPicPr>
        <p:blipFill>
          <a:blip r:embed="rId2"/>
          <a:stretch>
            <a:fillRect/>
          </a:stretch>
        </p:blipFill>
        <p:spPr>
          <a:xfrm>
            <a:off x="781473" y="1097279"/>
            <a:ext cx="7542180" cy="4922521"/>
          </a:xfrm>
          <a:prstGeom prst="rect">
            <a:avLst/>
          </a:prstGeom>
        </p:spPr>
      </p:pic>
    </p:spTree>
    <p:extLst>
      <p:ext uri="{BB962C8B-B14F-4D97-AF65-F5344CB8AC3E}">
        <p14:creationId xmlns:p14="http://schemas.microsoft.com/office/powerpoint/2010/main" val="28175869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20F91-8EC7-47E7-042D-A1B791A87AF0}"/>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9056BC8C-CF05-E0DA-5BA7-2600CBAD73E4}"/>
              </a:ext>
            </a:extLst>
          </p:cNvPr>
          <p:cNvSpPr>
            <a:spLocks noGrp="1"/>
          </p:cNvSpPr>
          <p:nvPr>
            <p:ph idx="1"/>
          </p:nvPr>
        </p:nvSpPr>
        <p:spPr/>
        <p:txBody>
          <a:bodyPr/>
          <a:lstStyle/>
          <a:p>
            <a:r>
              <a:rPr lang="en-US" sz="1800" b="1" dirty="0"/>
              <a:t>Contour diagram of the quadratic function (paraboloid)</a:t>
            </a:r>
            <a:r>
              <a:rPr lang="en-US" sz="1800" dirty="0"/>
              <a:t> with two optimization paths:</a:t>
            </a:r>
          </a:p>
          <a:p>
            <a:r>
              <a:rPr lang="en-US" sz="1800" b="1" dirty="0"/>
              <a:t>Gradient Descent</a:t>
            </a:r>
            <a:r>
              <a:rPr lang="en-US" sz="1800" dirty="0"/>
              <a:t> → zig-zag path</a:t>
            </a:r>
          </a:p>
          <a:p>
            <a:r>
              <a:rPr lang="en-US" sz="1800" b="1" dirty="0"/>
              <a:t>Conjugate Gradient</a:t>
            </a:r>
            <a:r>
              <a:rPr lang="en-US" sz="1800" dirty="0"/>
              <a:t> → faster path to the minimum ⭐</a:t>
            </a:r>
          </a:p>
          <a:p>
            <a:endParaRPr lang="en-IN" sz="1800" dirty="0"/>
          </a:p>
        </p:txBody>
      </p:sp>
      <p:sp>
        <p:nvSpPr>
          <p:cNvPr id="4" name="Slide Number Placeholder 3">
            <a:extLst>
              <a:ext uri="{FF2B5EF4-FFF2-40B4-BE49-F238E27FC236}">
                <a16:creationId xmlns:a16="http://schemas.microsoft.com/office/drawing/2014/main" id="{A60AD18D-70BC-9AF4-5976-72213ADA74FB}"/>
              </a:ext>
            </a:extLst>
          </p:cNvPr>
          <p:cNvSpPr>
            <a:spLocks noGrp="1"/>
          </p:cNvSpPr>
          <p:nvPr>
            <p:ph type="sldNum" sz="quarter" idx="12"/>
          </p:nvPr>
        </p:nvSpPr>
        <p:spPr/>
        <p:txBody>
          <a:bodyPr/>
          <a:lstStyle/>
          <a:p>
            <a:fld id="{BB2CE0DE-867F-455F-B20B-96D381B4AB71}" type="slidenum">
              <a:rPr lang="en-US" smtClean="0"/>
              <a:t>108</a:t>
            </a:fld>
            <a:endParaRPr lang="en-US"/>
          </a:p>
        </p:txBody>
      </p:sp>
      <p:pic>
        <p:nvPicPr>
          <p:cNvPr id="5" name="Picture 4">
            <a:extLst>
              <a:ext uri="{FF2B5EF4-FFF2-40B4-BE49-F238E27FC236}">
                <a16:creationId xmlns:a16="http://schemas.microsoft.com/office/drawing/2014/main" id="{7F816717-11D3-091F-D501-35B14DC1AA56}"/>
              </a:ext>
            </a:extLst>
          </p:cNvPr>
          <p:cNvPicPr>
            <a:picLocks noChangeAspect="1"/>
          </p:cNvPicPr>
          <p:nvPr/>
        </p:nvPicPr>
        <p:blipFill>
          <a:blip r:embed="rId3"/>
          <a:stretch>
            <a:fillRect/>
          </a:stretch>
        </p:blipFill>
        <p:spPr>
          <a:xfrm>
            <a:off x="1854201" y="2590800"/>
            <a:ext cx="4235450" cy="3380929"/>
          </a:xfrm>
          <a:prstGeom prst="rect">
            <a:avLst/>
          </a:prstGeom>
        </p:spPr>
      </p:pic>
    </p:spTree>
    <p:extLst>
      <p:ext uri="{BB962C8B-B14F-4D97-AF65-F5344CB8AC3E}">
        <p14:creationId xmlns:p14="http://schemas.microsoft.com/office/powerpoint/2010/main" val="38900222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36CAE-2EE1-4D53-A2D7-25992D8B212C}"/>
              </a:ext>
            </a:extLst>
          </p:cNvPr>
          <p:cNvSpPr>
            <a:spLocks noGrp="1"/>
          </p:cNvSpPr>
          <p:nvPr>
            <p:ph type="title"/>
          </p:nvPr>
        </p:nvSpPr>
        <p:spPr/>
        <p:txBody>
          <a:bodyPr/>
          <a:lstStyle/>
          <a:p>
            <a:r>
              <a:rPr lang="en-US" sz="2400" dirty="0"/>
              <a:t>Recap: Supervised learning Viewed as Optimization</a:t>
            </a:r>
            <a:endParaRPr lang="en-IN" sz="2400" dirty="0"/>
          </a:p>
        </p:txBody>
      </p:sp>
      <p:sp>
        <p:nvSpPr>
          <p:cNvPr id="3" name="Content Placeholder 2">
            <a:extLst>
              <a:ext uri="{FF2B5EF4-FFF2-40B4-BE49-F238E27FC236}">
                <a16:creationId xmlns:a16="http://schemas.microsoft.com/office/drawing/2014/main" id="{06EDD242-20A4-402D-9A77-E618B79E44E9}"/>
              </a:ext>
            </a:extLst>
          </p:cNvPr>
          <p:cNvSpPr>
            <a:spLocks noGrp="1"/>
          </p:cNvSpPr>
          <p:nvPr>
            <p:ph idx="1"/>
          </p:nvPr>
        </p:nvSpPr>
        <p:spPr/>
        <p:txBody>
          <a:bodyPr/>
          <a:lstStyle/>
          <a:p>
            <a:pPr marL="0" indent="0">
              <a:buNone/>
            </a:pPr>
            <a:r>
              <a:rPr lang="en-US" dirty="0">
                <a:solidFill>
                  <a:schemeClr val="bg1">
                    <a:lumMod val="50000"/>
                  </a:schemeClr>
                </a:solidFill>
              </a:rPr>
              <a:t>Optimization Methods</a:t>
            </a:r>
          </a:p>
          <a:p>
            <a:r>
              <a:rPr lang="en-US" dirty="0">
                <a:solidFill>
                  <a:schemeClr val="bg1">
                    <a:lumMod val="50000"/>
                  </a:schemeClr>
                </a:solidFill>
              </a:rPr>
              <a:t>Gradient Descent</a:t>
            </a:r>
          </a:p>
          <a:p>
            <a:r>
              <a:rPr lang="en-US" dirty="0">
                <a:solidFill>
                  <a:schemeClr val="bg1">
                    <a:lumMod val="50000"/>
                  </a:schemeClr>
                </a:solidFill>
              </a:rPr>
              <a:t>Conjugate Gradient</a:t>
            </a:r>
          </a:p>
          <a:p>
            <a:r>
              <a:rPr lang="en-US" dirty="0"/>
              <a:t>Quasi-Newton</a:t>
            </a:r>
          </a:p>
          <a:p>
            <a:endParaRPr lang="en-IN" dirty="0"/>
          </a:p>
        </p:txBody>
      </p:sp>
      <p:sp>
        <p:nvSpPr>
          <p:cNvPr id="4" name="Slide Number Placeholder 3">
            <a:extLst>
              <a:ext uri="{FF2B5EF4-FFF2-40B4-BE49-F238E27FC236}">
                <a16:creationId xmlns:a16="http://schemas.microsoft.com/office/drawing/2014/main" id="{07E768D9-B191-4EFE-8152-CCCF78B77F37}"/>
              </a:ext>
            </a:extLst>
          </p:cNvPr>
          <p:cNvSpPr>
            <a:spLocks noGrp="1"/>
          </p:cNvSpPr>
          <p:nvPr>
            <p:ph type="sldNum" sz="quarter" idx="12"/>
          </p:nvPr>
        </p:nvSpPr>
        <p:spPr/>
        <p:txBody>
          <a:bodyPr/>
          <a:lstStyle/>
          <a:p>
            <a:fld id="{BB2CE0DE-867F-455F-B20B-96D381B4AB71}" type="slidenum">
              <a:rPr lang="en-US" smtClean="0"/>
              <a:t>109</a:t>
            </a:fld>
            <a:endParaRPr lang="en-US"/>
          </a:p>
        </p:txBody>
      </p:sp>
      <p:pic>
        <p:nvPicPr>
          <p:cNvPr id="5" name="Picture 4">
            <a:extLst>
              <a:ext uri="{FF2B5EF4-FFF2-40B4-BE49-F238E27FC236}">
                <a16:creationId xmlns:a16="http://schemas.microsoft.com/office/drawing/2014/main" id="{46C37692-75EA-4F2C-B38E-A693F01C7340}"/>
              </a:ext>
            </a:extLst>
          </p:cNvPr>
          <p:cNvPicPr>
            <a:picLocks noChangeAspect="1"/>
          </p:cNvPicPr>
          <p:nvPr/>
        </p:nvPicPr>
        <p:blipFill>
          <a:blip r:embed="rId2"/>
          <a:stretch>
            <a:fillRect/>
          </a:stretch>
        </p:blipFill>
        <p:spPr>
          <a:xfrm>
            <a:off x="7848600" y="914400"/>
            <a:ext cx="4034367" cy="3220415"/>
          </a:xfrm>
          <a:prstGeom prst="rect">
            <a:avLst/>
          </a:prstGeom>
        </p:spPr>
      </p:pic>
      <p:pic>
        <p:nvPicPr>
          <p:cNvPr id="6" name="Picture 5">
            <a:extLst>
              <a:ext uri="{FF2B5EF4-FFF2-40B4-BE49-F238E27FC236}">
                <a16:creationId xmlns:a16="http://schemas.microsoft.com/office/drawing/2014/main" id="{8C492EA1-2EBC-49C3-8B00-36E37F79D08C}"/>
              </a:ext>
            </a:extLst>
          </p:cNvPr>
          <p:cNvPicPr>
            <a:picLocks noChangeAspect="1"/>
          </p:cNvPicPr>
          <p:nvPr/>
        </p:nvPicPr>
        <p:blipFill>
          <a:blip r:embed="rId3"/>
          <a:stretch>
            <a:fillRect/>
          </a:stretch>
        </p:blipFill>
        <p:spPr>
          <a:xfrm>
            <a:off x="908051" y="3744506"/>
            <a:ext cx="6409020" cy="89054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3A135C-24AD-4F5F-9AE9-F11837E75F57}"/>
                  </a:ext>
                </a:extLst>
              </p:cNvPr>
              <p:cNvSpPr txBox="1"/>
              <p:nvPr/>
            </p:nvSpPr>
            <p:spPr>
              <a:xfrm>
                <a:off x="755651" y="4451706"/>
                <a:ext cx="3285515" cy="976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xmlns="">
          <p:sp>
            <p:nvSpPr>
              <p:cNvPr id="7" name="TextBox 6">
                <a:extLst>
                  <a:ext uri="{FF2B5EF4-FFF2-40B4-BE49-F238E27FC236}">
                    <a16:creationId xmlns:a16="http://schemas.microsoft.com/office/drawing/2014/main" id="{033A135C-24AD-4F5F-9AE9-F11837E75F57}"/>
                  </a:ext>
                </a:extLst>
              </p:cNvPr>
              <p:cNvSpPr txBox="1">
                <a:spLocks noRot="1" noChangeAspect="1" noMove="1" noResize="1" noEditPoints="1" noAdjustHandles="1" noChangeArrowheads="1" noChangeShapeType="1" noTextEdit="1"/>
              </p:cNvSpPr>
              <p:nvPr/>
            </p:nvSpPr>
            <p:spPr>
              <a:xfrm>
                <a:off x="755651" y="4451706"/>
                <a:ext cx="3285515" cy="976293"/>
              </a:xfrm>
              <a:prstGeom prst="rect">
                <a:avLst/>
              </a:prstGeom>
              <a:blipFill>
                <a:blip r:embed="rId4"/>
                <a:stretch>
                  <a:fillRect/>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6706535B-C741-4A34-B7B0-97344B4E67F7}"/>
              </a:ext>
            </a:extLst>
          </p:cNvPr>
          <p:cNvPicPr>
            <a:picLocks noChangeAspect="1"/>
          </p:cNvPicPr>
          <p:nvPr/>
        </p:nvPicPr>
        <p:blipFill rotWithShape="1">
          <a:blip r:embed="rId5"/>
          <a:srcRect t="53561"/>
          <a:stretch/>
        </p:blipFill>
        <p:spPr>
          <a:xfrm>
            <a:off x="3886200" y="4717095"/>
            <a:ext cx="6057845" cy="1836105"/>
          </a:xfrm>
          <a:prstGeom prst="rect">
            <a:avLst/>
          </a:prstGeom>
        </p:spPr>
      </p:pic>
    </p:spTree>
    <p:extLst>
      <p:ext uri="{BB962C8B-B14F-4D97-AF65-F5344CB8AC3E}">
        <p14:creationId xmlns:p14="http://schemas.microsoft.com/office/powerpoint/2010/main" val="19084667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21D0-0E74-5336-9259-F994CC50914F}"/>
              </a:ext>
            </a:extLst>
          </p:cNvPr>
          <p:cNvSpPr>
            <a:spLocks noGrp="1"/>
          </p:cNvSpPr>
          <p:nvPr>
            <p:ph type="title"/>
          </p:nvPr>
        </p:nvSpPr>
        <p:spPr/>
        <p:txBody>
          <a:bodyPr/>
          <a:lstStyle/>
          <a:p>
            <a:r>
              <a:rPr lang="en-US" sz="2000" dirty="0"/>
              <a:t>Back Ground for “Summary of the Nonlinear Conjugate-Gradient Algorithm”</a:t>
            </a:r>
            <a:endParaRPr lang="en-IN" sz="2000" dirty="0"/>
          </a:p>
        </p:txBody>
      </p:sp>
      <p:sp>
        <p:nvSpPr>
          <p:cNvPr id="3" name="Content Placeholder 2">
            <a:extLst>
              <a:ext uri="{FF2B5EF4-FFF2-40B4-BE49-F238E27FC236}">
                <a16:creationId xmlns:a16="http://schemas.microsoft.com/office/drawing/2014/main" id="{EBD5634D-3C7A-ABD5-B789-9CCDB67B0DD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2A14DEE-C3F6-4B71-1B45-FD015B72E2E5}"/>
              </a:ext>
            </a:extLst>
          </p:cNvPr>
          <p:cNvSpPr>
            <a:spLocks noGrp="1"/>
          </p:cNvSpPr>
          <p:nvPr>
            <p:ph type="sldNum" sz="quarter" idx="12"/>
          </p:nvPr>
        </p:nvSpPr>
        <p:spPr/>
        <p:txBody>
          <a:bodyPr/>
          <a:lstStyle/>
          <a:p>
            <a:fld id="{BB2CE0DE-867F-455F-B20B-96D381B4AB71}" type="slidenum">
              <a:rPr lang="en-US" smtClean="0"/>
              <a:t>110</a:t>
            </a:fld>
            <a:endParaRPr lang="en-US"/>
          </a:p>
        </p:txBody>
      </p:sp>
      <p:pic>
        <p:nvPicPr>
          <p:cNvPr id="5" name="Picture 4">
            <a:extLst>
              <a:ext uri="{FF2B5EF4-FFF2-40B4-BE49-F238E27FC236}">
                <a16:creationId xmlns:a16="http://schemas.microsoft.com/office/drawing/2014/main" id="{3C5A7994-8E88-663E-F3BE-0397418BEE0E}"/>
              </a:ext>
            </a:extLst>
          </p:cNvPr>
          <p:cNvPicPr>
            <a:picLocks noChangeAspect="1"/>
          </p:cNvPicPr>
          <p:nvPr/>
        </p:nvPicPr>
        <p:blipFill>
          <a:blip r:embed="rId2"/>
          <a:stretch>
            <a:fillRect/>
          </a:stretch>
        </p:blipFill>
        <p:spPr>
          <a:xfrm>
            <a:off x="766233" y="1295400"/>
            <a:ext cx="9963150" cy="3405586"/>
          </a:xfrm>
          <a:prstGeom prst="rect">
            <a:avLst/>
          </a:prstGeom>
        </p:spPr>
      </p:pic>
    </p:spTree>
    <p:extLst>
      <p:ext uri="{BB962C8B-B14F-4D97-AF65-F5344CB8AC3E}">
        <p14:creationId xmlns:p14="http://schemas.microsoft.com/office/powerpoint/2010/main" val="15741839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2AB8-D96A-228D-61AA-FDEC7FD7C5B1}"/>
              </a:ext>
            </a:extLst>
          </p:cNvPr>
          <p:cNvSpPr>
            <a:spLocks noGrp="1"/>
          </p:cNvSpPr>
          <p:nvPr>
            <p:ph type="title"/>
          </p:nvPr>
        </p:nvSpPr>
        <p:spPr/>
        <p:txBody>
          <a:bodyPr/>
          <a:lstStyle/>
          <a:p>
            <a:r>
              <a:rPr lang="en-US" sz="2000" dirty="0"/>
              <a:t>Back Ground for “Summary of the Nonlinear Conjugate-Gradient Algorithm”</a:t>
            </a:r>
            <a:endParaRPr lang="en-IN" sz="2000" dirty="0"/>
          </a:p>
        </p:txBody>
      </p:sp>
      <p:sp>
        <p:nvSpPr>
          <p:cNvPr id="3" name="Content Placeholder 2">
            <a:extLst>
              <a:ext uri="{FF2B5EF4-FFF2-40B4-BE49-F238E27FC236}">
                <a16:creationId xmlns:a16="http://schemas.microsoft.com/office/drawing/2014/main" id="{85618C34-6940-C647-7AE6-0C582A1A6392}"/>
              </a:ext>
            </a:extLst>
          </p:cNvPr>
          <p:cNvSpPr>
            <a:spLocks noGrp="1"/>
          </p:cNvSpPr>
          <p:nvPr>
            <p:ph idx="1"/>
          </p:nvPr>
        </p:nvSpPr>
        <p:spPr/>
        <p:txBody>
          <a:bodyPr/>
          <a:lstStyle/>
          <a:p>
            <a:r>
              <a:rPr lang="en-US" sz="2000" dirty="0"/>
              <a:t>A is an </a:t>
            </a:r>
            <a:r>
              <a:rPr lang="en-US" sz="2000" dirty="0" err="1"/>
              <a:t>nxn</a:t>
            </a:r>
            <a:r>
              <a:rPr lang="en-US" sz="2000" dirty="0"/>
              <a:t> matrix, and x and b are vectors — that is, nx1 matrices</a:t>
            </a:r>
            <a:endParaRPr lang="en-IN" sz="2000" dirty="0"/>
          </a:p>
        </p:txBody>
      </p:sp>
      <p:sp>
        <p:nvSpPr>
          <p:cNvPr id="4" name="Slide Number Placeholder 3">
            <a:extLst>
              <a:ext uri="{FF2B5EF4-FFF2-40B4-BE49-F238E27FC236}">
                <a16:creationId xmlns:a16="http://schemas.microsoft.com/office/drawing/2014/main" id="{53144E56-6EC1-0C2F-A63F-CE6CFB3D8832}"/>
              </a:ext>
            </a:extLst>
          </p:cNvPr>
          <p:cNvSpPr>
            <a:spLocks noGrp="1"/>
          </p:cNvSpPr>
          <p:nvPr>
            <p:ph type="sldNum" sz="quarter" idx="12"/>
          </p:nvPr>
        </p:nvSpPr>
        <p:spPr/>
        <p:txBody>
          <a:bodyPr/>
          <a:lstStyle/>
          <a:p>
            <a:fld id="{BB2CE0DE-867F-455F-B20B-96D381B4AB71}" type="slidenum">
              <a:rPr lang="en-US" smtClean="0"/>
              <a:t>111</a:t>
            </a:fld>
            <a:endParaRPr lang="en-US"/>
          </a:p>
        </p:txBody>
      </p:sp>
      <p:pic>
        <p:nvPicPr>
          <p:cNvPr id="6" name="Picture 5">
            <a:extLst>
              <a:ext uri="{FF2B5EF4-FFF2-40B4-BE49-F238E27FC236}">
                <a16:creationId xmlns:a16="http://schemas.microsoft.com/office/drawing/2014/main" id="{F75EC2B2-9B1C-0B08-FDFC-9155DB3ADAB0}"/>
              </a:ext>
            </a:extLst>
          </p:cNvPr>
          <p:cNvPicPr>
            <a:picLocks noChangeAspect="1"/>
          </p:cNvPicPr>
          <p:nvPr/>
        </p:nvPicPr>
        <p:blipFill>
          <a:blip r:embed="rId3"/>
          <a:stretch>
            <a:fillRect/>
          </a:stretch>
        </p:blipFill>
        <p:spPr>
          <a:xfrm>
            <a:off x="1143000" y="1689757"/>
            <a:ext cx="4172400" cy="1447800"/>
          </a:xfrm>
          <a:prstGeom prst="rect">
            <a:avLst/>
          </a:prstGeom>
        </p:spPr>
      </p:pic>
      <p:pic>
        <p:nvPicPr>
          <p:cNvPr id="11" name="Picture 10">
            <a:extLst>
              <a:ext uri="{FF2B5EF4-FFF2-40B4-BE49-F238E27FC236}">
                <a16:creationId xmlns:a16="http://schemas.microsoft.com/office/drawing/2014/main" id="{78D38B5C-74B8-8908-AD6A-82EA6691FE8B}"/>
              </a:ext>
            </a:extLst>
          </p:cNvPr>
          <p:cNvPicPr>
            <a:picLocks noChangeAspect="1"/>
          </p:cNvPicPr>
          <p:nvPr/>
        </p:nvPicPr>
        <p:blipFill>
          <a:blip r:embed="rId4"/>
          <a:stretch>
            <a:fillRect/>
          </a:stretch>
        </p:blipFill>
        <p:spPr>
          <a:xfrm>
            <a:off x="6074876" y="1825870"/>
            <a:ext cx="5799627" cy="918379"/>
          </a:xfrm>
          <a:prstGeom prst="rect">
            <a:avLst/>
          </a:prstGeom>
        </p:spPr>
      </p:pic>
    </p:spTree>
    <p:extLst>
      <p:ext uri="{BB962C8B-B14F-4D97-AF65-F5344CB8AC3E}">
        <p14:creationId xmlns:p14="http://schemas.microsoft.com/office/powerpoint/2010/main" val="322483573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2AB8-D96A-228D-61AA-FDEC7FD7C5B1}"/>
              </a:ext>
            </a:extLst>
          </p:cNvPr>
          <p:cNvSpPr>
            <a:spLocks noGrp="1"/>
          </p:cNvSpPr>
          <p:nvPr>
            <p:ph type="title"/>
          </p:nvPr>
        </p:nvSpPr>
        <p:spPr/>
        <p:txBody>
          <a:bodyPr/>
          <a:lstStyle/>
          <a:p>
            <a:r>
              <a:rPr lang="en-US" sz="2000" dirty="0"/>
              <a:t>Back Ground for “Summary of the Nonlinear Conjugate-Gradient Algorithm”</a:t>
            </a:r>
            <a:endParaRPr lang="en-IN" sz="2000" dirty="0"/>
          </a:p>
        </p:txBody>
      </p:sp>
      <p:sp>
        <p:nvSpPr>
          <p:cNvPr id="3" name="Content Placeholder 2">
            <a:extLst>
              <a:ext uri="{FF2B5EF4-FFF2-40B4-BE49-F238E27FC236}">
                <a16:creationId xmlns:a16="http://schemas.microsoft.com/office/drawing/2014/main" id="{85618C34-6940-C647-7AE6-0C582A1A6392}"/>
              </a:ext>
            </a:extLst>
          </p:cNvPr>
          <p:cNvSpPr>
            <a:spLocks noGrp="1"/>
          </p:cNvSpPr>
          <p:nvPr>
            <p:ph idx="1"/>
          </p:nvPr>
        </p:nvSpPr>
        <p:spPr/>
        <p:txBody>
          <a:bodyPr/>
          <a:lstStyle/>
          <a:p>
            <a:r>
              <a:rPr lang="en-US" sz="2000" dirty="0"/>
              <a:t>A is an </a:t>
            </a:r>
            <a:r>
              <a:rPr lang="en-US" sz="2000" dirty="0" err="1"/>
              <a:t>nxn</a:t>
            </a:r>
            <a:r>
              <a:rPr lang="en-US" sz="2000" dirty="0"/>
              <a:t> matrix, and x and b are vectors — that is, nx1 matrices</a:t>
            </a:r>
            <a:endParaRPr lang="en-IN" sz="2000" dirty="0"/>
          </a:p>
        </p:txBody>
      </p:sp>
      <p:sp>
        <p:nvSpPr>
          <p:cNvPr id="4" name="Slide Number Placeholder 3">
            <a:extLst>
              <a:ext uri="{FF2B5EF4-FFF2-40B4-BE49-F238E27FC236}">
                <a16:creationId xmlns:a16="http://schemas.microsoft.com/office/drawing/2014/main" id="{53144E56-6EC1-0C2F-A63F-CE6CFB3D8832}"/>
              </a:ext>
            </a:extLst>
          </p:cNvPr>
          <p:cNvSpPr>
            <a:spLocks noGrp="1"/>
          </p:cNvSpPr>
          <p:nvPr>
            <p:ph type="sldNum" sz="quarter" idx="12"/>
          </p:nvPr>
        </p:nvSpPr>
        <p:spPr/>
        <p:txBody>
          <a:bodyPr/>
          <a:lstStyle/>
          <a:p>
            <a:fld id="{BB2CE0DE-867F-455F-B20B-96D381B4AB71}" type="slidenum">
              <a:rPr lang="en-US" smtClean="0"/>
              <a:t>112</a:t>
            </a:fld>
            <a:endParaRPr lang="en-US"/>
          </a:p>
        </p:txBody>
      </p:sp>
      <p:pic>
        <p:nvPicPr>
          <p:cNvPr id="6" name="Picture 5">
            <a:extLst>
              <a:ext uri="{FF2B5EF4-FFF2-40B4-BE49-F238E27FC236}">
                <a16:creationId xmlns:a16="http://schemas.microsoft.com/office/drawing/2014/main" id="{F75EC2B2-9B1C-0B08-FDFC-9155DB3ADAB0}"/>
              </a:ext>
            </a:extLst>
          </p:cNvPr>
          <p:cNvPicPr>
            <a:picLocks noChangeAspect="1"/>
          </p:cNvPicPr>
          <p:nvPr/>
        </p:nvPicPr>
        <p:blipFill>
          <a:blip r:embed="rId3"/>
          <a:stretch>
            <a:fillRect/>
          </a:stretch>
        </p:blipFill>
        <p:spPr>
          <a:xfrm>
            <a:off x="1143000" y="1689757"/>
            <a:ext cx="4172400" cy="1447800"/>
          </a:xfrm>
          <a:prstGeom prst="rect">
            <a:avLst/>
          </a:prstGeom>
        </p:spPr>
      </p:pic>
      <p:pic>
        <p:nvPicPr>
          <p:cNvPr id="7" name="Picture 6">
            <a:extLst>
              <a:ext uri="{FF2B5EF4-FFF2-40B4-BE49-F238E27FC236}">
                <a16:creationId xmlns:a16="http://schemas.microsoft.com/office/drawing/2014/main" id="{5CC9F3A8-87C2-A4C4-38C4-051E41B93DD5}"/>
              </a:ext>
            </a:extLst>
          </p:cNvPr>
          <p:cNvPicPr>
            <a:picLocks noChangeAspect="1"/>
          </p:cNvPicPr>
          <p:nvPr/>
        </p:nvPicPr>
        <p:blipFill>
          <a:blip r:embed="rId4"/>
          <a:srcRect l="11454" t="22346" r="10727" b="12469"/>
          <a:stretch>
            <a:fillRect/>
          </a:stretch>
        </p:blipFill>
        <p:spPr>
          <a:xfrm>
            <a:off x="766233" y="4537423"/>
            <a:ext cx="5410200" cy="1668567"/>
          </a:xfrm>
          <a:prstGeom prst="rect">
            <a:avLst/>
          </a:prstGeom>
        </p:spPr>
      </p:pic>
      <p:pic>
        <p:nvPicPr>
          <p:cNvPr id="9" name="Picture 8">
            <a:extLst>
              <a:ext uri="{FF2B5EF4-FFF2-40B4-BE49-F238E27FC236}">
                <a16:creationId xmlns:a16="http://schemas.microsoft.com/office/drawing/2014/main" id="{260505EC-BBF8-B394-B444-974E569F9C89}"/>
              </a:ext>
            </a:extLst>
          </p:cNvPr>
          <p:cNvPicPr>
            <a:picLocks noChangeAspect="1"/>
          </p:cNvPicPr>
          <p:nvPr/>
        </p:nvPicPr>
        <p:blipFill>
          <a:blip r:embed="rId5"/>
          <a:stretch>
            <a:fillRect/>
          </a:stretch>
        </p:blipFill>
        <p:spPr>
          <a:xfrm>
            <a:off x="304799" y="3289958"/>
            <a:ext cx="11734801" cy="1374695"/>
          </a:xfrm>
          <a:prstGeom prst="rect">
            <a:avLst/>
          </a:prstGeom>
        </p:spPr>
      </p:pic>
      <p:pic>
        <p:nvPicPr>
          <p:cNvPr id="11" name="Picture 10">
            <a:extLst>
              <a:ext uri="{FF2B5EF4-FFF2-40B4-BE49-F238E27FC236}">
                <a16:creationId xmlns:a16="http://schemas.microsoft.com/office/drawing/2014/main" id="{78D38B5C-74B8-8908-AD6A-82EA6691FE8B}"/>
              </a:ext>
            </a:extLst>
          </p:cNvPr>
          <p:cNvPicPr>
            <a:picLocks noChangeAspect="1"/>
          </p:cNvPicPr>
          <p:nvPr/>
        </p:nvPicPr>
        <p:blipFill>
          <a:blip r:embed="rId6"/>
          <a:stretch>
            <a:fillRect/>
          </a:stretch>
        </p:blipFill>
        <p:spPr>
          <a:xfrm>
            <a:off x="6074876" y="1825870"/>
            <a:ext cx="5799627" cy="918379"/>
          </a:xfrm>
          <a:prstGeom prst="rect">
            <a:avLst/>
          </a:prstGeom>
        </p:spPr>
      </p:pic>
    </p:spTree>
    <p:extLst>
      <p:ext uri="{BB962C8B-B14F-4D97-AF65-F5344CB8AC3E}">
        <p14:creationId xmlns:p14="http://schemas.microsoft.com/office/powerpoint/2010/main" val="4025822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C642-966A-4EB8-875F-0FDE4F560531}"/>
              </a:ext>
            </a:extLst>
          </p:cNvPr>
          <p:cNvSpPr>
            <a:spLocks noGrp="1"/>
          </p:cNvSpPr>
          <p:nvPr>
            <p:ph type="title"/>
          </p:nvPr>
        </p:nvSpPr>
        <p:spPr/>
        <p:txBody>
          <a:bodyPr/>
          <a:lstStyle/>
          <a:p>
            <a:r>
              <a:rPr lang="en-US" sz="2000" dirty="0"/>
              <a:t>Summary of the Nonlinear (Nonquadratic) Conjugate-Gradient Algorithm for the Supervised Training of a Multilayer Perceptron</a:t>
            </a:r>
            <a:endParaRPr lang="en-IN" sz="2000" dirty="0"/>
          </a:p>
        </p:txBody>
      </p:sp>
      <p:sp>
        <p:nvSpPr>
          <p:cNvPr id="3" name="Content Placeholder 2">
            <a:extLst>
              <a:ext uri="{FF2B5EF4-FFF2-40B4-BE49-F238E27FC236}">
                <a16:creationId xmlns:a16="http://schemas.microsoft.com/office/drawing/2014/main" id="{B797E4A5-E261-4544-943D-32F4A532D2C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0233278-C6D3-4FE8-902B-BDDC62176480}"/>
              </a:ext>
            </a:extLst>
          </p:cNvPr>
          <p:cNvSpPr>
            <a:spLocks noGrp="1"/>
          </p:cNvSpPr>
          <p:nvPr>
            <p:ph type="sldNum" sz="quarter" idx="12"/>
          </p:nvPr>
        </p:nvSpPr>
        <p:spPr/>
        <p:txBody>
          <a:bodyPr/>
          <a:lstStyle/>
          <a:p>
            <a:fld id="{BB2CE0DE-867F-455F-B20B-96D381B4AB71}" type="slidenum">
              <a:rPr lang="en-US" smtClean="0"/>
              <a:t>113</a:t>
            </a:fld>
            <a:endParaRPr lang="en-US"/>
          </a:p>
        </p:txBody>
      </p:sp>
      <p:pic>
        <p:nvPicPr>
          <p:cNvPr id="6" name="Picture 5">
            <a:extLst>
              <a:ext uri="{FF2B5EF4-FFF2-40B4-BE49-F238E27FC236}">
                <a16:creationId xmlns:a16="http://schemas.microsoft.com/office/drawing/2014/main" id="{003AA64C-F3FC-481E-9C2F-F831AF35A5AB}"/>
              </a:ext>
            </a:extLst>
          </p:cNvPr>
          <p:cNvPicPr>
            <a:picLocks noChangeAspect="1"/>
          </p:cNvPicPr>
          <p:nvPr/>
        </p:nvPicPr>
        <p:blipFill>
          <a:blip r:embed="rId2"/>
          <a:stretch>
            <a:fillRect/>
          </a:stretch>
        </p:blipFill>
        <p:spPr>
          <a:xfrm>
            <a:off x="792231" y="1219200"/>
            <a:ext cx="10904049" cy="4648200"/>
          </a:xfrm>
          <a:prstGeom prst="rect">
            <a:avLst/>
          </a:prstGeom>
        </p:spPr>
      </p:pic>
    </p:spTree>
    <p:extLst>
      <p:ext uri="{BB962C8B-B14F-4D97-AF65-F5344CB8AC3E}">
        <p14:creationId xmlns:p14="http://schemas.microsoft.com/office/powerpoint/2010/main" val="47118166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C642-966A-4EB8-875F-0FDE4F560531}"/>
              </a:ext>
            </a:extLst>
          </p:cNvPr>
          <p:cNvSpPr>
            <a:spLocks noGrp="1"/>
          </p:cNvSpPr>
          <p:nvPr>
            <p:ph type="title"/>
          </p:nvPr>
        </p:nvSpPr>
        <p:spPr/>
        <p:txBody>
          <a:bodyPr/>
          <a:lstStyle/>
          <a:p>
            <a:r>
              <a:rPr lang="en-US" sz="2000" dirty="0"/>
              <a:t>Summary of the Nonlinear (Nonquadratic) Conjugate-Gradient Algorithm for the Supervised Training of a Multilayer Perceptron (</a:t>
            </a:r>
            <a:r>
              <a:rPr lang="en-US" sz="2000" dirty="0" err="1"/>
              <a:t>Contd</a:t>
            </a:r>
            <a:r>
              <a:rPr lang="en-US" sz="2000" dirty="0"/>
              <a:t>…)</a:t>
            </a:r>
            <a:endParaRPr lang="en-IN" sz="2000" dirty="0"/>
          </a:p>
        </p:txBody>
      </p:sp>
      <p:sp>
        <p:nvSpPr>
          <p:cNvPr id="3" name="Content Placeholder 2">
            <a:extLst>
              <a:ext uri="{FF2B5EF4-FFF2-40B4-BE49-F238E27FC236}">
                <a16:creationId xmlns:a16="http://schemas.microsoft.com/office/drawing/2014/main" id="{B797E4A5-E261-4544-943D-32F4A532D2C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0233278-C6D3-4FE8-902B-BDDC62176480}"/>
              </a:ext>
            </a:extLst>
          </p:cNvPr>
          <p:cNvSpPr>
            <a:spLocks noGrp="1"/>
          </p:cNvSpPr>
          <p:nvPr>
            <p:ph type="sldNum" sz="quarter" idx="12"/>
          </p:nvPr>
        </p:nvSpPr>
        <p:spPr/>
        <p:txBody>
          <a:bodyPr/>
          <a:lstStyle/>
          <a:p>
            <a:fld id="{BB2CE0DE-867F-455F-B20B-96D381B4AB71}" type="slidenum">
              <a:rPr lang="en-US" smtClean="0"/>
              <a:t>114</a:t>
            </a:fld>
            <a:endParaRPr lang="en-US"/>
          </a:p>
        </p:txBody>
      </p:sp>
      <p:pic>
        <p:nvPicPr>
          <p:cNvPr id="7" name="Picture 6">
            <a:extLst>
              <a:ext uri="{FF2B5EF4-FFF2-40B4-BE49-F238E27FC236}">
                <a16:creationId xmlns:a16="http://schemas.microsoft.com/office/drawing/2014/main" id="{5FC03FD6-90CF-4E11-ABC6-91366DE5BC87}"/>
              </a:ext>
            </a:extLst>
          </p:cNvPr>
          <p:cNvPicPr>
            <a:picLocks noChangeAspect="1"/>
          </p:cNvPicPr>
          <p:nvPr/>
        </p:nvPicPr>
        <p:blipFill>
          <a:blip r:embed="rId3"/>
          <a:stretch>
            <a:fillRect/>
          </a:stretch>
        </p:blipFill>
        <p:spPr>
          <a:xfrm>
            <a:off x="755650" y="1204856"/>
            <a:ext cx="8997821" cy="5029200"/>
          </a:xfrm>
          <a:prstGeom prst="rect">
            <a:avLst/>
          </a:prstGeom>
        </p:spPr>
      </p:pic>
    </p:spTree>
    <p:extLst>
      <p:ext uri="{BB962C8B-B14F-4D97-AF65-F5344CB8AC3E}">
        <p14:creationId xmlns:p14="http://schemas.microsoft.com/office/powerpoint/2010/main" val="31590054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C642-966A-4EB8-875F-0FDE4F560531}"/>
              </a:ext>
            </a:extLst>
          </p:cNvPr>
          <p:cNvSpPr>
            <a:spLocks noGrp="1"/>
          </p:cNvSpPr>
          <p:nvPr>
            <p:ph type="title"/>
          </p:nvPr>
        </p:nvSpPr>
        <p:spPr/>
        <p:txBody>
          <a:bodyPr/>
          <a:lstStyle/>
          <a:p>
            <a:r>
              <a:rPr lang="en-US" sz="2000" dirty="0"/>
              <a:t>Summary of the Nonlinear (Nonquadratic) Conjugate-Gradient Algorithm for the Supervised Training of a Multilayer Perceptron</a:t>
            </a:r>
            <a:endParaRPr lang="en-IN" sz="2000" dirty="0"/>
          </a:p>
        </p:txBody>
      </p:sp>
      <p:sp>
        <p:nvSpPr>
          <p:cNvPr id="3" name="Content Placeholder 2">
            <a:extLst>
              <a:ext uri="{FF2B5EF4-FFF2-40B4-BE49-F238E27FC236}">
                <a16:creationId xmlns:a16="http://schemas.microsoft.com/office/drawing/2014/main" id="{B797E4A5-E261-4544-943D-32F4A532D2CE}"/>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60233278-C6D3-4FE8-902B-BDDC62176480}"/>
              </a:ext>
            </a:extLst>
          </p:cNvPr>
          <p:cNvSpPr>
            <a:spLocks noGrp="1"/>
          </p:cNvSpPr>
          <p:nvPr>
            <p:ph type="sldNum" sz="quarter" idx="12"/>
          </p:nvPr>
        </p:nvSpPr>
        <p:spPr/>
        <p:txBody>
          <a:bodyPr/>
          <a:lstStyle/>
          <a:p>
            <a:fld id="{BB2CE0DE-867F-455F-B20B-96D381B4AB71}" type="slidenum">
              <a:rPr lang="en-US" smtClean="0"/>
              <a:t>115</a:t>
            </a:fld>
            <a:endParaRPr lang="en-US"/>
          </a:p>
        </p:txBody>
      </p:sp>
      <p:pic>
        <p:nvPicPr>
          <p:cNvPr id="6" name="Picture 5">
            <a:extLst>
              <a:ext uri="{FF2B5EF4-FFF2-40B4-BE49-F238E27FC236}">
                <a16:creationId xmlns:a16="http://schemas.microsoft.com/office/drawing/2014/main" id="{F5EEE437-E292-40A9-A1A1-52936DCE17CB}"/>
              </a:ext>
            </a:extLst>
          </p:cNvPr>
          <p:cNvPicPr>
            <a:picLocks noChangeAspect="1"/>
          </p:cNvPicPr>
          <p:nvPr/>
        </p:nvPicPr>
        <p:blipFill>
          <a:blip r:embed="rId2"/>
          <a:stretch>
            <a:fillRect/>
          </a:stretch>
        </p:blipFill>
        <p:spPr>
          <a:xfrm>
            <a:off x="609600" y="1138517"/>
            <a:ext cx="7239000" cy="5559911"/>
          </a:xfrm>
          <a:prstGeom prst="rect">
            <a:avLst/>
          </a:prstGeom>
        </p:spPr>
      </p:pic>
      <p:pic>
        <p:nvPicPr>
          <p:cNvPr id="8" name="Picture 7">
            <a:extLst>
              <a:ext uri="{FF2B5EF4-FFF2-40B4-BE49-F238E27FC236}">
                <a16:creationId xmlns:a16="http://schemas.microsoft.com/office/drawing/2014/main" id="{96FC37F8-A467-427C-B716-D4797859FF5F}"/>
              </a:ext>
            </a:extLst>
          </p:cNvPr>
          <p:cNvPicPr>
            <a:picLocks noChangeAspect="1"/>
          </p:cNvPicPr>
          <p:nvPr/>
        </p:nvPicPr>
        <p:blipFill rotWithShape="1">
          <a:blip r:embed="rId3"/>
          <a:srcRect t="49332"/>
          <a:stretch/>
        </p:blipFill>
        <p:spPr>
          <a:xfrm>
            <a:off x="7872739" y="4368923"/>
            <a:ext cx="3949702" cy="1193677"/>
          </a:xfrm>
          <a:prstGeom prst="rect">
            <a:avLst/>
          </a:prstGeom>
        </p:spPr>
      </p:pic>
      <p:sp>
        <p:nvSpPr>
          <p:cNvPr id="9" name="TextBox 8">
            <a:extLst>
              <a:ext uri="{FF2B5EF4-FFF2-40B4-BE49-F238E27FC236}">
                <a16:creationId xmlns:a16="http://schemas.microsoft.com/office/drawing/2014/main" id="{C80DBC7E-9918-42BB-8159-011644EBA13B}"/>
              </a:ext>
            </a:extLst>
          </p:cNvPr>
          <p:cNvSpPr txBox="1"/>
          <p:nvPr/>
        </p:nvSpPr>
        <p:spPr>
          <a:xfrm>
            <a:off x="7872739" y="3733800"/>
            <a:ext cx="3850285" cy="523220"/>
          </a:xfrm>
          <a:prstGeom prst="rect">
            <a:avLst/>
          </a:prstGeom>
          <a:noFill/>
        </p:spPr>
        <p:txBody>
          <a:bodyPr wrap="none" rtlCol="0">
            <a:spAutoFit/>
          </a:bodyPr>
          <a:lstStyle/>
          <a:p>
            <a:r>
              <a:rPr lang="en-IN" sz="1400" dirty="0"/>
              <a:t>Conjugate search direction can by either</a:t>
            </a:r>
          </a:p>
          <a:p>
            <a:r>
              <a:rPr lang="en-IN" sz="1400" dirty="0"/>
              <a:t>Fletcher-reeves or </a:t>
            </a:r>
            <a:r>
              <a:rPr lang="en-IN" sz="1400" dirty="0" err="1"/>
              <a:t>Polak-ribière-polyak</a:t>
            </a:r>
            <a:endParaRPr lang="en-IN" sz="1400" dirty="0"/>
          </a:p>
        </p:txBody>
      </p:sp>
    </p:spTree>
    <p:extLst>
      <p:ext uri="{BB962C8B-B14F-4D97-AF65-F5344CB8AC3E}">
        <p14:creationId xmlns:p14="http://schemas.microsoft.com/office/powerpoint/2010/main" val="168787289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CAF-AA66-4D8F-B136-74C0A28C6AF9}"/>
              </a:ext>
            </a:extLst>
          </p:cNvPr>
          <p:cNvSpPr>
            <a:spLocks noGrp="1"/>
          </p:cNvSpPr>
          <p:nvPr>
            <p:ph type="title"/>
          </p:nvPr>
        </p:nvSpPr>
        <p:spPr/>
        <p:txBody>
          <a:bodyPr/>
          <a:lstStyle/>
          <a:p>
            <a:r>
              <a:rPr lang="en-US" dirty="0"/>
              <a:t>Problem</a:t>
            </a:r>
            <a:endParaRPr lang="en-IN" dirty="0"/>
          </a:p>
        </p:txBody>
      </p:sp>
      <p:sp>
        <p:nvSpPr>
          <p:cNvPr id="4" name="Slide Number Placeholder 3">
            <a:extLst>
              <a:ext uri="{FF2B5EF4-FFF2-40B4-BE49-F238E27FC236}">
                <a16:creationId xmlns:a16="http://schemas.microsoft.com/office/drawing/2014/main" id="{6D7EBFF1-424F-46C1-8DF4-5151F8EA1683}"/>
              </a:ext>
            </a:extLst>
          </p:cNvPr>
          <p:cNvSpPr>
            <a:spLocks noGrp="1"/>
          </p:cNvSpPr>
          <p:nvPr>
            <p:ph type="sldNum" sz="quarter" idx="12"/>
          </p:nvPr>
        </p:nvSpPr>
        <p:spPr/>
        <p:txBody>
          <a:bodyPr/>
          <a:lstStyle/>
          <a:p>
            <a:fld id="{BB2CE0DE-867F-455F-B20B-96D381B4AB71}" type="slidenum">
              <a:rPr lang="en-US" smtClean="0"/>
              <a:t>116</a:t>
            </a:fld>
            <a:endParaRPr lang="en-US"/>
          </a:p>
        </p:txBody>
      </p:sp>
      <p:sp>
        <p:nvSpPr>
          <p:cNvPr id="5" name="TextBox 4">
            <a:extLst>
              <a:ext uri="{FF2B5EF4-FFF2-40B4-BE49-F238E27FC236}">
                <a16:creationId xmlns:a16="http://schemas.microsoft.com/office/drawing/2014/main" id="{B17DC034-B5B9-4813-9101-ADD23EFD2133}"/>
              </a:ext>
            </a:extLst>
          </p:cNvPr>
          <p:cNvSpPr txBox="1"/>
          <p:nvPr/>
        </p:nvSpPr>
        <p:spPr>
          <a:xfrm>
            <a:off x="990600" y="1371600"/>
            <a:ext cx="6715300" cy="338554"/>
          </a:xfrm>
          <a:prstGeom prst="rect">
            <a:avLst/>
          </a:prstGeom>
          <a:noFill/>
        </p:spPr>
        <p:txBody>
          <a:bodyPr wrap="none" rtlCol="0">
            <a:spAutoFit/>
          </a:bodyPr>
          <a:lstStyle/>
          <a:p>
            <a:r>
              <a:rPr lang="en-IN" sz="1600" dirty="0"/>
              <a:t>Apply conjugate gradient (CG)algorithm to minimize  function  </a:t>
            </a:r>
          </a:p>
        </p:txBody>
      </p:sp>
      <p:pic>
        <p:nvPicPr>
          <p:cNvPr id="8" name="Picture 7">
            <a:extLst>
              <a:ext uri="{FF2B5EF4-FFF2-40B4-BE49-F238E27FC236}">
                <a16:creationId xmlns:a16="http://schemas.microsoft.com/office/drawing/2014/main" id="{A9EC3E9A-6E09-423F-9A33-E2ADC7E6779E}"/>
              </a:ext>
            </a:extLst>
          </p:cNvPr>
          <p:cNvPicPr>
            <a:picLocks noChangeAspect="1"/>
          </p:cNvPicPr>
          <p:nvPr/>
        </p:nvPicPr>
        <p:blipFill>
          <a:blip r:embed="rId2"/>
          <a:stretch>
            <a:fillRect/>
          </a:stretch>
        </p:blipFill>
        <p:spPr>
          <a:xfrm>
            <a:off x="7543800" y="1159877"/>
            <a:ext cx="2973290" cy="761999"/>
          </a:xfrm>
          <a:prstGeom prst="rect">
            <a:avLst/>
          </a:prstGeom>
        </p:spPr>
      </p:pic>
      <p:sp>
        <p:nvSpPr>
          <p:cNvPr id="9" name="TextBox 8">
            <a:extLst>
              <a:ext uri="{FF2B5EF4-FFF2-40B4-BE49-F238E27FC236}">
                <a16:creationId xmlns:a16="http://schemas.microsoft.com/office/drawing/2014/main" id="{BD89CDDB-ADAE-4507-AA84-FC94E3CBE790}"/>
              </a:ext>
            </a:extLst>
          </p:cNvPr>
          <p:cNvSpPr txBox="1"/>
          <p:nvPr/>
        </p:nvSpPr>
        <p:spPr>
          <a:xfrm>
            <a:off x="1003610" y="2264696"/>
            <a:ext cx="843308" cy="338554"/>
          </a:xfrm>
          <a:prstGeom prst="rect">
            <a:avLst/>
          </a:prstGeom>
          <a:noFill/>
        </p:spPr>
        <p:txBody>
          <a:bodyPr wrap="none" rtlCol="0">
            <a:spAutoFit/>
          </a:bodyPr>
          <a:lstStyle/>
          <a:p>
            <a:r>
              <a:rPr lang="en-US" sz="1600" dirty="0"/>
              <a:t>Given </a:t>
            </a:r>
            <a:endParaRPr lang="en-IN" sz="1600" dirty="0"/>
          </a:p>
        </p:txBody>
      </p:sp>
      <p:pic>
        <p:nvPicPr>
          <p:cNvPr id="11" name="Picture 10">
            <a:extLst>
              <a:ext uri="{FF2B5EF4-FFF2-40B4-BE49-F238E27FC236}">
                <a16:creationId xmlns:a16="http://schemas.microsoft.com/office/drawing/2014/main" id="{437D6D4A-7C0D-426A-B484-681DEBB34B55}"/>
              </a:ext>
            </a:extLst>
          </p:cNvPr>
          <p:cNvPicPr>
            <a:picLocks noChangeAspect="1"/>
          </p:cNvPicPr>
          <p:nvPr/>
        </p:nvPicPr>
        <p:blipFill>
          <a:blip r:embed="rId3"/>
          <a:stretch>
            <a:fillRect/>
          </a:stretch>
        </p:blipFill>
        <p:spPr>
          <a:xfrm>
            <a:off x="1846918" y="2232701"/>
            <a:ext cx="2335579" cy="741097"/>
          </a:xfrm>
          <a:prstGeom prst="rect">
            <a:avLst/>
          </a:prstGeom>
        </p:spPr>
      </p:pic>
      <p:sp>
        <p:nvSpPr>
          <p:cNvPr id="12" name="TextBox 11">
            <a:extLst>
              <a:ext uri="{FF2B5EF4-FFF2-40B4-BE49-F238E27FC236}">
                <a16:creationId xmlns:a16="http://schemas.microsoft.com/office/drawing/2014/main" id="{B68A6DDF-3BB4-4220-8E30-BC3691871DAB}"/>
              </a:ext>
            </a:extLst>
          </p:cNvPr>
          <p:cNvSpPr txBox="1"/>
          <p:nvPr/>
        </p:nvSpPr>
        <p:spPr>
          <a:xfrm>
            <a:off x="4585494" y="2264696"/>
            <a:ext cx="2643672" cy="307777"/>
          </a:xfrm>
          <a:prstGeom prst="rect">
            <a:avLst/>
          </a:prstGeom>
          <a:noFill/>
        </p:spPr>
        <p:txBody>
          <a:bodyPr wrap="none" rtlCol="0">
            <a:spAutoFit/>
          </a:bodyPr>
          <a:lstStyle/>
          <a:p>
            <a:r>
              <a:rPr lang="en-US" sz="1400" dirty="0"/>
              <a:t>Starting from x(0)=[0,0]</a:t>
            </a:r>
            <a:r>
              <a:rPr lang="en-US" sz="1400" baseline="30000" dirty="0"/>
              <a:t>T </a:t>
            </a:r>
            <a:r>
              <a:rPr lang="en-US" sz="1400" baseline="-25000" dirty="0"/>
              <a:t>  </a:t>
            </a:r>
            <a:endParaRPr lang="en-IN" sz="1400" baseline="30000" dirty="0"/>
          </a:p>
        </p:txBody>
      </p:sp>
      <p:sp>
        <p:nvSpPr>
          <p:cNvPr id="13" name="TextBox 12">
            <a:extLst>
              <a:ext uri="{FF2B5EF4-FFF2-40B4-BE49-F238E27FC236}">
                <a16:creationId xmlns:a16="http://schemas.microsoft.com/office/drawing/2014/main" id="{734D2C61-0001-4425-B16B-0688DBDF8DE4}"/>
              </a:ext>
            </a:extLst>
          </p:cNvPr>
          <p:cNvSpPr txBox="1"/>
          <p:nvPr/>
        </p:nvSpPr>
        <p:spPr>
          <a:xfrm>
            <a:off x="766233" y="3141065"/>
            <a:ext cx="6137962" cy="307777"/>
          </a:xfrm>
          <a:prstGeom prst="rect">
            <a:avLst/>
          </a:prstGeom>
          <a:noFill/>
        </p:spPr>
        <p:txBody>
          <a:bodyPr wrap="none" rtlCol="0">
            <a:spAutoFit/>
          </a:bodyPr>
          <a:lstStyle/>
          <a:p>
            <a:r>
              <a:rPr lang="en-US" sz="1400" dirty="0"/>
              <a:t>Solve for two iterations of CG and show the final value of x vector.</a:t>
            </a:r>
            <a:endParaRPr lang="en-IN" sz="1400" dirty="0"/>
          </a:p>
        </p:txBody>
      </p:sp>
    </p:spTree>
    <p:extLst>
      <p:ext uri="{BB962C8B-B14F-4D97-AF65-F5344CB8AC3E}">
        <p14:creationId xmlns:p14="http://schemas.microsoft.com/office/powerpoint/2010/main" val="1685899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6EA7-4984-4052-8E4B-971DDB1FA56C}"/>
              </a:ext>
            </a:extLst>
          </p:cNvPr>
          <p:cNvSpPr>
            <a:spLocks noGrp="1"/>
          </p:cNvSpPr>
          <p:nvPr>
            <p:ph type="title"/>
          </p:nvPr>
        </p:nvSpPr>
        <p:spPr/>
        <p:txBody>
          <a:bodyPr/>
          <a:lstStyle/>
          <a:p>
            <a:r>
              <a:rPr lang="en-US" dirty="0"/>
              <a:t>Solution</a:t>
            </a:r>
            <a:endParaRPr lang="en-IN" dirty="0"/>
          </a:p>
        </p:txBody>
      </p:sp>
      <p:sp>
        <p:nvSpPr>
          <p:cNvPr id="4" name="Slide Number Placeholder 3">
            <a:extLst>
              <a:ext uri="{FF2B5EF4-FFF2-40B4-BE49-F238E27FC236}">
                <a16:creationId xmlns:a16="http://schemas.microsoft.com/office/drawing/2014/main" id="{B913D99E-B0DF-4677-A078-E4A92523A581}"/>
              </a:ext>
            </a:extLst>
          </p:cNvPr>
          <p:cNvSpPr>
            <a:spLocks noGrp="1"/>
          </p:cNvSpPr>
          <p:nvPr>
            <p:ph type="sldNum" sz="quarter" idx="12"/>
          </p:nvPr>
        </p:nvSpPr>
        <p:spPr/>
        <p:txBody>
          <a:bodyPr/>
          <a:lstStyle/>
          <a:p>
            <a:fld id="{BB2CE0DE-867F-455F-B20B-96D381B4AB71}" type="slidenum">
              <a:rPr lang="en-US" smtClean="0"/>
              <a:t>117</a:t>
            </a:fld>
            <a:endParaRPr lang="en-US"/>
          </a:p>
        </p:txBody>
      </p:sp>
      <p:pic>
        <p:nvPicPr>
          <p:cNvPr id="6" name="Picture 5">
            <a:extLst>
              <a:ext uri="{FF2B5EF4-FFF2-40B4-BE49-F238E27FC236}">
                <a16:creationId xmlns:a16="http://schemas.microsoft.com/office/drawing/2014/main" id="{B3939721-66A1-401A-9CE3-5B3FBB57D4F7}"/>
              </a:ext>
            </a:extLst>
          </p:cNvPr>
          <p:cNvPicPr>
            <a:picLocks noChangeAspect="1"/>
          </p:cNvPicPr>
          <p:nvPr/>
        </p:nvPicPr>
        <p:blipFill>
          <a:blip r:embed="rId2"/>
          <a:stretch>
            <a:fillRect/>
          </a:stretch>
        </p:blipFill>
        <p:spPr>
          <a:xfrm>
            <a:off x="735753" y="2104426"/>
            <a:ext cx="4887007" cy="4296375"/>
          </a:xfrm>
          <a:prstGeom prst="rect">
            <a:avLst/>
          </a:prstGeom>
        </p:spPr>
      </p:pic>
      <p:pic>
        <p:nvPicPr>
          <p:cNvPr id="7" name="Picture 6">
            <a:extLst>
              <a:ext uri="{FF2B5EF4-FFF2-40B4-BE49-F238E27FC236}">
                <a16:creationId xmlns:a16="http://schemas.microsoft.com/office/drawing/2014/main" id="{C9AE7FF3-61E8-4D58-A3B1-94E6652C5ADB}"/>
              </a:ext>
            </a:extLst>
          </p:cNvPr>
          <p:cNvPicPr>
            <a:picLocks noChangeAspect="1"/>
          </p:cNvPicPr>
          <p:nvPr/>
        </p:nvPicPr>
        <p:blipFill>
          <a:blip r:embed="rId3"/>
          <a:stretch>
            <a:fillRect/>
          </a:stretch>
        </p:blipFill>
        <p:spPr>
          <a:xfrm>
            <a:off x="2514600" y="1135137"/>
            <a:ext cx="2973290" cy="761999"/>
          </a:xfrm>
          <a:prstGeom prst="rect">
            <a:avLst/>
          </a:prstGeom>
        </p:spPr>
      </p:pic>
      <p:sp>
        <p:nvSpPr>
          <p:cNvPr id="8" name="TextBox 7">
            <a:extLst>
              <a:ext uri="{FF2B5EF4-FFF2-40B4-BE49-F238E27FC236}">
                <a16:creationId xmlns:a16="http://schemas.microsoft.com/office/drawing/2014/main" id="{A24C4114-76C5-438D-9A25-EE81C1AF71EB}"/>
              </a:ext>
            </a:extLst>
          </p:cNvPr>
          <p:cNvSpPr txBox="1"/>
          <p:nvPr/>
        </p:nvSpPr>
        <p:spPr>
          <a:xfrm>
            <a:off x="914400" y="1331470"/>
            <a:ext cx="1199624" cy="369332"/>
          </a:xfrm>
          <a:prstGeom prst="rect">
            <a:avLst/>
          </a:prstGeom>
          <a:noFill/>
        </p:spPr>
        <p:txBody>
          <a:bodyPr wrap="none" rtlCol="0">
            <a:spAutoFit/>
          </a:bodyPr>
          <a:lstStyle/>
          <a:p>
            <a:r>
              <a:rPr lang="en-US" dirty="0"/>
              <a:t>Minimize</a:t>
            </a:r>
            <a:endParaRPr lang="en-IN" dirty="0"/>
          </a:p>
        </p:txBody>
      </p:sp>
    </p:spTree>
    <p:extLst>
      <p:ext uri="{BB962C8B-B14F-4D97-AF65-F5344CB8AC3E}">
        <p14:creationId xmlns:p14="http://schemas.microsoft.com/office/powerpoint/2010/main" val="9000803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258B11-309A-4296-9407-57A3180CCEB5}"/>
              </a:ext>
            </a:extLst>
          </p:cNvPr>
          <p:cNvSpPr>
            <a:spLocks noGrp="1"/>
          </p:cNvSpPr>
          <p:nvPr>
            <p:ph type="sldNum" sz="quarter" idx="12"/>
          </p:nvPr>
        </p:nvSpPr>
        <p:spPr/>
        <p:txBody>
          <a:bodyPr/>
          <a:lstStyle/>
          <a:p>
            <a:fld id="{BB2CE0DE-867F-455F-B20B-96D381B4AB71}" type="slidenum">
              <a:rPr lang="en-US" smtClean="0"/>
              <a:t>118</a:t>
            </a:fld>
            <a:endParaRPr lang="en-US"/>
          </a:p>
        </p:txBody>
      </p:sp>
      <p:pic>
        <p:nvPicPr>
          <p:cNvPr id="6" name="Picture 5">
            <a:extLst>
              <a:ext uri="{FF2B5EF4-FFF2-40B4-BE49-F238E27FC236}">
                <a16:creationId xmlns:a16="http://schemas.microsoft.com/office/drawing/2014/main" id="{FF243275-7E42-4507-B347-9E4E29441696}"/>
              </a:ext>
            </a:extLst>
          </p:cNvPr>
          <p:cNvPicPr>
            <a:picLocks noChangeAspect="1"/>
          </p:cNvPicPr>
          <p:nvPr/>
        </p:nvPicPr>
        <p:blipFill>
          <a:blip r:embed="rId2"/>
          <a:stretch>
            <a:fillRect/>
          </a:stretch>
        </p:blipFill>
        <p:spPr>
          <a:xfrm>
            <a:off x="152400" y="148406"/>
            <a:ext cx="4639322" cy="6211167"/>
          </a:xfrm>
          <a:prstGeom prst="rect">
            <a:avLst/>
          </a:prstGeom>
        </p:spPr>
      </p:pic>
      <p:pic>
        <p:nvPicPr>
          <p:cNvPr id="8" name="Picture 7">
            <a:extLst>
              <a:ext uri="{FF2B5EF4-FFF2-40B4-BE49-F238E27FC236}">
                <a16:creationId xmlns:a16="http://schemas.microsoft.com/office/drawing/2014/main" id="{3B67B9F8-0C8A-41EE-8B2D-66DDD9026535}"/>
              </a:ext>
            </a:extLst>
          </p:cNvPr>
          <p:cNvPicPr>
            <a:picLocks noChangeAspect="1"/>
          </p:cNvPicPr>
          <p:nvPr/>
        </p:nvPicPr>
        <p:blipFill>
          <a:blip r:embed="rId3"/>
          <a:stretch>
            <a:fillRect/>
          </a:stretch>
        </p:blipFill>
        <p:spPr>
          <a:xfrm>
            <a:off x="5486400" y="166326"/>
            <a:ext cx="4947424" cy="6211167"/>
          </a:xfrm>
          <a:prstGeom prst="rect">
            <a:avLst/>
          </a:prstGeom>
        </p:spPr>
      </p:pic>
    </p:spTree>
    <p:extLst>
      <p:ext uri="{BB962C8B-B14F-4D97-AF65-F5344CB8AC3E}">
        <p14:creationId xmlns:p14="http://schemas.microsoft.com/office/powerpoint/2010/main" val="5354425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E052A-DC8E-40FD-BA4F-F5450F09CD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D5FFE1-71B1-4C75-84B8-D4F9DCB49532}"/>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9A72E44-66B0-493A-BE5B-C6E2542EBCE3}"/>
              </a:ext>
            </a:extLst>
          </p:cNvPr>
          <p:cNvSpPr>
            <a:spLocks noGrp="1"/>
          </p:cNvSpPr>
          <p:nvPr>
            <p:ph type="sldNum" sz="quarter" idx="12"/>
          </p:nvPr>
        </p:nvSpPr>
        <p:spPr/>
        <p:txBody>
          <a:bodyPr/>
          <a:lstStyle/>
          <a:p>
            <a:fld id="{BB2CE0DE-867F-455F-B20B-96D381B4AB71}" type="slidenum">
              <a:rPr lang="en-US" smtClean="0"/>
              <a:t>119</a:t>
            </a:fld>
            <a:endParaRPr lang="en-US"/>
          </a:p>
        </p:txBody>
      </p:sp>
      <p:pic>
        <p:nvPicPr>
          <p:cNvPr id="6" name="Picture 5">
            <a:extLst>
              <a:ext uri="{FF2B5EF4-FFF2-40B4-BE49-F238E27FC236}">
                <a16:creationId xmlns:a16="http://schemas.microsoft.com/office/drawing/2014/main" id="{61DA2388-B66B-43C7-AB0B-3DE668E1FFC5}"/>
              </a:ext>
            </a:extLst>
          </p:cNvPr>
          <p:cNvPicPr>
            <a:picLocks noChangeAspect="1"/>
          </p:cNvPicPr>
          <p:nvPr/>
        </p:nvPicPr>
        <p:blipFill>
          <a:blip r:embed="rId2"/>
          <a:stretch>
            <a:fillRect/>
          </a:stretch>
        </p:blipFill>
        <p:spPr>
          <a:xfrm>
            <a:off x="0" y="7938"/>
            <a:ext cx="4354021" cy="6553200"/>
          </a:xfrm>
          <a:prstGeom prst="rect">
            <a:avLst/>
          </a:prstGeom>
        </p:spPr>
      </p:pic>
      <p:pic>
        <p:nvPicPr>
          <p:cNvPr id="8" name="Picture 7">
            <a:extLst>
              <a:ext uri="{FF2B5EF4-FFF2-40B4-BE49-F238E27FC236}">
                <a16:creationId xmlns:a16="http://schemas.microsoft.com/office/drawing/2014/main" id="{0604CD84-0C95-437B-BB6C-777CD00ABA0F}"/>
              </a:ext>
            </a:extLst>
          </p:cNvPr>
          <p:cNvPicPr>
            <a:picLocks noChangeAspect="1"/>
          </p:cNvPicPr>
          <p:nvPr/>
        </p:nvPicPr>
        <p:blipFill>
          <a:blip r:embed="rId3"/>
          <a:stretch>
            <a:fillRect/>
          </a:stretch>
        </p:blipFill>
        <p:spPr>
          <a:xfrm>
            <a:off x="4448239" y="0"/>
            <a:ext cx="4757072" cy="6553200"/>
          </a:xfrm>
          <a:prstGeom prst="rect">
            <a:avLst/>
          </a:prstGeom>
        </p:spPr>
      </p:pic>
    </p:spTree>
    <p:extLst>
      <p:ext uri="{BB962C8B-B14F-4D97-AF65-F5344CB8AC3E}">
        <p14:creationId xmlns:p14="http://schemas.microsoft.com/office/powerpoint/2010/main" val="29792788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E052A-DC8E-40FD-BA4F-F5450F09CD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D5FFE1-71B1-4C75-84B8-D4F9DCB49532}"/>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9A72E44-66B0-493A-BE5B-C6E2542EBCE3}"/>
              </a:ext>
            </a:extLst>
          </p:cNvPr>
          <p:cNvSpPr>
            <a:spLocks noGrp="1"/>
          </p:cNvSpPr>
          <p:nvPr>
            <p:ph type="sldNum" sz="quarter" idx="12"/>
          </p:nvPr>
        </p:nvSpPr>
        <p:spPr/>
        <p:txBody>
          <a:bodyPr/>
          <a:lstStyle/>
          <a:p>
            <a:fld id="{BB2CE0DE-867F-455F-B20B-96D381B4AB71}" type="slidenum">
              <a:rPr lang="en-US" smtClean="0"/>
              <a:t>120</a:t>
            </a:fld>
            <a:endParaRPr lang="en-US"/>
          </a:p>
        </p:txBody>
      </p:sp>
      <p:pic>
        <p:nvPicPr>
          <p:cNvPr id="6" name="Picture 5">
            <a:extLst>
              <a:ext uri="{FF2B5EF4-FFF2-40B4-BE49-F238E27FC236}">
                <a16:creationId xmlns:a16="http://schemas.microsoft.com/office/drawing/2014/main" id="{61DA2388-B66B-43C7-AB0B-3DE668E1FFC5}"/>
              </a:ext>
            </a:extLst>
          </p:cNvPr>
          <p:cNvPicPr>
            <a:picLocks noChangeAspect="1"/>
          </p:cNvPicPr>
          <p:nvPr/>
        </p:nvPicPr>
        <p:blipFill>
          <a:blip r:embed="rId2"/>
          <a:stretch>
            <a:fillRect/>
          </a:stretch>
        </p:blipFill>
        <p:spPr>
          <a:xfrm>
            <a:off x="0" y="7938"/>
            <a:ext cx="4354021" cy="6553200"/>
          </a:xfrm>
          <a:prstGeom prst="rect">
            <a:avLst/>
          </a:prstGeom>
        </p:spPr>
      </p:pic>
      <p:pic>
        <p:nvPicPr>
          <p:cNvPr id="8" name="Picture 7">
            <a:extLst>
              <a:ext uri="{FF2B5EF4-FFF2-40B4-BE49-F238E27FC236}">
                <a16:creationId xmlns:a16="http://schemas.microsoft.com/office/drawing/2014/main" id="{0604CD84-0C95-437B-BB6C-777CD00ABA0F}"/>
              </a:ext>
            </a:extLst>
          </p:cNvPr>
          <p:cNvPicPr>
            <a:picLocks noChangeAspect="1"/>
          </p:cNvPicPr>
          <p:nvPr/>
        </p:nvPicPr>
        <p:blipFill>
          <a:blip r:embed="rId3"/>
          <a:stretch>
            <a:fillRect/>
          </a:stretch>
        </p:blipFill>
        <p:spPr>
          <a:xfrm>
            <a:off x="4448239" y="0"/>
            <a:ext cx="4757072" cy="6553200"/>
          </a:xfrm>
          <a:prstGeom prst="rect">
            <a:avLst/>
          </a:prstGeom>
        </p:spPr>
      </p:pic>
      <p:pic>
        <p:nvPicPr>
          <p:cNvPr id="10" name="Picture 9">
            <a:extLst>
              <a:ext uri="{FF2B5EF4-FFF2-40B4-BE49-F238E27FC236}">
                <a16:creationId xmlns:a16="http://schemas.microsoft.com/office/drawing/2014/main" id="{81646ADC-2402-4B5A-B627-A7FCA0F8966D}"/>
              </a:ext>
            </a:extLst>
          </p:cNvPr>
          <p:cNvPicPr>
            <a:picLocks noChangeAspect="1"/>
          </p:cNvPicPr>
          <p:nvPr/>
        </p:nvPicPr>
        <p:blipFill>
          <a:blip r:embed="rId4"/>
          <a:stretch>
            <a:fillRect/>
          </a:stretch>
        </p:blipFill>
        <p:spPr>
          <a:xfrm>
            <a:off x="9299529" y="4033221"/>
            <a:ext cx="2601328" cy="1605579"/>
          </a:xfrm>
          <a:prstGeom prst="rect">
            <a:avLst/>
          </a:prstGeom>
        </p:spPr>
      </p:pic>
      <p:pic>
        <p:nvPicPr>
          <p:cNvPr id="11" name="Picture 10">
            <a:extLst>
              <a:ext uri="{FF2B5EF4-FFF2-40B4-BE49-F238E27FC236}">
                <a16:creationId xmlns:a16="http://schemas.microsoft.com/office/drawing/2014/main" id="{2326246A-5C07-457F-ACDD-9A1DA94B24B3}"/>
              </a:ext>
            </a:extLst>
          </p:cNvPr>
          <p:cNvPicPr>
            <a:picLocks noChangeAspect="1"/>
          </p:cNvPicPr>
          <p:nvPr/>
        </p:nvPicPr>
        <p:blipFill>
          <a:blip r:embed="rId5"/>
          <a:stretch>
            <a:fillRect/>
          </a:stretch>
        </p:blipFill>
        <p:spPr>
          <a:xfrm>
            <a:off x="9677562" y="3276600"/>
            <a:ext cx="1903506" cy="603997"/>
          </a:xfrm>
          <a:prstGeom prst="rect">
            <a:avLst/>
          </a:prstGeom>
        </p:spPr>
      </p:pic>
    </p:spTree>
    <p:extLst>
      <p:ext uri="{BB962C8B-B14F-4D97-AF65-F5344CB8AC3E}">
        <p14:creationId xmlns:p14="http://schemas.microsoft.com/office/powerpoint/2010/main" val="227846476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36CAE-2EE1-4D53-A2D7-25992D8B212C}"/>
              </a:ext>
            </a:extLst>
          </p:cNvPr>
          <p:cNvSpPr>
            <a:spLocks noGrp="1"/>
          </p:cNvSpPr>
          <p:nvPr>
            <p:ph type="title"/>
          </p:nvPr>
        </p:nvSpPr>
        <p:spPr/>
        <p:txBody>
          <a:bodyPr/>
          <a:lstStyle/>
          <a:p>
            <a:r>
              <a:rPr lang="en-US" dirty="0"/>
              <a:t>Optimization Method</a:t>
            </a:r>
            <a:endParaRPr lang="en-IN" dirty="0"/>
          </a:p>
        </p:txBody>
      </p:sp>
      <p:sp>
        <p:nvSpPr>
          <p:cNvPr id="3" name="Content Placeholder 2">
            <a:extLst>
              <a:ext uri="{FF2B5EF4-FFF2-40B4-BE49-F238E27FC236}">
                <a16:creationId xmlns:a16="http://schemas.microsoft.com/office/drawing/2014/main" id="{06EDD242-20A4-402D-9A77-E618B79E44E9}"/>
              </a:ext>
            </a:extLst>
          </p:cNvPr>
          <p:cNvSpPr>
            <a:spLocks noGrp="1"/>
          </p:cNvSpPr>
          <p:nvPr>
            <p:ph idx="1"/>
          </p:nvPr>
        </p:nvSpPr>
        <p:spPr/>
        <p:txBody>
          <a:bodyPr/>
          <a:lstStyle/>
          <a:p>
            <a:r>
              <a:rPr lang="en-US" dirty="0">
                <a:solidFill>
                  <a:schemeClr val="bg1">
                    <a:lumMod val="50000"/>
                  </a:schemeClr>
                </a:solidFill>
              </a:rPr>
              <a:t>Gradient Descent</a:t>
            </a:r>
          </a:p>
          <a:p>
            <a:r>
              <a:rPr lang="en-US" dirty="0">
                <a:solidFill>
                  <a:schemeClr val="bg1">
                    <a:lumMod val="50000"/>
                  </a:schemeClr>
                </a:solidFill>
              </a:rPr>
              <a:t>Conjugate Gradient</a:t>
            </a:r>
          </a:p>
          <a:p>
            <a:r>
              <a:rPr lang="en-US" dirty="0"/>
              <a:t>Quasi-Newton</a:t>
            </a:r>
          </a:p>
          <a:p>
            <a:endParaRPr lang="en-IN" dirty="0"/>
          </a:p>
        </p:txBody>
      </p:sp>
      <p:sp>
        <p:nvSpPr>
          <p:cNvPr id="4" name="Slide Number Placeholder 3">
            <a:extLst>
              <a:ext uri="{FF2B5EF4-FFF2-40B4-BE49-F238E27FC236}">
                <a16:creationId xmlns:a16="http://schemas.microsoft.com/office/drawing/2014/main" id="{07E768D9-B191-4EFE-8152-CCCF78B77F37}"/>
              </a:ext>
            </a:extLst>
          </p:cNvPr>
          <p:cNvSpPr>
            <a:spLocks noGrp="1"/>
          </p:cNvSpPr>
          <p:nvPr>
            <p:ph type="sldNum" sz="quarter" idx="12"/>
          </p:nvPr>
        </p:nvSpPr>
        <p:spPr/>
        <p:txBody>
          <a:bodyPr/>
          <a:lstStyle/>
          <a:p>
            <a:fld id="{BB2CE0DE-867F-455F-B20B-96D381B4AB71}" type="slidenum">
              <a:rPr lang="en-US" smtClean="0"/>
              <a:t>121</a:t>
            </a:fld>
            <a:endParaRPr lang="en-US"/>
          </a:p>
        </p:txBody>
      </p:sp>
    </p:spTree>
    <p:extLst>
      <p:ext uri="{BB962C8B-B14F-4D97-AF65-F5344CB8AC3E}">
        <p14:creationId xmlns:p14="http://schemas.microsoft.com/office/powerpoint/2010/main" val="175824376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62540-FD12-48E8-8CF6-E135397DEE40}"/>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6E690202-EDC8-4E52-83F4-61F7523AE852}"/>
              </a:ext>
            </a:extLst>
          </p:cNvPr>
          <p:cNvSpPr>
            <a:spLocks noGrp="1"/>
          </p:cNvSpPr>
          <p:nvPr>
            <p:ph idx="1"/>
          </p:nvPr>
        </p:nvSpPr>
        <p:spPr/>
        <p:txBody>
          <a:bodyPr/>
          <a:lstStyle/>
          <a:p>
            <a:pPr marL="0" indent="0" algn="just">
              <a:buNone/>
            </a:pPr>
            <a:r>
              <a:rPr lang="en-US" sz="1800" dirty="0">
                <a:effectLst/>
              </a:rPr>
              <a:t>In the context of supervised learning, we view training as the process of minimizing a cost </a:t>
            </a:r>
            <a:r>
              <a:rPr lang="en-US" sz="1800" dirty="0" err="1">
                <a:effectLst/>
              </a:rPr>
              <a:t>E</a:t>
            </a:r>
            <a:r>
              <a:rPr lang="en-US" sz="1800" baseline="-25000" dirty="0" err="1">
                <a:effectLst/>
              </a:rPr>
              <a:t>av</a:t>
            </a:r>
            <a:r>
              <a:rPr lang="en-US" sz="1800" dirty="0">
                <a:effectLst/>
              </a:rPr>
              <a:t>(w). While </a:t>
            </a:r>
            <a:r>
              <a:rPr lang="en-US" sz="1800" b="1" dirty="0">
                <a:effectLst/>
              </a:rPr>
              <a:t>Gradient Descent</a:t>
            </a:r>
            <a:r>
              <a:rPr lang="en-US" sz="1800" dirty="0">
                <a:effectLst/>
              </a:rPr>
              <a:t> uses only first-order information (the gradient), the </a:t>
            </a:r>
            <a:r>
              <a:rPr lang="en-US" sz="1800" b="1" dirty="0">
                <a:effectLst/>
              </a:rPr>
              <a:t>Quasi-Newton method</a:t>
            </a:r>
            <a:r>
              <a:rPr lang="en-US" sz="1800" dirty="0">
                <a:effectLst/>
              </a:rPr>
              <a:t> uses an approximation of second-order information (the Hessian) to navigate the error landscape more efficiently.</a:t>
            </a:r>
          </a:p>
          <a:p>
            <a:pPr marL="0" indent="0">
              <a:buNone/>
            </a:pPr>
            <a:endParaRPr lang="en-IN" sz="1600" dirty="0"/>
          </a:p>
          <a:p>
            <a:pPr marL="0" indent="0" algn="just">
              <a:buNone/>
            </a:pPr>
            <a:endParaRPr lang="en-IN" sz="1600" dirty="0"/>
          </a:p>
          <a:p>
            <a:pPr marL="0" indent="0" algn="just">
              <a:buNone/>
            </a:pPr>
            <a:endParaRPr lang="en-US" sz="1800" dirty="0">
              <a:effectLst/>
            </a:endParaRPr>
          </a:p>
          <a:p>
            <a:pPr marL="0" indent="0" algn="just">
              <a:buNone/>
            </a:pPr>
            <a:endParaRPr lang="en-US" sz="1800" dirty="0"/>
          </a:p>
          <a:p>
            <a:pPr marL="0" indent="0" algn="just">
              <a:buNone/>
            </a:pPr>
            <a:endParaRPr lang="en-US" sz="1800" dirty="0">
              <a:effectLst/>
            </a:endParaRPr>
          </a:p>
          <a:p>
            <a:pPr marL="0" indent="0" algn="just">
              <a:buNone/>
            </a:pPr>
            <a:endParaRPr lang="en-US" sz="1800" dirty="0"/>
          </a:p>
          <a:p>
            <a:pPr marL="0" indent="0" algn="just">
              <a:buNone/>
            </a:pPr>
            <a:endParaRPr lang="en-US" sz="1800" dirty="0">
              <a:effectLst/>
            </a:endParaRPr>
          </a:p>
          <a:p>
            <a:pPr marL="0" indent="0" algn="just">
              <a:buNone/>
            </a:pPr>
            <a:endParaRPr lang="en-IN" sz="1800" dirty="0"/>
          </a:p>
        </p:txBody>
      </p:sp>
      <p:sp>
        <p:nvSpPr>
          <p:cNvPr id="4" name="Slide Number Placeholder 3">
            <a:extLst>
              <a:ext uri="{FF2B5EF4-FFF2-40B4-BE49-F238E27FC236}">
                <a16:creationId xmlns:a16="http://schemas.microsoft.com/office/drawing/2014/main" id="{8328E6C7-7B19-4024-8F2E-AFF348748171}"/>
              </a:ext>
            </a:extLst>
          </p:cNvPr>
          <p:cNvSpPr>
            <a:spLocks noGrp="1"/>
          </p:cNvSpPr>
          <p:nvPr>
            <p:ph type="sldNum" sz="quarter" idx="12"/>
          </p:nvPr>
        </p:nvSpPr>
        <p:spPr/>
        <p:txBody>
          <a:bodyPr/>
          <a:lstStyle/>
          <a:p>
            <a:fld id="{BB2CE0DE-867F-455F-B20B-96D381B4AB71}" type="slidenum">
              <a:rPr lang="en-US" smtClean="0"/>
              <a:t>122</a:t>
            </a:fld>
            <a:endParaRPr lang="en-US"/>
          </a:p>
        </p:txBody>
      </p:sp>
      <p:pic>
        <p:nvPicPr>
          <p:cNvPr id="6" name="Picture 5">
            <a:extLst>
              <a:ext uri="{FF2B5EF4-FFF2-40B4-BE49-F238E27FC236}">
                <a16:creationId xmlns:a16="http://schemas.microsoft.com/office/drawing/2014/main" id="{3AC25D54-F5B4-4AD4-9BB4-7ED1C9CC13FE}"/>
              </a:ext>
            </a:extLst>
          </p:cNvPr>
          <p:cNvPicPr>
            <a:picLocks noChangeAspect="1"/>
          </p:cNvPicPr>
          <p:nvPr/>
        </p:nvPicPr>
        <p:blipFill>
          <a:blip r:embed="rId3"/>
          <a:stretch>
            <a:fillRect/>
          </a:stretch>
        </p:blipFill>
        <p:spPr>
          <a:xfrm>
            <a:off x="4495800" y="3323902"/>
            <a:ext cx="7459116" cy="2314898"/>
          </a:xfrm>
          <a:prstGeom prst="rect">
            <a:avLst/>
          </a:prstGeom>
        </p:spPr>
      </p:pic>
      <p:sp>
        <p:nvSpPr>
          <p:cNvPr id="5" name="TextBox 4">
            <a:extLst>
              <a:ext uri="{FF2B5EF4-FFF2-40B4-BE49-F238E27FC236}">
                <a16:creationId xmlns:a16="http://schemas.microsoft.com/office/drawing/2014/main" id="{A864C32B-863D-4B32-B245-D67635247848}"/>
              </a:ext>
            </a:extLst>
          </p:cNvPr>
          <p:cNvSpPr txBox="1"/>
          <p:nvPr/>
        </p:nvSpPr>
        <p:spPr>
          <a:xfrm>
            <a:off x="6629400" y="2878370"/>
            <a:ext cx="3701654" cy="369332"/>
          </a:xfrm>
          <a:prstGeom prst="rect">
            <a:avLst/>
          </a:prstGeom>
          <a:noFill/>
        </p:spPr>
        <p:txBody>
          <a:bodyPr wrap="none" rtlCol="0">
            <a:spAutoFit/>
          </a:bodyPr>
          <a:lstStyle/>
          <a:p>
            <a:r>
              <a:rPr lang="en-US" dirty="0"/>
              <a:t>Taylor Series of Error Function</a:t>
            </a:r>
            <a:endParaRPr lang="en-IN" dirty="0"/>
          </a:p>
        </p:txBody>
      </p:sp>
    </p:spTree>
    <p:extLst>
      <p:ext uri="{BB962C8B-B14F-4D97-AF65-F5344CB8AC3E}">
        <p14:creationId xmlns:p14="http://schemas.microsoft.com/office/powerpoint/2010/main" val="197676565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62540-FD12-48E8-8CF6-E135397DEE40}"/>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6E690202-EDC8-4E52-83F4-61F7523AE852}"/>
              </a:ext>
            </a:extLst>
          </p:cNvPr>
          <p:cNvSpPr>
            <a:spLocks noGrp="1"/>
          </p:cNvSpPr>
          <p:nvPr>
            <p:ph idx="1"/>
          </p:nvPr>
        </p:nvSpPr>
        <p:spPr/>
        <p:txBody>
          <a:bodyPr/>
          <a:lstStyle/>
          <a:p>
            <a:pPr marL="0" indent="0" algn="just">
              <a:buNone/>
            </a:pPr>
            <a:r>
              <a:rPr lang="en-US" sz="1800" dirty="0">
                <a:effectLst/>
              </a:rPr>
              <a:t>In the context of supervised learning, we view training as the process of minimizing a cost </a:t>
            </a:r>
            <a:r>
              <a:rPr lang="en-US" sz="1800" dirty="0" err="1">
                <a:effectLst/>
              </a:rPr>
              <a:t>E</a:t>
            </a:r>
            <a:r>
              <a:rPr lang="en-US" sz="1800" baseline="-25000" dirty="0" err="1">
                <a:effectLst/>
              </a:rPr>
              <a:t>av</a:t>
            </a:r>
            <a:r>
              <a:rPr lang="en-US" sz="1800" dirty="0">
                <a:effectLst/>
              </a:rPr>
              <a:t>(w). While </a:t>
            </a:r>
            <a:r>
              <a:rPr lang="en-US" sz="1800" b="1" dirty="0">
                <a:effectLst/>
              </a:rPr>
              <a:t>Gradient Descent</a:t>
            </a:r>
            <a:r>
              <a:rPr lang="en-US" sz="1800" dirty="0">
                <a:effectLst/>
              </a:rPr>
              <a:t> uses only first-order information (the gradient), the </a:t>
            </a:r>
            <a:r>
              <a:rPr lang="en-US" sz="1800" b="1" dirty="0">
                <a:effectLst/>
              </a:rPr>
              <a:t>Quasi-Newton method</a:t>
            </a:r>
            <a:r>
              <a:rPr lang="en-US" sz="1800" dirty="0">
                <a:effectLst/>
              </a:rPr>
              <a:t> uses an approximation of second-order information (the Hessian) to navigate the error landscape more efficiently.</a:t>
            </a:r>
          </a:p>
          <a:p>
            <a:pPr marL="0" indent="0" algn="just">
              <a:buNone/>
            </a:pPr>
            <a:r>
              <a:rPr lang="en-US" sz="1800" b="1" dirty="0">
                <a:effectLst/>
              </a:rPr>
              <a:t>1. The Newton Foundation</a:t>
            </a:r>
          </a:p>
          <a:p>
            <a:pPr marL="0" indent="0" algn="just">
              <a:buNone/>
            </a:pPr>
            <a:r>
              <a:rPr lang="en-US" sz="1800" dirty="0">
                <a:effectLst/>
              </a:rPr>
              <a:t>Newton’s method uses the </a:t>
            </a:r>
            <a:r>
              <a:rPr lang="en-US" sz="1800" b="1" dirty="0">
                <a:effectLst/>
              </a:rPr>
              <a:t>Hessian matrix H</a:t>
            </a:r>
            <a:r>
              <a:rPr lang="en-US" sz="1800" dirty="0">
                <a:effectLst/>
              </a:rPr>
              <a:t> (the square matrix of second-order partial derivatives of the error with respect to weights) to find the search direction. The weight update rule is:</a:t>
            </a:r>
          </a:p>
          <a:p>
            <a:pPr marL="0" indent="0" algn="just">
              <a:buNone/>
            </a:pPr>
            <a:endParaRPr lang="en-US" sz="1800" dirty="0"/>
          </a:p>
          <a:p>
            <a:pPr marL="0" indent="0" algn="just">
              <a:buNone/>
            </a:pPr>
            <a:endParaRPr lang="en-US" sz="1800" dirty="0">
              <a:effectLst/>
            </a:endParaRPr>
          </a:p>
          <a:p>
            <a:pPr marL="0" indent="0" algn="just">
              <a:buNone/>
            </a:pPr>
            <a:r>
              <a:rPr lang="en-US" sz="1600" b="1" dirty="0">
                <a:effectLst/>
              </a:rPr>
              <a:t>The Problem:</a:t>
            </a:r>
            <a:r>
              <a:rPr lang="en-US" sz="1600" dirty="0"/>
              <a:t> Calculating the exact Hessian </a:t>
            </a:r>
            <a:r>
              <a:rPr lang="en-US" sz="1600" dirty="0">
                <a:effectLst/>
              </a:rPr>
              <a:t>H</a:t>
            </a:r>
            <a:r>
              <a:rPr lang="en-US" sz="1600" dirty="0"/>
              <a:t> and its inverse </a:t>
            </a:r>
            <a:r>
              <a:rPr lang="en-US" sz="1600" dirty="0">
                <a:effectLst/>
              </a:rPr>
              <a:t>H</a:t>
            </a:r>
            <a:r>
              <a:rPr lang="en-US" sz="1600" baseline="30000" dirty="0">
                <a:effectLst/>
              </a:rPr>
              <a:t>-1</a:t>
            </a:r>
            <a:r>
              <a:rPr lang="en-US" sz="1600" dirty="0"/>
              <a:t> is computationally expensive—order of </a:t>
            </a:r>
            <a:r>
              <a:rPr lang="en-US" sz="1600" dirty="0">
                <a:effectLst/>
              </a:rPr>
              <a:t>O(N</a:t>
            </a:r>
            <a:r>
              <a:rPr lang="en-US" sz="1600" baseline="30000" dirty="0">
                <a:effectLst/>
              </a:rPr>
              <a:t>3</a:t>
            </a:r>
            <a:r>
              <a:rPr lang="en-US" sz="1600" dirty="0">
                <a:effectLst/>
              </a:rPr>
              <a:t>)</a:t>
            </a:r>
            <a:r>
              <a:rPr lang="en-US" sz="1600" dirty="0"/>
              <a:t>, where </a:t>
            </a:r>
            <a:r>
              <a:rPr lang="en-US" sz="1600" dirty="0">
                <a:effectLst/>
              </a:rPr>
              <a:t>N</a:t>
            </a:r>
            <a:r>
              <a:rPr lang="en-US" sz="1600" dirty="0"/>
              <a:t> is the number of weights. This is impractical for deep networks with millions of parameters.</a:t>
            </a:r>
          </a:p>
          <a:p>
            <a:pPr marL="0" indent="0">
              <a:buNone/>
            </a:pPr>
            <a:endParaRPr lang="en-IN" sz="1600" dirty="0"/>
          </a:p>
          <a:p>
            <a:pPr marL="0" indent="0" algn="just">
              <a:buNone/>
            </a:pPr>
            <a:endParaRPr lang="en-IN" sz="1600" dirty="0"/>
          </a:p>
          <a:p>
            <a:pPr marL="0" indent="0" algn="just">
              <a:buNone/>
            </a:pPr>
            <a:endParaRPr lang="en-US" sz="1800" dirty="0">
              <a:effectLst/>
            </a:endParaRPr>
          </a:p>
          <a:p>
            <a:pPr marL="0" indent="0" algn="just">
              <a:buNone/>
            </a:pPr>
            <a:endParaRPr lang="en-US" sz="1800" dirty="0"/>
          </a:p>
          <a:p>
            <a:pPr marL="0" indent="0" algn="just">
              <a:buNone/>
            </a:pPr>
            <a:endParaRPr lang="en-US" sz="1800" dirty="0">
              <a:effectLst/>
            </a:endParaRPr>
          </a:p>
          <a:p>
            <a:pPr marL="0" indent="0" algn="just">
              <a:buNone/>
            </a:pPr>
            <a:endParaRPr lang="en-US" sz="1800" dirty="0"/>
          </a:p>
          <a:p>
            <a:pPr marL="0" indent="0" algn="just">
              <a:buNone/>
            </a:pPr>
            <a:endParaRPr lang="en-US" sz="1800" dirty="0">
              <a:effectLst/>
            </a:endParaRPr>
          </a:p>
          <a:p>
            <a:pPr marL="0" indent="0" algn="just">
              <a:buNone/>
            </a:pPr>
            <a:endParaRPr lang="en-IN" sz="1800" dirty="0"/>
          </a:p>
        </p:txBody>
      </p:sp>
      <p:sp>
        <p:nvSpPr>
          <p:cNvPr id="4" name="Slide Number Placeholder 3">
            <a:extLst>
              <a:ext uri="{FF2B5EF4-FFF2-40B4-BE49-F238E27FC236}">
                <a16:creationId xmlns:a16="http://schemas.microsoft.com/office/drawing/2014/main" id="{8328E6C7-7B19-4024-8F2E-AFF348748171}"/>
              </a:ext>
            </a:extLst>
          </p:cNvPr>
          <p:cNvSpPr>
            <a:spLocks noGrp="1"/>
          </p:cNvSpPr>
          <p:nvPr>
            <p:ph type="sldNum" sz="quarter" idx="12"/>
          </p:nvPr>
        </p:nvSpPr>
        <p:spPr/>
        <p:txBody>
          <a:bodyPr/>
          <a:lstStyle/>
          <a:p>
            <a:fld id="{BB2CE0DE-867F-455F-B20B-96D381B4AB71}" type="slidenum">
              <a:rPr lang="en-US" smtClean="0"/>
              <a:t>123</a:t>
            </a:fld>
            <a:endParaRPr lang="en-US"/>
          </a:p>
        </p:txBody>
      </p:sp>
      <p:pic>
        <p:nvPicPr>
          <p:cNvPr id="8" name="Picture 7">
            <a:extLst>
              <a:ext uri="{FF2B5EF4-FFF2-40B4-BE49-F238E27FC236}">
                <a16:creationId xmlns:a16="http://schemas.microsoft.com/office/drawing/2014/main" id="{BDE146D2-5B06-4200-BDC8-1981623333EC}"/>
              </a:ext>
            </a:extLst>
          </p:cNvPr>
          <p:cNvPicPr>
            <a:picLocks noChangeAspect="1"/>
          </p:cNvPicPr>
          <p:nvPr/>
        </p:nvPicPr>
        <p:blipFill>
          <a:blip r:embed="rId3"/>
          <a:stretch>
            <a:fillRect/>
          </a:stretch>
        </p:blipFill>
        <p:spPr>
          <a:xfrm>
            <a:off x="2819400" y="3528984"/>
            <a:ext cx="3828242" cy="585816"/>
          </a:xfrm>
          <a:prstGeom prst="rect">
            <a:avLst/>
          </a:prstGeom>
        </p:spPr>
      </p:pic>
      <p:pic>
        <p:nvPicPr>
          <p:cNvPr id="7" name="Picture 6">
            <a:extLst>
              <a:ext uri="{FF2B5EF4-FFF2-40B4-BE49-F238E27FC236}">
                <a16:creationId xmlns:a16="http://schemas.microsoft.com/office/drawing/2014/main" id="{83510C8E-8F3D-4C1C-B39D-5A1109DBD807}"/>
              </a:ext>
            </a:extLst>
          </p:cNvPr>
          <p:cNvPicPr>
            <a:picLocks noChangeAspect="1"/>
          </p:cNvPicPr>
          <p:nvPr/>
        </p:nvPicPr>
        <p:blipFill>
          <a:blip r:embed="rId4"/>
          <a:stretch>
            <a:fillRect/>
          </a:stretch>
        </p:blipFill>
        <p:spPr>
          <a:xfrm>
            <a:off x="7772400" y="4864756"/>
            <a:ext cx="4267200" cy="1856720"/>
          </a:xfrm>
          <a:prstGeom prst="rect">
            <a:avLst/>
          </a:prstGeom>
        </p:spPr>
      </p:pic>
    </p:spTree>
    <p:extLst>
      <p:ext uri="{BB962C8B-B14F-4D97-AF65-F5344CB8AC3E}">
        <p14:creationId xmlns:p14="http://schemas.microsoft.com/office/powerpoint/2010/main" val="22876836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0AB89-F429-45A3-A7FF-A0BE4EFDF94E}"/>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D071AE8A-A907-4038-A770-EF7A386853E8}"/>
              </a:ext>
            </a:extLst>
          </p:cNvPr>
          <p:cNvSpPr>
            <a:spLocks noGrp="1"/>
          </p:cNvSpPr>
          <p:nvPr>
            <p:ph idx="1"/>
          </p:nvPr>
        </p:nvSpPr>
        <p:spPr/>
        <p:txBody>
          <a:bodyPr/>
          <a:lstStyle/>
          <a:p>
            <a:pPr marL="0" indent="0">
              <a:buNone/>
            </a:pPr>
            <a:r>
              <a:rPr lang="en-US" sz="1800" b="1" dirty="0">
                <a:effectLst/>
              </a:rPr>
              <a:t>2. The Quasi-Newton Solution</a:t>
            </a:r>
          </a:p>
          <a:p>
            <a:pPr marL="0" indent="0">
              <a:buNone/>
            </a:pPr>
            <a:r>
              <a:rPr lang="en-US" sz="1800" dirty="0">
                <a:effectLst/>
              </a:rPr>
              <a:t>Instead of calculating the exact Hessian at every step, Quasi-Newton methods </a:t>
            </a:r>
            <a:r>
              <a:rPr lang="en-US" sz="1800" b="1" dirty="0">
                <a:effectLst/>
              </a:rPr>
              <a:t>build an approximation</a:t>
            </a:r>
            <a:r>
              <a:rPr lang="en-US" sz="1800" dirty="0">
                <a:effectLst/>
              </a:rPr>
              <a:t> of the inverse Hessian using only the gradient information obtained from successive backpropagation steps.</a:t>
            </a:r>
          </a:p>
          <a:p>
            <a:pPr marL="0" indent="0">
              <a:buNone/>
            </a:pPr>
            <a:r>
              <a:rPr lang="en-US" sz="1800" dirty="0">
                <a:effectLst/>
              </a:rPr>
              <a:t>Let B(n) be the approximation of the inverse Hessian matrix H</a:t>
            </a:r>
            <a:r>
              <a:rPr lang="en-US" sz="1800" baseline="30000" dirty="0">
                <a:effectLst/>
              </a:rPr>
              <a:t>-1</a:t>
            </a:r>
            <a:r>
              <a:rPr lang="en-US" sz="1800" dirty="0">
                <a:effectLst/>
              </a:rPr>
              <a:t>(n) at time-step n.</a:t>
            </a:r>
          </a:p>
          <a:p>
            <a:pPr marL="0" indent="0">
              <a:buNone/>
            </a:pPr>
            <a:endParaRPr lang="en-US" sz="1800" b="1" dirty="0">
              <a:effectLst/>
            </a:endParaRPr>
          </a:p>
          <a:p>
            <a:pPr marL="0" indent="0">
              <a:buNone/>
            </a:pPr>
            <a:r>
              <a:rPr lang="en-US" sz="1800" b="1" dirty="0">
                <a:effectLst/>
              </a:rPr>
              <a:t>3. The BFGS Algorithm for Weight Updates</a:t>
            </a:r>
          </a:p>
          <a:p>
            <a:pPr marL="0" indent="0">
              <a:buNone/>
            </a:pPr>
            <a:r>
              <a:rPr lang="en-US" sz="1800" dirty="0">
                <a:effectLst/>
              </a:rPr>
              <a:t>The most popular Quasi-Newton implementation is the </a:t>
            </a:r>
            <a:r>
              <a:rPr lang="en-US" sz="1800" b="1" dirty="0">
                <a:effectLst/>
              </a:rPr>
              <a:t>BFGS</a:t>
            </a:r>
            <a:r>
              <a:rPr lang="en-US" sz="1800" dirty="0">
                <a:effectLst/>
              </a:rPr>
              <a:t> (</a:t>
            </a:r>
            <a:r>
              <a:rPr lang="en-US" sz="1800" dirty="0" err="1">
                <a:effectLst/>
              </a:rPr>
              <a:t>Broyden</a:t>
            </a:r>
            <a:r>
              <a:rPr lang="en-US" sz="1800" dirty="0">
                <a:effectLst/>
              </a:rPr>
              <a:t>–Fletcher–Goldfarb–</a:t>
            </a:r>
            <a:r>
              <a:rPr lang="en-US" sz="1800" dirty="0" err="1">
                <a:effectLst/>
              </a:rPr>
              <a:t>Shanno</a:t>
            </a:r>
            <a:r>
              <a:rPr lang="en-US" sz="1800" dirty="0">
                <a:effectLst/>
              </a:rPr>
              <a:t>) algorithm. It updates the estimate of the inverse Hessian B at each step n based on the change in gradients.</a:t>
            </a:r>
          </a:p>
          <a:p>
            <a:pPr marL="0" indent="0">
              <a:buNone/>
            </a:pPr>
            <a:endParaRPr lang="en-IN" sz="1800" dirty="0"/>
          </a:p>
        </p:txBody>
      </p:sp>
      <p:sp>
        <p:nvSpPr>
          <p:cNvPr id="4" name="Slide Number Placeholder 3">
            <a:extLst>
              <a:ext uri="{FF2B5EF4-FFF2-40B4-BE49-F238E27FC236}">
                <a16:creationId xmlns:a16="http://schemas.microsoft.com/office/drawing/2014/main" id="{5C413DCC-DB16-476E-B9EB-AEC27887B15D}"/>
              </a:ext>
            </a:extLst>
          </p:cNvPr>
          <p:cNvSpPr>
            <a:spLocks noGrp="1"/>
          </p:cNvSpPr>
          <p:nvPr>
            <p:ph type="sldNum" sz="quarter" idx="12"/>
          </p:nvPr>
        </p:nvSpPr>
        <p:spPr/>
        <p:txBody>
          <a:bodyPr/>
          <a:lstStyle/>
          <a:p>
            <a:fld id="{BB2CE0DE-867F-455F-B20B-96D381B4AB71}" type="slidenum">
              <a:rPr lang="en-US" smtClean="0"/>
              <a:t>124</a:t>
            </a:fld>
            <a:endParaRPr lang="en-US"/>
          </a:p>
        </p:txBody>
      </p:sp>
    </p:spTree>
    <p:extLst>
      <p:ext uri="{BB962C8B-B14F-4D97-AF65-F5344CB8AC3E}">
        <p14:creationId xmlns:p14="http://schemas.microsoft.com/office/powerpoint/2010/main" val="34883534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BD67-AAD2-49A3-858B-C96BCC7EA831}"/>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B40DC7A2-B228-4A20-B4DF-8806DE2A0C73}"/>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4509E5D7-69E4-4961-9A50-F4930A862988}"/>
              </a:ext>
            </a:extLst>
          </p:cNvPr>
          <p:cNvSpPr>
            <a:spLocks noGrp="1"/>
          </p:cNvSpPr>
          <p:nvPr>
            <p:ph type="sldNum" sz="quarter" idx="12"/>
          </p:nvPr>
        </p:nvSpPr>
        <p:spPr/>
        <p:txBody>
          <a:bodyPr/>
          <a:lstStyle/>
          <a:p>
            <a:fld id="{BB2CE0DE-867F-455F-B20B-96D381B4AB71}" type="slidenum">
              <a:rPr lang="en-US" smtClean="0"/>
              <a:t>125</a:t>
            </a:fld>
            <a:endParaRPr lang="en-US"/>
          </a:p>
        </p:txBody>
      </p:sp>
      <p:pic>
        <p:nvPicPr>
          <p:cNvPr id="6" name="Picture 5">
            <a:extLst>
              <a:ext uri="{FF2B5EF4-FFF2-40B4-BE49-F238E27FC236}">
                <a16:creationId xmlns:a16="http://schemas.microsoft.com/office/drawing/2014/main" id="{78892D70-841E-48B5-A982-F523F8E40301}"/>
              </a:ext>
            </a:extLst>
          </p:cNvPr>
          <p:cNvPicPr>
            <a:picLocks noChangeAspect="1"/>
          </p:cNvPicPr>
          <p:nvPr/>
        </p:nvPicPr>
        <p:blipFill rotWithShape="1">
          <a:blip r:embed="rId3"/>
          <a:srcRect b="42952"/>
          <a:stretch/>
        </p:blipFill>
        <p:spPr>
          <a:xfrm>
            <a:off x="281789" y="993178"/>
            <a:ext cx="9489091" cy="2935045"/>
          </a:xfrm>
          <a:prstGeom prst="rect">
            <a:avLst/>
          </a:prstGeom>
        </p:spPr>
      </p:pic>
      <p:pic>
        <p:nvPicPr>
          <p:cNvPr id="7" name="Picture 6">
            <a:extLst>
              <a:ext uri="{FF2B5EF4-FFF2-40B4-BE49-F238E27FC236}">
                <a16:creationId xmlns:a16="http://schemas.microsoft.com/office/drawing/2014/main" id="{28D69E24-B106-48BC-B31E-25F754E605CC}"/>
              </a:ext>
            </a:extLst>
          </p:cNvPr>
          <p:cNvPicPr>
            <a:picLocks noChangeAspect="1"/>
          </p:cNvPicPr>
          <p:nvPr/>
        </p:nvPicPr>
        <p:blipFill>
          <a:blip r:embed="rId4"/>
          <a:stretch>
            <a:fillRect/>
          </a:stretch>
        </p:blipFill>
        <p:spPr>
          <a:xfrm>
            <a:off x="7696200" y="3731222"/>
            <a:ext cx="4332393" cy="2743200"/>
          </a:xfrm>
          <a:prstGeom prst="rect">
            <a:avLst/>
          </a:prstGeom>
        </p:spPr>
      </p:pic>
      <p:sp>
        <p:nvSpPr>
          <p:cNvPr id="8" name="TextBox 7">
            <a:extLst>
              <a:ext uri="{FF2B5EF4-FFF2-40B4-BE49-F238E27FC236}">
                <a16:creationId xmlns:a16="http://schemas.microsoft.com/office/drawing/2014/main" id="{6D5084CF-43B4-4E7B-A61A-72206B6BC683}"/>
              </a:ext>
            </a:extLst>
          </p:cNvPr>
          <p:cNvSpPr txBox="1"/>
          <p:nvPr/>
        </p:nvSpPr>
        <p:spPr>
          <a:xfrm>
            <a:off x="9106508" y="3426422"/>
            <a:ext cx="2852127" cy="307777"/>
          </a:xfrm>
          <a:prstGeom prst="rect">
            <a:avLst/>
          </a:prstGeom>
          <a:noFill/>
        </p:spPr>
        <p:txBody>
          <a:bodyPr wrap="none" rtlCol="0">
            <a:spAutoFit/>
          </a:bodyPr>
          <a:lstStyle/>
          <a:p>
            <a:r>
              <a:rPr lang="en-US" sz="1400" dirty="0"/>
              <a:t>Illustration of the line search.</a:t>
            </a:r>
            <a:endParaRPr lang="en-IN" sz="1400" dirty="0"/>
          </a:p>
        </p:txBody>
      </p:sp>
      <p:sp>
        <p:nvSpPr>
          <p:cNvPr id="9" name="TextBox 8">
            <a:extLst>
              <a:ext uri="{FF2B5EF4-FFF2-40B4-BE49-F238E27FC236}">
                <a16:creationId xmlns:a16="http://schemas.microsoft.com/office/drawing/2014/main" id="{33225ED8-9C73-4655-A6C0-666B39366A61}"/>
              </a:ext>
            </a:extLst>
          </p:cNvPr>
          <p:cNvSpPr txBox="1"/>
          <p:nvPr/>
        </p:nvSpPr>
        <p:spPr>
          <a:xfrm>
            <a:off x="2051726" y="3993427"/>
            <a:ext cx="6030818" cy="954107"/>
          </a:xfrm>
          <a:prstGeom prst="rect">
            <a:avLst/>
          </a:prstGeom>
          <a:noFill/>
        </p:spPr>
        <p:txBody>
          <a:bodyPr wrap="none" rtlCol="0">
            <a:spAutoFit/>
          </a:bodyPr>
          <a:lstStyle/>
          <a:p>
            <a:r>
              <a:rPr lang="en-US" sz="1400" dirty="0"/>
              <a:t>We initiate the search procedure by searching along the line </a:t>
            </a:r>
          </a:p>
          <a:p>
            <a:r>
              <a:rPr lang="en-US" sz="1400" dirty="0"/>
              <a:t>until we find three points n</a:t>
            </a:r>
            <a:r>
              <a:rPr lang="en-US" sz="1400" baseline="-25000" dirty="0"/>
              <a:t>1</a:t>
            </a:r>
            <a:r>
              <a:rPr lang="en-US" sz="1400" dirty="0"/>
              <a:t>, n</a:t>
            </a:r>
            <a:r>
              <a:rPr lang="en-US" sz="1400" baseline="-25000" dirty="0"/>
              <a:t>2</a:t>
            </a:r>
            <a:r>
              <a:rPr lang="en-US" sz="1400" dirty="0"/>
              <a:t>, and n</a:t>
            </a:r>
            <a:r>
              <a:rPr lang="en-US" sz="1400" baseline="-25000" dirty="0"/>
              <a:t>3</a:t>
            </a:r>
            <a:r>
              <a:rPr lang="en-US" sz="1400" dirty="0"/>
              <a:t> such that the following </a:t>
            </a:r>
          </a:p>
          <a:p>
            <a:r>
              <a:rPr lang="en-US" sz="1400" dirty="0"/>
              <a:t>condition is satisfied, as illustrated in Figure</a:t>
            </a:r>
            <a:endParaRPr lang="en-IN" sz="1400" dirty="0"/>
          </a:p>
          <a:p>
            <a:endParaRPr lang="en-IN" sz="1400" dirty="0"/>
          </a:p>
        </p:txBody>
      </p:sp>
      <p:pic>
        <p:nvPicPr>
          <p:cNvPr id="11" name="Picture 10">
            <a:extLst>
              <a:ext uri="{FF2B5EF4-FFF2-40B4-BE49-F238E27FC236}">
                <a16:creationId xmlns:a16="http://schemas.microsoft.com/office/drawing/2014/main" id="{A2BEC227-45CC-4B27-9149-7873AE14ED6E}"/>
              </a:ext>
            </a:extLst>
          </p:cNvPr>
          <p:cNvPicPr>
            <a:picLocks noChangeAspect="1"/>
          </p:cNvPicPr>
          <p:nvPr/>
        </p:nvPicPr>
        <p:blipFill>
          <a:blip r:embed="rId5"/>
          <a:stretch>
            <a:fillRect/>
          </a:stretch>
        </p:blipFill>
        <p:spPr>
          <a:xfrm>
            <a:off x="2293819" y="4761406"/>
            <a:ext cx="4944165" cy="514422"/>
          </a:xfrm>
          <a:prstGeom prst="rect">
            <a:avLst/>
          </a:prstGeom>
        </p:spPr>
      </p:pic>
      <p:sp>
        <p:nvSpPr>
          <p:cNvPr id="12" name="TextBox 11">
            <a:extLst>
              <a:ext uri="{FF2B5EF4-FFF2-40B4-BE49-F238E27FC236}">
                <a16:creationId xmlns:a16="http://schemas.microsoft.com/office/drawing/2014/main" id="{DC626CB4-1BF6-4766-A1AB-1BFFA860627C}"/>
              </a:ext>
            </a:extLst>
          </p:cNvPr>
          <p:cNvSpPr txBox="1"/>
          <p:nvPr/>
        </p:nvSpPr>
        <p:spPr>
          <a:xfrm>
            <a:off x="2068453" y="5365199"/>
            <a:ext cx="5277342" cy="738664"/>
          </a:xfrm>
          <a:prstGeom prst="rect">
            <a:avLst/>
          </a:prstGeom>
          <a:noFill/>
        </p:spPr>
        <p:txBody>
          <a:bodyPr wrap="none" rtlCol="0">
            <a:spAutoFit/>
          </a:bodyPr>
          <a:lstStyle/>
          <a:p>
            <a:r>
              <a:rPr lang="en-US" sz="1400" dirty="0"/>
              <a:t>Since </a:t>
            </a:r>
            <a:r>
              <a:rPr lang="en-US" sz="1400" dirty="0" err="1"/>
              <a:t>E</a:t>
            </a:r>
            <a:r>
              <a:rPr lang="en-US" sz="1400" baseline="-25000" dirty="0" err="1"/>
              <a:t>av</a:t>
            </a:r>
            <a:r>
              <a:rPr lang="en-US" sz="1400" dirty="0"/>
              <a:t>(n) is a continuous function of n , the choice </a:t>
            </a:r>
          </a:p>
          <a:p>
            <a:r>
              <a:rPr lang="en-US" sz="1400" dirty="0"/>
              <a:t>described in Equation ensures that the bracket [n</a:t>
            </a:r>
            <a:r>
              <a:rPr lang="en-US" sz="1400" baseline="-25000" dirty="0"/>
              <a:t>1</a:t>
            </a:r>
            <a:r>
              <a:rPr lang="en-US" sz="1400" dirty="0"/>
              <a:t>, n</a:t>
            </a:r>
            <a:r>
              <a:rPr lang="en-US" sz="1400" baseline="-25000" dirty="0"/>
              <a:t>3</a:t>
            </a:r>
            <a:r>
              <a:rPr lang="en-US" sz="1400" dirty="0"/>
              <a:t>] </a:t>
            </a:r>
          </a:p>
          <a:p>
            <a:r>
              <a:rPr lang="en-US" sz="1400" dirty="0"/>
              <a:t>contains a minimum of the function .</a:t>
            </a:r>
            <a:endParaRPr lang="en-IN" sz="1400" dirty="0"/>
          </a:p>
        </p:txBody>
      </p:sp>
      <p:sp>
        <p:nvSpPr>
          <p:cNvPr id="13" name="TextBox 12">
            <a:extLst>
              <a:ext uri="{FF2B5EF4-FFF2-40B4-BE49-F238E27FC236}">
                <a16:creationId xmlns:a16="http://schemas.microsoft.com/office/drawing/2014/main" id="{855BB2D1-CD87-4FC3-A3BF-3275E6EA38DF}"/>
              </a:ext>
            </a:extLst>
          </p:cNvPr>
          <p:cNvSpPr txBox="1"/>
          <p:nvPr/>
        </p:nvSpPr>
        <p:spPr>
          <a:xfrm>
            <a:off x="192512" y="4349536"/>
            <a:ext cx="1872820" cy="1384995"/>
          </a:xfrm>
          <a:prstGeom prst="rect">
            <a:avLst/>
          </a:prstGeom>
          <a:noFill/>
        </p:spPr>
        <p:txBody>
          <a:bodyPr wrap="none" rtlCol="0">
            <a:spAutoFit/>
          </a:bodyPr>
          <a:lstStyle/>
          <a:p>
            <a:r>
              <a:rPr lang="en-US" sz="1400" dirty="0"/>
              <a:t>Let </a:t>
            </a:r>
            <a:r>
              <a:rPr lang="en-US" sz="1400" dirty="0" err="1"/>
              <a:t>E</a:t>
            </a:r>
            <a:r>
              <a:rPr lang="en-US" sz="1400" baseline="-25000" dirty="0" err="1"/>
              <a:t>av</a:t>
            </a:r>
            <a:r>
              <a:rPr lang="en-US" sz="1400" dirty="0"/>
              <a:t>(n) denote </a:t>
            </a:r>
          </a:p>
          <a:p>
            <a:r>
              <a:rPr lang="en-US" sz="1400" dirty="0"/>
              <a:t>the cost function </a:t>
            </a:r>
          </a:p>
          <a:p>
            <a:r>
              <a:rPr lang="en-US" sz="1400" dirty="0"/>
              <a:t>of the multilayer </a:t>
            </a:r>
          </a:p>
          <a:p>
            <a:r>
              <a:rPr lang="en-US" sz="1400" dirty="0"/>
              <a:t>perceptron, </a:t>
            </a:r>
          </a:p>
          <a:p>
            <a:r>
              <a:rPr lang="en-US" sz="1400" dirty="0"/>
              <a:t>expressed as a </a:t>
            </a:r>
          </a:p>
          <a:p>
            <a:r>
              <a:rPr lang="en-US" sz="1400" dirty="0"/>
              <a:t>function of n</a:t>
            </a:r>
            <a:endParaRPr lang="en-IN" sz="1400" dirty="0"/>
          </a:p>
        </p:txBody>
      </p:sp>
    </p:spTree>
    <p:extLst>
      <p:ext uri="{BB962C8B-B14F-4D97-AF65-F5344CB8AC3E}">
        <p14:creationId xmlns:p14="http://schemas.microsoft.com/office/powerpoint/2010/main" val="25023405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BD67-AAD2-49A3-858B-C96BCC7EA831}"/>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B40DC7A2-B228-4A20-B4DF-8806DE2A0C7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509E5D7-69E4-4961-9A50-F4930A862988}"/>
              </a:ext>
            </a:extLst>
          </p:cNvPr>
          <p:cNvSpPr>
            <a:spLocks noGrp="1"/>
          </p:cNvSpPr>
          <p:nvPr>
            <p:ph type="sldNum" sz="quarter" idx="12"/>
          </p:nvPr>
        </p:nvSpPr>
        <p:spPr/>
        <p:txBody>
          <a:bodyPr/>
          <a:lstStyle/>
          <a:p>
            <a:fld id="{BB2CE0DE-867F-455F-B20B-96D381B4AB71}" type="slidenum">
              <a:rPr lang="en-US" smtClean="0"/>
              <a:t>126</a:t>
            </a:fld>
            <a:endParaRPr lang="en-US"/>
          </a:p>
        </p:txBody>
      </p:sp>
      <p:pic>
        <p:nvPicPr>
          <p:cNvPr id="6" name="Picture 5">
            <a:extLst>
              <a:ext uri="{FF2B5EF4-FFF2-40B4-BE49-F238E27FC236}">
                <a16:creationId xmlns:a16="http://schemas.microsoft.com/office/drawing/2014/main" id="{78892D70-841E-48B5-A982-F523F8E40301}"/>
              </a:ext>
            </a:extLst>
          </p:cNvPr>
          <p:cNvPicPr>
            <a:picLocks noChangeAspect="1"/>
          </p:cNvPicPr>
          <p:nvPr/>
        </p:nvPicPr>
        <p:blipFill>
          <a:blip r:embed="rId2"/>
          <a:stretch>
            <a:fillRect/>
          </a:stretch>
        </p:blipFill>
        <p:spPr>
          <a:xfrm>
            <a:off x="304800" y="1179755"/>
            <a:ext cx="9489091" cy="5144846"/>
          </a:xfrm>
          <a:prstGeom prst="rect">
            <a:avLst/>
          </a:prstGeom>
        </p:spPr>
      </p:pic>
    </p:spTree>
    <p:extLst>
      <p:ext uri="{BB962C8B-B14F-4D97-AF65-F5344CB8AC3E}">
        <p14:creationId xmlns:p14="http://schemas.microsoft.com/office/powerpoint/2010/main" val="344935238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EB77-6D1A-4863-9522-B7EC0A630BD7}"/>
              </a:ext>
            </a:extLst>
          </p:cNvPr>
          <p:cNvSpPr>
            <a:spLocks noGrp="1"/>
          </p:cNvSpPr>
          <p:nvPr>
            <p:ph type="title"/>
          </p:nvPr>
        </p:nvSpPr>
        <p:spPr/>
        <p:txBody>
          <a:bodyPr/>
          <a:lstStyle/>
          <a:p>
            <a:r>
              <a:rPr lang="en-US" sz="2400" dirty="0"/>
              <a:t>Comparison between Conjugate Gradient and Quasi Newton</a:t>
            </a:r>
            <a:endParaRPr lang="en-IN" sz="2400" dirty="0"/>
          </a:p>
        </p:txBody>
      </p:sp>
      <p:sp>
        <p:nvSpPr>
          <p:cNvPr id="3" name="Content Placeholder 2">
            <a:extLst>
              <a:ext uri="{FF2B5EF4-FFF2-40B4-BE49-F238E27FC236}">
                <a16:creationId xmlns:a16="http://schemas.microsoft.com/office/drawing/2014/main" id="{D0C69900-31B6-4C2A-A4DE-30C4BD5BD7E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F989077-2AF5-4B15-8589-E1CE814B0A17}"/>
              </a:ext>
            </a:extLst>
          </p:cNvPr>
          <p:cNvSpPr>
            <a:spLocks noGrp="1"/>
          </p:cNvSpPr>
          <p:nvPr>
            <p:ph type="sldNum" sz="quarter" idx="12"/>
          </p:nvPr>
        </p:nvSpPr>
        <p:spPr/>
        <p:txBody>
          <a:bodyPr/>
          <a:lstStyle/>
          <a:p>
            <a:fld id="{BB2CE0DE-867F-455F-B20B-96D381B4AB71}" type="slidenum">
              <a:rPr lang="en-US" smtClean="0"/>
              <a:t>127</a:t>
            </a:fld>
            <a:endParaRPr lang="en-US"/>
          </a:p>
        </p:txBody>
      </p:sp>
      <p:pic>
        <p:nvPicPr>
          <p:cNvPr id="7" name="Picture 6">
            <a:extLst>
              <a:ext uri="{FF2B5EF4-FFF2-40B4-BE49-F238E27FC236}">
                <a16:creationId xmlns:a16="http://schemas.microsoft.com/office/drawing/2014/main" id="{D4ACF5C8-F9F3-4616-93E6-DDBD23AC86B7}"/>
              </a:ext>
            </a:extLst>
          </p:cNvPr>
          <p:cNvPicPr>
            <a:picLocks noChangeAspect="1"/>
          </p:cNvPicPr>
          <p:nvPr/>
        </p:nvPicPr>
        <p:blipFill>
          <a:blip r:embed="rId2"/>
          <a:stretch>
            <a:fillRect/>
          </a:stretch>
        </p:blipFill>
        <p:spPr>
          <a:xfrm>
            <a:off x="745614" y="1214718"/>
            <a:ext cx="8954750" cy="5010849"/>
          </a:xfrm>
          <a:prstGeom prst="rect">
            <a:avLst/>
          </a:prstGeom>
        </p:spPr>
      </p:pic>
      <p:sp>
        <p:nvSpPr>
          <p:cNvPr id="8" name="TextBox 7">
            <a:extLst>
              <a:ext uri="{FF2B5EF4-FFF2-40B4-BE49-F238E27FC236}">
                <a16:creationId xmlns:a16="http://schemas.microsoft.com/office/drawing/2014/main" id="{2B46BDA2-20C5-4713-9509-B8A04978121A}"/>
              </a:ext>
            </a:extLst>
          </p:cNvPr>
          <p:cNvSpPr txBox="1"/>
          <p:nvPr/>
        </p:nvSpPr>
        <p:spPr>
          <a:xfrm>
            <a:off x="7696200" y="2558526"/>
            <a:ext cx="774699" cy="276999"/>
          </a:xfrm>
          <a:prstGeom prst="rect">
            <a:avLst/>
          </a:prstGeom>
          <a:noFill/>
        </p:spPr>
        <p:txBody>
          <a:bodyPr wrap="none" rtlCol="0">
            <a:spAutoFit/>
          </a:bodyPr>
          <a:lstStyle/>
          <a:p>
            <a:r>
              <a:rPr lang="en-US" sz="1200" dirty="0"/>
              <a:t>approx.</a:t>
            </a:r>
            <a:endParaRPr lang="en-IN" sz="1200" dirty="0"/>
          </a:p>
        </p:txBody>
      </p:sp>
    </p:spTree>
    <p:extLst>
      <p:ext uri="{BB962C8B-B14F-4D97-AF65-F5344CB8AC3E}">
        <p14:creationId xmlns:p14="http://schemas.microsoft.com/office/powerpoint/2010/main" val="60387391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714E1-8A18-0A5E-6F46-B0ECB40D6AFD}"/>
              </a:ext>
            </a:extLst>
          </p:cNvPr>
          <p:cNvSpPr>
            <a:spLocks noGrp="1"/>
          </p:cNvSpPr>
          <p:nvPr>
            <p:ph type="title"/>
          </p:nvPr>
        </p:nvSpPr>
        <p:spPr/>
        <p:txBody>
          <a:bodyPr/>
          <a:lstStyle/>
          <a:p>
            <a:r>
              <a:rPr lang="en-US" sz="2400" dirty="0"/>
              <a:t>Question: </a:t>
            </a:r>
            <a:r>
              <a:rPr lang="en-US" sz="2400" dirty="0">
                <a:solidFill>
                  <a:srgbClr val="262626"/>
                </a:solidFill>
                <a:latin typeface="Inter"/>
              </a:rPr>
              <a:t>Supervised Learning viewed as an Optimization</a:t>
            </a:r>
            <a:endParaRPr lang="en-IN" sz="2400" dirty="0"/>
          </a:p>
        </p:txBody>
      </p:sp>
      <p:sp>
        <p:nvSpPr>
          <p:cNvPr id="3" name="Content Placeholder 2">
            <a:extLst>
              <a:ext uri="{FF2B5EF4-FFF2-40B4-BE49-F238E27FC236}">
                <a16:creationId xmlns:a16="http://schemas.microsoft.com/office/drawing/2014/main" id="{E80ABD2E-41B3-F9CF-B064-052B2AA167B5}"/>
              </a:ext>
            </a:extLst>
          </p:cNvPr>
          <p:cNvSpPr>
            <a:spLocks noGrp="1"/>
          </p:cNvSpPr>
          <p:nvPr>
            <p:ph idx="1"/>
          </p:nvPr>
        </p:nvSpPr>
        <p:spPr/>
        <p:txBody>
          <a:bodyPr/>
          <a:lstStyle/>
          <a:p>
            <a:r>
              <a:rPr lang="en-US" sz="2000" dirty="0"/>
              <a:t>Derive the steps in applying the Conjugate Gradient Method and Quasi Newton method for the supervised training of a multilayer perceptron.</a:t>
            </a:r>
          </a:p>
          <a:p>
            <a:r>
              <a:rPr lang="en-US" sz="2000" dirty="0"/>
              <a:t>Show that the supervised learning can be viewed as an optimization problem by summarizing the steps involved in the Nonlinear Conjugate gradient method and Quasi-Newton Method.</a:t>
            </a:r>
            <a:endParaRPr lang="en-IN" sz="2000" dirty="0"/>
          </a:p>
        </p:txBody>
      </p:sp>
      <p:sp>
        <p:nvSpPr>
          <p:cNvPr id="4" name="Slide Number Placeholder 3">
            <a:extLst>
              <a:ext uri="{FF2B5EF4-FFF2-40B4-BE49-F238E27FC236}">
                <a16:creationId xmlns:a16="http://schemas.microsoft.com/office/drawing/2014/main" id="{F0DEAA02-4C3F-9095-C4B8-9C9EF3B75CD8}"/>
              </a:ext>
            </a:extLst>
          </p:cNvPr>
          <p:cNvSpPr>
            <a:spLocks noGrp="1"/>
          </p:cNvSpPr>
          <p:nvPr>
            <p:ph type="sldNum" sz="quarter" idx="12"/>
          </p:nvPr>
        </p:nvSpPr>
        <p:spPr/>
        <p:txBody>
          <a:bodyPr/>
          <a:lstStyle/>
          <a:p>
            <a:fld id="{BB2CE0DE-867F-455F-B20B-96D381B4AB71}" type="slidenum">
              <a:rPr lang="en-US" smtClean="0"/>
              <a:t>128</a:t>
            </a:fld>
            <a:endParaRPr lang="en-US"/>
          </a:p>
        </p:txBody>
      </p:sp>
    </p:spTree>
    <p:extLst>
      <p:ext uri="{BB962C8B-B14F-4D97-AF65-F5344CB8AC3E}">
        <p14:creationId xmlns:p14="http://schemas.microsoft.com/office/powerpoint/2010/main" val="319167676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0151-0C45-4488-AF77-B7803D6C51FE}"/>
              </a:ext>
            </a:extLst>
          </p:cNvPr>
          <p:cNvSpPr>
            <a:spLocks noGrp="1"/>
          </p:cNvSpPr>
          <p:nvPr>
            <p:ph type="title"/>
          </p:nvPr>
        </p:nvSpPr>
        <p:spPr/>
        <p:txBody>
          <a:bodyPr/>
          <a:lstStyle/>
          <a:p>
            <a:r>
              <a:rPr lang="en-US" dirty="0"/>
              <a:t>Non-linear filtering</a:t>
            </a:r>
            <a:endParaRPr lang="en-IN" dirty="0"/>
          </a:p>
        </p:txBody>
      </p:sp>
      <p:sp>
        <p:nvSpPr>
          <p:cNvPr id="3" name="Content Placeholder 2">
            <a:extLst>
              <a:ext uri="{FF2B5EF4-FFF2-40B4-BE49-F238E27FC236}">
                <a16:creationId xmlns:a16="http://schemas.microsoft.com/office/drawing/2014/main" id="{5D39F39B-31B7-4BF8-82BD-ECB3977059EF}"/>
              </a:ext>
            </a:extLst>
          </p:cNvPr>
          <p:cNvSpPr>
            <a:spLocks noGrp="1"/>
          </p:cNvSpPr>
          <p:nvPr>
            <p:ph idx="1"/>
          </p:nvPr>
        </p:nvSpPr>
        <p:spPr/>
        <p:txBody>
          <a:bodyPr/>
          <a:lstStyle/>
          <a:p>
            <a:r>
              <a:rPr lang="en-US" sz="1800" dirty="0"/>
              <a:t>Until now in neural networks we studied </a:t>
            </a:r>
            <a:r>
              <a:rPr lang="en-US" sz="1800" b="1" dirty="0"/>
              <a:t>structural pattern recognition</a:t>
            </a:r>
            <a:r>
              <a:rPr lang="en-US" sz="1800" dirty="0"/>
              <a:t>, where the network processes a </a:t>
            </a:r>
            <a:r>
              <a:rPr lang="en-US" sz="1800" b="1" dirty="0"/>
              <a:t>static input pattern</a:t>
            </a:r>
            <a:r>
              <a:rPr lang="en-US" sz="1800" dirty="0"/>
              <a:t>.</a:t>
            </a:r>
          </a:p>
          <a:p>
            <a:pPr marL="0" indent="0">
              <a:buNone/>
            </a:pPr>
            <a:r>
              <a:rPr lang="en-US" sz="1800" dirty="0"/>
              <a:t>	Example: Image classification, Handwritten digit recognition</a:t>
            </a:r>
          </a:p>
          <a:p>
            <a:pPr marL="0" indent="0">
              <a:buNone/>
            </a:pPr>
            <a:endParaRPr lang="en-US" sz="1800" dirty="0"/>
          </a:p>
          <a:p>
            <a:r>
              <a:rPr lang="en-US" sz="1800" dirty="0"/>
              <a:t>However, many real-world problems involve </a:t>
            </a:r>
            <a:r>
              <a:rPr lang="en-US" sz="1800" b="1" dirty="0"/>
              <a:t>signals that change over time</a:t>
            </a:r>
            <a:r>
              <a:rPr lang="en-US" sz="1800" dirty="0"/>
              <a:t>.</a:t>
            </a:r>
          </a:p>
          <a:p>
            <a:pPr marL="0" indent="0">
              <a:buNone/>
            </a:pPr>
            <a:r>
              <a:rPr lang="en-US" sz="1800" dirty="0"/>
              <a:t>	Examples: Speech recognition, Stock price prediction, ECG signal analysis, Weather forecasting</a:t>
            </a:r>
          </a:p>
          <a:p>
            <a:r>
              <a:rPr lang="en-US" sz="1800" dirty="0"/>
              <a:t>These are called </a:t>
            </a:r>
            <a:r>
              <a:rPr lang="en-US" sz="1800" b="1" dirty="0"/>
              <a:t>temporal pattern recognition problems</a:t>
            </a:r>
            <a:r>
              <a:rPr lang="en-US" sz="1800" dirty="0"/>
              <a:t>.</a:t>
            </a:r>
          </a:p>
          <a:p>
            <a:endParaRPr lang="en-US" sz="1800" dirty="0"/>
          </a:p>
          <a:p>
            <a:r>
              <a:rPr lang="en-US" sz="1800" dirty="0"/>
              <a:t>In such problems:</a:t>
            </a:r>
          </a:p>
          <a:p>
            <a:pPr>
              <a:buFont typeface="Arial" panose="020B0604020202020204" pitchFamily="34" charset="0"/>
              <a:buChar char="•"/>
            </a:pPr>
            <a:r>
              <a:rPr lang="en-US" sz="1800" dirty="0"/>
              <a:t>The </a:t>
            </a:r>
            <a:r>
              <a:rPr lang="en-US" sz="1800" b="1" dirty="0"/>
              <a:t>current output depends not only on the present input</a:t>
            </a:r>
            <a:endParaRPr lang="en-US" sz="1800" dirty="0"/>
          </a:p>
          <a:p>
            <a:pPr>
              <a:buFont typeface="Arial" panose="020B0604020202020204" pitchFamily="34" charset="0"/>
              <a:buChar char="•"/>
            </a:pPr>
            <a:r>
              <a:rPr lang="en-US" sz="1800" dirty="0"/>
              <a:t>It also depends on </a:t>
            </a:r>
            <a:r>
              <a:rPr lang="en-US" sz="1800" b="1" dirty="0"/>
              <a:t>previous inputs</a:t>
            </a:r>
            <a:endParaRPr lang="en-US" sz="1800" dirty="0"/>
          </a:p>
          <a:p>
            <a:r>
              <a:rPr lang="en-US" sz="1800" dirty="0"/>
              <a:t>Therefore the neural network must </a:t>
            </a:r>
            <a:r>
              <a:rPr lang="en-US" sz="1800" b="1" dirty="0"/>
              <a:t>remember past inputs</a:t>
            </a:r>
            <a:r>
              <a:rPr lang="en-US" sz="1800" dirty="0"/>
              <a:t>.</a:t>
            </a:r>
          </a:p>
          <a:p>
            <a:r>
              <a:rPr lang="en-US" sz="1800" dirty="0"/>
              <a:t>This leads to the concept of </a:t>
            </a:r>
            <a:r>
              <a:rPr lang="en-US" sz="1800" b="1" dirty="0"/>
              <a:t>Nonlinear Filtering or temporal pattern recognition</a:t>
            </a:r>
            <a:r>
              <a:rPr lang="en-US" sz="1800" dirty="0"/>
              <a:t>.</a:t>
            </a:r>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6992D1EF-5A84-4CD1-B56F-27F56C79FE2B}"/>
              </a:ext>
            </a:extLst>
          </p:cNvPr>
          <p:cNvSpPr>
            <a:spLocks noGrp="1"/>
          </p:cNvSpPr>
          <p:nvPr>
            <p:ph type="sldNum" sz="quarter" idx="12"/>
          </p:nvPr>
        </p:nvSpPr>
        <p:spPr/>
        <p:txBody>
          <a:bodyPr/>
          <a:lstStyle/>
          <a:p>
            <a:fld id="{BB2CE0DE-867F-455F-B20B-96D381B4AB71}" type="slidenum">
              <a:rPr lang="en-US" smtClean="0"/>
              <a:t>129</a:t>
            </a:fld>
            <a:endParaRPr lang="en-US"/>
          </a:p>
        </p:txBody>
      </p:sp>
    </p:spTree>
    <p:extLst>
      <p:ext uri="{BB962C8B-B14F-4D97-AF65-F5344CB8AC3E}">
        <p14:creationId xmlns:p14="http://schemas.microsoft.com/office/powerpoint/2010/main" val="243607833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A2847-F1D2-4E99-95F4-8D4D8A162356}"/>
              </a:ext>
            </a:extLst>
          </p:cNvPr>
          <p:cNvSpPr>
            <a:spLocks noGrp="1"/>
          </p:cNvSpPr>
          <p:nvPr>
            <p:ph type="title"/>
          </p:nvPr>
        </p:nvSpPr>
        <p:spPr/>
        <p:txBody>
          <a:bodyPr/>
          <a:lstStyle/>
          <a:p>
            <a:r>
              <a:rPr lang="en-US" dirty="0"/>
              <a:t>Non-linear filtering</a:t>
            </a:r>
            <a:endParaRPr lang="en-IN" dirty="0"/>
          </a:p>
        </p:txBody>
      </p:sp>
      <p:sp>
        <p:nvSpPr>
          <p:cNvPr id="3" name="Content Placeholder 2">
            <a:extLst>
              <a:ext uri="{FF2B5EF4-FFF2-40B4-BE49-F238E27FC236}">
                <a16:creationId xmlns:a16="http://schemas.microsoft.com/office/drawing/2014/main" id="{CEFE3BE0-B0C2-4A17-B8BF-87C1A5EDE77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7CCF026-66F7-4245-AC6A-40937886CDE0}"/>
              </a:ext>
            </a:extLst>
          </p:cNvPr>
          <p:cNvSpPr>
            <a:spLocks noGrp="1"/>
          </p:cNvSpPr>
          <p:nvPr>
            <p:ph type="sldNum" sz="quarter" idx="12"/>
          </p:nvPr>
        </p:nvSpPr>
        <p:spPr/>
        <p:txBody>
          <a:bodyPr/>
          <a:lstStyle/>
          <a:p>
            <a:fld id="{BB2CE0DE-867F-455F-B20B-96D381B4AB71}" type="slidenum">
              <a:rPr lang="en-US" smtClean="0"/>
              <a:t>130</a:t>
            </a:fld>
            <a:endParaRPr lang="en-US"/>
          </a:p>
        </p:txBody>
      </p:sp>
      <p:pic>
        <p:nvPicPr>
          <p:cNvPr id="6" name="Picture 5">
            <a:extLst>
              <a:ext uri="{FF2B5EF4-FFF2-40B4-BE49-F238E27FC236}">
                <a16:creationId xmlns:a16="http://schemas.microsoft.com/office/drawing/2014/main" id="{23941CC5-7FD6-4AB7-82C6-81777B61F582}"/>
              </a:ext>
            </a:extLst>
          </p:cNvPr>
          <p:cNvPicPr>
            <a:picLocks noChangeAspect="1"/>
          </p:cNvPicPr>
          <p:nvPr/>
        </p:nvPicPr>
        <p:blipFill>
          <a:blip r:embed="rId2"/>
          <a:stretch>
            <a:fillRect/>
          </a:stretch>
        </p:blipFill>
        <p:spPr>
          <a:xfrm>
            <a:off x="784162" y="1312041"/>
            <a:ext cx="10595038" cy="4445044"/>
          </a:xfrm>
          <a:prstGeom prst="rect">
            <a:avLst/>
          </a:prstGeom>
        </p:spPr>
      </p:pic>
    </p:spTree>
    <p:extLst>
      <p:ext uri="{BB962C8B-B14F-4D97-AF65-F5344CB8AC3E}">
        <p14:creationId xmlns:p14="http://schemas.microsoft.com/office/powerpoint/2010/main" val="39994367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555C-163D-4682-9D54-9BC7CEB9B74B}"/>
              </a:ext>
            </a:extLst>
          </p:cNvPr>
          <p:cNvSpPr>
            <a:spLocks noGrp="1"/>
          </p:cNvSpPr>
          <p:nvPr>
            <p:ph type="title"/>
          </p:nvPr>
        </p:nvSpPr>
        <p:spPr/>
        <p:txBody>
          <a:bodyPr/>
          <a:lstStyle/>
          <a:p>
            <a:r>
              <a:rPr lang="en-US" dirty="0"/>
              <a:t>Non-linear filtering</a:t>
            </a:r>
            <a:endParaRPr lang="en-IN" dirty="0"/>
          </a:p>
        </p:txBody>
      </p:sp>
      <p:sp>
        <p:nvSpPr>
          <p:cNvPr id="3" name="Content Placeholder 2">
            <a:extLst>
              <a:ext uri="{FF2B5EF4-FFF2-40B4-BE49-F238E27FC236}">
                <a16:creationId xmlns:a16="http://schemas.microsoft.com/office/drawing/2014/main" id="{2D9E5513-D1EA-44B0-A6A8-D4B6541920EA}"/>
              </a:ext>
            </a:extLst>
          </p:cNvPr>
          <p:cNvSpPr>
            <a:spLocks noGrp="1"/>
          </p:cNvSpPr>
          <p:nvPr>
            <p:ph idx="1"/>
          </p:nvPr>
        </p:nvSpPr>
        <p:spPr/>
        <p:txBody>
          <a:bodyPr/>
          <a:lstStyle/>
          <a:p>
            <a:pPr marL="0" indent="0">
              <a:buNone/>
            </a:pPr>
            <a:r>
              <a:rPr lang="en-IN" sz="2000" dirty="0"/>
              <a:t>A </a:t>
            </a:r>
            <a:r>
              <a:rPr lang="en-IN" sz="2000" b="1" dirty="0"/>
              <a:t>nonlinear filter</a:t>
            </a:r>
            <a:r>
              <a:rPr lang="en-IN" sz="2000" dirty="0"/>
              <a:t> is a system that processes </a:t>
            </a:r>
            <a:r>
              <a:rPr lang="en-IN" sz="2000" b="1" dirty="0"/>
              <a:t>time-varying signals</a:t>
            </a:r>
            <a:r>
              <a:rPr lang="en-IN" sz="2000" dirty="0"/>
              <a:t> where the output depends on:</a:t>
            </a:r>
          </a:p>
          <a:p>
            <a:pPr lvl="1">
              <a:buFont typeface="Arial" panose="020B0604020202020204" pitchFamily="34" charset="0"/>
              <a:buChar char="•"/>
            </a:pPr>
            <a:r>
              <a:rPr lang="en-IN" sz="1600" dirty="0"/>
              <a:t>Current input</a:t>
            </a:r>
          </a:p>
          <a:p>
            <a:pPr lvl="1">
              <a:buFont typeface="Arial" panose="020B0604020202020204" pitchFamily="34" charset="0"/>
              <a:buChar char="•"/>
            </a:pPr>
            <a:r>
              <a:rPr lang="en-IN" sz="1600" dirty="0"/>
              <a:t>Past inputs</a:t>
            </a:r>
          </a:p>
          <a:p>
            <a:pPr lvl="1">
              <a:buFont typeface="Arial" panose="020B0604020202020204" pitchFamily="34" charset="0"/>
              <a:buChar char="•"/>
            </a:pPr>
            <a:r>
              <a:rPr lang="en-IN" sz="1600" dirty="0"/>
              <a:t>Nonlinear transformations</a:t>
            </a:r>
          </a:p>
          <a:p>
            <a:pPr>
              <a:buFont typeface="Arial" panose="020B0604020202020204" pitchFamily="34" charset="0"/>
              <a:buChar char="•"/>
            </a:pPr>
            <a:endParaRPr lang="en-IN" sz="2000" dirty="0"/>
          </a:p>
          <a:p>
            <a:pPr marL="0" indent="0">
              <a:buNone/>
            </a:pPr>
            <a:r>
              <a:rPr lang="en-IN" sz="2000" dirty="0"/>
              <a:t>In neural networks:</a:t>
            </a:r>
          </a:p>
          <a:p>
            <a:pPr>
              <a:buFont typeface="Arial" panose="020B0604020202020204" pitchFamily="34" charset="0"/>
              <a:buChar char="•"/>
            </a:pPr>
            <a:r>
              <a:rPr lang="en-IN" sz="2000" b="1" dirty="0"/>
              <a:t>Memory</a:t>
            </a:r>
            <a:r>
              <a:rPr lang="en-IN" sz="2000" dirty="0"/>
              <a:t> handles </a:t>
            </a:r>
            <a:r>
              <a:rPr lang="en-IN" sz="2000" b="1" dirty="0"/>
              <a:t>time </a:t>
            </a:r>
            <a:r>
              <a:rPr lang="en-IN" sz="2000" dirty="0"/>
              <a:t>information</a:t>
            </a:r>
          </a:p>
          <a:p>
            <a:pPr>
              <a:buFont typeface="Arial" panose="020B0604020202020204" pitchFamily="34" charset="0"/>
              <a:buChar char="•"/>
            </a:pPr>
            <a:r>
              <a:rPr lang="en-IN" sz="2000" b="1" dirty="0"/>
              <a:t>Neural network</a:t>
            </a:r>
            <a:r>
              <a:rPr lang="en-IN" sz="2000" dirty="0"/>
              <a:t> handles </a:t>
            </a:r>
            <a:r>
              <a:rPr lang="en-IN" sz="2000" b="1" dirty="0"/>
              <a:t>nonlinear</a:t>
            </a:r>
            <a:r>
              <a:rPr lang="en-IN" sz="2000" dirty="0"/>
              <a:t> mapping</a:t>
            </a:r>
          </a:p>
          <a:p>
            <a:endParaRPr lang="en-IN" sz="2000" dirty="0"/>
          </a:p>
          <a:p>
            <a:pPr marL="0" indent="0">
              <a:buNone/>
            </a:pPr>
            <a:r>
              <a:rPr lang="en-IN" sz="2000" dirty="0"/>
              <a:t>Thus,</a:t>
            </a:r>
          </a:p>
          <a:p>
            <a:r>
              <a:rPr lang="en-IN" sz="2000" b="1" dirty="0"/>
              <a:t>Nonlinear Filter = Memory + Nonlinear Neural Network</a:t>
            </a:r>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C6F197A1-5EBB-4302-9D9F-54F84F56C7CE}"/>
              </a:ext>
            </a:extLst>
          </p:cNvPr>
          <p:cNvSpPr>
            <a:spLocks noGrp="1"/>
          </p:cNvSpPr>
          <p:nvPr>
            <p:ph type="sldNum" sz="quarter" idx="12"/>
          </p:nvPr>
        </p:nvSpPr>
        <p:spPr/>
        <p:txBody>
          <a:bodyPr/>
          <a:lstStyle/>
          <a:p>
            <a:fld id="{BB2CE0DE-867F-455F-B20B-96D381B4AB71}" type="slidenum">
              <a:rPr lang="en-US" smtClean="0"/>
              <a:t>131</a:t>
            </a:fld>
            <a:endParaRPr lang="en-US"/>
          </a:p>
        </p:txBody>
      </p:sp>
    </p:spTree>
    <p:extLst>
      <p:ext uri="{BB962C8B-B14F-4D97-AF65-F5344CB8AC3E}">
        <p14:creationId xmlns:p14="http://schemas.microsoft.com/office/powerpoint/2010/main" val="303362864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7E5F-A376-459A-809D-59B0B3AE95BB}"/>
              </a:ext>
            </a:extLst>
          </p:cNvPr>
          <p:cNvSpPr>
            <a:spLocks noGrp="1"/>
          </p:cNvSpPr>
          <p:nvPr>
            <p:ph type="title"/>
          </p:nvPr>
        </p:nvSpPr>
        <p:spPr/>
        <p:txBody>
          <a:bodyPr/>
          <a:lstStyle/>
          <a:p>
            <a:r>
              <a:rPr lang="en-US" dirty="0"/>
              <a:t>Non-linear filtering</a:t>
            </a:r>
            <a:endParaRPr lang="en-IN" dirty="0"/>
          </a:p>
        </p:txBody>
      </p:sp>
      <p:sp>
        <p:nvSpPr>
          <p:cNvPr id="3" name="Content Placeholder 2">
            <a:extLst>
              <a:ext uri="{FF2B5EF4-FFF2-40B4-BE49-F238E27FC236}">
                <a16:creationId xmlns:a16="http://schemas.microsoft.com/office/drawing/2014/main" id="{D288544A-4649-4169-ABAE-A4FC33BFF10E}"/>
              </a:ext>
            </a:extLst>
          </p:cNvPr>
          <p:cNvSpPr>
            <a:spLocks noGrp="1"/>
          </p:cNvSpPr>
          <p:nvPr>
            <p:ph idx="1"/>
          </p:nvPr>
        </p:nvSpPr>
        <p:spPr/>
        <p:txBody>
          <a:bodyPr/>
          <a:lstStyle/>
          <a:p>
            <a:pPr marL="0" indent="0">
              <a:buNone/>
            </a:pPr>
            <a:r>
              <a:rPr lang="en-US" sz="2000" dirty="0"/>
              <a:t>A standard multilayer perceptron (MLP) is:</a:t>
            </a:r>
          </a:p>
          <a:p>
            <a:pPr>
              <a:buFont typeface="Arial" panose="020B0604020202020204" pitchFamily="34" charset="0"/>
              <a:buChar char="•"/>
            </a:pPr>
            <a:r>
              <a:rPr lang="en-US" sz="2000" b="1" dirty="0"/>
              <a:t>Static</a:t>
            </a:r>
            <a:endParaRPr lang="en-US" sz="2000" dirty="0"/>
          </a:p>
          <a:p>
            <a:pPr>
              <a:buFont typeface="Arial" panose="020B0604020202020204" pitchFamily="34" charset="0"/>
              <a:buChar char="•"/>
            </a:pPr>
            <a:r>
              <a:rPr lang="en-US" sz="2000" dirty="0"/>
              <a:t>Has </a:t>
            </a:r>
            <a:r>
              <a:rPr lang="en-US" sz="2000" b="1" dirty="0"/>
              <a:t>no memory</a:t>
            </a:r>
            <a:endParaRPr lang="en-US" sz="2000" dirty="0"/>
          </a:p>
          <a:p>
            <a:endParaRPr lang="en-US" sz="2000" dirty="0"/>
          </a:p>
          <a:p>
            <a:r>
              <a:rPr lang="en-US" sz="2000" dirty="0"/>
              <a:t>To process time signals, we must </a:t>
            </a:r>
            <a:r>
              <a:rPr lang="en-US" sz="2000" b="1" dirty="0"/>
              <a:t>add memory to the network</a:t>
            </a:r>
            <a:r>
              <a:rPr lang="en-US" sz="2000" dirty="0"/>
              <a:t>.</a:t>
            </a:r>
          </a:p>
          <a:p>
            <a:endParaRPr lang="en-US" sz="2000" b="1" dirty="0"/>
          </a:p>
          <a:p>
            <a:pPr marL="0" indent="0">
              <a:buNone/>
            </a:pPr>
            <a:r>
              <a:rPr lang="en-US" sz="2000" b="1" dirty="0"/>
              <a:t>Time in Neural Networks:</a:t>
            </a:r>
          </a:p>
          <a:p>
            <a:pPr marL="0" indent="0">
              <a:buNone/>
            </a:pPr>
            <a:r>
              <a:rPr lang="en-US" sz="2000" dirty="0"/>
              <a:t>Time can be incorporated in </a:t>
            </a:r>
            <a:r>
              <a:rPr lang="en-US" sz="2000" b="1" dirty="0"/>
              <a:t>two basic ways</a:t>
            </a:r>
            <a:r>
              <a:rPr lang="en-US" sz="2000" dirty="0"/>
              <a:t>.</a:t>
            </a:r>
          </a:p>
          <a:p>
            <a:pPr marL="0" indent="0">
              <a:buNone/>
            </a:pPr>
            <a:r>
              <a:rPr lang="en-IN" sz="2000" dirty="0"/>
              <a:t>	1. Implicit representation.</a:t>
            </a:r>
          </a:p>
          <a:p>
            <a:pPr marL="0" indent="0">
              <a:buNone/>
            </a:pPr>
            <a:r>
              <a:rPr lang="en-IN" sz="2000" dirty="0"/>
              <a:t>	2. Explicit representation.</a:t>
            </a:r>
          </a:p>
        </p:txBody>
      </p:sp>
      <p:sp>
        <p:nvSpPr>
          <p:cNvPr id="4" name="Slide Number Placeholder 3">
            <a:extLst>
              <a:ext uri="{FF2B5EF4-FFF2-40B4-BE49-F238E27FC236}">
                <a16:creationId xmlns:a16="http://schemas.microsoft.com/office/drawing/2014/main" id="{653B1F9B-4B3B-4FC7-B6FB-8D96783F46B4}"/>
              </a:ext>
            </a:extLst>
          </p:cNvPr>
          <p:cNvSpPr>
            <a:spLocks noGrp="1"/>
          </p:cNvSpPr>
          <p:nvPr>
            <p:ph type="sldNum" sz="quarter" idx="12"/>
          </p:nvPr>
        </p:nvSpPr>
        <p:spPr/>
        <p:txBody>
          <a:bodyPr/>
          <a:lstStyle/>
          <a:p>
            <a:fld id="{BB2CE0DE-867F-455F-B20B-96D381B4AB71}" type="slidenum">
              <a:rPr lang="en-US" smtClean="0"/>
              <a:t>132</a:t>
            </a:fld>
            <a:endParaRPr lang="en-US"/>
          </a:p>
        </p:txBody>
      </p:sp>
    </p:spTree>
    <p:extLst>
      <p:ext uri="{BB962C8B-B14F-4D97-AF65-F5344CB8AC3E}">
        <p14:creationId xmlns:p14="http://schemas.microsoft.com/office/powerpoint/2010/main" val="124175588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48EB-C0A2-4684-BE30-B8B33942837E}"/>
              </a:ext>
            </a:extLst>
          </p:cNvPr>
          <p:cNvSpPr>
            <a:spLocks noGrp="1"/>
          </p:cNvSpPr>
          <p:nvPr>
            <p:ph type="title"/>
          </p:nvPr>
        </p:nvSpPr>
        <p:spPr/>
        <p:txBody>
          <a:bodyPr/>
          <a:lstStyle/>
          <a:p>
            <a:r>
              <a:rPr lang="en-IN" dirty="0"/>
              <a:t>Implicit Representation of Time</a:t>
            </a:r>
          </a:p>
        </p:txBody>
      </p:sp>
      <p:sp>
        <p:nvSpPr>
          <p:cNvPr id="3" name="Content Placeholder 2">
            <a:extLst>
              <a:ext uri="{FF2B5EF4-FFF2-40B4-BE49-F238E27FC236}">
                <a16:creationId xmlns:a16="http://schemas.microsoft.com/office/drawing/2014/main" id="{769FF407-7841-4F12-8A5E-B2DD9E13E129}"/>
              </a:ext>
            </a:extLst>
          </p:cNvPr>
          <p:cNvSpPr>
            <a:spLocks noGrp="1"/>
          </p:cNvSpPr>
          <p:nvPr>
            <p:ph idx="1"/>
          </p:nvPr>
        </p:nvSpPr>
        <p:spPr/>
        <p:txBody>
          <a:bodyPr/>
          <a:lstStyle/>
          <a:p>
            <a:pPr marL="0" indent="0">
              <a:buNone/>
            </a:pPr>
            <a:r>
              <a:rPr lang="en-US" sz="1800" dirty="0"/>
              <a:t>In this method: Time is represented </a:t>
            </a:r>
            <a:r>
              <a:rPr lang="en-US" sz="1800" b="1" dirty="0"/>
              <a:t>through delayed input samples</a:t>
            </a:r>
            <a:endParaRPr lang="en-US" sz="1800" dirty="0"/>
          </a:p>
          <a:p>
            <a:pPr marL="0" indent="0">
              <a:buNone/>
            </a:pPr>
            <a:endParaRPr lang="en-US" sz="1800" dirty="0"/>
          </a:p>
          <a:p>
            <a:pPr marL="0" indent="0">
              <a:buNone/>
            </a:pPr>
            <a:r>
              <a:rPr lang="en-US" sz="1800" dirty="0"/>
              <a:t>Instead of giving only the present input:</a:t>
            </a:r>
          </a:p>
          <a:p>
            <a:pPr marL="0" indent="0">
              <a:buNone/>
            </a:pPr>
            <a:r>
              <a:rPr lang="en-US" sz="1800" dirty="0"/>
              <a:t>x(n) we provide</a:t>
            </a:r>
          </a:p>
          <a:p>
            <a:pPr marL="0" indent="0">
              <a:buNone/>
            </a:pPr>
            <a:r>
              <a:rPr lang="en-US" sz="1800" dirty="0"/>
              <a:t>x(n), x(n−1), x(n−2),... These delayed samples become </a:t>
            </a:r>
            <a:r>
              <a:rPr lang="en-US" sz="1800" b="1" dirty="0"/>
              <a:t>separate inputs to the network</a:t>
            </a:r>
            <a:r>
              <a:rPr lang="en-US" sz="1800" dirty="0"/>
              <a:t>.</a:t>
            </a:r>
          </a:p>
          <a:p>
            <a:pPr marL="0" indent="0">
              <a:buNone/>
            </a:pPr>
            <a:r>
              <a:rPr lang="en-US" sz="1800" dirty="0"/>
              <a:t>Thus the temporal structure of the signal is converted into </a:t>
            </a:r>
            <a:r>
              <a:rPr lang="en-US" sz="1800" b="1" dirty="0"/>
              <a:t>spatial structure</a:t>
            </a:r>
            <a:r>
              <a:rPr lang="en-US" sz="1800" dirty="0"/>
              <a:t>.</a:t>
            </a:r>
          </a:p>
          <a:p>
            <a:pPr marL="0" indent="0">
              <a:buNone/>
            </a:pPr>
            <a:endParaRPr lang="en-IN" sz="1800" dirty="0"/>
          </a:p>
        </p:txBody>
      </p:sp>
      <p:sp>
        <p:nvSpPr>
          <p:cNvPr id="4" name="Slide Number Placeholder 3">
            <a:extLst>
              <a:ext uri="{FF2B5EF4-FFF2-40B4-BE49-F238E27FC236}">
                <a16:creationId xmlns:a16="http://schemas.microsoft.com/office/drawing/2014/main" id="{1265B9D2-27A4-46BB-9718-26F19AFC0B03}"/>
              </a:ext>
            </a:extLst>
          </p:cNvPr>
          <p:cNvSpPr>
            <a:spLocks noGrp="1"/>
          </p:cNvSpPr>
          <p:nvPr>
            <p:ph type="sldNum" sz="quarter" idx="12"/>
          </p:nvPr>
        </p:nvSpPr>
        <p:spPr/>
        <p:txBody>
          <a:bodyPr/>
          <a:lstStyle/>
          <a:p>
            <a:fld id="{BB2CE0DE-867F-455F-B20B-96D381B4AB71}" type="slidenum">
              <a:rPr lang="en-US" smtClean="0"/>
              <a:t>133</a:t>
            </a:fld>
            <a:endParaRPr lang="en-US"/>
          </a:p>
        </p:txBody>
      </p:sp>
    </p:spTree>
    <p:extLst>
      <p:ext uri="{BB962C8B-B14F-4D97-AF65-F5344CB8AC3E}">
        <p14:creationId xmlns:p14="http://schemas.microsoft.com/office/powerpoint/2010/main" val="343465435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48EB-C0A2-4684-BE30-B8B33942837E}"/>
              </a:ext>
            </a:extLst>
          </p:cNvPr>
          <p:cNvSpPr>
            <a:spLocks noGrp="1"/>
          </p:cNvSpPr>
          <p:nvPr>
            <p:ph type="title"/>
          </p:nvPr>
        </p:nvSpPr>
        <p:spPr/>
        <p:txBody>
          <a:bodyPr/>
          <a:lstStyle/>
          <a:p>
            <a:r>
              <a:rPr lang="en-IN" dirty="0"/>
              <a:t>Implicit Representation of Time</a:t>
            </a:r>
          </a:p>
        </p:txBody>
      </p:sp>
      <p:sp>
        <p:nvSpPr>
          <p:cNvPr id="3" name="Content Placeholder 2">
            <a:extLst>
              <a:ext uri="{FF2B5EF4-FFF2-40B4-BE49-F238E27FC236}">
                <a16:creationId xmlns:a16="http://schemas.microsoft.com/office/drawing/2014/main" id="{769FF407-7841-4F12-8A5E-B2DD9E13E129}"/>
              </a:ext>
            </a:extLst>
          </p:cNvPr>
          <p:cNvSpPr>
            <a:spLocks noGrp="1"/>
          </p:cNvSpPr>
          <p:nvPr>
            <p:ph idx="1"/>
          </p:nvPr>
        </p:nvSpPr>
        <p:spPr/>
        <p:txBody>
          <a:bodyPr/>
          <a:lstStyle/>
          <a:p>
            <a:pPr marL="0" indent="0">
              <a:buNone/>
            </a:pPr>
            <a:r>
              <a:rPr lang="en-US" sz="1800" dirty="0"/>
              <a:t>In this method: Time is represented </a:t>
            </a:r>
            <a:r>
              <a:rPr lang="en-US" sz="1800" b="1" dirty="0"/>
              <a:t>through delayed input samples</a:t>
            </a:r>
            <a:endParaRPr lang="en-US" sz="1800" dirty="0"/>
          </a:p>
          <a:p>
            <a:pPr marL="0" indent="0">
              <a:buNone/>
            </a:pPr>
            <a:endParaRPr lang="en-US" sz="1800" dirty="0"/>
          </a:p>
          <a:p>
            <a:pPr marL="0" indent="0">
              <a:buNone/>
            </a:pPr>
            <a:r>
              <a:rPr lang="en-US" sz="1800" dirty="0"/>
              <a:t>Instead of giving only the present input:</a:t>
            </a:r>
          </a:p>
          <a:p>
            <a:pPr marL="0" indent="0">
              <a:buNone/>
            </a:pPr>
            <a:r>
              <a:rPr lang="en-US" sz="1800" dirty="0"/>
              <a:t>x(n) we provide</a:t>
            </a:r>
          </a:p>
          <a:p>
            <a:pPr marL="0" indent="0">
              <a:buNone/>
            </a:pPr>
            <a:r>
              <a:rPr lang="en-US" sz="1800" dirty="0"/>
              <a:t>x(n), x(n−1), x(n−2),... These delayed samples become </a:t>
            </a:r>
            <a:r>
              <a:rPr lang="en-US" sz="1800" b="1" dirty="0"/>
              <a:t>separate inputs to the network</a:t>
            </a:r>
            <a:r>
              <a:rPr lang="en-US" sz="1800" dirty="0"/>
              <a:t>.</a:t>
            </a:r>
          </a:p>
          <a:p>
            <a:pPr marL="0" indent="0">
              <a:buNone/>
            </a:pPr>
            <a:r>
              <a:rPr lang="en-US" sz="1800" dirty="0"/>
              <a:t>Thus the temporal structure of the signal is converted into </a:t>
            </a:r>
            <a:r>
              <a:rPr lang="en-US" sz="1800" b="1" dirty="0"/>
              <a:t>spatial structure</a:t>
            </a:r>
            <a:r>
              <a:rPr lang="en-US" sz="1800" dirty="0"/>
              <a:t>.</a:t>
            </a:r>
          </a:p>
          <a:p>
            <a:pPr marL="0" indent="0">
              <a:buNone/>
            </a:pPr>
            <a:endParaRPr lang="en-IN" sz="1800" dirty="0"/>
          </a:p>
        </p:txBody>
      </p:sp>
      <p:sp>
        <p:nvSpPr>
          <p:cNvPr id="4" name="Slide Number Placeholder 3">
            <a:extLst>
              <a:ext uri="{FF2B5EF4-FFF2-40B4-BE49-F238E27FC236}">
                <a16:creationId xmlns:a16="http://schemas.microsoft.com/office/drawing/2014/main" id="{1265B9D2-27A4-46BB-9718-26F19AFC0B03}"/>
              </a:ext>
            </a:extLst>
          </p:cNvPr>
          <p:cNvSpPr>
            <a:spLocks noGrp="1"/>
          </p:cNvSpPr>
          <p:nvPr>
            <p:ph type="sldNum" sz="quarter" idx="12"/>
          </p:nvPr>
        </p:nvSpPr>
        <p:spPr/>
        <p:txBody>
          <a:bodyPr/>
          <a:lstStyle/>
          <a:p>
            <a:fld id="{BB2CE0DE-867F-455F-B20B-96D381B4AB71}" type="slidenum">
              <a:rPr lang="en-US" smtClean="0"/>
              <a:t>134</a:t>
            </a:fld>
            <a:endParaRPr lang="en-US"/>
          </a:p>
        </p:txBody>
      </p:sp>
      <p:pic>
        <p:nvPicPr>
          <p:cNvPr id="6" name="Picture 5">
            <a:extLst>
              <a:ext uri="{FF2B5EF4-FFF2-40B4-BE49-F238E27FC236}">
                <a16:creationId xmlns:a16="http://schemas.microsoft.com/office/drawing/2014/main" id="{7713534E-E197-46FD-A7BC-EFEAC0F0D166}"/>
              </a:ext>
            </a:extLst>
          </p:cNvPr>
          <p:cNvPicPr>
            <a:picLocks noChangeAspect="1"/>
          </p:cNvPicPr>
          <p:nvPr/>
        </p:nvPicPr>
        <p:blipFill>
          <a:blip r:embed="rId3"/>
          <a:stretch>
            <a:fillRect/>
          </a:stretch>
        </p:blipFill>
        <p:spPr>
          <a:xfrm>
            <a:off x="8737600" y="3571481"/>
            <a:ext cx="3029373" cy="2829320"/>
          </a:xfrm>
          <a:prstGeom prst="rect">
            <a:avLst/>
          </a:prstGeom>
        </p:spPr>
      </p:pic>
      <p:sp>
        <p:nvSpPr>
          <p:cNvPr id="7" name="TextBox 6">
            <a:extLst>
              <a:ext uri="{FF2B5EF4-FFF2-40B4-BE49-F238E27FC236}">
                <a16:creationId xmlns:a16="http://schemas.microsoft.com/office/drawing/2014/main" id="{20FC0CCF-174D-40C7-B712-DDFF18ABFE7F}"/>
              </a:ext>
            </a:extLst>
          </p:cNvPr>
          <p:cNvSpPr txBox="1"/>
          <p:nvPr/>
        </p:nvSpPr>
        <p:spPr>
          <a:xfrm>
            <a:off x="10744200" y="3276600"/>
            <a:ext cx="1269899" cy="369332"/>
          </a:xfrm>
          <a:prstGeom prst="rect">
            <a:avLst/>
          </a:prstGeom>
          <a:noFill/>
        </p:spPr>
        <p:txBody>
          <a:bodyPr wrap="none" rtlCol="0">
            <a:spAutoFit/>
          </a:bodyPr>
          <a:lstStyle/>
          <a:p>
            <a:r>
              <a:rPr lang="en-US" dirty="0"/>
              <a:t>Structure</a:t>
            </a:r>
            <a:endParaRPr lang="en-IN" dirty="0"/>
          </a:p>
        </p:txBody>
      </p:sp>
      <p:pic>
        <p:nvPicPr>
          <p:cNvPr id="9" name="Picture 8">
            <a:extLst>
              <a:ext uri="{FF2B5EF4-FFF2-40B4-BE49-F238E27FC236}">
                <a16:creationId xmlns:a16="http://schemas.microsoft.com/office/drawing/2014/main" id="{78F10D65-DF06-473F-88AC-840097F491F2}"/>
              </a:ext>
            </a:extLst>
          </p:cNvPr>
          <p:cNvPicPr>
            <a:picLocks noChangeAspect="1"/>
          </p:cNvPicPr>
          <p:nvPr/>
        </p:nvPicPr>
        <p:blipFill>
          <a:blip r:embed="rId4"/>
          <a:stretch>
            <a:fillRect/>
          </a:stretch>
        </p:blipFill>
        <p:spPr>
          <a:xfrm>
            <a:off x="827368" y="4124008"/>
            <a:ext cx="3564533" cy="2048192"/>
          </a:xfrm>
          <a:prstGeom prst="rect">
            <a:avLst/>
          </a:prstGeom>
        </p:spPr>
      </p:pic>
      <p:pic>
        <p:nvPicPr>
          <p:cNvPr id="8" name="Picture 7">
            <a:extLst>
              <a:ext uri="{FF2B5EF4-FFF2-40B4-BE49-F238E27FC236}">
                <a16:creationId xmlns:a16="http://schemas.microsoft.com/office/drawing/2014/main" id="{042716AA-3AFF-4DF1-8AA6-2470FBA81E6C}"/>
              </a:ext>
            </a:extLst>
          </p:cNvPr>
          <p:cNvPicPr>
            <a:picLocks noChangeAspect="1"/>
          </p:cNvPicPr>
          <p:nvPr/>
        </p:nvPicPr>
        <p:blipFill>
          <a:blip r:embed="rId5"/>
          <a:stretch>
            <a:fillRect/>
          </a:stretch>
        </p:blipFill>
        <p:spPr>
          <a:xfrm>
            <a:off x="4908200" y="4419600"/>
            <a:ext cx="3238952" cy="447737"/>
          </a:xfrm>
          <a:prstGeom prst="rect">
            <a:avLst/>
          </a:prstGeom>
        </p:spPr>
      </p:pic>
    </p:spTree>
    <p:extLst>
      <p:ext uri="{BB962C8B-B14F-4D97-AF65-F5344CB8AC3E}">
        <p14:creationId xmlns:p14="http://schemas.microsoft.com/office/powerpoint/2010/main" val="26494704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48EB-C0A2-4684-BE30-B8B33942837E}"/>
              </a:ext>
            </a:extLst>
          </p:cNvPr>
          <p:cNvSpPr>
            <a:spLocks noGrp="1"/>
          </p:cNvSpPr>
          <p:nvPr>
            <p:ph type="title"/>
          </p:nvPr>
        </p:nvSpPr>
        <p:spPr/>
        <p:txBody>
          <a:bodyPr/>
          <a:lstStyle/>
          <a:p>
            <a:r>
              <a:rPr lang="en-IN" dirty="0"/>
              <a:t>Implicit Representation of Time</a:t>
            </a:r>
          </a:p>
        </p:txBody>
      </p:sp>
      <p:sp>
        <p:nvSpPr>
          <p:cNvPr id="3" name="Content Placeholder 2">
            <a:extLst>
              <a:ext uri="{FF2B5EF4-FFF2-40B4-BE49-F238E27FC236}">
                <a16:creationId xmlns:a16="http://schemas.microsoft.com/office/drawing/2014/main" id="{769FF407-7841-4F12-8A5E-B2DD9E13E129}"/>
              </a:ext>
            </a:extLst>
          </p:cNvPr>
          <p:cNvSpPr>
            <a:spLocks noGrp="1"/>
          </p:cNvSpPr>
          <p:nvPr>
            <p:ph idx="1"/>
          </p:nvPr>
        </p:nvSpPr>
        <p:spPr/>
        <p:txBody>
          <a:bodyPr/>
          <a:lstStyle/>
          <a:p>
            <a:pPr marL="0" indent="0">
              <a:buNone/>
            </a:pPr>
            <a:r>
              <a:rPr lang="en-US" sz="1800" dirty="0"/>
              <a:t>In this method: Time is represented </a:t>
            </a:r>
            <a:r>
              <a:rPr lang="en-US" sz="1800" b="1" dirty="0"/>
              <a:t>through delayed input samples</a:t>
            </a:r>
            <a:endParaRPr lang="en-US" sz="1800" dirty="0"/>
          </a:p>
          <a:p>
            <a:pPr marL="0" indent="0">
              <a:buNone/>
            </a:pPr>
            <a:endParaRPr lang="en-US" sz="1800" dirty="0"/>
          </a:p>
          <a:p>
            <a:pPr marL="0" indent="0">
              <a:buNone/>
            </a:pPr>
            <a:r>
              <a:rPr lang="en-US" sz="1800" dirty="0"/>
              <a:t>Instead of giving only the present input:</a:t>
            </a:r>
          </a:p>
          <a:p>
            <a:pPr marL="0" indent="0">
              <a:buNone/>
            </a:pPr>
            <a:r>
              <a:rPr lang="en-US" sz="1800" dirty="0"/>
              <a:t>x(n) we provide</a:t>
            </a:r>
          </a:p>
          <a:p>
            <a:pPr marL="0" indent="0">
              <a:buNone/>
            </a:pPr>
            <a:r>
              <a:rPr lang="en-US" sz="1800" dirty="0"/>
              <a:t>x(n), x(n−1), x(n−2),... These delayed samples become </a:t>
            </a:r>
            <a:r>
              <a:rPr lang="en-US" sz="1800" b="1" dirty="0"/>
              <a:t>separate inputs to the network</a:t>
            </a:r>
            <a:r>
              <a:rPr lang="en-US" sz="1800" dirty="0"/>
              <a:t>.</a:t>
            </a:r>
          </a:p>
          <a:p>
            <a:pPr marL="0" indent="0">
              <a:buNone/>
            </a:pPr>
            <a:endParaRPr lang="en-US" sz="1800" dirty="0"/>
          </a:p>
          <a:p>
            <a:pPr marL="0" indent="0">
              <a:buNone/>
            </a:pPr>
            <a:r>
              <a:rPr lang="en-US" sz="1800" dirty="0"/>
              <a:t>Thus the temporal structure of the signal is converted into </a:t>
            </a:r>
            <a:r>
              <a:rPr lang="en-US" sz="1800" b="1" dirty="0"/>
              <a:t>spatial structure</a:t>
            </a:r>
            <a:r>
              <a:rPr lang="en-US" sz="1800" dirty="0"/>
              <a:t>.</a:t>
            </a:r>
          </a:p>
          <a:p>
            <a:pPr marL="0" indent="0">
              <a:buNone/>
            </a:pPr>
            <a:r>
              <a:rPr lang="en-US" sz="1800" b="1" dirty="0"/>
              <a:t>Example</a:t>
            </a:r>
          </a:p>
          <a:p>
            <a:pPr marL="0" indent="0">
              <a:buNone/>
            </a:pPr>
            <a:r>
              <a:rPr lang="en-US" sz="1800" dirty="0"/>
              <a:t>Speech recognition: Instead of processing only the current sound frame, we input several frames:</a:t>
            </a:r>
          </a:p>
          <a:p>
            <a:pPr marL="0" indent="0">
              <a:buNone/>
            </a:pPr>
            <a:r>
              <a:rPr lang="en-US" sz="1800" dirty="0"/>
              <a:t>Current frame</a:t>
            </a:r>
          </a:p>
          <a:p>
            <a:pPr marL="0" indent="0">
              <a:buNone/>
            </a:pPr>
            <a:r>
              <a:rPr lang="en-US" sz="1800" dirty="0"/>
              <a:t>Previous frame</a:t>
            </a:r>
          </a:p>
          <a:p>
            <a:pPr marL="0" indent="0">
              <a:buNone/>
            </a:pPr>
            <a:r>
              <a:rPr lang="en-US" sz="1800" dirty="0"/>
              <a:t>Frame before that</a:t>
            </a:r>
          </a:p>
          <a:p>
            <a:pPr marL="0" indent="0">
              <a:buNone/>
            </a:pPr>
            <a:r>
              <a:rPr lang="en-US" sz="1800" dirty="0"/>
              <a:t>This allows the network to </a:t>
            </a:r>
            <a:r>
              <a:rPr lang="en-US" sz="1800" b="1" dirty="0"/>
              <a:t>capture temporal patterns</a:t>
            </a:r>
            <a:r>
              <a:rPr lang="en-US" sz="1800" dirty="0"/>
              <a:t>.</a:t>
            </a:r>
          </a:p>
          <a:p>
            <a:pPr marL="0" indent="0">
              <a:buNone/>
            </a:pP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1265B9D2-27A4-46BB-9718-26F19AFC0B03}"/>
              </a:ext>
            </a:extLst>
          </p:cNvPr>
          <p:cNvSpPr>
            <a:spLocks noGrp="1"/>
          </p:cNvSpPr>
          <p:nvPr>
            <p:ph type="sldNum" sz="quarter" idx="12"/>
          </p:nvPr>
        </p:nvSpPr>
        <p:spPr/>
        <p:txBody>
          <a:bodyPr/>
          <a:lstStyle/>
          <a:p>
            <a:fld id="{BB2CE0DE-867F-455F-B20B-96D381B4AB71}" type="slidenum">
              <a:rPr lang="en-US" smtClean="0"/>
              <a:t>135</a:t>
            </a:fld>
            <a:endParaRPr lang="en-US"/>
          </a:p>
        </p:txBody>
      </p:sp>
    </p:spTree>
    <p:extLst>
      <p:ext uri="{BB962C8B-B14F-4D97-AF65-F5344CB8AC3E}">
        <p14:creationId xmlns:p14="http://schemas.microsoft.com/office/powerpoint/2010/main" val="366730028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EBE2-4AF0-461E-89FC-85D835F771F0}"/>
              </a:ext>
            </a:extLst>
          </p:cNvPr>
          <p:cNvSpPr>
            <a:spLocks noGrp="1"/>
          </p:cNvSpPr>
          <p:nvPr>
            <p:ph type="title"/>
          </p:nvPr>
        </p:nvSpPr>
        <p:spPr/>
        <p:txBody>
          <a:bodyPr/>
          <a:lstStyle/>
          <a:p>
            <a:r>
              <a:rPr lang="en-IN" dirty="0"/>
              <a:t>Explicit Representation of Time</a:t>
            </a:r>
          </a:p>
        </p:txBody>
      </p:sp>
      <p:sp>
        <p:nvSpPr>
          <p:cNvPr id="3" name="Content Placeholder 2">
            <a:extLst>
              <a:ext uri="{FF2B5EF4-FFF2-40B4-BE49-F238E27FC236}">
                <a16:creationId xmlns:a16="http://schemas.microsoft.com/office/drawing/2014/main" id="{3220F6E4-71AC-4002-9F95-46D1A5179394}"/>
              </a:ext>
            </a:extLst>
          </p:cNvPr>
          <p:cNvSpPr>
            <a:spLocks noGrp="1"/>
          </p:cNvSpPr>
          <p:nvPr>
            <p:ph idx="1"/>
          </p:nvPr>
        </p:nvSpPr>
        <p:spPr/>
        <p:txBody>
          <a:bodyPr/>
          <a:lstStyle/>
          <a:p>
            <a:pPr marL="0" indent="0">
              <a:buNone/>
            </a:pPr>
            <a:r>
              <a:rPr lang="en-US" sz="1600" dirty="0"/>
              <a:t>In </a:t>
            </a:r>
            <a:r>
              <a:rPr lang="en-US" sz="1600" b="1" dirty="0"/>
              <a:t>explicit representation</a:t>
            </a:r>
            <a:r>
              <a:rPr lang="en-US" sz="1600" dirty="0"/>
              <a:t>, time is represented </a:t>
            </a:r>
            <a:r>
              <a:rPr lang="en-US" sz="1600" b="1" dirty="0"/>
              <a:t>inside the neural network itself</a:t>
            </a:r>
            <a:r>
              <a:rPr lang="en-US" sz="1600" dirty="0"/>
              <a:t>.</a:t>
            </a:r>
          </a:p>
          <a:p>
            <a:pPr>
              <a:buFont typeface="Arial" panose="020B0604020202020204" pitchFamily="34" charset="0"/>
              <a:buChar char="•"/>
            </a:pPr>
            <a:r>
              <a:rPr lang="en-US" sz="1600" dirty="0"/>
              <a:t>The network </a:t>
            </a:r>
            <a:r>
              <a:rPr lang="en-US" sz="1600" b="1" dirty="0"/>
              <a:t>stores past information in internal states</a:t>
            </a:r>
            <a:endParaRPr lang="en-US" sz="1600" dirty="0"/>
          </a:p>
          <a:p>
            <a:pPr>
              <a:buFont typeface="Arial" panose="020B0604020202020204" pitchFamily="34" charset="0"/>
              <a:buChar char="•"/>
            </a:pPr>
            <a:r>
              <a:rPr lang="en-US" sz="1600" dirty="0"/>
              <a:t>The </a:t>
            </a:r>
            <a:r>
              <a:rPr lang="en-US" sz="1600" b="1" dirty="0"/>
              <a:t>current output depends on the current input and previous internal state</a:t>
            </a:r>
            <a:endParaRPr lang="en-US" sz="1600" dirty="0"/>
          </a:p>
          <a:p>
            <a:pPr marL="0" indent="0">
              <a:buNone/>
            </a:pPr>
            <a:endParaRPr lang="en-US" sz="1600" dirty="0"/>
          </a:p>
          <a:p>
            <a:pPr marL="0" indent="0">
              <a:buNone/>
            </a:pPr>
            <a:r>
              <a:rPr lang="en-US" sz="1600" dirty="0"/>
              <a:t>This is different from implicit representation where we explicitly supply delayed inputs.</a:t>
            </a:r>
          </a:p>
          <a:p>
            <a:pPr marL="0" indent="0">
              <a:buNone/>
            </a:pPr>
            <a:endParaRPr lang="en-US" sz="1600" dirty="0"/>
          </a:p>
          <a:p>
            <a:pPr marL="0" indent="0">
              <a:buNone/>
            </a:pPr>
            <a:r>
              <a:rPr lang="en-US" sz="1600" dirty="0"/>
              <a:t>Examples of explicit representation systems: </a:t>
            </a:r>
            <a:r>
              <a:rPr lang="en-US" sz="1600" b="1" dirty="0"/>
              <a:t>Recurrent Neural Networks (RNN), Long Short Term memory (LSTM)networks</a:t>
            </a:r>
            <a:endParaRPr lang="en-US" sz="1600" dirty="0"/>
          </a:p>
          <a:p>
            <a:pPr marL="0" indent="0">
              <a:buNone/>
            </a:pPr>
            <a:r>
              <a:rPr lang="en-US" sz="1600" dirty="0"/>
              <a:t>Here the network </a:t>
            </a:r>
            <a:r>
              <a:rPr lang="en-US" sz="1600" b="1" dirty="0"/>
              <a:t>stores information internally</a:t>
            </a:r>
            <a:r>
              <a:rPr lang="en-US" sz="1600" dirty="0"/>
              <a:t>.</a:t>
            </a:r>
          </a:p>
          <a:p>
            <a:endParaRPr lang="en-IN" sz="1600" dirty="0"/>
          </a:p>
          <a:p>
            <a:endParaRPr lang="en-IN" sz="1600" dirty="0"/>
          </a:p>
          <a:p>
            <a:endParaRPr lang="en-IN" sz="1600" dirty="0"/>
          </a:p>
        </p:txBody>
      </p:sp>
      <p:sp>
        <p:nvSpPr>
          <p:cNvPr id="4" name="Slide Number Placeholder 3">
            <a:extLst>
              <a:ext uri="{FF2B5EF4-FFF2-40B4-BE49-F238E27FC236}">
                <a16:creationId xmlns:a16="http://schemas.microsoft.com/office/drawing/2014/main" id="{5454E757-C6BE-4AB3-BAB9-F35B6209D998}"/>
              </a:ext>
            </a:extLst>
          </p:cNvPr>
          <p:cNvSpPr>
            <a:spLocks noGrp="1"/>
          </p:cNvSpPr>
          <p:nvPr>
            <p:ph type="sldNum" sz="quarter" idx="12"/>
          </p:nvPr>
        </p:nvSpPr>
        <p:spPr/>
        <p:txBody>
          <a:bodyPr/>
          <a:lstStyle/>
          <a:p>
            <a:fld id="{BB2CE0DE-867F-455F-B20B-96D381B4AB71}" type="slidenum">
              <a:rPr lang="en-US" smtClean="0"/>
              <a:t>136</a:t>
            </a:fld>
            <a:endParaRPr lang="en-US"/>
          </a:p>
        </p:txBody>
      </p:sp>
    </p:spTree>
    <p:extLst>
      <p:ext uri="{BB962C8B-B14F-4D97-AF65-F5344CB8AC3E}">
        <p14:creationId xmlns:p14="http://schemas.microsoft.com/office/powerpoint/2010/main" val="37707589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EBE2-4AF0-461E-89FC-85D835F771F0}"/>
              </a:ext>
            </a:extLst>
          </p:cNvPr>
          <p:cNvSpPr>
            <a:spLocks noGrp="1"/>
          </p:cNvSpPr>
          <p:nvPr>
            <p:ph type="title"/>
          </p:nvPr>
        </p:nvSpPr>
        <p:spPr/>
        <p:txBody>
          <a:bodyPr/>
          <a:lstStyle/>
          <a:p>
            <a:r>
              <a:rPr lang="en-IN" dirty="0"/>
              <a:t>Explicit Representation of Time</a:t>
            </a:r>
          </a:p>
        </p:txBody>
      </p:sp>
      <p:sp>
        <p:nvSpPr>
          <p:cNvPr id="3" name="Content Placeholder 2">
            <a:extLst>
              <a:ext uri="{FF2B5EF4-FFF2-40B4-BE49-F238E27FC236}">
                <a16:creationId xmlns:a16="http://schemas.microsoft.com/office/drawing/2014/main" id="{3220F6E4-71AC-4002-9F95-46D1A5179394}"/>
              </a:ext>
            </a:extLst>
          </p:cNvPr>
          <p:cNvSpPr>
            <a:spLocks noGrp="1"/>
          </p:cNvSpPr>
          <p:nvPr>
            <p:ph idx="1"/>
          </p:nvPr>
        </p:nvSpPr>
        <p:spPr/>
        <p:txBody>
          <a:bodyPr/>
          <a:lstStyle/>
          <a:p>
            <a:pPr marL="0" indent="0">
              <a:buNone/>
            </a:pPr>
            <a:r>
              <a:rPr lang="en-US" sz="1600" dirty="0"/>
              <a:t>In </a:t>
            </a:r>
            <a:r>
              <a:rPr lang="en-US" sz="1600" b="1" dirty="0"/>
              <a:t>explicit representation</a:t>
            </a:r>
            <a:r>
              <a:rPr lang="en-US" sz="1600" dirty="0"/>
              <a:t>, time is represented </a:t>
            </a:r>
            <a:r>
              <a:rPr lang="en-US" sz="1600" b="1" dirty="0"/>
              <a:t>inside the neural network itself</a:t>
            </a:r>
            <a:r>
              <a:rPr lang="en-US" sz="1600" dirty="0"/>
              <a:t>.</a:t>
            </a:r>
          </a:p>
          <a:p>
            <a:pPr>
              <a:buFont typeface="Arial" panose="020B0604020202020204" pitchFamily="34" charset="0"/>
              <a:buChar char="•"/>
            </a:pPr>
            <a:r>
              <a:rPr lang="en-US" sz="1600" dirty="0"/>
              <a:t>The network </a:t>
            </a:r>
            <a:r>
              <a:rPr lang="en-US" sz="1600" b="1" dirty="0"/>
              <a:t>stores past information in internal states</a:t>
            </a:r>
            <a:endParaRPr lang="en-US" sz="1600" dirty="0"/>
          </a:p>
          <a:p>
            <a:pPr>
              <a:buFont typeface="Arial" panose="020B0604020202020204" pitchFamily="34" charset="0"/>
              <a:buChar char="•"/>
            </a:pPr>
            <a:r>
              <a:rPr lang="en-US" sz="1600" dirty="0"/>
              <a:t>The </a:t>
            </a:r>
            <a:r>
              <a:rPr lang="en-US" sz="1600" b="1" dirty="0"/>
              <a:t>current output depends on the current input and previous internal state</a:t>
            </a:r>
            <a:endParaRPr lang="en-US" sz="1600" dirty="0"/>
          </a:p>
          <a:p>
            <a:pPr marL="0" indent="0">
              <a:buNone/>
            </a:pPr>
            <a:r>
              <a:rPr lang="en-US" sz="1600" dirty="0"/>
              <a:t>This is different from implicit representation where we explicitly supply delayed inputs.</a:t>
            </a:r>
          </a:p>
          <a:p>
            <a:pPr marL="0" indent="0">
              <a:buNone/>
            </a:pPr>
            <a:r>
              <a:rPr lang="en-US" sz="1600" dirty="0"/>
              <a:t>Examples of explicit representation systems: </a:t>
            </a:r>
            <a:r>
              <a:rPr lang="en-US" sz="1600" b="1" dirty="0"/>
              <a:t>Recurrent Neural Networks (RNN), Long Short Term memory (LSTM)networks</a:t>
            </a:r>
            <a:endParaRPr lang="en-US" sz="1600" dirty="0"/>
          </a:p>
          <a:p>
            <a:pPr marL="0" indent="0">
              <a:buNone/>
            </a:pPr>
            <a:r>
              <a:rPr lang="en-US" sz="1600" dirty="0"/>
              <a:t>Here the network </a:t>
            </a:r>
            <a:r>
              <a:rPr lang="en-US" sz="1600" b="1" dirty="0"/>
              <a:t>stores information internally</a:t>
            </a:r>
            <a:r>
              <a:rPr lang="en-US" sz="1600" dirty="0"/>
              <a:t>.</a:t>
            </a:r>
          </a:p>
          <a:p>
            <a:endParaRPr lang="en-IN" sz="1600" dirty="0"/>
          </a:p>
          <a:p>
            <a:endParaRPr lang="en-IN" sz="1600" dirty="0"/>
          </a:p>
          <a:p>
            <a:endParaRPr lang="en-IN" sz="1600" dirty="0"/>
          </a:p>
        </p:txBody>
      </p:sp>
      <p:sp>
        <p:nvSpPr>
          <p:cNvPr id="4" name="Slide Number Placeholder 3">
            <a:extLst>
              <a:ext uri="{FF2B5EF4-FFF2-40B4-BE49-F238E27FC236}">
                <a16:creationId xmlns:a16="http://schemas.microsoft.com/office/drawing/2014/main" id="{5454E757-C6BE-4AB3-BAB9-F35B6209D998}"/>
              </a:ext>
            </a:extLst>
          </p:cNvPr>
          <p:cNvSpPr>
            <a:spLocks noGrp="1"/>
          </p:cNvSpPr>
          <p:nvPr>
            <p:ph type="sldNum" sz="quarter" idx="12"/>
          </p:nvPr>
        </p:nvSpPr>
        <p:spPr/>
        <p:txBody>
          <a:bodyPr/>
          <a:lstStyle/>
          <a:p>
            <a:fld id="{BB2CE0DE-867F-455F-B20B-96D381B4AB71}" type="slidenum">
              <a:rPr lang="en-US" smtClean="0"/>
              <a:t>137</a:t>
            </a:fld>
            <a:endParaRPr lang="en-US"/>
          </a:p>
        </p:txBody>
      </p:sp>
      <p:pic>
        <p:nvPicPr>
          <p:cNvPr id="6" name="Picture 5">
            <a:extLst>
              <a:ext uri="{FF2B5EF4-FFF2-40B4-BE49-F238E27FC236}">
                <a16:creationId xmlns:a16="http://schemas.microsoft.com/office/drawing/2014/main" id="{97654E97-6EF7-4B66-B25D-319986B66D5F}"/>
              </a:ext>
            </a:extLst>
          </p:cNvPr>
          <p:cNvPicPr>
            <a:picLocks noChangeAspect="1"/>
          </p:cNvPicPr>
          <p:nvPr/>
        </p:nvPicPr>
        <p:blipFill>
          <a:blip r:embed="rId3"/>
          <a:stretch>
            <a:fillRect/>
          </a:stretch>
        </p:blipFill>
        <p:spPr>
          <a:xfrm>
            <a:off x="8001000" y="3749936"/>
            <a:ext cx="3585990" cy="2133600"/>
          </a:xfrm>
          <a:prstGeom prst="rect">
            <a:avLst/>
          </a:prstGeom>
        </p:spPr>
      </p:pic>
      <p:sp>
        <p:nvSpPr>
          <p:cNvPr id="7" name="TextBox 6">
            <a:extLst>
              <a:ext uri="{FF2B5EF4-FFF2-40B4-BE49-F238E27FC236}">
                <a16:creationId xmlns:a16="http://schemas.microsoft.com/office/drawing/2014/main" id="{039362A5-4F80-4B06-A73B-DD87B5C8A6E0}"/>
              </a:ext>
            </a:extLst>
          </p:cNvPr>
          <p:cNvSpPr txBox="1"/>
          <p:nvPr/>
        </p:nvSpPr>
        <p:spPr>
          <a:xfrm>
            <a:off x="8610600" y="3244334"/>
            <a:ext cx="1269899" cy="369332"/>
          </a:xfrm>
          <a:prstGeom prst="rect">
            <a:avLst/>
          </a:prstGeom>
          <a:noFill/>
        </p:spPr>
        <p:txBody>
          <a:bodyPr wrap="none" rtlCol="0">
            <a:spAutoFit/>
          </a:bodyPr>
          <a:lstStyle/>
          <a:p>
            <a:r>
              <a:rPr lang="en-US" dirty="0"/>
              <a:t>Structure</a:t>
            </a:r>
            <a:endParaRPr lang="en-IN" dirty="0"/>
          </a:p>
        </p:txBody>
      </p:sp>
      <p:pic>
        <p:nvPicPr>
          <p:cNvPr id="9" name="Picture 8">
            <a:extLst>
              <a:ext uri="{FF2B5EF4-FFF2-40B4-BE49-F238E27FC236}">
                <a16:creationId xmlns:a16="http://schemas.microsoft.com/office/drawing/2014/main" id="{9C169FF5-0CC3-405E-ABED-6B0EC7831BBD}"/>
              </a:ext>
            </a:extLst>
          </p:cNvPr>
          <p:cNvPicPr>
            <a:picLocks noChangeAspect="1"/>
          </p:cNvPicPr>
          <p:nvPr/>
        </p:nvPicPr>
        <p:blipFill>
          <a:blip r:embed="rId4"/>
          <a:stretch>
            <a:fillRect/>
          </a:stretch>
        </p:blipFill>
        <p:spPr>
          <a:xfrm>
            <a:off x="755651" y="3391582"/>
            <a:ext cx="3429479" cy="3143689"/>
          </a:xfrm>
          <a:prstGeom prst="rect">
            <a:avLst/>
          </a:prstGeom>
        </p:spPr>
      </p:pic>
      <p:pic>
        <p:nvPicPr>
          <p:cNvPr id="8" name="Picture 7">
            <a:extLst>
              <a:ext uri="{FF2B5EF4-FFF2-40B4-BE49-F238E27FC236}">
                <a16:creationId xmlns:a16="http://schemas.microsoft.com/office/drawing/2014/main" id="{D3BAED20-0059-4F6B-BA9C-00BB8B05BB0C}"/>
              </a:ext>
            </a:extLst>
          </p:cNvPr>
          <p:cNvPicPr>
            <a:picLocks noChangeAspect="1"/>
          </p:cNvPicPr>
          <p:nvPr/>
        </p:nvPicPr>
        <p:blipFill>
          <a:blip r:embed="rId5"/>
          <a:stretch>
            <a:fillRect/>
          </a:stretch>
        </p:blipFill>
        <p:spPr>
          <a:xfrm>
            <a:off x="4886157" y="3774374"/>
            <a:ext cx="2419688" cy="428685"/>
          </a:xfrm>
          <a:prstGeom prst="rect">
            <a:avLst/>
          </a:prstGeom>
        </p:spPr>
      </p:pic>
      <p:pic>
        <p:nvPicPr>
          <p:cNvPr id="11" name="Picture 10">
            <a:extLst>
              <a:ext uri="{FF2B5EF4-FFF2-40B4-BE49-F238E27FC236}">
                <a16:creationId xmlns:a16="http://schemas.microsoft.com/office/drawing/2014/main" id="{14B9D6F3-F875-4D47-9A90-08FFE084E4F7}"/>
              </a:ext>
            </a:extLst>
          </p:cNvPr>
          <p:cNvPicPr>
            <a:picLocks noChangeAspect="1"/>
          </p:cNvPicPr>
          <p:nvPr/>
        </p:nvPicPr>
        <p:blipFill>
          <a:blip r:embed="rId6"/>
          <a:stretch>
            <a:fillRect/>
          </a:stretch>
        </p:blipFill>
        <p:spPr>
          <a:xfrm>
            <a:off x="4432261" y="4339329"/>
            <a:ext cx="3263939" cy="344782"/>
          </a:xfrm>
          <a:prstGeom prst="rect">
            <a:avLst/>
          </a:prstGeom>
        </p:spPr>
      </p:pic>
    </p:spTree>
    <p:extLst>
      <p:ext uri="{BB962C8B-B14F-4D97-AF65-F5344CB8AC3E}">
        <p14:creationId xmlns:p14="http://schemas.microsoft.com/office/powerpoint/2010/main" val="228712470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EBE2-4AF0-461E-89FC-85D835F771F0}"/>
              </a:ext>
            </a:extLst>
          </p:cNvPr>
          <p:cNvSpPr>
            <a:spLocks noGrp="1"/>
          </p:cNvSpPr>
          <p:nvPr>
            <p:ph type="title"/>
          </p:nvPr>
        </p:nvSpPr>
        <p:spPr/>
        <p:txBody>
          <a:bodyPr/>
          <a:lstStyle/>
          <a:p>
            <a:r>
              <a:rPr lang="en-IN" dirty="0"/>
              <a:t>Explicit Representation of Time</a:t>
            </a:r>
          </a:p>
        </p:txBody>
      </p:sp>
      <p:sp>
        <p:nvSpPr>
          <p:cNvPr id="3" name="Content Placeholder 2">
            <a:extLst>
              <a:ext uri="{FF2B5EF4-FFF2-40B4-BE49-F238E27FC236}">
                <a16:creationId xmlns:a16="http://schemas.microsoft.com/office/drawing/2014/main" id="{3220F6E4-71AC-4002-9F95-46D1A5179394}"/>
              </a:ext>
            </a:extLst>
          </p:cNvPr>
          <p:cNvSpPr>
            <a:spLocks noGrp="1"/>
          </p:cNvSpPr>
          <p:nvPr>
            <p:ph idx="1"/>
          </p:nvPr>
        </p:nvSpPr>
        <p:spPr/>
        <p:txBody>
          <a:bodyPr/>
          <a:lstStyle/>
          <a:p>
            <a:pPr marL="0" indent="0">
              <a:buNone/>
            </a:pPr>
            <a:r>
              <a:rPr lang="en-US" sz="1400" dirty="0"/>
              <a:t>In </a:t>
            </a:r>
            <a:r>
              <a:rPr lang="en-US" sz="1400" b="1" dirty="0"/>
              <a:t>explicit representation</a:t>
            </a:r>
            <a:r>
              <a:rPr lang="en-US" sz="1400" dirty="0"/>
              <a:t>, time is represented </a:t>
            </a:r>
            <a:r>
              <a:rPr lang="en-US" sz="1400" b="1" dirty="0"/>
              <a:t>inside the neural network itself</a:t>
            </a:r>
            <a:r>
              <a:rPr lang="en-US" sz="1400" dirty="0"/>
              <a:t>.</a:t>
            </a:r>
          </a:p>
          <a:p>
            <a:pPr>
              <a:buFont typeface="Arial" panose="020B0604020202020204" pitchFamily="34" charset="0"/>
              <a:buChar char="•"/>
            </a:pPr>
            <a:r>
              <a:rPr lang="en-US" sz="1400" dirty="0"/>
              <a:t>The network </a:t>
            </a:r>
            <a:r>
              <a:rPr lang="en-US" sz="1400" b="1" dirty="0"/>
              <a:t>stores past information in internal states</a:t>
            </a:r>
            <a:endParaRPr lang="en-US" sz="1400" dirty="0"/>
          </a:p>
          <a:p>
            <a:pPr>
              <a:buFont typeface="Arial" panose="020B0604020202020204" pitchFamily="34" charset="0"/>
              <a:buChar char="•"/>
            </a:pPr>
            <a:r>
              <a:rPr lang="en-US" sz="1400" dirty="0"/>
              <a:t>The </a:t>
            </a:r>
            <a:r>
              <a:rPr lang="en-US" sz="1400" b="1" dirty="0"/>
              <a:t>current output depends on the current input and previous internal state</a:t>
            </a:r>
            <a:endParaRPr lang="en-US" sz="1400" dirty="0"/>
          </a:p>
          <a:p>
            <a:pPr marL="0" indent="0">
              <a:buNone/>
            </a:pPr>
            <a:r>
              <a:rPr lang="en-US" sz="1400" dirty="0"/>
              <a:t>This is different from implicit representation where we explicitly supply delayed inputs.</a:t>
            </a:r>
          </a:p>
          <a:p>
            <a:pPr marL="0" indent="0">
              <a:buNone/>
            </a:pPr>
            <a:r>
              <a:rPr lang="en-US" sz="1400" dirty="0"/>
              <a:t>Examples of explicit representation systems: </a:t>
            </a:r>
            <a:r>
              <a:rPr lang="en-US" sz="1400" b="1" dirty="0"/>
              <a:t>Recurrent Neural Networks (RNN), Long Short Term memory (LSTM)networks</a:t>
            </a:r>
            <a:endParaRPr lang="en-US" sz="1400" dirty="0"/>
          </a:p>
          <a:p>
            <a:pPr marL="0" indent="0">
              <a:buNone/>
            </a:pPr>
            <a:r>
              <a:rPr lang="en-US" sz="1400" dirty="0"/>
              <a:t>Here the network </a:t>
            </a:r>
            <a:r>
              <a:rPr lang="en-US" sz="1400" b="1" dirty="0"/>
              <a:t>stores information internally</a:t>
            </a:r>
            <a:r>
              <a:rPr lang="en-US" sz="1400" dirty="0"/>
              <a:t>.</a:t>
            </a:r>
          </a:p>
          <a:p>
            <a:pPr marL="0" indent="0">
              <a:buNone/>
            </a:pPr>
            <a:r>
              <a:rPr lang="en-US" sz="1400" dirty="0"/>
              <a:t>Example: Stock Market Prediction</a:t>
            </a:r>
          </a:p>
          <a:p>
            <a:pPr marL="0" indent="0">
              <a:buNone/>
            </a:pPr>
            <a:r>
              <a:rPr lang="en-US" sz="1400" dirty="0"/>
              <a:t>Suppose a neural network predicts the </a:t>
            </a:r>
            <a:r>
              <a:rPr lang="en-US" sz="1400" b="1" dirty="0"/>
              <a:t>next stock price</a:t>
            </a:r>
            <a:r>
              <a:rPr lang="en-US" sz="1400" dirty="0"/>
              <a:t>.</a:t>
            </a:r>
          </a:p>
          <a:p>
            <a:pPr marL="0" indent="0">
              <a:buNone/>
            </a:pPr>
            <a:r>
              <a:rPr lang="en-US" sz="1400" dirty="0"/>
              <a:t>At time t:</a:t>
            </a:r>
          </a:p>
          <a:p>
            <a:pPr marL="0" indent="0" rtl="0">
              <a:buNone/>
            </a:pPr>
            <a:r>
              <a:rPr lang="en-US" sz="1400" dirty="0"/>
              <a:t>Input: Current price</a:t>
            </a:r>
            <a:br>
              <a:rPr lang="en-US" sz="1400" dirty="0"/>
            </a:br>
            <a:r>
              <a:rPr lang="en-US" sz="1400" dirty="0"/>
              <a:t>Memory: Previous market trends</a:t>
            </a:r>
            <a:br>
              <a:rPr lang="en-US" sz="1400" dirty="0"/>
            </a:br>
            <a:r>
              <a:rPr lang="en-US" sz="1400" dirty="0"/>
              <a:t>Output: Next price prediction</a:t>
            </a:r>
          </a:p>
          <a:p>
            <a:pPr marL="0" indent="0">
              <a:buNone/>
            </a:pPr>
            <a:r>
              <a:rPr lang="en-US" sz="1400" dirty="0"/>
              <a:t>Here the network internally stores patterns like:</a:t>
            </a:r>
          </a:p>
          <a:p>
            <a:pPr marL="0" indent="0">
              <a:buNone/>
            </a:pPr>
            <a:r>
              <a:rPr lang="en-US" sz="1400" dirty="0"/>
              <a:t>Rising trend, Falling trend, Market volatility</a:t>
            </a:r>
          </a:p>
          <a:p>
            <a:pPr marL="0" indent="0">
              <a:buNone/>
            </a:pPr>
            <a:endParaRPr lang="en-US" sz="1400" dirty="0"/>
          </a:p>
          <a:p>
            <a:pPr marL="0" indent="0">
              <a:buNone/>
            </a:pPr>
            <a:r>
              <a:rPr lang="en-US" sz="1400" dirty="0"/>
              <a:t>Thus the prediction depends on: Current input + internal state (memory)</a:t>
            </a:r>
          </a:p>
          <a:p>
            <a:pPr marL="0" indent="0">
              <a:buNone/>
            </a:pPr>
            <a:endParaRPr lang="en-US" sz="1400" dirty="0"/>
          </a:p>
          <a:p>
            <a:pPr marL="0" indent="0">
              <a:buNone/>
            </a:pPr>
            <a:r>
              <a:rPr lang="en-US" sz="1400" dirty="0"/>
              <a:t>This internal state </a:t>
            </a:r>
            <a:r>
              <a:rPr lang="en-US" sz="1400" b="1" dirty="0"/>
              <a:t>represents time explicitly</a:t>
            </a:r>
            <a:r>
              <a:rPr lang="en-US" sz="1400" dirty="0"/>
              <a:t>.</a:t>
            </a:r>
          </a:p>
          <a:p>
            <a:endParaRPr lang="en-IN" sz="1400" dirty="0"/>
          </a:p>
          <a:p>
            <a:endParaRPr lang="en-IN" sz="1400" dirty="0"/>
          </a:p>
          <a:p>
            <a:endParaRPr lang="en-IN" sz="1400" dirty="0"/>
          </a:p>
        </p:txBody>
      </p:sp>
      <p:sp>
        <p:nvSpPr>
          <p:cNvPr id="4" name="Slide Number Placeholder 3">
            <a:extLst>
              <a:ext uri="{FF2B5EF4-FFF2-40B4-BE49-F238E27FC236}">
                <a16:creationId xmlns:a16="http://schemas.microsoft.com/office/drawing/2014/main" id="{5454E757-C6BE-4AB3-BAB9-F35B6209D998}"/>
              </a:ext>
            </a:extLst>
          </p:cNvPr>
          <p:cNvSpPr>
            <a:spLocks noGrp="1"/>
          </p:cNvSpPr>
          <p:nvPr>
            <p:ph type="sldNum" sz="quarter" idx="12"/>
          </p:nvPr>
        </p:nvSpPr>
        <p:spPr/>
        <p:txBody>
          <a:bodyPr/>
          <a:lstStyle/>
          <a:p>
            <a:fld id="{BB2CE0DE-867F-455F-B20B-96D381B4AB71}" type="slidenum">
              <a:rPr lang="en-US" smtClean="0"/>
              <a:t>138</a:t>
            </a:fld>
            <a:endParaRPr lang="en-US"/>
          </a:p>
        </p:txBody>
      </p:sp>
    </p:spTree>
    <p:extLst>
      <p:ext uri="{BB962C8B-B14F-4D97-AF65-F5344CB8AC3E}">
        <p14:creationId xmlns:p14="http://schemas.microsoft.com/office/powerpoint/2010/main" val="61868795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8F7FC-691A-4A33-9C57-8B1369DAB14B}"/>
              </a:ext>
            </a:extLst>
          </p:cNvPr>
          <p:cNvSpPr>
            <a:spLocks noGrp="1"/>
          </p:cNvSpPr>
          <p:nvPr>
            <p:ph type="title"/>
          </p:nvPr>
        </p:nvSpPr>
        <p:spPr/>
        <p:txBody>
          <a:bodyPr/>
          <a:lstStyle/>
          <a:p>
            <a:r>
              <a:rPr lang="en-US" sz="2800" dirty="0"/>
              <a:t>Difference between Implicit and Explicit Representation</a:t>
            </a:r>
            <a:endParaRPr lang="en-IN" sz="2800" dirty="0"/>
          </a:p>
        </p:txBody>
      </p:sp>
      <p:sp>
        <p:nvSpPr>
          <p:cNvPr id="3" name="Content Placeholder 2">
            <a:extLst>
              <a:ext uri="{FF2B5EF4-FFF2-40B4-BE49-F238E27FC236}">
                <a16:creationId xmlns:a16="http://schemas.microsoft.com/office/drawing/2014/main" id="{3326EE52-914F-48C9-934A-5D195DF60215}"/>
              </a:ext>
            </a:extLst>
          </p:cNvPr>
          <p:cNvSpPr>
            <a:spLocks noGrp="1"/>
          </p:cNvSpPr>
          <p:nvPr>
            <p:ph idx="1"/>
          </p:nvPr>
        </p:nvSpPr>
        <p:spPr/>
        <p:txBody>
          <a:bodyPr/>
          <a:lstStyle/>
          <a:p>
            <a:pPr marL="0" indent="0" algn="just">
              <a:buNone/>
            </a:pPr>
            <a:r>
              <a:rPr lang="en-US" sz="1400" b="1" dirty="0"/>
              <a:t>Implicit representation of time: </a:t>
            </a:r>
            <a:r>
              <a:rPr lang="en-US" sz="1400" dirty="0"/>
              <a:t>In this approach, time information is incorporated by providing delayed versions of the input signal to a static neural network. A tapped delay line memory generates inputs such as x(n),x(n−1),x(n−2), which are processed by the network. Thus, temporal information is represented indirectly through the input vector.</a:t>
            </a:r>
          </a:p>
          <a:p>
            <a:pPr marL="0" indent="0" algn="just">
              <a:buNone/>
            </a:pPr>
            <a:r>
              <a:rPr lang="en-US" sz="1400" b="1" dirty="0"/>
              <a:t>Explicit representation of time: </a:t>
            </a:r>
            <a:r>
              <a:rPr lang="en-US" sz="1400" dirty="0"/>
              <a:t>In this approach, time is represented within the neural network structure itself using feedback connections or internal states. The output depends on both the current input and previous internal state, as seen in recurrent neural networks (RNNs).</a:t>
            </a:r>
          </a:p>
          <a:p>
            <a:pPr marL="0" indent="0">
              <a:buNone/>
            </a:pPr>
            <a:r>
              <a:rPr lang="en-US" sz="1400" b="1" dirty="0">
                <a:solidFill>
                  <a:srgbClr val="C00000"/>
                </a:solidFill>
              </a:rPr>
              <a:t>Difference: </a:t>
            </a:r>
            <a:r>
              <a:rPr lang="en-US" sz="1400" dirty="0"/>
              <a:t>Implicit representation uses </a:t>
            </a:r>
            <a:r>
              <a:rPr lang="en-US" sz="1400" b="1" dirty="0"/>
              <a:t>external memory (delays)</a:t>
            </a:r>
            <a:r>
              <a:rPr lang="en-US" sz="1400" dirty="0"/>
              <a:t>, while explicit representation uses </a:t>
            </a:r>
            <a:r>
              <a:rPr lang="en-US" sz="1400" b="1" dirty="0"/>
              <a:t>internal network memory (feedback/state)</a:t>
            </a:r>
            <a:r>
              <a:rPr lang="en-US" sz="1400" dirty="0"/>
              <a:t>.</a:t>
            </a:r>
          </a:p>
          <a:p>
            <a:pPr marL="0" indent="0">
              <a:buNone/>
            </a:pPr>
            <a:endParaRPr lang="en-IN" sz="1400" dirty="0"/>
          </a:p>
        </p:txBody>
      </p:sp>
      <p:sp>
        <p:nvSpPr>
          <p:cNvPr id="4" name="Slide Number Placeholder 3">
            <a:extLst>
              <a:ext uri="{FF2B5EF4-FFF2-40B4-BE49-F238E27FC236}">
                <a16:creationId xmlns:a16="http://schemas.microsoft.com/office/drawing/2014/main" id="{17744D7C-D976-4447-8BA7-C2D4F677F308}"/>
              </a:ext>
            </a:extLst>
          </p:cNvPr>
          <p:cNvSpPr>
            <a:spLocks noGrp="1"/>
          </p:cNvSpPr>
          <p:nvPr>
            <p:ph type="sldNum" sz="quarter" idx="12"/>
          </p:nvPr>
        </p:nvSpPr>
        <p:spPr/>
        <p:txBody>
          <a:bodyPr/>
          <a:lstStyle/>
          <a:p>
            <a:fld id="{BB2CE0DE-867F-455F-B20B-96D381B4AB71}" type="slidenum">
              <a:rPr lang="en-US" smtClean="0"/>
              <a:t>139</a:t>
            </a:fld>
            <a:endParaRPr lang="en-US"/>
          </a:p>
        </p:txBody>
      </p:sp>
      <p:pic>
        <p:nvPicPr>
          <p:cNvPr id="6" name="Picture 5">
            <a:extLst>
              <a:ext uri="{FF2B5EF4-FFF2-40B4-BE49-F238E27FC236}">
                <a16:creationId xmlns:a16="http://schemas.microsoft.com/office/drawing/2014/main" id="{F37DF8F1-3E75-4D85-9B58-5102750F471E}"/>
              </a:ext>
            </a:extLst>
          </p:cNvPr>
          <p:cNvPicPr>
            <a:picLocks noChangeAspect="1"/>
          </p:cNvPicPr>
          <p:nvPr/>
        </p:nvPicPr>
        <p:blipFill>
          <a:blip r:embed="rId2"/>
          <a:stretch>
            <a:fillRect/>
          </a:stretch>
        </p:blipFill>
        <p:spPr>
          <a:xfrm>
            <a:off x="2395576" y="3414656"/>
            <a:ext cx="7651170" cy="3269399"/>
          </a:xfrm>
          <a:prstGeom prst="rect">
            <a:avLst/>
          </a:prstGeom>
        </p:spPr>
      </p:pic>
    </p:spTree>
    <p:extLst>
      <p:ext uri="{BB962C8B-B14F-4D97-AF65-F5344CB8AC3E}">
        <p14:creationId xmlns:p14="http://schemas.microsoft.com/office/powerpoint/2010/main" val="181854622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B13D7-BBF9-4ADA-9354-1429837CFB16}"/>
              </a:ext>
            </a:extLst>
          </p:cNvPr>
          <p:cNvSpPr>
            <a:spLocks noGrp="1"/>
          </p:cNvSpPr>
          <p:nvPr>
            <p:ph type="title"/>
          </p:nvPr>
        </p:nvSpPr>
        <p:spPr/>
        <p:txBody>
          <a:bodyPr/>
          <a:lstStyle/>
          <a:p>
            <a:r>
              <a:rPr lang="en-US" dirty="0"/>
              <a:t>Nonlinear filter built on a static neural network</a:t>
            </a:r>
            <a:endParaRPr lang="en-IN" dirty="0"/>
          </a:p>
        </p:txBody>
      </p:sp>
      <p:sp>
        <p:nvSpPr>
          <p:cNvPr id="3" name="Content Placeholder 2">
            <a:extLst>
              <a:ext uri="{FF2B5EF4-FFF2-40B4-BE49-F238E27FC236}">
                <a16:creationId xmlns:a16="http://schemas.microsoft.com/office/drawing/2014/main" id="{090C2E77-2860-4262-9300-0A1971CBC827}"/>
              </a:ext>
            </a:extLst>
          </p:cNvPr>
          <p:cNvSpPr>
            <a:spLocks noGrp="1"/>
          </p:cNvSpPr>
          <p:nvPr>
            <p:ph idx="1"/>
          </p:nvPr>
        </p:nvSpPr>
        <p:spPr/>
        <p:txBody>
          <a:bodyPr/>
          <a:lstStyle/>
          <a:p>
            <a:pPr marL="0" indent="0">
              <a:buNone/>
            </a:pPr>
            <a:r>
              <a:rPr lang="en-US" sz="1600" dirty="0"/>
              <a:t>A nonlinear filter can be built using two subsystems.</a:t>
            </a:r>
          </a:p>
          <a:p>
            <a:pPr>
              <a:buFont typeface="+mj-lt"/>
              <a:buAutoNum type="arabicPeriod"/>
            </a:pPr>
            <a:r>
              <a:rPr lang="en-US" sz="1600" b="1" dirty="0"/>
              <a:t>Short-Term Memory</a:t>
            </a:r>
            <a:endParaRPr lang="en-US" sz="1600" dirty="0"/>
          </a:p>
          <a:p>
            <a:pPr>
              <a:buFont typeface="+mj-lt"/>
              <a:buAutoNum type="arabicPeriod"/>
            </a:pPr>
            <a:r>
              <a:rPr lang="en-US" sz="1600" b="1" dirty="0"/>
              <a:t>Static Neural Network</a:t>
            </a:r>
          </a:p>
          <a:p>
            <a:pPr marL="0" indent="0" algn="just">
              <a:buNone/>
            </a:pPr>
            <a:r>
              <a:rPr lang="en-US" sz="1600" dirty="0"/>
              <a:t>Figure shows the block diagram of a nonlinear filter consisting of the cascade connection of two subsystems: Short-Term Memory and Static Neural Network. The static network accounts for nonlinearity, and the memory accounts for time. To be specific, suppose we are given a multilayer perceptron with an input layer of size m. Then, in a corresponding way, the memory is a single-input, multiple-output (SIMO) structure providing m differently delayed versions of the input signal for</a:t>
            </a:r>
          </a:p>
          <a:p>
            <a:pPr marL="0" indent="0" algn="just">
              <a:buNone/>
            </a:pPr>
            <a:r>
              <a:rPr lang="en-US" sz="1600" dirty="0"/>
              <a:t>stimulating the neural network.</a:t>
            </a:r>
          </a:p>
          <a:p>
            <a:pPr marL="0" indent="0">
              <a:buNone/>
            </a:pPr>
            <a:endParaRPr lang="en-US" sz="1600" dirty="0"/>
          </a:p>
          <a:p>
            <a:endParaRPr lang="en-IN" sz="1600" dirty="0"/>
          </a:p>
        </p:txBody>
      </p:sp>
      <p:sp>
        <p:nvSpPr>
          <p:cNvPr id="4" name="Slide Number Placeholder 3">
            <a:extLst>
              <a:ext uri="{FF2B5EF4-FFF2-40B4-BE49-F238E27FC236}">
                <a16:creationId xmlns:a16="http://schemas.microsoft.com/office/drawing/2014/main" id="{2622AFB2-489C-4BC4-A353-56D57707A445}"/>
              </a:ext>
            </a:extLst>
          </p:cNvPr>
          <p:cNvSpPr>
            <a:spLocks noGrp="1"/>
          </p:cNvSpPr>
          <p:nvPr>
            <p:ph type="sldNum" sz="quarter" idx="12"/>
          </p:nvPr>
        </p:nvSpPr>
        <p:spPr/>
        <p:txBody>
          <a:bodyPr/>
          <a:lstStyle/>
          <a:p>
            <a:fld id="{BB2CE0DE-867F-455F-B20B-96D381B4AB71}" type="slidenum">
              <a:rPr lang="en-US" smtClean="0"/>
              <a:t>140</a:t>
            </a:fld>
            <a:endParaRPr lang="en-US"/>
          </a:p>
        </p:txBody>
      </p:sp>
      <p:grpSp>
        <p:nvGrpSpPr>
          <p:cNvPr id="25" name="Group 24">
            <a:extLst>
              <a:ext uri="{FF2B5EF4-FFF2-40B4-BE49-F238E27FC236}">
                <a16:creationId xmlns:a16="http://schemas.microsoft.com/office/drawing/2014/main" id="{4A748BFC-7F93-4A03-8081-FFC21A6FA038}"/>
              </a:ext>
            </a:extLst>
          </p:cNvPr>
          <p:cNvGrpSpPr/>
          <p:nvPr/>
        </p:nvGrpSpPr>
        <p:grpSpPr>
          <a:xfrm>
            <a:off x="1371600" y="3929094"/>
            <a:ext cx="8463597" cy="2738854"/>
            <a:chOff x="871942" y="2819400"/>
            <a:chExt cx="8463597" cy="2738854"/>
          </a:xfrm>
        </p:grpSpPr>
        <p:sp>
          <p:nvSpPr>
            <p:cNvPr id="7" name="Rectangle 6">
              <a:extLst>
                <a:ext uri="{FF2B5EF4-FFF2-40B4-BE49-F238E27FC236}">
                  <a16:creationId xmlns:a16="http://schemas.microsoft.com/office/drawing/2014/main" id="{65229DE1-423D-48DF-B0A8-A1B76F33A860}"/>
                </a:ext>
              </a:extLst>
            </p:cNvPr>
            <p:cNvSpPr/>
            <p:nvPr/>
          </p:nvSpPr>
          <p:spPr bwMode="auto">
            <a:xfrm>
              <a:off x="2209800" y="2819400"/>
              <a:ext cx="1550424" cy="8382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rPr>
                <a:t>Short-term Memory</a:t>
              </a:r>
              <a:endParaRPr kumimoji="0" lang="en-IN" sz="1800" b="0" i="0" u="none" strike="noStrike" cap="none" normalizeH="0" baseline="0" dirty="0">
                <a:ln>
                  <a:noFill/>
                </a:ln>
                <a:solidFill>
                  <a:schemeClr val="tx1"/>
                </a:solidFill>
                <a:effectLst/>
                <a:latin typeface="Verdana" pitchFamily="34" charset="0"/>
              </a:endParaRPr>
            </a:p>
          </p:txBody>
        </p:sp>
        <p:sp>
          <p:nvSpPr>
            <p:cNvPr id="8" name="Arrow: Right 7">
              <a:extLst>
                <a:ext uri="{FF2B5EF4-FFF2-40B4-BE49-F238E27FC236}">
                  <a16:creationId xmlns:a16="http://schemas.microsoft.com/office/drawing/2014/main" id="{4311A57F-BCE9-48AE-9279-FA3A07866160}"/>
                </a:ext>
              </a:extLst>
            </p:cNvPr>
            <p:cNvSpPr/>
            <p:nvPr/>
          </p:nvSpPr>
          <p:spPr bwMode="auto">
            <a:xfrm>
              <a:off x="1676400" y="3124200"/>
              <a:ext cx="533400"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9" name="Arrow: Right 8">
              <a:extLst>
                <a:ext uri="{FF2B5EF4-FFF2-40B4-BE49-F238E27FC236}">
                  <a16:creationId xmlns:a16="http://schemas.microsoft.com/office/drawing/2014/main" id="{2CBB6B70-F6B8-405A-9E66-06245690EA50}"/>
                </a:ext>
              </a:extLst>
            </p:cNvPr>
            <p:cNvSpPr/>
            <p:nvPr/>
          </p:nvSpPr>
          <p:spPr bwMode="auto">
            <a:xfrm>
              <a:off x="3760224" y="3124200"/>
              <a:ext cx="1421376"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0" name="Rectangle 9">
              <a:extLst>
                <a:ext uri="{FF2B5EF4-FFF2-40B4-BE49-F238E27FC236}">
                  <a16:creationId xmlns:a16="http://schemas.microsoft.com/office/drawing/2014/main" id="{C602685B-8FD9-4663-9E40-35CA10AF600C}"/>
                </a:ext>
              </a:extLst>
            </p:cNvPr>
            <p:cNvSpPr/>
            <p:nvPr/>
          </p:nvSpPr>
          <p:spPr bwMode="auto">
            <a:xfrm>
              <a:off x="5181600" y="2843605"/>
              <a:ext cx="1752600" cy="8382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rPr>
                <a:t>Static Neural Network</a:t>
              </a:r>
              <a:endParaRPr kumimoji="0" lang="en-IN" sz="1800" b="0" i="0" u="none" strike="noStrike" cap="none" normalizeH="0" baseline="0" dirty="0">
                <a:ln>
                  <a:noFill/>
                </a:ln>
                <a:solidFill>
                  <a:schemeClr val="tx1"/>
                </a:solidFill>
                <a:effectLst/>
                <a:latin typeface="Verdana" pitchFamily="34" charset="0"/>
              </a:endParaRPr>
            </a:p>
          </p:txBody>
        </p:sp>
        <p:sp>
          <p:nvSpPr>
            <p:cNvPr id="11" name="TextBox 10">
              <a:extLst>
                <a:ext uri="{FF2B5EF4-FFF2-40B4-BE49-F238E27FC236}">
                  <a16:creationId xmlns:a16="http://schemas.microsoft.com/office/drawing/2014/main" id="{D43AC0C5-5389-46FD-A18B-DB31CE62A367}"/>
                </a:ext>
              </a:extLst>
            </p:cNvPr>
            <p:cNvSpPr txBox="1"/>
            <p:nvPr/>
          </p:nvSpPr>
          <p:spPr>
            <a:xfrm>
              <a:off x="871942" y="2915334"/>
              <a:ext cx="809837" cy="646331"/>
            </a:xfrm>
            <a:prstGeom prst="rect">
              <a:avLst/>
            </a:prstGeom>
            <a:noFill/>
          </p:spPr>
          <p:txBody>
            <a:bodyPr wrap="none" rtlCol="0">
              <a:spAutoFit/>
            </a:bodyPr>
            <a:lstStyle/>
            <a:p>
              <a:r>
                <a:rPr lang="en-US" dirty="0"/>
                <a:t>Input</a:t>
              </a:r>
            </a:p>
            <a:p>
              <a:r>
                <a:rPr lang="en-US" dirty="0"/>
                <a:t>x(n)</a:t>
              </a:r>
              <a:endParaRPr lang="en-IN" dirty="0"/>
            </a:p>
          </p:txBody>
        </p:sp>
        <p:sp>
          <p:nvSpPr>
            <p:cNvPr id="13" name="Arrow: Right 12">
              <a:extLst>
                <a:ext uri="{FF2B5EF4-FFF2-40B4-BE49-F238E27FC236}">
                  <a16:creationId xmlns:a16="http://schemas.microsoft.com/office/drawing/2014/main" id="{571AB23C-6493-4126-BB12-BED0317F17E2}"/>
                </a:ext>
              </a:extLst>
            </p:cNvPr>
            <p:cNvSpPr/>
            <p:nvPr/>
          </p:nvSpPr>
          <p:spPr bwMode="auto">
            <a:xfrm>
              <a:off x="6925701" y="3124200"/>
              <a:ext cx="1421376"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4" name="TextBox 13">
              <a:extLst>
                <a:ext uri="{FF2B5EF4-FFF2-40B4-BE49-F238E27FC236}">
                  <a16:creationId xmlns:a16="http://schemas.microsoft.com/office/drawing/2014/main" id="{8CAF7687-7F61-40EF-BF9F-AAE2C9FA7409}"/>
                </a:ext>
              </a:extLst>
            </p:cNvPr>
            <p:cNvSpPr txBox="1"/>
            <p:nvPr/>
          </p:nvSpPr>
          <p:spPr>
            <a:xfrm>
              <a:off x="8325129" y="2939539"/>
              <a:ext cx="984565" cy="646331"/>
            </a:xfrm>
            <a:prstGeom prst="rect">
              <a:avLst/>
            </a:prstGeom>
            <a:noFill/>
          </p:spPr>
          <p:txBody>
            <a:bodyPr wrap="none" rtlCol="0">
              <a:spAutoFit/>
            </a:bodyPr>
            <a:lstStyle/>
            <a:p>
              <a:r>
                <a:rPr lang="en-US" dirty="0"/>
                <a:t>Output</a:t>
              </a:r>
            </a:p>
            <a:p>
              <a:r>
                <a:rPr lang="en-US" dirty="0"/>
                <a:t>y(n)</a:t>
              </a:r>
              <a:endParaRPr lang="en-IN" dirty="0"/>
            </a:p>
          </p:txBody>
        </p:sp>
        <p:sp>
          <p:nvSpPr>
            <p:cNvPr id="15" name="Arrow: Down 14">
              <a:extLst>
                <a:ext uri="{FF2B5EF4-FFF2-40B4-BE49-F238E27FC236}">
                  <a16:creationId xmlns:a16="http://schemas.microsoft.com/office/drawing/2014/main" id="{58329783-658E-41E8-B49F-6A154AA0541C}"/>
                </a:ext>
              </a:extLst>
            </p:cNvPr>
            <p:cNvSpPr/>
            <p:nvPr/>
          </p:nvSpPr>
          <p:spPr bwMode="auto">
            <a:xfrm>
              <a:off x="7636389" y="3262705"/>
              <a:ext cx="136011" cy="8382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6" name="Oval 15">
              <a:extLst>
                <a:ext uri="{FF2B5EF4-FFF2-40B4-BE49-F238E27FC236}">
                  <a16:creationId xmlns:a16="http://schemas.microsoft.com/office/drawing/2014/main" id="{E53F3CD8-AB91-4C53-9E23-BC40F8CE5CC5}"/>
                </a:ext>
              </a:extLst>
            </p:cNvPr>
            <p:cNvSpPr/>
            <p:nvPr/>
          </p:nvSpPr>
          <p:spPr bwMode="auto">
            <a:xfrm>
              <a:off x="7447358" y="4100905"/>
              <a:ext cx="514071" cy="547295"/>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Verdana" pitchFamily="34" charset="0"/>
                </a:rPr>
                <a:t>-</a:t>
              </a:r>
              <a:endParaRPr kumimoji="0" lang="en-IN" sz="2400" b="0" i="0" u="none" strike="noStrike" cap="none" normalizeH="0" baseline="0" dirty="0">
                <a:ln>
                  <a:noFill/>
                </a:ln>
                <a:solidFill>
                  <a:schemeClr val="tx1"/>
                </a:solidFill>
                <a:effectLst/>
                <a:latin typeface="Verdana" pitchFamily="34" charset="0"/>
              </a:endParaRPr>
            </a:p>
          </p:txBody>
        </p:sp>
        <p:sp>
          <p:nvSpPr>
            <p:cNvPr id="18" name="Arrow: Right 17">
              <a:extLst>
                <a:ext uri="{FF2B5EF4-FFF2-40B4-BE49-F238E27FC236}">
                  <a16:creationId xmlns:a16="http://schemas.microsoft.com/office/drawing/2014/main" id="{559A6D32-C4E6-4698-BD77-F0C560DA1D81}"/>
                </a:ext>
              </a:extLst>
            </p:cNvPr>
            <p:cNvSpPr/>
            <p:nvPr/>
          </p:nvSpPr>
          <p:spPr bwMode="auto">
            <a:xfrm rot="16200000">
              <a:off x="7437693" y="4876800"/>
              <a:ext cx="533400"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9" name="TextBox 18">
              <a:extLst>
                <a:ext uri="{FF2B5EF4-FFF2-40B4-BE49-F238E27FC236}">
                  <a16:creationId xmlns:a16="http://schemas.microsoft.com/office/drawing/2014/main" id="{FE6B5CEC-CDA3-42A2-81A9-31F015D6F6C8}"/>
                </a:ext>
              </a:extLst>
            </p:cNvPr>
            <p:cNvSpPr txBox="1"/>
            <p:nvPr/>
          </p:nvSpPr>
          <p:spPr>
            <a:xfrm>
              <a:off x="7145516" y="5219700"/>
              <a:ext cx="2190023" cy="338554"/>
            </a:xfrm>
            <a:prstGeom prst="rect">
              <a:avLst/>
            </a:prstGeom>
            <a:noFill/>
          </p:spPr>
          <p:txBody>
            <a:bodyPr wrap="none" rtlCol="0">
              <a:spAutoFit/>
            </a:bodyPr>
            <a:lstStyle/>
            <a:p>
              <a:r>
                <a:rPr lang="en-US" sz="1600" dirty="0"/>
                <a:t>d(n) Desired Signal</a:t>
              </a:r>
              <a:endParaRPr lang="en-IN" sz="1600" dirty="0"/>
            </a:p>
          </p:txBody>
        </p:sp>
        <p:sp>
          <p:nvSpPr>
            <p:cNvPr id="23" name="Arrow: Bent-Up 22">
              <a:extLst>
                <a:ext uri="{FF2B5EF4-FFF2-40B4-BE49-F238E27FC236}">
                  <a16:creationId xmlns:a16="http://schemas.microsoft.com/office/drawing/2014/main" id="{50D041C8-9317-4B07-A915-8B95B68E934C}"/>
                </a:ext>
              </a:extLst>
            </p:cNvPr>
            <p:cNvSpPr/>
            <p:nvPr/>
          </p:nvSpPr>
          <p:spPr bwMode="auto">
            <a:xfrm flipH="1">
              <a:off x="6057900" y="3679116"/>
              <a:ext cx="1389458" cy="850438"/>
            </a:xfrm>
            <a:prstGeom prst="bentUpArrow">
              <a:avLst>
                <a:gd name="adj1" fmla="val 9820"/>
                <a:gd name="adj2" fmla="val 16145"/>
                <a:gd name="adj3" fmla="val 18583"/>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24" name="TextBox 23">
              <a:extLst>
                <a:ext uri="{FF2B5EF4-FFF2-40B4-BE49-F238E27FC236}">
                  <a16:creationId xmlns:a16="http://schemas.microsoft.com/office/drawing/2014/main" id="{51850354-54C9-4229-964D-F83C9351661F}"/>
                </a:ext>
              </a:extLst>
            </p:cNvPr>
            <p:cNvSpPr txBox="1"/>
            <p:nvPr/>
          </p:nvSpPr>
          <p:spPr>
            <a:xfrm>
              <a:off x="6167867" y="4503437"/>
              <a:ext cx="1103187" cy="461665"/>
            </a:xfrm>
            <a:prstGeom prst="rect">
              <a:avLst/>
            </a:prstGeom>
            <a:noFill/>
          </p:spPr>
          <p:txBody>
            <a:bodyPr wrap="none" rtlCol="0">
              <a:spAutoFit/>
            </a:bodyPr>
            <a:lstStyle/>
            <a:p>
              <a:r>
                <a:rPr lang="en-US" sz="1200" dirty="0"/>
                <a:t>Error Signal</a:t>
              </a:r>
            </a:p>
            <a:p>
              <a:r>
                <a:rPr lang="en-US" sz="1200" dirty="0"/>
                <a:t>e(n)</a:t>
              </a:r>
              <a:endParaRPr lang="en-IN" sz="1200" dirty="0"/>
            </a:p>
          </p:txBody>
        </p:sp>
      </p:grpSp>
    </p:spTree>
    <p:extLst>
      <p:ext uri="{BB962C8B-B14F-4D97-AF65-F5344CB8AC3E}">
        <p14:creationId xmlns:p14="http://schemas.microsoft.com/office/powerpoint/2010/main" val="410792501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9E505-C0D7-437B-909A-C92BD156CCC8}"/>
              </a:ext>
            </a:extLst>
          </p:cNvPr>
          <p:cNvSpPr>
            <a:spLocks noGrp="1"/>
          </p:cNvSpPr>
          <p:nvPr>
            <p:ph type="title"/>
          </p:nvPr>
        </p:nvSpPr>
        <p:spPr/>
        <p:txBody>
          <a:bodyPr/>
          <a:lstStyle/>
          <a:p>
            <a:r>
              <a:rPr lang="en-US" dirty="0"/>
              <a:t>Nonlinear filter built on a static neural network</a:t>
            </a:r>
            <a:endParaRPr lang="en-IN" dirty="0"/>
          </a:p>
        </p:txBody>
      </p:sp>
      <p:sp>
        <p:nvSpPr>
          <p:cNvPr id="3" name="Content Placeholder 2">
            <a:extLst>
              <a:ext uri="{FF2B5EF4-FFF2-40B4-BE49-F238E27FC236}">
                <a16:creationId xmlns:a16="http://schemas.microsoft.com/office/drawing/2014/main" id="{BE13458C-C36A-47F3-AF6F-6EFC50124CC2}"/>
              </a:ext>
            </a:extLst>
          </p:cNvPr>
          <p:cNvSpPr>
            <a:spLocks noGrp="1"/>
          </p:cNvSpPr>
          <p:nvPr>
            <p:ph idx="1"/>
          </p:nvPr>
        </p:nvSpPr>
        <p:spPr/>
        <p:txBody>
          <a:bodyPr/>
          <a:lstStyle/>
          <a:p>
            <a:pPr marL="0" indent="0">
              <a:buNone/>
            </a:pPr>
            <a:r>
              <a:rPr lang="en-US" sz="1400" b="1" dirty="0"/>
              <a:t>Role of the Two Subsystems</a:t>
            </a:r>
          </a:p>
          <a:p>
            <a:pPr marL="0" indent="0">
              <a:buNone/>
            </a:pPr>
            <a:r>
              <a:rPr lang="en-US" sz="1400" b="1" dirty="0">
                <a:solidFill>
                  <a:schemeClr val="accent2">
                    <a:lumMod val="50000"/>
                  </a:schemeClr>
                </a:solidFill>
              </a:rPr>
              <a:t>1. Short-Term Memory</a:t>
            </a:r>
          </a:p>
          <a:p>
            <a:pPr marL="0" indent="0">
              <a:buNone/>
            </a:pPr>
            <a:r>
              <a:rPr lang="en-US" sz="1400" dirty="0"/>
              <a:t>Purpose: Stores </a:t>
            </a:r>
            <a:r>
              <a:rPr lang="en-US" sz="1400" b="1" dirty="0"/>
              <a:t>past input values, </a:t>
            </a:r>
            <a:r>
              <a:rPr lang="en-US" sz="1400" dirty="0"/>
              <a:t>Provides </a:t>
            </a:r>
            <a:r>
              <a:rPr lang="en-US" sz="1400" b="1" dirty="0"/>
              <a:t>time information</a:t>
            </a:r>
            <a:endParaRPr lang="en-US" sz="1400" dirty="0"/>
          </a:p>
          <a:p>
            <a:pPr marL="0" indent="0">
              <a:buNone/>
            </a:pPr>
            <a:r>
              <a:rPr lang="en-US" sz="1400" dirty="0"/>
              <a:t>Output of memory block: x(n),x(n−1),x(n−2),...,x(n−p)</a:t>
            </a:r>
          </a:p>
          <a:p>
            <a:pPr marL="0" indent="0">
              <a:buNone/>
            </a:pPr>
            <a:r>
              <a:rPr lang="en-US" sz="1400" dirty="0"/>
              <a:t>Thus it produces </a:t>
            </a:r>
            <a:r>
              <a:rPr lang="en-US" sz="1400" b="1" dirty="0"/>
              <a:t>multiple delayed versions of the input signal</a:t>
            </a:r>
            <a:r>
              <a:rPr lang="en-US" sz="1400" dirty="0"/>
              <a:t>.</a:t>
            </a:r>
          </a:p>
          <a:p>
            <a:pPr marL="0" indent="0">
              <a:buNone/>
            </a:pPr>
            <a:endParaRPr lang="en-US" sz="1400" dirty="0"/>
          </a:p>
          <a:p>
            <a:pPr marL="0" indent="0">
              <a:buNone/>
            </a:pPr>
            <a:r>
              <a:rPr lang="en-US" sz="1400" b="1" dirty="0"/>
              <a:t>Example: </a:t>
            </a:r>
            <a:r>
              <a:rPr lang="en-US" sz="1400" dirty="0"/>
              <a:t>Suppose we are predicting the </a:t>
            </a:r>
            <a:r>
              <a:rPr lang="en-US" sz="1400" b="1" dirty="0"/>
              <a:t>next temperature value</a:t>
            </a:r>
            <a:r>
              <a:rPr lang="en-US" sz="1400" dirty="0"/>
              <a:t>.</a:t>
            </a:r>
          </a:p>
          <a:p>
            <a:pPr marL="0" indent="0">
              <a:buNone/>
            </a:pPr>
            <a:r>
              <a:rPr lang="en-US" sz="1400" b="1" dirty="0"/>
              <a:t>Input signal</a:t>
            </a:r>
          </a:p>
          <a:p>
            <a:pPr marL="0" indent="0" rtl="0">
              <a:buNone/>
            </a:pPr>
            <a:r>
              <a:rPr lang="en-US" sz="1400" dirty="0"/>
              <a:t>x(n) = today's temperature , Memory generates: x(n) → today, x(n-1) → yesterday,  x(n-2) → two days ago, x(n-3) → three days ago</a:t>
            </a:r>
          </a:p>
          <a:p>
            <a:pPr marL="0" indent="0">
              <a:buNone/>
            </a:pPr>
            <a:r>
              <a:rPr lang="en-US" sz="1400" dirty="0"/>
              <a:t>So: p = 3 , m = 4 i.e. m=p+1</a:t>
            </a:r>
          </a:p>
          <a:p>
            <a:pPr marL="0" indent="0">
              <a:buNone/>
            </a:pPr>
            <a:endParaRPr lang="en-US" sz="1400" b="1" dirty="0"/>
          </a:p>
          <a:p>
            <a:pPr marL="0" indent="0">
              <a:buNone/>
            </a:pPr>
            <a:r>
              <a:rPr lang="en-US" sz="1400" b="1" dirty="0">
                <a:solidFill>
                  <a:schemeClr val="accent2">
                    <a:lumMod val="50000"/>
                  </a:schemeClr>
                </a:solidFill>
              </a:rPr>
              <a:t>2. Static Neural Network</a:t>
            </a:r>
          </a:p>
          <a:p>
            <a:pPr marL="0" indent="0">
              <a:buNone/>
            </a:pPr>
            <a:r>
              <a:rPr lang="en-US" sz="1400" dirty="0"/>
              <a:t>Purpose: Performs </a:t>
            </a:r>
            <a:r>
              <a:rPr lang="en-US" sz="1400" b="1" dirty="0"/>
              <a:t>nonlinear mapping, </a:t>
            </a:r>
            <a:r>
              <a:rPr lang="en-US" sz="1400" dirty="0"/>
              <a:t>Combines delayed inputs, Produces prediction or classification</a:t>
            </a:r>
          </a:p>
          <a:p>
            <a:pPr marL="0" indent="0">
              <a:buNone/>
            </a:pPr>
            <a:r>
              <a:rPr lang="en-US" sz="1400" dirty="0"/>
              <a:t>Example: Speech phoneme classification, Time-series prediction</a:t>
            </a:r>
          </a:p>
          <a:p>
            <a:pPr marL="0" indent="0">
              <a:buNone/>
            </a:pPr>
            <a:endParaRPr lang="en-US" sz="1400" dirty="0"/>
          </a:p>
          <a:p>
            <a:pPr marL="0" indent="0">
              <a:buNone/>
            </a:pPr>
            <a:r>
              <a:rPr lang="en-US" sz="1400" dirty="0"/>
              <a:t>The network learns a nonlinear function:</a:t>
            </a:r>
          </a:p>
          <a:p>
            <a:pPr marL="0" indent="0" rtl="0">
              <a:buNone/>
            </a:pPr>
            <a:r>
              <a:rPr lang="en-US" sz="1400" dirty="0"/>
              <a:t>y(n) = f[x(n), x(n-1), x(n-2), x(n-3)]</a:t>
            </a:r>
          </a:p>
          <a:p>
            <a:pPr marL="0" indent="0">
              <a:buNone/>
            </a:pPr>
            <a:r>
              <a:rPr lang="en-US" sz="1400" dirty="0"/>
              <a:t>Output: y(n) = predicted temperature tomorrow</a:t>
            </a:r>
          </a:p>
          <a:p>
            <a:endParaRPr lang="en-IN" sz="800" dirty="0"/>
          </a:p>
          <a:p>
            <a:pPr marL="0" indent="0">
              <a:buNone/>
            </a:pPr>
            <a:endParaRPr lang="en-US" sz="1400" dirty="0"/>
          </a:p>
          <a:p>
            <a:pPr marL="0" indent="0">
              <a:buNone/>
            </a:pPr>
            <a:endParaRPr lang="en-US" sz="1400" dirty="0"/>
          </a:p>
          <a:p>
            <a:endParaRPr lang="en-IN" sz="800" dirty="0"/>
          </a:p>
          <a:p>
            <a:pPr marL="0" indent="0">
              <a:buNone/>
            </a:pPr>
            <a:endParaRPr lang="en-US" sz="1400" dirty="0"/>
          </a:p>
          <a:p>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655B5ACA-D795-44A0-8339-64BD5A04420F}"/>
              </a:ext>
            </a:extLst>
          </p:cNvPr>
          <p:cNvSpPr>
            <a:spLocks noGrp="1"/>
          </p:cNvSpPr>
          <p:nvPr>
            <p:ph type="sldNum" sz="quarter" idx="12"/>
          </p:nvPr>
        </p:nvSpPr>
        <p:spPr/>
        <p:txBody>
          <a:bodyPr/>
          <a:lstStyle/>
          <a:p>
            <a:fld id="{BB2CE0DE-867F-455F-B20B-96D381B4AB71}" type="slidenum">
              <a:rPr lang="en-US" smtClean="0"/>
              <a:t>141</a:t>
            </a:fld>
            <a:endParaRPr lang="en-US"/>
          </a:p>
        </p:txBody>
      </p:sp>
    </p:spTree>
    <p:extLst>
      <p:ext uri="{BB962C8B-B14F-4D97-AF65-F5344CB8AC3E}">
        <p14:creationId xmlns:p14="http://schemas.microsoft.com/office/powerpoint/2010/main" val="37509020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356F9-F2C8-4C9F-8395-CBDE96588FF7}"/>
              </a:ext>
            </a:extLst>
          </p:cNvPr>
          <p:cNvSpPr>
            <a:spLocks noGrp="1"/>
          </p:cNvSpPr>
          <p:nvPr>
            <p:ph type="title"/>
          </p:nvPr>
        </p:nvSpPr>
        <p:spPr/>
        <p:txBody>
          <a:bodyPr/>
          <a:lstStyle/>
          <a:p>
            <a:r>
              <a:rPr lang="en-IN" dirty="0"/>
              <a:t>Short-Term Memory Structures</a:t>
            </a:r>
          </a:p>
        </p:txBody>
      </p:sp>
      <p:sp>
        <p:nvSpPr>
          <p:cNvPr id="3" name="Content Placeholder 2">
            <a:extLst>
              <a:ext uri="{FF2B5EF4-FFF2-40B4-BE49-F238E27FC236}">
                <a16:creationId xmlns:a16="http://schemas.microsoft.com/office/drawing/2014/main" id="{03B1009E-B5FD-4E86-9DFD-1A01D9DB4154}"/>
              </a:ext>
            </a:extLst>
          </p:cNvPr>
          <p:cNvSpPr>
            <a:spLocks noGrp="1"/>
          </p:cNvSpPr>
          <p:nvPr>
            <p:ph idx="1"/>
          </p:nvPr>
        </p:nvSpPr>
        <p:spPr/>
        <p:txBody>
          <a:bodyPr/>
          <a:lstStyle/>
          <a:p>
            <a:pPr marL="0" indent="0">
              <a:buNone/>
            </a:pPr>
            <a:r>
              <a:rPr lang="en-US" sz="1400" dirty="0"/>
              <a:t>Figure shows the block diagram of a discrete-time memory structure consisting of p identical sections connected in cascade. Each section is characterized by an impulse response, denoted by h(n), where n denotes discrete time. The number of sections, p, is called the order of the memory. Correspondingly, the number of output terminals (i.e.,</a:t>
            </a:r>
          </a:p>
          <a:p>
            <a:pPr marL="0" indent="0">
              <a:buNone/>
            </a:pPr>
            <a:r>
              <a:rPr lang="en-US" sz="1400" dirty="0"/>
              <a:t>taps) provided by the memory is (p + 1), which includes the direct connection from the input to the output. Thus, with m denoting the size of the input layer of the static neural network, we may set m=p+1.</a:t>
            </a: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65AAF5FC-DA1E-41A1-A5FF-9C7606D11E3F}"/>
              </a:ext>
            </a:extLst>
          </p:cNvPr>
          <p:cNvSpPr>
            <a:spLocks noGrp="1"/>
          </p:cNvSpPr>
          <p:nvPr>
            <p:ph type="sldNum" sz="quarter" idx="12"/>
          </p:nvPr>
        </p:nvSpPr>
        <p:spPr/>
        <p:txBody>
          <a:bodyPr/>
          <a:lstStyle/>
          <a:p>
            <a:fld id="{BB2CE0DE-867F-455F-B20B-96D381B4AB71}" type="slidenum">
              <a:rPr lang="en-US" smtClean="0"/>
              <a:t>142</a:t>
            </a:fld>
            <a:endParaRPr lang="en-US"/>
          </a:p>
        </p:txBody>
      </p:sp>
      <p:pic>
        <p:nvPicPr>
          <p:cNvPr id="6" name="Picture 5">
            <a:extLst>
              <a:ext uri="{FF2B5EF4-FFF2-40B4-BE49-F238E27FC236}">
                <a16:creationId xmlns:a16="http://schemas.microsoft.com/office/drawing/2014/main" id="{FD8D4AE8-DE78-4411-ACE3-606FDE1C94C9}"/>
              </a:ext>
            </a:extLst>
          </p:cNvPr>
          <p:cNvPicPr>
            <a:picLocks noChangeAspect="1"/>
          </p:cNvPicPr>
          <p:nvPr/>
        </p:nvPicPr>
        <p:blipFill>
          <a:blip r:embed="rId3"/>
          <a:stretch>
            <a:fillRect/>
          </a:stretch>
        </p:blipFill>
        <p:spPr>
          <a:xfrm>
            <a:off x="2133600" y="2776587"/>
            <a:ext cx="6858000" cy="3087835"/>
          </a:xfrm>
          <a:prstGeom prst="rect">
            <a:avLst/>
          </a:prstGeom>
        </p:spPr>
      </p:pic>
      <p:sp>
        <p:nvSpPr>
          <p:cNvPr id="7" name="TextBox 6">
            <a:extLst>
              <a:ext uri="{FF2B5EF4-FFF2-40B4-BE49-F238E27FC236}">
                <a16:creationId xmlns:a16="http://schemas.microsoft.com/office/drawing/2014/main" id="{C42FDCC6-E45D-4FD7-B725-8C4132F08989}"/>
              </a:ext>
            </a:extLst>
          </p:cNvPr>
          <p:cNvSpPr txBox="1"/>
          <p:nvPr/>
        </p:nvSpPr>
        <p:spPr>
          <a:xfrm>
            <a:off x="3505200" y="5940623"/>
            <a:ext cx="4657557" cy="307777"/>
          </a:xfrm>
          <a:prstGeom prst="rect">
            <a:avLst/>
          </a:prstGeom>
          <a:noFill/>
        </p:spPr>
        <p:txBody>
          <a:bodyPr wrap="none" rtlCol="0">
            <a:spAutoFit/>
          </a:bodyPr>
          <a:lstStyle/>
          <a:p>
            <a:r>
              <a:rPr lang="en-US" sz="1400" dirty="0">
                <a:solidFill>
                  <a:srgbClr val="0000FF"/>
                </a:solidFill>
              </a:rPr>
              <a:t>Generalized tapped-delay-line memory of order p</a:t>
            </a:r>
            <a:endParaRPr lang="en-IN" sz="1400" dirty="0">
              <a:solidFill>
                <a:srgbClr val="0000FF"/>
              </a:solidFill>
            </a:endParaRPr>
          </a:p>
        </p:txBody>
      </p:sp>
    </p:spTree>
    <p:extLst>
      <p:ext uri="{BB962C8B-B14F-4D97-AF65-F5344CB8AC3E}">
        <p14:creationId xmlns:p14="http://schemas.microsoft.com/office/powerpoint/2010/main" val="11161120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CD54B-3399-4A65-B322-8F5A7520F599}"/>
              </a:ext>
            </a:extLst>
          </p:cNvPr>
          <p:cNvSpPr>
            <a:spLocks noGrp="1"/>
          </p:cNvSpPr>
          <p:nvPr>
            <p:ph type="title"/>
          </p:nvPr>
        </p:nvSpPr>
        <p:spPr/>
        <p:txBody>
          <a:bodyPr/>
          <a:lstStyle/>
          <a:p>
            <a:r>
              <a:rPr lang="en-IN" sz="2000" dirty="0"/>
              <a:t>Short-Term Memory Structures (</a:t>
            </a:r>
            <a:r>
              <a:rPr lang="en-IN" sz="2000" dirty="0" err="1"/>
              <a:t>Contd</a:t>
            </a:r>
            <a:r>
              <a:rPr lang="en-IN" sz="2000" dirty="0"/>
              <a:t>…)</a:t>
            </a:r>
          </a:p>
        </p:txBody>
      </p:sp>
      <p:sp>
        <p:nvSpPr>
          <p:cNvPr id="3" name="Content Placeholder 2">
            <a:extLst>
              <a:ext uri="{FF2B5EF4-FFF2-40B4-BE49-F238E27FC236}">
                <a16:creationId xmlns:a16="http://schemas.microsoft.com/office/drawing/2014/main" id="{07764960-8963-44C7-ADF5-8A9C63A94E6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1C285523-B15E-4119-A68D-C2F6B8DE1064}"/>
              </a:ext>
            </a:extLst>
          </p:cNvPr>
          <p:cNvSpPr>
            <a:spLocks noGrp="1"/>
          </p:cNvSpPr>
          <p:nvPr>
            <p:ph type="sldNum" sz="quarter" idx="12"/>
          </p:nvPr>
        </p:nvSpPr>
        <p:spPr/>
        <p:txBody>
          <a:bodyPr/>
          <a:lstStyle/>
          <a:p>
            <a:fld id="{BB2CE0DE-867F-455F-B20B-96D381B4AB71}" type="slidenum">
              <a:rPr lang="en-US" smtClean="0"/>
              <a:t>143</a:t>
            </a:fld>
            <a:endParaRPr lang="en-US"/>
          </a:p>
        </p:txBody>
      </p:sp>
      <p:pic>
        <p:nvPicPr>
          <p:cNvPr id="6" name="Picture 5">
            <a:extLst>
              <a:ext uri="{FF2B5EF4-FFF2-40B4-BE49-F238E27FC236}">
                <a16:creationId xmlns:a16="http://schemas.microsoft.com/office/drawing/2014/main" id="{DB0FF272-3F6E-4AB9-828C-F06D3397C3B9}"/>
              </a:ext>
            </a:extLst>
          </p:cNvPr>
          <p:cNvPicPr>
            <a:picLocks noChangeAspect="1"/>
          </p:cNvPicPr>
          <p:nvPr/>
        </p:nvPicPr>
        <p:blipFill>
          <a:blip r:embed="rId3"/>
          <a:stretch>
            <a:fillRect/>
          </a:stretch>
        </p:blipFill>
        <p:spPr>
          <a:xfrm>
            <a:off x="152400" y="914400"/>
            <a:ext cx="6782747" cy="2667000"/>
          </a:xfrm>
          <a:prstGeom prst="rect">
            <a:avLst/>
          </a:prstGeom>
        </p:spPr>
      </p:pic>
      <p:pic>
        <p:nvPicPr>
          <p:cNvPr id="7" name="Picture 6">
            <a:extLst>
              <a:ext uri="{FF2B5EF4-FFF2-40B4-BE49-F238E27FC236}">
                <a16:creationId xmlns:a16="http://schemas.microsoft.com/office/drawing/2014/main" id="{A63EDE1F-F1BB-4D9D-A421-4367A662415E}"/>
              </a:ext>
            </a:extLst>
          </p:cNvPr>
          <p:cNvPicPr>
            <a:picLocks noChangeAspect="1"/>
          </p:cNvPicPr>
          <p:nvPr/>
        </p:nvPicPr>
        <p:blipFill>
          <a:blip r:embed="rId4"/>
          <a:stretch>
            <a:fillRect/>
          </a:stretch>
        </p:blipFill>
        <p:spPr>
          <a:xfrm>
            <a:off x="6998879" y="2058199"/>
            <a:ext cx="5040721" cy="2269600"/>
          </a:xfrm>
          <a:prstGeom prst="rect">
            <a:avLst/>
          </a:prstGeom>
        </p:spPr>
      </p:pic>
      <p:pic>
        <p:nvPicPr>
          <p:cNvPr id="9" name="Picture 8">
            <a:extLst>
              <a:ext uri="{FF2B5EF4-FFF2-40B4-BE49-F238E27FC236}">
                <a16:creationId xmlns:a16="http://schemas.microsoft.com/office/drawing/2014/main" id="{B9D684CE-9D89-494D-B47C-A0736890EB04}"/>
              </a:ext>
            </a:extLst>
          </p:cNvPr>
          <p:cNvPicPr>
            <a:picLocks noChangeAspect="1"/>
          </p:cNvPicPr>
          <p:nvPr/>
        </p:nvPicPr>
        <p:blipFill>
          <a:blip r:embed="rId5"/>
          <a:stretch>
            <a:fillRect/>
          </a:stretch>
        </p:blipFill>
        <p:spPr>
          <a:xfrm>
            <a:off x="152400" y="4038600"/>
            <a:ext cx="6710278" cy="2209800"/>
          </a:xfrm>
          <a:prstGeom prst="rect">
            <a:avLst/>
          </a:prstGeom>
        </p:spPr>
      </p:pic>
      <p:sp>
        <p:nvSpPr>
          <p:cNvPr id="10" name="TextBox 9">
            <a:extLst>
              <a:ext uri="{FF2B5EF4-FFF2-40B4-BE49-F238E27FC236}">
                <a16:creationId xmlns:a16="http://schemas.microsoft.com/office/drawing/2014/main" id="{4A23AA91-843E-46F4-96E1-4A55A3821FDB}"/>
              </a:ext>
            </a:extLst>
          </p:cNvPr>
          <p:cNvSpPr txBox="1"/>
          <p:nvPr/>
        </p:nvSpPr>
        <p:spPr>
          <a:xfrm>
            <a:off x="7682988" y="4457102"/>
            <a:ext cx="4309848" cy="830997"/>
          </a:xfrm>
          <a:prstGeom prst="rect">
            <a:avLst/>
          </a:prstGeom>
          <a:noFill/>
        </p:spPr>
        <p:txBody>
          <a:bodyPr wrap="square" rtlCol="0">
            <a:spAutoFit/>
          </a:bodyPr>
          <a:lstStyle/>
          <a:p>
            <a:r>
              <a:rPr lang="en-US" sz="1200" dirty="0"/>
              <a:t>The units are connected sequentially because:</a:t>
            </a:r>
          </a:p>
          <a:p>
            <a:r>
              <a:rPr lang="en-US" sz="1200" dirty="0"/>
              <a:t>Each delay uses the output of the previous delay.</a:t>
            </a:r>
          </a:p>
          <a:p>
            <a:r>
              <a:rPr lang="en-US" sz="1200" dirty="0"/>
              <a:t>Think of it like a shift register or queue memory.</a:t>
            </a:r>
          </a:p>
          <a:p>
            <a:endParaRPr lang="en-IN" sz="1200" dirty="0"/>
          </a:p>
        </p:txBody>
      </p:sp>
    </p:spTree>
    <p:extLst>
      <p:ext uri="{BB962C8B-B14F-4D97-AF65-F5344CB8AC3E}">
        <p14:creationId xmlns:p14="http://schemas.microsoft.com/office/powerpoint/2010/main" val="173746036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5AFE4-F80D-4670-98E1-E51AD143BFB7}"/>
              </a:ext>
            </a:extLst>
          </p:cNvPr>
          <p:cNvSpPr>
            <a:spLocks noGrp="1"/>
          </p:cNvSpPr>
          <p:nvPr>
            <p:ph type="title"/>
          </p:nvPr>
        </p:nvSpPr>
        <p:spPr/>
        <p:txBody>
          <a:bodyPr/>
          <a:lstStyle/>
          <a:p>
            <a:r>
              <a:rPr lang="en-US" dirty="0"/>
              <a:t>Short-Term Memory </a:t>
            </a:r>
            <a:r>
              <a:rPr lang="en-IN" sz="3200" dirty="0"/>
              <a:t>(</a:t>
            </a:r>
            <a:r>
              <a:rPr lang="en-IN" sz="3200" dirty="0" err="1"/>
              <a:t>Contd</a:t>
            </a:r>
            <a:r>
              <a:rPr lang="en-IN" sz="3200" dirty="0"/>
              <a:t>…)</a:t>
            </a:r>
            <a:endParaRPr lang="en-IN" dirty="0"/>
          </a:p>
        </p:txBody>
      </p:sp>
      <p:sp>
        <p:nvSpPr>
          <p:cNvPr id="3" name="Content Placeholder 2">
            <a:extLst>
              <a:ext uri="{FF2B5EF4-FFF2-40B4-BE49-F238E27FC236}">
                <a16:creationId xmlns:a16="http://schemas.microsoft.com/office/drawing/2014/main" id="{4D6F2B84-BB9E-46BA-987A-B06A3B556306}"/>
              </a:ext>
            </a:extLst>
          </p:cNvPr>
          <p:cNvSpPr>
            <a:spLocks noGrp="1"/>
          </p:cNvSpPr>
          <p:nvPr>
            <p:ph idx="1"/>
          </p:nvPr>
        </p:nvSpPr>
        <p:spPr/>
        <p:txBody>
          <a:bodyPr/>
          <a:lstStyle/>
          <a:p>
            <a:pPr marL="0" indent="0">
              <a:buNone/>
            </a:pPr>
            <a:r>
              <a:rPr lang="en-US" sz="1400" dirty="0"/>
              <a:t>In nonlinear filtering using neural networks, a </a:t>
            </a:r>
            <a:r>
              <a:rPr lang="en-US" sz="1400" b="1" dirty="0"/>
              <a:t>short-term memory block</a:t>
            </a:r>
            <a:r>
              <a:rPr lang="en-US" sz="1400" dirty="0"/>
              <a:t> stores past values of the input signal.</a:t>
            </a:r>
          </a:p>
          <a:p>
            <a:pPr marL="0" indent="0">
              <a:buNone/>
            </a:pPr>
            <a:r>
              <a:rPr lang="en-US" sz="1400" dirty="0"/>
              <a:t>Each delay unit in the memory structure has an </a:t>
            </a:r>
            <a:r>
              <a:rPr lang="en-US" sz="1400" b="1" dirty="0"/>
              <a:t>impulse response denoted by </a:t>
            </a:r>
            <a:r>
              <a:rPr lang="en-US" sz="1400" dirty="0"/>
              <a:t>h(n) where </a:t>
            </a:r>
            <a:r>
              <a:rPr lang="en-US" sz="1400" b="1" dirty="0"/>
              <a:t>n represents discrete time</a:t>
            </a:r>
            <a:r>
              <a:rPr lang="en-US" sz="1400" dirty="0"/>
              <a:t>.</a:t>
            </a:r>
          </a:p>
          <a:p>
            <a:pPr marL="0" indent="0">
              <a:buNone/>
            </a:pPr>
            <a:endParaRPr lang="en-US" sz="1400" dirty="0"/>
          </a:p>
          <a:p>
            <a:pPr marL="0" indent="0">
              <a:buNone/>
            </a:pPr>
            <a:r>
              <a:rPr lang="en-US" sz="1400" dirty="0"/>
              <a:t>The impulse response describes </a:t>
            </a:r>
            <a:r>
              <a:rPr lang="en-US" sz="1400" b="1" dirty="0"/>
              <a:t>how the memory unit reacts to an input signal</a:t>
            </a:r>
            <a:r>
              <a:rPr lang="en-US" sz="1400" dirty="0"/>
              <a:t>.</a:t>
            </a:r>
          </a:p>
          <a:p>
            <a:pPr marL="0" indent="0">
              <a:buNone/>
            </a:pPr>
            <a:r>
              <a:rPr lang="en-US" sz="1400" b="1" dirty="0"/>
              <a:t>1. Properties of Impulse Response h(n) : Causality and  Normalization</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1C77AA9D-1083-4C91-8E16-CEB4D77F2560}"/>
              </a:ext>
            </a:extLst>
          </p:cNvPr>
          <p:cNvSpPr>
            <a:spLocks noGrp="1"/>
          </p:cNvSpPr>
          <p:nvPr>
            <p:ph type="sldNum" sz="quarter" idx="12"/>
          </p:nvPr>
        </p:nvSpPr>
        <p:spPr/>
        <p:txBody>
          <a:bodyPr/>
          <a:lstStyle/>
          <a:p>
            <a:fld id="{BB2CE0DE-867F-455F-B20B-96D381B4AB71}" type="slidenum">
              <a:rPr lang="en-US" smtClean="0"/>
              <a:t>144</a:t>
            </a:fld>
            <a:endParaRPr lang="en-US"/>
          </a:p>
        </p:txBody>
      </p:sp>
    </p:spTree>
    <p:extLst>
      <p:ext uri="{BB962C8B-B14F-4D97-AF65-F5344CB8AC3E}">
        <p14:creationId xmlns:p14="http://schemas.microsoft.com/office/powerpoint/2010/main" val="376075549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5AFE4-F80D-4670-98E1-E51AD143BFB7}"/>
              </a:ext>
            </a:extLst>
          </p:cNvPr>
          <p:cNvSpPr>
            <a:spLocks noGrp="1"/>
          </p:cNvSpPr>
          <p:nvPr>
            <p:ph type="title"/>
          </p:nvPr>
        </p:nvSpPr>
        <p:spPr/>
        <p:txBody>
          <a:bodyPr/>
          <a:lstStyle/>
          <a:p>
            <a:r>
              <a:rPr lang="en-US" dirty="0"/>
              <a:t>Short-Term Memory </a:t>
            </a:r>
            <a:r>
              <a:rPr lang="en-IN" sz="3200" dirty="0"/>
              <a:t>(</a:t>
            </a:r>
            <a:r>
              <a:rPr lang="en-IN" sz="3200" dirty="0" err="1"/>
              <a:t>Contd</a:t>
            </a:r>
            <a:r>
              <a:rPr lang="en-IN" sz="3200" dirty="0"/>
              <a:t>…)</a:t>
            </a:r>
            <a:endParaRPr lang="en-IN" dirty="0"/>
          </a:p>
        </p:txBody>
      </p:sp>
      <p:sp>
        <p:nvSpPr>
          <p:cNvPr id="3" name="Content Placeholder 2">
            <a:extLst>
              <a:ext uri="{FF2B5EF4-FFF2-40B4-BE49-F238E27FC236}">
                <a16:creationId xmlns:a16="http://schemas.microsoft.com/office/drawing/2014/main" id="{4D6F2B84-BB9E-46BA-987A-B06A3B556306}"/>
              </a:ext>
            </a:extLst>
          </p:cNvPr>
          <p:cNvSpPr>
            <a:spLocks noGrp="1"/>
          </p:cNvSpPr>
          <p:nvPr>
            <p:ph idx="1"/>
          </p:nvPr>
        </p:nvSpPr>
        <p:spPr/>
        <p:txBody>
          <a:bodyPr/>
          <a:lstStyle/>
          <a:p>
            <a:pPr marL="0" indent="0">
              <a:buNone/>
            </a:pPr>
            <a:r>
              <a:rPr lang="en-US" sz="1400" dirty="0"/>
              <a:t>In nonlinear filtering using neural networks, a </a:t>
            </a:r>
            <a:r>
              <a:rPr lang="en-US" sz="1400" b="1" dirty="0"/>
              <a:t>short-term memory block</a:t>
            </a:r>
            <a:r>
              <a:rPr lang="en-US" sz="1400" dirty="0"/>
              <a:t> stores past values of the input signal.</a:t>
            </a:r>
          </a:p>
          <a:p>
            <a:pPr marL="0" indent="0">
              <a:buNone/>
            </a:pPr>
            <a:r>
              <a:rPr lang="en-US" sz="1400" dirty="0"/>
              <a:t>Each delay unit in the memory structure has an </a:t>
            </a:r>
            <a:r>
              <a:rPr lang="en-US" sz="1400" b="1" dirty="0"/>
              <a:t>impulse response denoted by </a:t>
            </a:r>
            <a:r>
              <a:rPr lang="en-US" sz="1400" dirty="0"/>
              <a:t>h(n) where </a:t>
            </a:r>
            <a:r>
              <a:rPr lang="en-US" sz="1400" b="1" dirty="0"/>
              <a:t>n represents discrete time</a:t>
            </a:r>
            <a:r>
              <a:rPr lang="en-US" sz="1400" dirty="0"/>
              <a:t>.</a:t>
            </a:r>
          </a:p>
          <a:p>
            <a:pPr marL="0" indent="0">
              <a:buNone/>
            </a:pPr>
            <a:endParaRPr lang="en-US" sz="1400" dirty="0"/>
          </a:p>
          <a:p>
            <a:pPr marL="0" indent="0">
              <a:buNone/>
            </a:pPr>
            <a:r>
              <a:rPr lang="en-US" sz="1400" dirty="0"/>
              <a:t>The impulse response describes </a:t>
            </a:r>
            <a:r>
              <a:rPr lang="en-US" sz="1400" b="1" dirty="0"/>
              <a:t>how the memory unit reacts to an input signal</a:t>
            </a:r>
            <a:r>
              <a:rPr lang="en-US" sz="1400" dirty="0"/>
              <a:t>.</a:t>
            </a:r>
          </a:p>
          <a:p>
            <a:pPr marL="0" indent="0">
              <a:buNone/>
            </a:pPr>
            <a:r>
              <a:rPr lang="en-US" sz="1400" b="1" dirty="0"/>
              <a:t>1. Properties of Impulse Response h(n) : Causality and  Normalization</a:t>
            </a:r>
          </a:p>
          <a:p>
            <a:pPr marL="0" indent="0">
              <a:buNone/>
            </a:pPr>
            <a:r>
              <a:rPr lang="en-US" sz="1400" dirty="0"/>
              <a:t>The impulse response of each delay section must satisfy </a:t>
            </a:r>
            <a:r>
              <a:rPr lang="en-US" sz="1400" b="1" dirty="0"/>
              <a:t>two properties</a:t>
            </a:r>
            <a:r>
              <a:rPr lang="en-US" sz="1400" dirty="0"/>
              <a:t>.</a:t>
            </a:r>
          </a:p>
          <a:p>
            <a:pPr marL="0" indent="0">
              <a:buNone/>
            </a:pPr>
            <a:r>
              <a:rPr lang="en-US" sz="1400" b="1" dirty="0">
                <a:solidFill>
                  <a:srgbClr val="C00000"/>
                </a:solidFill>
              </a:rPr>
              <a:t>1.1 Causality</a:t>
            </a:r>
          </a:p>
          <a:p>
            <a:pPr marL="0" indent="0">
              <a:buNone/>
            </a:pPr>
            <a:r>
              <a:rPr lang="en-US" sz="1400" b="1" dirty="0"/>
              <a:t>Definition </a:t>
            </a:r>
            <a:r>
              <a:rPr lang="en-US" sz="1400" dirty="0"/>
              <a:t>A system is </a:t>
            </a:r>
            <a:r>
              <a:rPr lang="en-US" sz="1400" b="1" dirty="0"/>
              <a:t>causal</a:t>
            </a:r>
            <a:r>
              <a:rPr lang="en-US" sz="1400" dirty="0"/>
              <a:t> if its output depends only on: present input, past input and </a:t>
            </a:r>
            <a:r>
              <a:rPr lang="en-US" sz="1400" b="1" dirty="0">
                <a:solidFill>
                  <a:srgbClr val="0000FF"/>
                </a:solidFill>
              </a:rPr>
              <a:t>not on future input</a:t>
            </a:r>
            <a:r>
              <a:rPr lang="en-US" sz="1400" dirty="0">
                <a:solidFill>
                  <a:srgbClr val="0000FF"/>
                </a:solidFill>
              </a:rPr>
              <a:t>.</a:t>
            </a:r>
          </a:p>
          <a:p>
            <a:pPr marL="0" indent="0">
              <a:buNone/>
            </a:pPr>
            <a:r>
              <a:rPr lang="en-US" sz="1400" dirty="0"/>
              <a:t>Mathematically: h(n)=0 , n&lt;0</a:t>
            </a:r>
          </a:p>
          <a:p>
            <a:pPr marL="0" indent="0">
              <a:buNone/>
            </a:pPr>
            <a:endParaRPr lang="en-US" sz="1400" b="1" dirty="0"/>
          </a:p>
          <a:p>
            <a:pPr marL="0" indent="0">
              <a:buNone/>
            </a:pPr>
            <a:r>
              <a:rPr lang="en-US" sz="1400" dirty="0"/>
              <a:t>A real system </a:t>
            </a:r>
            <a:r>
              <a:rPr lang="en-US" sz="1400" b="1" dirty="0"/>
              <a:t>cannot know the future</a:t>
            </a:r>
            <a:r>
              <a:rPr lang="en-US" sz="1400" dirty="0"/>
              <a:t>.</a:t>
            </a:r>
          </a:p>
          <a:p>
            <a:pPr marL="0" indent="0">
              <a:buNone/>
            </a:pPr>
            <a:r>
              <a:rPr lang="en-US" sz="1400" dirty="0"/>
              <a:t>Example: Suppose we predict </a:t>
            </a:r>
            <a:r>
              <a:rPr lang="en-US" sz="1400" b="1" dirty="0"/>
              <a:t>tomorrow’s temperature</a:t>
            </a:r>
            <a:r>
              <a:rPr lang="en-US" sz="1400" dirty="0"/>
              <a:t>.</a:t>
            </a:r>
          </a:p>
          <a:p>
            <a:pPr marL="0" indent="0">
              <a:buNone/>
            </a:pPr>
            <a:r>
              <a:rPr lang="en-US" sz="1400" dirty="0"/>
              <a:t>The prediction can depend on: today's temperature, yesterday’s temperature, last week’s temperature</a:t>
            </a:r>
          </a:p>
          <a:p>
            <a:pPr marL="0" indent="0">
              <a:buNone/>
            </a:pPr>
            <a:r>
              <a:rPr lang="en-US" sz="1400" dirty="0"/>
              <a:t>But it cannot depend on tomorrow’s temperature.</a:t>
            </a:r>
          </a:p>
          <a:p>
            <a:pPr marL="0" indent="0">
              <a:buNone/>
            </a:pPr>
            <a:endParaRPr lang="en-US" sz="1400" dirty="0"/>
          </a:p>
          <a:p>
            <a:pPr marL="0" indent="0">
              <a:buNone/>
            </a:pPr>
            <a:r>
              <a:rPr lang="en-US" sz="1400" dirty="0"/>
              <a:t>Why h(n)=0 ? Example: Echo in a room</a:t>
            </a:r>
          </a:p>
          <a:p>
            <a:pPr marL="0" indent="0">
              <a:buNone/>
            </a:pPr>
            <a:r>
              <a:rPr lang="en-US" sz="1400" dirty="0"/>
              <a:t>You clap your hands at time </a:t>
            </a:r>
            <a:r>
              <a:rPr lang="en-US" sz="1400" b="1" dirty="0"/>
              <a:t>t = 0</a:t>
            </a:r>
            <a:r>
              <a:rPr lang="en-US" sz="1400" dirty="0"/>
              <a:t>. Echo appears at: t = 0.2s , t = 0.4s . But there cannot be an echo at t = -0.2s because the clap </a:t>
            </a:r>
            <a:r>
              <a:rPr lang="en-US" sz="1400" b="1" dirty="0"/>
              <a:t>has not occurred yet</a:t>
            </a:r>
            <a:r>
              <a:rPr lang="en-US" sz="1400" dirty="0"/>
              <a:t>. Thus the system response before the input is </a:t>
            </a:r>
            <a:r>
              <a:rPr lang="en-US" sz="1400" b="1" dirty="0"/>
              <a:t>zero</a:t>
            </a:r>
            <a:r>
              <a:rPr lang="en-US" sz="1400" dirty="0"/>
              <a:t>.</a:t>
            </a:r>
          </a:p>
          <a:p>
            <a:endParaRPr lang="en-IN" sz="8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1C77AA9D-1083-4C91-8E16-CEB4D77F2560}"/>
              </a:ext>
            </a:extLst>
          </p:cNvPr>
          <p:cNvSpPr>
            <a:spLocks noGrp="1"/>
          </p:cNvSpPr>
          <p:nvPr>
            <p:ph type="sldNum" sz="quarter" idx="12"/>
          </p:nvPr>
        </p:nvSpPr>
        <p:spPr/>
        <p:txBody>
          <a:bodyPr/>
          <a:lstStyle/>
          <a:p>
            <a:fld id="{BB2CE0DE-867F-455F-B20B-96D381B4AB71}" type="slidenum">
              <a:rPr lang="en-US" smtClean="0"/>
              <a:t>145</a:t>
            </a:fld>
            <a:endParaRPr lang="en-US"/>
          </a:p>
        </p:txBody>
      </p:sp>
    </p:spTree>
    <p:extLst>
      <p:ext uri="{BB962C8B-B14F-4D97-AF65-F5344CB8AC3E}">
        <p14:creationId xmlns:p14="http://schemas.microsoft.com/office/powerpoint/2010/main" val="335658794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800" b="1" dirty="0">
                <a:solidFill>
                  <a:srgbClr val="C00000"/>
                </a:solidFill>
              </a:rPr>
              <a:t>1.2 Normalization:  </a:t>
            </a:r>
            <a:r>
              <a:rPr lang="en-US" sz="1800" dirty="0"/>
              <a:t>Normalization ensures the total response of the memory unit is </a:t>
            </a:r>
            <a:r>
              <a:rPr lang="en-US" sz="1800" b="1" dirty="0"/>
              <a:t>limited and stable</a:t>
            </a:r>
            <a:r>
              <a:rPr lang="en-US" sz="1800" dirty="0"/>
              <a:t>.</a:t>
            </a:r>
          </a:p>
          <a:p>
            <a:pPr marL="0" indent="0">
              <a:buNone/>
            </a:pPr>
            <a:r>
              <a:rPr lang="en-US" sz="1800" dirty="0"/>
              <a:t>Mathematically:</a:t>
            </a:r>
          </a:p>
          <a:p>
            <a:pPr marL="0" indent="0">
              <a:buNone/>
            </a:pPr>
            <a:endParaRPr lang="en-US" sz="1800" dirty="0"/>
          </a:p>
          <a:p>
            <a:pPr marL="0" indent="0">
              <a:buNone/>
            </a:pPr>
            <a:endParaRPr lang="en-US" sz="1800" dirty="0"/>
          </a:p>
          <a:p>
            <a:pPr marL="0" indent="0">
              <a:buNone/>
            </a:pPr>
            <a:endParaRPr lang="en-US" sz="1800" dirty="0"/>
          </a:p>
          <a:p>
            <a:pPr marL="0" indent="0">
              <a:buNone/>
            </a:pPr>
            <a:r>
              <a:rPr lang="en-US" sz="1400" dirty="0"/>
              <a:t>This condition ensures that the </a:t>
            </a:r>
            <a:r>
              <a:rPr lang="en-US" sz="1400" b="1" dirty="0"/>
              <a:t>memory does not amplify signals infinitely</a:t>
            </a:r>
            <a:r>
              <a:rPr lang="en-US" sz="1400" dirty="0"/>
              <a:t>.</a:t>
            </a:r>
          </a:p>
          <a:p>
            <a:pPr marL="0" indent="0">
              <a:buNone/>
            </a:pPr>
            <a:r>
              <a:rPr lang="en-US" sz="1400" dirty="0"/>
              <a:t>It keeps the memory system </a:t>
            </a:r>
            <a:r>
              <a:rPr lang="en-US" sz="1400" b="1" dirty="0"/>
              <a:t>stable</a:t>
            </a:r>
            <a:r>
              <a:rPr lang="en-US" sz="1400" dirty="0"/>
              <a:t>.</a:t>
            </a:r>
          </a:p>
          <a:p>
            <a:pPr marL="0" indent="0">
              <a:buNone/>
            </a:pPr>
            <a:r>
              <a:rPr lang="en-US" sz="1400" b="1" dirty="0"/>
              <a:t>Example</a:t>
            </a:r>
          </a:p>
          <a:p>
            <a:pPr marL="0" indent="0">
              <a:buNone/>
            </a:pPr>
            <a:r>
              <a:rPr lang="en-US" sz="1400" dirty="0"/>
              <a:t>Suppose</a:t>
            </a:r>
          </a:p>
          <a:p>
            <a:pPr marL="0" indent="0" rtl="0">
              <a:buNone/>
            </a:pPr>
            <a:r>
              <a:rPr lang="en-US" sz="1400" dirty="0"/>
              <a:t>h(0) = 0.5</a:t>
            </a:r>
            <a:br>
              <a:rPr lang="en-US" sz="1400" dirty="0"/>
            </a:br>
            <a:r>
              <a:rPr lang="en-US" sz="1400" dirty="0"/>
              <a:t>h(1) = 0.3</a:t>
            </a:r>
            <a:br>
              <a:rPr lang="en-US" sz="1400" dirty="0"/>
            </a:br>
            <a:r>
              <a:rPr lang="en-US" sz="1400" dirty="0"/>
              <a:t>h(2) = 0.2</a:t>
            </a:r>
          </a:p>
          <a:p>
            <a:pPr marL="0" indent="0">
              <a:buNone/>
            </a:pPr>
            <a:r>
              <a:rPr lang="en-US" sz="1400" dirty="0"/>
              <a:t>Then</a:t>
            </a:r>
          </a:p>
          <a:p>
            <a:pPr marL="0" indent="0" rtl="0">
              <a:buNone/>
            </a:pPr>
            <a:r>
              <a:rPr lang="en-US" sz="1400" dirty="0"/>
              <a:t>0.5 + 0.3 + 0.2 = 1</a:t>
            </a:r>
          </a:p>
          <a:p>
            <a:endParaRPr lang="en-IN" sz="900" dirty="0"/>
          </a:p>
          <a:p>
            <a:pPr marL="0" indent="0">
              <a:buNone/>
            </a:pPr>
            <a:endParaRPr lang="en-US" sz="1800" dirty="0"/>
          </a:p>
          <a:p>
            <a:endParaRPr lang="en-IN" sz="32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146</a:t>
            </a:fld>
            <a:endParaRPr lang="en-US"/>
          </a:p>
        </p:txBody>
      </p:sp>
      <p:pic>
        <p:nvPicPr>
          <p:cNvPr id="6" name="Picture 5">
            <a:extLst>
              <a:ext uri="{FF2B5EF4-FFF2-40B4-BE49-F238E27FC236}">
                <a16:creationId xmlns:a16="http://schemas.microsoft.com/office/drawing/2014/main" id="{23041EC7-ACCC-4884-80FA-CFCB6B1631FC}"/>
              </a:ext>
            </a:extLst>
          </p:cNvPr>
          <p:cNvPicPr>
            <a:picLocks noChangeAspect="1"/>
          </p:cNvPicPr>
          <p:nvPr/>
        </p:nvPicPr>
        <p:blipFill>
          <a:blip r:embed="rId3"/>
          <a:stretch>
            <a:fillRect/>
          </a:stretch>
        </p:blipFill>
        <p:spPr>
          <a:xfrm>
            <a:off x="3048000" y="2133600"/>
            <a:ext cx="1981200" cy="937666"/>
          </a:xfrm>
          <a:prstGeom prst="rect">
            <a:avLst/>
          </a:prstGeom>
        </p:spPr>
      </p:pic>
    </p:spTree>
    <p:extLst>
      <p:ext uri="{BB962C8B-B14F-4D97-AF65-F5344CB8AC3E}">
        <p14:creationId xmlns:p14="http://schemas.microsoft.com/office/powerpoint/2010/main" val="153511213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IN" sz="1600" b="1" dirty="0">
                <a:solidFill>
                  <a:srgbClr val="C00000"/>
                </a:solidFill>
              </a:rPr>
              <a:t>2. Generating Kernel</a:t>
            </a:r>
          </a:p>
          <a:p>
            <a:pPr marL="0" indent="0">
              <a:buNone/>
            </a:pPr>
            <a:r>
              <a:rPr lang="en-IN" sz="1600" dirty="0"/>
              <a:t>Because the impulse response generates the memory </a:t>
            </a:r>
            <a:r>
              <a:rPr lang="en-IN" sz="1600" dirty="0" err="1"/>
              <a:t>behavior</a:t>
            </a:r>
            <a:r>
              <a:rPr lang="en-IN" sz="1600" dirty="0"/>
              <a:t>, we call h(n) the generating kernel of the discrete-time memory.</a:t>
            </a:r>
          </a:p>
          <a:p>
            <a:pPr marL="0" indent="0">
              <a:buNone/>
            </a:pPr>
            <a:endParaRPr lang="en-IN" sz="1600" dirty="0"/>
          </a:p>
          <a:p>
            <a:pPr marL="0" indent="0">
              <a:buNone/>
            </a:pPr>
            <a:r>
              <a:rPr lang="en-IN" sz="1600" dirty="0"/>
              <a:t>The generating kernel defines: </a:t>
            </a:r>
            <a:r>
              <a:rPr lang="en-IN" sz="1600" b="1" dirty="0"/>
              <a:t>how strongly past inputs influence the present output</a:t>
            </a:r>
            <a:endParaRPr lang="en-IN" sz="1600" dirty="0"/>
          </a:p>
          <a:p>
            <a:pPr marL="0" indent="0">
              <a:buNone/>
            </a:pPr>
            <a:r>
              <a:rPr lang="en-IN" sz="1600" dirty="0"/>
              <a:t>Example: Delay Influence x(n): strong ; x(n−1): medium ; x(n−2): weak</a:t>
            </a:r>
          </a:p>
          <a:p>
            <a:pPr marL="0" indent="0">
              <a:buNone/>
            </a:pPr>
            <a:endParaRPr lang="en-IN" sz="1600" dirty="0"/>
          </a:p>
          <a:p>
            <a:pPr marL="0" indent="0">
              <a:buNone/>
            </a:pPr>
            <a:r>
              <a:rPr lang="en-US" sz="1800" b="1" dirty="0">
                <a:solidFill>
                  <a:srgbClr val="C00000"/>
                </a:solidFill>
              </a:rPr>
              <a:t>3. Overall Impulse Response </a:t>
            </a:r>
            <a:r>
              <a:rPr lang="en-US" sz="1800" b="1" dirty="0" err="1">
                <a:solidFill>
                  <a:srgbClr val="C00000"/>
                </a:solidFill>
              </a:rPr>
              <a:t>h</a:t>
            </a:r>
            <a:r>
              <a:rPr lang="en-US" sz="1800" b="1" baseline="-25000" dirty="0" err="1">
                <a:solidFill>
                  <a:srgbClr val="C00000"/>
                </a:solidFill>
              </a:rPr>
              <a:t>overall</a:t>
            </a:r>
            <a:r>
              <a:rPr lang="en-US" sz="1800" b="1" dirty="0">
                <a:solidFill>
                  <a:srgbClr val="C00000"/>
                </a:solidFill>
              </a:rPr>
              <a:t>(n)</a:t>
            </a:r>
          </a:p>
          <a:p>
            <a:pPr marL="0" indent="0">
              <a:buNone/>
            </a:pPr>
            <a:r>
              <a:rPr lang="en-US" sz="1800" dirty="0"/>
              <a:t>When there are p memory sections, the overall impulse response becomes </a:t>
            </a:r>
            <a:r>
              <a:rPr lang="en-US" sz="1800" dirty="0" err="1"/>
              <a:t>h</a:t>
            </a:r>
            <a:r>
              <a:rPr lang="en-US" sz="1800" baseline="-25000" dirty="0" err="1"/>
              <a:t>overall</a:t>
            </a:r>
            <a:r>
              <a:rPr lang="en-US" sz="1800" dirty="0"/>
              <a:t>(n).  This represents the combined effect of all delay units.</a:t>
            </a:r>
          </a:p>
          <a:p>
            <a:pPr marL="0" indent="0">
              <a:buNone/>
            </a:pPr>
            <a:r>
              <a:rPr lang="en-US" sz="1800" dirty="0"/>
              <a:t>The overall response is obtained by successive convolution of h(n).</a:t>
            </a:r>
          </a:p>
          <a:p>
            <a:pPr marL="0" indent="0">
              <a:buNone/>
            </a:pPr>
            <a:endParaRPr lang="en-IN" sz="1200" dirty="0"/>
          </a:p>
          <a:p>
            <a:pPr marL="0" indent="0">
              <a:buNone/>
            </a:pPr>
            <a:endParaRPr lang="en-IN" sz="14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147</a:t>
            </a:fld>
            <a:endParaRPr lang="en-US"/>
          </a:p>
        </p:txBody>
      </p:sp>
      <p:pic>
        <p:nvPicPr>
          <p:cNvPr id="13" name="Picture 12">
            <a:extLst>
              <a:ext uri="{FF2B5EF4-FFF2-40B4-BE49-F238E27FC236}">
                <a16:creationId xmlns:a16="http://schemas.microsoft.com/office/drawing/2014/main" id="{9E1C7E51-BAAD-48B9-BE37-01D9493318C2}"/>
              </a:ext>
            </a:extLst>
          </p:cNvPr>
          <p:cNvPicPr>
            <a:picLocks noChangeAspect="1"/>
          </p:cNvPicPr>
          <p:nvPr/>
        </p:nvPicPr>
        <p:blipFill>
          <a:blip r:embed="rId3"/>
          <a:stretch>
            <a:fillRect/>
          </a:stretch>
        </p:blipFill>
        <p:spPr>
          <a:xfrm>
            <a:off x="1294345" y="4648200"/>
            <a:ext cx="4801656" cy="990600"/>
          </a:xfrm>
          <a:prstGeom prst="rect">
            <a:avLst/>
          </a:prstGeom>
        </p:spPr>
      </p:pic>
    </p:spTree>
    <p:extLst>
      <p:ext uri="{BB962C8B-B14F-4D97-AF65-F5344CB8AC3E}">
        <p14:creationId xmlns:p14="http://schemas.microsoft.com/office/powerpoint/2010/main" val="265646256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800" b="1" dirty="0">
                <a:solidFill>
                  <a:srgbClr val="C00000"/>
                </a:solidFill>
              </a:rPr>
              <a:t>4. Memory Depth D</a:t>
            </a:r>
          </a:p>
          <a:p>
            <a:pPr marL="0" indent="0">
              <a:buNone/>
            </a:pPr>
            <a:r>
              <a:rPr lang="en-US" sz="1800" dirty="0"/>
              <a:t>Memory depth tells: </a:t>
            </a:r>
            <a:r>
              <a:rPr lang="en-US" sz="1800" b="1" dirty="0"/>
              <a:t>How far into the past the system remembers information.</a:t>
            </a:r>
          </a:p>
          <a:p>
            <a:pPr marL="0" indent="0">
              <a:buNone/>
            </a:pPr>
            <a:endParaRPr lang="en-US" sz="1800" b="1" dirty="0"/>
          </a:p>
          <a:p>
            <a:pPr marL="0" indent="0">
              <a:buNone/>
            </a:pPr>
            <a:endParaRPr lang="en-US" sz="1800" b="1" dirty="0"/>
          </a:p>
          <a:p>
            <a:pPr marL="0" indent="0">
              <a:buNone/>
            </a:pPr>
            <a:endParaRPr lang="en-US" sz="1800" b="1" dirty="0"/>
          </a:p>
          <a:p>
            <a:pPr marL="0" indent="0">
              <a:buNone/>
            </a:pPr>
            <a:r>
              <a:rPr lang="en-US" sz="1600" dirty="0"/>
              <a:t>A memory of low depth D holds information content for a relatively short time interval, whereas a high-depth memory holds it much further into the past.</a:t>
            </a:r>
            <a:endParaRPr lang="en-US" sz="2800" dirty="0"/>
          </a:p>
          <a:p>
            <a:pPr marL="0" indent="0">
              <a:buNone/>
            </a:pP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148</a:t>
            </a:fld>
            <a:endParaRPr lang="en-US"/>
          </a:p>
        </p:txBody>
      </p:sp>
      <p:pic>
        <p:nvPicPr>
          <p:cNvPr id="6" name="Picture 5">
            <a:extLst>
              <a:ext uri="{FF2B5EF4-FFF2-40B4-BE49-F238E27FC236}">
                <a16:creationId xmlns:a16="http://schemas.microsoft.com/office/drawing/2014/main" id="{634F2620-62B9-4D96-8CF6-02C3D553C2CD}"/>
              </a:ext>
            </a:extLst>
          </p:cNvPr>
          <p:cNvPicPr>
            <a:picLocks noChangeAspect="1"/>
          </p:cNvPicPr>
          <p:nvPr/>
        </p:nvPicPr>
        <p:blipFill>
          <a:blip r:embed="rId3"/>
          <a:stretch>
            <a:fillRect/>
          </a:stretch>
        </p:blipFill>
        <p:spPr>
          <a:xfrm>
            <a:off x="990601" y="1905000"/>
            <a:ext cx="2209800" cy="871975"/>
          </a:xfrm>
          <a:prstGeom prst="rect">
            <a:avLst/>
          </a:prstGeom>
        </p:spPr>
      </p:pic>
      <p:sp>
        <p:nvSpPr>
          <p:cNvPr id="7" name="TextBox 6">
            <a:extLst>
              <a:ext uri="{FF2B5EF4-FFF2-40B4-BE49-F238E27FC236}">
                <a16:creationId xmlns:a16="http://schemas.microsoft.com/office/drawing/2014/main" id="{31F104C9-1977-4AB3-8951-48ED75B14864}"/>
              </a:ext>
            </a:extLst>
          </p:cNvPr>
          <p:cNvSpPr txBox="1"/>
          <p:nvPr/>
        </p:nvSpPr>
        <p:spPr>
          <a:xfrm>
            <a:off x="3326558" y="1948927"/>
            <a:ext cx="2794355" cy="1107996"/>
          </a:xfrm>
          <a:prstGeom prst="rect">
            <a:avLst/>
          </a:prstGeom>
          <a:noFill/>
        </p:spPr>
        <p:txBody>
          <a:bodyPr wrap="none" rtlCol="0">
            <a:spAutoFit/>
          </a:bodyPr>
          <a:lstStyle/>
          <a:p>
            <a:r>
              <a:rPr lang="en-US" sz="1600" dirty="0"/>
              <a:t>We multiply</a:t>
            </a:r>
          </a:p>
          <a:p>
            <a:pPr>
              <a:buFont typeface="Arial" panose="020B0604020202020204" pitchFamily="34" charset="0"/>
              <a:buChar char="•"/>
            </a:pPr>
            <a:r>
              <a:rPr lang="en-US" sz="1600" dirty="0"/>
              <a:t>time delay</a:t>
            </a:r>
          </a:p>
          <a:p>
            <a:pPr>
              <a:buFont typeface="Arial" panose="020B0604020202020204" pitchFamily="34" charset="0"/>
              <a:buChar char="•"/>
            </a:pPr>
            <a:r>
              <a:rPr lang="en-US" sz="1600" dirty="0"/>
              <a:t>importance of that delay</a:t>
            </a:r>
          </a:p>
          <a:p>
            <a:endParaRPr lang="en-IN" sz="1600" dirty="0"/>
          </a:p>
        </p:txBody>
      </p:sp>
    </p:spTree>
    <p:extLst>
      <p:ext uri="{BB962C8B-B14F-4D97-AF65-F5344CB8AC3E}">
        <p14:creationId xmlns:p14="http://schemas.microsoft.com/office/powerpoint/2010/main" val="176350251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800" b="1" dirty="0">
                <a:solidFill>
                  <a:srgbClr val="C00000"/>
                </a:solidFill>
              </a:rPr>
              <a:t>4. Memory Depth D</a:t>
            </a:r>
          </a:p>
          <a:p>
            <a:pPr marL="0" indent="0">
              <a:buNone/>
            </a:pPr>
            <a:r>
              <a:rPr lang="en-US" sz="1800" dirty="0"/>
              <a:t>Memory depth tells: </a:t>
            </a:r>
            <a:r>
              <a:rPr lang="en-US" sz="1800" b="1" dirty="0"/>
              <a:t>How far into the past the system remembers information.</a:t>
            </a:r>
          </a:p>
          <a:p>
            <a:pPr marL="0" indent="0">
              <a:buNone/>
            </a:pPr>
            <a:endParaRPr lang="en-US" sz="1800" b="1" dirty="0"/>
          </a:p>
          <a:p>
            <a:pPr marL="0" indent="0">
              <a:buNone/>
            </a:pPr>
            <a:endParaRPr lang="en-US" sz="1800" b="1" dirty="0"/>
          </a:p>
          <a:p>
            <a:pPr marL="0" indent="0">
              <a:buNone/>
            </a:pPr>
            <a:endParaRPr lang="en-US" sz="1800" b="1" dirty="0"/>
          </a:p>
          <a:p>
            <a:pPr marL="0" indent="0">
              <a:buNone/>
            </a:pPr>
            <a:r>
              <a:rPr lang="en-US" sz="1400" dirty="0"/>
              <a:t>A memory of low depth D holds information content for a relatively short time interval, whereas a high-depth memory holds it much further into the past.</a:t>
            </a:r>
            <a:endParaRPr lang="en-US" sz="2400" dirty="0"/>
          </a:p>
          <a:p>
            <a:pPr marL="0" indent="0">
              <a:buNone/>
            </a:pP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149</a:t>
            </a:fld>
            <a:endParaRPr lang="en-US"/>
          </a:p>
        </p:txBody>
      </p:sp>
      <p:pic>
        <p:nvPicPr>
          <p:cNvPr id="6" name="Picture 5">
            <a:extLst>
              <a:ext uri="{FF2B5EF4-FFF2-40B4-BE49-F238E27FC236}">
                <a16:creationId xmlns:a16="http://schemas.microsoft.com/office/drawing/2014/main" id="{634F2620-62B9-4D96-8CF6-02C3D553C2CD}"/>
              </a:ext>
            </a:extLst>
          </p:cNvPr>
          <p:cNvPicPr>
            <a:picLocks noChangeAspect="1"/>
          </p:cNvPicPr>
          <p:nvPr/>
        </p:nvPicPr>
        <p:blipFill>
          <a:blip r:embed="rId3"/>
          <a:stretch>
            <a:fillRect/>
          </a:stretch>
        </p:blipFill>
        <p:spPr>
          <a:xfrm>
            <a:off x="990601" y="1905000"/>
            <a:ext cx="2209800" cy="871975"/>
          </a:xfrm>
          <a:prstGeom prst="rect">
            <a:avLst/>
          </a:prstGeom>
        </p:spPr>
      </p:pic>
      <p:sp>
        <p:nvSpPr>
          <p:cNvPr id="7" name="TextBox 6">
            <a:extLst>
              <a:ext uri="{FF2B5EF4-FFF2-40B4-BE49-F238E27FC236}">
                <a16:creationId xmlns:a16="http://schemas.microsoft.com/office/drawing/2014/main" id="{31F104C9-1977-4AB3-8951-48ED75B14864}"/>
              </a:ext>
            </a:extLst>
          </p:cNvPr>
          <p:cNvSpPr txBox="1"/>
          <p:nvPr/>
        </p:nvSpPr>
        <p:spPr>
          <a:xfrm>
            <a:off x="3326558" y="1948927"/>
            <a:ext cx="2794355" cy="1107996"/>
          </a:xfrm>
          <a:prstGeom prst="rect">
            <a:avLst/>
          </a:prstGeom>
          <a:noFill/>
        </p:spPr>
        <p:txBody>
          <a:bodyPr wrap="none" rtlCol="0">
            <a:spAutoFit/>
          </a:bodyPr>
          <a:lstStyle/>
          <a:p>
            <a:r>
              <a:rPr lang="en-US" sz="1600" dirty="0"/>
              <a:t>We multiply</a:t>
            </a:r>
          </a:p>
          <a:p>
            <a:pPr>
              <a:buFont typeface="Arial" panose="020B0604020202020204" pitchFamily="34" charset="0"/>
              <a:buChar char="•"/>
            </a:pPr>
            <a:r>
              <a:rPr lang="en-US" sz="1600" dirty="0"/>
              <a:t>time delay</a:t>
            </a:r>
          </a:p>
          <a:p>
            <a:pPr>
              <a:buFont typeface="Arial" panose="020B0604020202020204" pitchFamily="34" charset="0"/>
              <a:buChar char="•"/>
            </a:pPr>
            <a:r>
              <a:rPr lang="en-US" sz="1600" dirty="0"/>
              <a:t>importance of that delay</a:t>
            </a:r>
          </a:p>
          <a:p>
            <a:endParaRPr lang="en-IN" sz="1600" dirty="0"/>
          </a:p>
        </p:txBody>
      </p:sp>
      <p:pic>
        <p:nvPicPr>
          <p:cNvPr id="9" name="Picture 8">
            <a:extLst>
              <a:ext uri="{FF2B5EF4-FFF2-40B4-BE49-F238E27FC236}">
                <a16:creationId xmlns:a16="http://schemas.microsoft.com/office/drawing/2014/main" id="{A0349183-1CBA-4BAD-84A0-BA39D1C10168}"/>
              </a:ext>
            </a:extLst>
          </p:cNvPr>
          <p:cNvPicPr>
            <a:picLocks noChangeAspect="1"/>
          </p:cNvPicPr>
          <p:nvPr/>
        </p:nvPicPr>
        <p:blipFill>
          <a:blip r:embed="rId4"/>
          <a:stretch>
            <a:fillRect/>
          </a:stretch>
        </p:blipFill>
        <p:spPr>
          <a:xfrm>
            <a:off x="609600" y="3368591"/>
            <a:ext cx="6553200" cy="3390537"/>
          </a:xfrm>
          <a:prstGeom prst="rect">
            <a:avLst/>
          </a:prstGeom>
        </p:spPr>
      </p:pic>
    </p:spTree>
    <p:extLst>
      <p:ext uri="{BB962C8B-B14F-4D97-AF65-F5344CB8AC3E}">
        <p14:creationId xmlns:p14="http://schemas.microsoft.com/office/powerpoint/2010/main" val="412151338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800" b="1" dirty="0">
                <a:solidFill>
                  <a:srgbClr val="C00000"/>
                </a:solidFill>
              </a:rPr>
              <a:t>4. Memory Depth D</a:t>
            </a:r>
          </a:p>
          <a:p>
            <a:pPr marL="0" indent="0">
              <a:buNone/>
            </a:pPr>
            <a:r>
              <a:rPr lang="en-US" sz="1800" dirty="0"/>
              <a:t>Memory depth tells: </a:t>
            </a:r>
            <a:r>
              <a:rPr lang="en-US" sz="1800" b="1" dirty="0"/>
              <a:t>How far into the past the system remembers information.</a:t>
            </a:r>
          </a:p>
          <a:p>
            <a:pPr marL="0" indent="0">
              <a:buNone/>
            </a:pPr>
            <a:endParaRPr lang="en-US" sz="1800" b="1" dirty="0"/>
          </a:p>
          <a:p>
            <a:pPr marL="0" indent="0">
              <a:buNone/>
            </a:pPr>
            <a:endParaRPr lang="en-US" sz="1800" b="1" dirty="0"/>
          </a:p>
          <a:p>
            <a:pPr marL="0" indent="0">
              <a:buNone/>
            </a:pPr>
            <a:endParaRPr lang="en-US" sz="1800" b="1" dirty="0"/>
          </a:p>
          <a:p>
            <a:pPr marL="0" indent="0">
              <a:buNone/>
            </a:pPr>
            <a:r>
              <a:rPr lang="en-US" sz="1400" dirty="0"/>
              <a:t>A memory of low depth D holds information content for a relatively short time interval, whereas a high-depth memory holds it much further into the past.</a:t>
            </a:r>
            <a:endParaRPr lang="en-US" sz="2400" dirty="0"/>
          </a:p>
          <a:p>
            <a:pPr marL="0" indent="0">
              <a:buNone/>
            </a:pP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150</a:t>
            </a:fld>
            <a:endParaRPr lang="en-US"/>
          </a:p>
        </p:txBody>
      </p:sp>
      <p:pic>
        <p:nvPicPr>
          <p:cNvPr id="6" name="Picture 5">
            <a:extLst>
              <a:ext uri="{FF2B5EF4-FFF2-40B4-BE49-F238E27FC236}">
                <a16:creationId xmlns:a16="http://schemas.microsoft.com/office/drawing/2014/main" id="{634F2620-62B9-4D96-8CF6-02C3D553C2CD}"/>
              </a:ext>
            </a:extLst>
          </p:cNvPr>
          <p:cNvPicPr>
            <a:picLocks noChangeAspect="1"/>
          </p:cNvPicPr>
          <p:nvPr/>
        </p:nvPicPr>
        <p:blipFill>
          <a:blip r:embed="rId3"/>
          <a:stretch>
            <a:fillRect/>
          </a:stretch>
        </p:blipFill>
        <p:spPr>
          <a:xfrm>
            <a:off x="990601" y="1905000"/>
            <a:ext cx="2209800" cy="871975"/>
          </a:xfrm>
          <a:prstGeom prst="rect">
            <a:avLst/>
          </a:prstGeom>
        </p:spPr>
      </p:pic>
      <p:sp>
        <p:nvSpPr>
          <p:cNvPr id="7" name="TextBox 6">
            <a:extLst>
              <a:ext uri="{FF2B5EF4-FFF2-40B4-BE49-F238E27FC236}">
                <a16:creationId xmlns:a16="http://schemas.microsoft.com/office/drawing/2014/main" id="{31F104C9-1977-4AB3-8951-48ED75B14864}"/>
              </a:ext>
            </a:extLst>
          </p:cNvPr>
          <p:cNvSpPr txBox="1"/>
          <p:nvPr/>
        </p:nvSpPr>
        <p:spPr>
          <a:xfrm>
            <a:off x="3326558" y="1948927"/>
            <a:ext cx="2794355" cy="1107996"/>
          </a:xfrm>
          <a:prstGeom prst="rect">
            <a:avLst/>
          </a:prstGeom>
          <a:noFill/>
        </p:spPr>
        <p:txBody>
          <a:bodyPr wrap="none" rtlCol="0">
            <a:spAutoFit/>
          </a:bodyPr>
          <a:lstStyle/>
          <a:p>
            <a:r>
              <a:rPr lang="en-US" sz="1600" dirty="0"/>
              <a:t>We multiply</a:t>
            </a:r>
          </a:p>
          <a:p>
            <a:pPr>
              <a:buFont typeface="Arial" panose="020B0604020202020204" pitchFamily="34" charset="0"/>
              <a:buChar char="•"/>
            </a:pPr>
            <a:r>
              <a:rPr lang="en-US" sz="1600" dirty="0"/>
              <a:t>time delay</a:t>
            </a:r>
          </a:p>
          <a:p>
            <a:pPr>
              <a:buFont typeface="Arial" panose="020B0604020202020204" pitchFamily="34" charset="0"/>
              <a:buChar char="•"/>
            </a:pPr>
            <a:r>
              <a:rPr lang="en-US" sz="1600" dirty="0"/>
              <a:t>importance of that delay</a:t>
            </a:r>
          </a:p>
          <a:p>
            <a:endParaRPr lang="en-IN" sz="1600" dirty="0"/>
          </a:p>
        </p:txBody>
      </p:sp>
      <p:pic>
        <p:nvPicPr>
          <p:cNvPr id="9" name="Picture 8">
            <a:extLst>
              <a:ext uri="{FF2B5EF4-FFF2-40B4-BE49-F238E27FC236}">
                <a16:creationId xmlns:a16="http://schemas.microsoft.com/office/drawing/2014/main" id="{A0349183-1CBA-4BAD-84A0-BA39D1C10168}"/>
              </a:ext>
            </a:extLst>
          </p:cNvPr>
          <p:cNvPicPr>
            <a:picLocks noChangeAspect="1"/>
          </p:cNvPicPr>
          <p:nvPr/>
        </p:nvPicPr>
        <p:blipFill>
          <a:blip r:embed="rId4"/>
          <a:stretch>
            <a:fillRect/>
          </a:stretch>
        </p:blipFill>
        <p:spPr>
          <a:xfrm>
            <a:off x="609600" y="3368591"/>
            <a:ext cx="4953000" cy="3390537"/>
          </a:xfrm>
          <a:prstGeom prst="rect">
            <a:avLst/>
          </a:prstGeom>
        </p:spPr>
      </p:pic>
      <p:pic>
        <p:nvPicPr>
          <p:cNvPr id="11" name="Picture 10">
            <a:extLst>
              <a:ext uri="{FF2B5EF4-FFF2-40B4-BE49-F238E27FC236}">
                <a16:creationId xmlns:a16="http://schemas.microsoft.com/office/drawing/2014/main" id="{54C7A1FC-64F8-4A01-815B-40B132FF13F8}"/>
              </a:ext>
            </a:extLst>
          </p:cNvPr>
          <p:cNvPicPr>
            <a:picLocks noChangeAspect="1"/>
          </p:cNvPicPr>
          <p:nvPr/>
        </p:nvPicPr>
        <p:blipFill>
          <a:blip r:embed="rId5"/>
          <a:stretch>
            <a:fillRect/>
          </a:stretch>
        </p:blipFill>
        <p:spPr>
          <a:xfrm>
            <a:off x="6120912" y="3216699"/>
            <a:ext cx="5461487" cy="3545118"/>
          </a:xfrm>
          <a:prstGeom prst="rect">
            <a:avLst/>
          </a:prstGeom>
        </p:spPr>
      </p:pic>
    </p:spTree>
    <p:extLst>
      <p:ext uri="{BB962C8B-B14F-4D97-AF65-F5344CB8AC3E}">
        <p14:creationId xmlns:p14="http://schemas.microsoft.com/office/powerpoint/2010/main" val="70807178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600" b="1" dirty="0">
                <a:solidFill>
                  <a:srgbClr val="C00000"/>
                </a:solidFill>
              </a:rPr>
              <a:t>5. Memory Resolution R</a:t>
            </a:r>
          </a:p>
          <a:p>
            <a:pPr marL="0" indent="0">
              <a:buNone/>
            </a:pPr>
            <a:r>
              <a:rPr lang="en-US" sz="1600" dirty="0"/>
              <a:t>Resolution tells: </a:t>
            </a:r>
            <a:r>
              <a:rPr lang="en-US" sz="1600" b="1" dirty="0"/>
              <a:t>How finely the past is sampled.</a:t>
            </a:r>
            <a:endParaRPr lang="en-US" sz="1600" dirty="0"/>
          </a:p>
          <a:p>
            <a:pPr marL="0" indent="0">
              <a:buNone/>
            </a:pPr>
            <a:r>
              <a:rPr lang="en-US" sz="1600" dirty="0"/>
              <a:t>Definition: Memory resolution = </a:t>
            </a:r>
            <a:r>
              <a:rPr lang="en-US" sz="1600" b="1" dirty="0"/>
              <a:t>number of taps per unit time</a:t>
            </a:r>
            <a:r>
              <a:rPr lang="en-US" sz="1600" dirty="0"/>
              <a:t>.</a:t>
            </a:r>
          </a:p>
          <a:p>
            <a:pPr marL="0" indent="0">
              <a:buNone/>
            </a:pPr>
            <a:endParaRPr lang="en-IN" sz="1600" dirty="0"/>
          </a:p>
          <a:p>
            <a:pPr marL="0" indent="0">
              <a:buNone/>
            </a:pPr>
            <a:endParaRPr lang="en-IN" sz="40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151</a:t>
            </a:fld>
            <a:endParaRPr lang="en-US"/>
          </a:p>
        </p:txBody>
      </p:sp>
      <p:sp>
        <p:nvSpPr>
          <p:cNvPr id="8" name="TextBox 7">
            <a:extLst>
              <a:ext uri="{FF2B5EF4-FFF2-40B4-BE49-F238E27FC236}">
                <a16:creationId xmlns:a16="http://schemas.microsoft.com/office/drawing/2014/main" id="{217A4185-EA4A-404A-8B52-57A6A2D4587A}"/>
              </a:ext>
            </a:extLst>
          </p:cNvPr>
          <p:cNvSpPr txBox="1"/>
          <p:nvPr/>
        </p:nvSpPr>
        <p:spPr>
          <a:xfrm>
            <a:off x="304800" y="2514600"/>
            <a:ext cx="4812536" cy="3416320"/>
          </a:xfrm>
          <a:prstGeom prst="rect">
            <a:avLst/>
          </a:prstGeom>
          <a:noFill/>
        </p:spPr>
        <p:txBody>
          <a:bodyPr wrap="none" rtlCol="0">
            <a:spAutoFit/>
          </a:bodyPr>
          <a:lstStyle/>
          <a:p>
            <a:r>
              <a:rPr lang="en-US" dirty="0"/>
              <a:t>For a fixed memory order p:</a:t>
            </a:r>
          </a:p>
          <a:p>
            <a:r>
              <a:rPr lang="en-US" dirty="0"/>
              <a:t>D×R=p</a:t>
            </a:r>
          </a:p>
          <a:p>
            <a:r>
              <a:rPr lang="en-US" dirty="0"/>
              <a:t>Meaning: Memory capacity is fixed.</a:t>
            </a:r>
          </a:p>
          <a:p>
            <a:endParaRPr lang="en-US" dirty="0"/>
          </a:p>
          <a:p>
            <a:r>
              <a:rPr lang="en-US" dirty="0"/>
              <a:t>You can either:</a:t>
            </a:r>
          </a:p>
          <a:p>
            <a:pPr>
              <a:buFont typeface="Arial" panose="020B0604020202020204" pitchFamily="34" charset="0"/>
              <a:buChar char="•"/>
            </a:pPr>
            <a:r>
              <a:rPr lang="en-US" dirty="0"/>
              <a:t>remember </a:t>
            </a:r>
            <a:r>
              <a:rPr lang="en-US" b="1" dirty="0"/>
              <a:t>far into the past (high D)</a:t>
            </a:r>
            <a:br>
              <a:rPr lang="en-US" dirty="0"/>
            </a:br>
            <a:r>
              <a:rPr lang="en-US" dirty="0"/>
              <a:t>or</a:t>
            </a:r>
          </a:p>
          <a:p>
            <a:pPr>
              <a:buFont typeface="Arial" panose="020B0604020202020204" pitchFamily="34" charset="0"/>
              <a:buChar char="•"/>
            </a:pPr>
            <a:r>
              <a:rPr lang="en-US" dirty="0"/>
              <a:t>remember </a:t>
            </a:r>
            <a:r>
              <a:rPr lang="en-US" b="1" dirty="0"/>
              <a:t>with fine detail (high R)</a:t>
            </a:r>
          </a:p>
          <a:p>
            <a:pPr>
              <a:buFont typeface="Arial" panose="020B0604020202020204" pitchFamily="34" charset="0"/>
              <a:buChar char="•"/>
            </a:pPr>
            <a:endParaRPr lang="en-US" dirty="0"/>
          </a:p>
          <a:p>
            <a:r>
              <a:rPr lang="en-US" dirty="0"/>
              <a:t>but not both.</a:t>
            </a:r>
          </a:p>
          <a:p>
            <a:endParaRPr lang="en-IN" dirty="0"/>
          </a:p>
          <a:p>
            <a:endParaRPr lang="en-IN" dirty="0"/>
          </a:p>
        </p:txBody>
      </p:sp>
    </p:spTree>
    <p:extLst>
      <p:ext uri="{BB962C8B-B14F-4D97-AF65-F5344CB8AC3E}">
        <p14:creationId xmlns:p14="http://schemas.microsoft.com/office/powerpoint/2010/main" val="218371986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600" b="1" dirty="0">
                <a:solidFill>
                  <a:srgbClr val="C00000"/>
                </a:solidFill>
              </a:rPr>
              <a:t>5. Memory Resolution R</a:t>
            </a:r>
          </a:p>
          <a:p>
            <a:pPr marL="0" indent="0">
              <a:buNone/>
            </a:pPr>
            <a:r>
              <a:rPr lang="en-US" sz="1600" dirty="0"/>
              <a:t>Resolution tells: </a:t>
            </a:r>
            <a:r>
              <a:rPr lang="en-US" sz="1600" b="1" dirty="0"/>
              <a:t>How finely the past is sampled.</a:t>
            </a:r>
            <a:endParaRPr lang="en-US" sz="1600" dirty="0"/>
          </a:p>
          <a:p>
            <a:pPr marL="0" indent="0">
              <a:buNone/>
            </a:pPr>
            <a:r>
              <a:rPr lang="en-US" sz="1600" dirty="0"/>
              <a:t>Definition: Memory resolution = </a:t>
            </a:r>
            <a:r>
              <a:rPr lang="en-US" sz="1600" b="1" dirty="0"/>
              <a:t>number of taps per unit time</a:t>
            </a:r>
            <a:r>
              <a:rPr lang="en-US" sz="1600" dirty="0"/>
              <a:t>.</a:t>
            </a:r>
          </a:p>
          <a:p>
            <a:pPr marL="0" indent="0">
              <a:buNone/>
            </a:pPr>
            <a:endParaRPr lang="en-IN" sz="1600" dirty="0"/>
          </a:p>
          <a:p>
            <a:pPr marL="0" indent="0">
              <a:buNone/>
            </a:pPr>
            <a:endParaRPr lang="en-IN" sz="40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152</a:t>
            </a:fld>
            <a:endParaRPr lang="en-US"/>
          </a:p>
        </p:txBody>
      </p:sp>
      <p:sp>
        <p:nvSpPr>
          <p:cNvPr id="8" name="TextBox 7">
            <a:extLst>
              <a:ext uri="{FF2B5EF4-FFF2-40B4-BE49-F238E27FC236}">
                <a16:creationId xmlns:a16="http://schemas.microsoft.com/office/drawing/2014/main" id="{217A4185-EA4A-404A-8B52-57A6A2D4587A}"/>
              </a:ext>
            </a:extLst>
          </p:cNvPr>
          <p:cNvSpPr txBox="1"/>
          <p:nvPr/>
        </p:nvSpPr>
        <p:spPr>
          <a:xfrm>
            <a:off x="304800" y="2514600"/>
            <a:ext cx="4812536" cy="3416320"/>
          </a:xfrm>
          <a:prstGeom prst="rect">
            <a:avLst/>
          </a:prstGeom>
          <a:noFill/>
        </p:spPr>
        <p:txBody>
          <a:bodyPr wrap="none" rtlCol="0">
            <a:spAutoFit/>
          </a:bodyPr>
          <a:lstStyle/>
          <a:p>
            <a:r>
              <a:rPr lang="en-US" dirty="0"/>
              <a:t>For a fixed memory order p:</a:t>
            </a:r>
          </a:p>
          <a:p>
            <a:r>
              <a:rPr lang="en-US" dirty="0"/>
              <a:t>D×R=p</a:t>
            </a:r>
          </a:p>
          <a:p>
            <a:r>
              <a:rPr lang="en-US" dirty="0"/>
              <a:t>Meaning: Memory capacity is fixed.</a:t>
            </a:r>
          </a:p>
          <a:p>
            <a:endParaRPr lang="en-US" dirty="0"/>
          </a:p>
          <a:p>
            <a:r>
              <a:rPr lang="en-US" dirty="0"/>
              <a:t>You can either:</a:t>
            </a:r>
          </a:p>
          <a:p>
            <a:pPr>
              <a:buFont typeface="Arial" panose="020B0604020202020204" pitchFamily="34" charset="0"/>
              <a:buChar char="•"/>
            </a:pPr>
            <a:r>
              <a:rPr lang="en-US" dirty="0"/>
              <a:t>remember </a:t>
            </a:r>
            <a:r>
              <a:rPr lang="en-US" b="1" dirty="0"/>
              <a:t>far into the past (high D)</a:t>
            </a:r>
            <a:br>
              <a:rPr lang="en-US" dirty="0"/>
            </a:br>
            <a:r>
              <a:rPr lang="en-US" dirty="0"/>
              <a:t>or</a:t>
            </a:r>
          </a:p>
          <a:p>
            <a:pPr>
              <a:buFont typeface="Arial" panose="020B0604020202020204" pitchFamily="34" charset="0"/>
              <a:buChar char="•"/>
            </a:pPr>
            <a:r>
              <a:rPr lang="en-US" dirty="0"/>
              <a:t>remember </a:t>
            </a:r>
            <a:r>
              <a:rPr lang="en-US" b="1" dirty="0"/>
              <a:t>with fine detail (high R)</a:t>
            </a:r>
          </a:p>
          <a:p>
            <a:pPr>
              <a:buFont typeface="Arial" panose="020B0604020202020204" pitchFamily="34" charset="0"/>
              <a:buChar char="•"/>
            </a:pPr>
            <a:endParaRPr lang="en-US" dirty="0"/>
          </a:p>
          <a:p>
            <a:r>
              <a:rPr lang="en-US" dirty="0"/>
              <a:t>but not both.</a:t>
            </a:r>
          </a:p>
          <a:p>
            <a:endParaRPr lang="en-IN" dirty="0"/>
          </a:p>
          <a:p>
            <a:endParaRPr lang="en-IN" dirty="0"/>
          </a:p>
        </p:txBody>
      </p:sp>
      <p:sp>
        <p:nvSpPr>
          <p:cNvPr id="9" name="TextBox 8">
            <a:extLst>
              <a:ext uri="{FF2B5EF4-FFF2-40B4-BE49-F238E27FC236}">
                <a16:creationId xmlns:a16="http://schemas.microsoft.com/office/drawing/2014/main" id="{8B2B69B9-801A-4C84-BD7E-CE24A505EB15}"/>
              </a:ext>
            </a:extLst>
          </p:cNvPr>
          <p:cNvSpPr txBox="1"/>
          <p:nvPr/>
        </p:nvSpPr>
        <p:spPr>
          <a:xfrm>
            <a:off x="7074666" y="2511911"/>
            <a:ext cx="4775666" cy="3970318"/>
          </a:xfrm>
          <a:prstGeom prst="rect">
            <a:avLst/>
          </a:prstGeom>
          <a:noFill/>
        </p:spPr>
        <p:txBody>
          <a:bodyPr wrap="none" rtlCol="0">
            <a:spAutoFit/>
          </a:bodyPr>
          <a:lstStyle/>
          <a:p>
            <a:r>
              <a:rPr lang="en-US" dirty="0"/>
              <a:t>Example: Imagine a </a:t>
            </a:r>
            <a:r>
              <a:rPr lang="en-US" b="1" dirty="0"/>
              <a:t>security camera</a:t>
            </a:r>
            <a:r>
              <a:rPr lang="en-US" dirty="0"/>
              <a:t>.</a:t>
            </a:r>
          </a:p>
          <a:p>
            <a:r>
              <a:rPr lang="en-US" dirty="0"/>
              <a:t>Camera memory capacity = fixed.</a:t>
            </a:r>
          </a:p>
          <a:p>
            <a:endParaRPr lang="en-US" dirty="0"/>
          </a:p>
          <a:p>
            <a:r>
              <a:rPr lang="en-US" b="1" dirty="0"/>
              <a:t>Option 1</a:t>
            </a:r>
          </a:p>
          <a:p>
            <a:r>
              <a:rPr lang="en-US" dirty="0"/>
              <a:t>Store </a:t>
            </a:r>
            <a:r>
              <a:rPr lang="en-US" b="1" dirty="0"/>
              <a:t>every second</a:t>
            </a:r>
            <a:r>
              <a:rPr lang="en-US" dirty="0"/>
              <a:t> for </a:t>
            </a:r>
            <a:r>
              <a:rPr lang="en-US" b="1" dirty="0"/>
              <a:t>1 minute</a:t>
            </a:r>
            <a:r>
              <a:rPr lang="en-US" dirty="0"/>
              <a:t>.</a:t>
            </a:r>
          </a:p>
          <a:p>
            <a:r>
              <a:rPr lang="en-US" dirty="0"/>
              <a:t>High resolution</a:t>
            </a:r>
            <a:br>
              <a:rPr lang="en-US" dirty="0"/>
            </a:br>
            <a:r>
              <a:rPr lang="en-US" dirty="0"/>
              <a:t>Small depth.</a:t>
            </a:r>
          </a:p>
          <a:p>
            <a:endParaRPr lang="en-US" dirty="0"/>
          </a:p>
          <a:p>
            <a:r>
              <a:rPr lang="en-US" b="1" dirty="0"/>
              <a:t>Option 2</a:t>
            </a:r>
          </a:p>
          <a:p>
            <a:r>
              <a:rPr lang="en-US" dirty="0"/>
              <a:t>Store </a:t>
            </a:r>
            <a:r>
              <a:rPr lang="en-US" b="1" dirty="0"/>
              <a:t>every 1 minute</a:t>
            </a:r>
            <a:r>
              <a:rPr lang="en-US" dirty="0"/>
              <a:t> for </a:t>
            </a:r>
            <a:r>
              <a:rPr lang="en-US" b="1" dirty="0"/>
              <a:t>1 hour</a:t>
            </a:r>
            <a:r>
              <a:rPr lang="en-US" dirty="0"/>
              <a:t>.</a:t>
            </a:r>
          </a:p>
          <a:p>
            <a:r>
              <a:rPr lang="en-US" dirty="0"/>
              <a:t>Low resolution</a:t>
            </a:r>
            <a:br>
              <a:rPr lang="en-US" dirty="0"/>
            </a:br>
            <a:r>
              <a:rPr lang="en-US" dirty="0"/>
              <a:t>Large depth.</a:t>
            </a:r>
          </a:p>
          <a:p>
            <a:endParaRPr lang="en-IN" dirty="0"/>
          </a:p>
          <a:p>
            <a:endParaRPr lang="en-IN" dirty="0"/>
          </a:p>
        </p:txBody>
      </p:sp>
    </p:spTree>
    <p:extLst>
      <p:ext uri="{BB962C8B-B14F-4D97-AF65-F5344CB8AC3E}">
        <p14:creationId xmlns:p14="http://schemas.microsoft.com/office/powerpoint/2010/main" val="360066331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 (</a:t>
            </a:r>
            <a:r>
              <a:rPr lang="en-US" dirty="0" err="1"/>
              <a:t>Contd</a:t>
            </a:r>
            <a:r>
              <a:rPr lang="en-US"/>
              <a:t>…)</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800" b="1" dirty="0" err="1"/>
              <a:t>h</a:t>
            </a:r>
            <a:r>
              <a:rPr lang="en-US" sz="1800" b="1" baseline="-25000" dirty="0" err="1"/>
              <a:t>overall</a:t>
            </a:r>
            <a:r>
              <a:rPr lang="en-US" sz="1800" b="1" dirty="0"/>
              <a:t>​(n)</a:t>
            </a:r>
            <a:r>
              <a:rPr lang="en-US" sz="1800" dirty="0"/>
              <a:t> describes how much influence each past input has.</a:t>
            </a:r>
          </a:p>
          <a:p>
            <a:pPr marL="0" indent="0">
              <a:buNone/>
            </a:pPr>
            <a:r>
              <a:rPr lang="en-US" sz="1800" b="1" dirty="0"/>
              <a:t>Memory depth D</a:t>
            </a:r>
            <a:r>
              <a:rPr lang="en-US" sz="1800" dirty="0"/>
              <a:t> measures how far into the past the system effectively remembers.</a:t>
            </a:r>
          </a:p>
          <a:p>
            <a:pPr marL="0" indent="0">
              <a:buNone/>
            </a:pPr>
            <a:r>
              <a:rPr lang="en-US" sz="1800" b="1" dirty="0"/>
              <a:t>Memory resolution R</a:t>
            </a:r>
            <a:r>
              <a:rPr lang="en-US" sz="1800" dirty="0"/>
              <a:t> measures how finely the past inputs are sampled.</a:t>
            </a:r>
          </a:p>
          <a:p>
            <a:endParaRPr lang="en-IN" sz="800" dirty="0"/>
          </a:p>
          <a:p>
            <a:pPr marL="0" indent="0">
              <a:buNone/>
            </a:pPr>
            <a:endParaRPr lang="en-IN" sz="16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153</a:t>
            </a:fld>
            <a:endParaRPr lang="en-US"/>
          </a:p>
        </p:txBody>
      </p:sp>
      <p:pic>
        <p:nvPicPr>
          <p:cNvPr id="7" name="Picture 6">
            <a:extLst>
              <a:ext uri="{FF2B5EF4-FFF2-40B4-BE49-F238E27FC236}">
                <a16:creationId xmlns:a16="http://schemas.microsoft.com/office/drawing/2014/main" id="{C853B629-1AD6-4E9B-9CE0-81F2FF13EE18}"/>
              </a:ext>
            </a:extLst>
          </p:cNvPr>
          <p:cNvPicPr>
            <a:picLocks noChangeAspect="1"/>
          </p:cNvPicPr>
          <p:nvPr/>
        </p:nvPicPr>
        <p:blipFill>
          <a:blip r:embed="rId3"/>
          <a:stretch>
            <a:fillRect/>
          </a:stretch>
        </p:blipFill>
        <p:spPr>
          <a:xfrm>
            <a:off x="914399" y="2557340"/>
            <a:ext cx="7460369" cy="2167059"/>
          </a:xfrm>
          <a:prstGeom prst="rect">
            <a:avLst/>
          </a:prstGeom>
        </p:spPr>
      </p:pic>
    </p:spTree>
    <p:extLst>
      <p:ext uri="{BB962C8B-B14F-4D97-AF65-F5344CB8AC3E}">
        <p14:creationId xmlns:p14="http://schemas.microsoft.com/office/powerpoint/2010/main" val="243047236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359E1-FB57-31C1-EEDB-FC6B66626909}"/>
              </a:ext>
            </a:extLst>
          </p:cNvPr>
          <p:cNvSpPr>
            <a:spLocks noGrp="1"/>
          </p:cNvSpPr>
          <p:nvPr>
            <p:ph type="title"/>
          </p:nvPr>
        </p:nvSpPr>
        <p:spPr/>
        <p:txBody>
          <a:bodyPr/>
          <a:lstStyle/>
          <a:p>
            <a:r>
              <a:rPr lang="en-US" dirty="0"/>
              <a:t>Question: Non-linear filtering</a:t>
            </a:r>
            <a:endParaRPr lang="en-IN" dirty="0"/>
          </a:p>
        </p:txBody>
      </p:sp>
      <p:sp>
        <p:nvSpPr>
          <p:cNvPr id="3" name="Content Placeholder 2">
            <a:extLst>
              <a:ext uri="{FF2B5EF4-FFF2-40B4-BE49-F238E27FC236}">
                <a16:creationId xmlns:a16="http://schemas.microsoft.com/office/drawing/2014/main" id="{1A98A4D9-6649-46F2-DF10-F0FC7138BAC8}"/>
              </a:ext>
            </a:extLst>
          </p:cNvPr>
          <p:cNvSpPr>
            <a:spLocks noGrp="1"/>
          </p:cNvSpPr>
          <p:nvPr>
            <p:ph idx="1"/>
          </p:nvPr>
        </p:nvSpPr>
        <p:spPr/>
        <p:txBody>
          <a:bodyPr/>
          <a:lstStyle/>
          <a:p>
            <a:pPr algn="just"/>
            <a:r>
              <a:rPr lang="en-US" sz="1800" dirty="0"/>
              <a:t>What is nonlinear filtering? Illustrate the two basic ways where time may be built into the operation of a neural network. With a neat block diagram, describe the cascade connection of two subsystems: short-term memory and a static neural network.</a:t>
            </a:r>
          </a:p>
          <a:p>
            <a:pPr algn="just"/>
            <a:r>
              <a:rPr lang="en-US" sz="1800" dirty="0"/>
              <a:t>Analyze how time can be incorporated into the operation of a neural network to enable temporal pattern recognition and what are the two basic ways this can be achieved. With the block diagram of a discrete-time memory structure consisting of p identical sections connected in cascade, derive an equation for memory depth D.</a:t>
            </a:r>
          </a:p>
          <a:p>
            <a:pPr algn="just"/>
            <a:endParaRPr lang="en-IN" sz="1800" dirty="0"/>
          </a:p>
          <a:p>
            <a:pPr algn="just"/>
            <a:endParaRPr lang="en-IN" sz="1800" dirty="0"/>
          </a:p>
        </p:txBody>
      </p:sp>
      <p:sp>
        <p:nvSpPr>
          <p:cNvPr id="4" name="Slide Number Placeholder 3">
            <a:extLst>
              <a:ext uri="{FF2B5EF4-FFF2-40B4-BE49-F238E27FC236}">
                <a16:creationId xmlns:a16="http://schemas.microsoft.com/office/drawing/2014/main" id="{15113998-B60C-8570-DD1F-FE37A529DAC5}"/>
              </a:ext>
            </a:extLst>
          </p:cNvPr>
          <p:cNvSpPr>
            <a:spLocks noGrp="1"/>
          </p:cNvSpPr>
          <p:nvPr>
            <p:ph type="sldNum" sz="quarter" idx="12"/>
          </p:nvPr>
        </p:nvSpPr>
        <p:spPr/>
        <p:txBody>
          <a:bodyPr/>
          <a:lstStyle/>
          <a:p>
            <a:fld id="{BB2CE0DE-867F-455F-B20B-96D381B4AB71}" type="slidenum">
              <a:rPr lang="en-US" smtClean="0"/>
              <a:t>154</a:t>
            </a:fld>
            <a:endParaRPr lang="en-US"/>
          </a:p>
        </p:txBody>
      </p:sp>
    </p:spTree>
    <p:extLst>
      <p:ext uri="{BB962C8B-B14F-4D97-AF65-F5344CB8AC3E}">
        <p14:creationId xmlns:p14="http://schemas.microsoft.com/office/powerpoint/2010/main" val="205362797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41EDA-D5B8-DC2E-2446-119BD8AF9D67}"/>
              </a:ext>
            </a:extLst>
          </p:cNvPr>
          <p:cNvSpPr>
            <a:spLocks noGrp="1"/>
          </p:cNvSpPr>
          <p:nvPr>
            <p:ph type="title"/>
          </p:nvPr>
        </p:nvSpPr>
        <p:spPr/>
        <p:txBody>
          <a:bodyPr/>
          <a:lstStyle/>
          <a:p>
            <a:r>
              <a:rPr lang="en-US" dirty="0"/>
              <a:t>Question: Multilayer Perceptron</a:t>
            </a:r>
            <a:endParaRPr lang="en-IN" dirty="0"/>
          </a:p>
        </p:txBody>
      </p:sp>
      <p:sp>
        <p:nvSpPr>
          <p:cNvPr id="3" name="Content Placeholder 2">
            <a:extLst>
              <a:ext uri="{FF2B5EF4-FFF2-40B4-BE49-F238E27FC236}">
                <a16:creationId xmlns:a16="http://schemas.microsoft.com/office/drawing/2014/main" id="{8AF484AD-435E-E8AA-DBDC-505E5C78347C}"/>
              </a:ext>
            </a:extLst>
          </p:cNvPr>
          <p:cNvSpPr>
            <a:spLocks noGrp="1"/>
          </p:cNvSpPr>
          <p:nvPr>
            <p:ph idx="1"/>
          </p:nvPr>
        </p:nvSpPr>
        <p:spPr/>
        <p:txBody>
          <a:bodyPr/>
          <a:lstStyle/>
          <a:p>
            <a:r>
              <a:rPr lang="en-US" sz="1800" dirty="0"/>
              <a:t>Derive the steps in applying the Conjugate Gradient Method and Quasi Newton method for the supervised training of a multilayer perceptron.</a:t>
            </a:r>
          </a:p>
          <a:p>
            <a:r>
              <a:rPr lang="en-US" sz="1800" dirty="0"/>
              <a:t>Explain the three basic features of the multilayer perceptron and the two phases of training by back-propagation algorithm with LMS as a special case.</a:t>
            </a:r>
            <a:endParaRPr lang="en-IN" sz="1800" dirty="0"/>
          </a:p>
        </p:txBody>
      </p:sp>
      <p:sp>
        <p:nvSpPr>
          <p:cNvPr id="4" name="Slide Number Placeholder 3">
            <a:extLst>
              <a:ext uri="{FF2B5EF4-FFF2-40B4-BE49-F238E27FC236}">
                <a16:creationId xmlns:a16="http://schemas.microsoft.com/office/drawing/2014/main" id="{9161DE84-CCE0-E3DB-F5F5-CC6E03F4644D}"/>
              </a:ext>
            </a:extLst>
          </p:cNvPr>
          <p:cNvSpPr>
            <a:spLocks noGrp="1"/>
          </p:cNvSpPr>
          <p:nvPr>
            <p:ph type="sldNum" sz="quarter" idx="12"/>
          </p:nvPr>
        </p:nvSpPr>
        <p:spPr/>
        <p:txBody>
          <a:bodyPr/>
          <a:lstStyle/>
          <a:p>
            <a:fld id="{BB2CE0DE-867F-455F-B20B-96D381B4AB71}" type="slidenum">
              <a:rPr lang="en-US" smtClean="0"/>
              <a:t>155</a:t>
            </a:fld>
            <a:endParaRPr lang="en-US"/>
          </a:p>
        </p:txBody>
      </p:sp>
    </p:spTree>
    <p:extLst>
      <p:ext uri="{BB962C8B-B14F-4D97-AF65-F5344CB8AC3E}">
        <p14:creationId xmlns:p14="http://schemas.microsoft.com/office/powerpoint/2010/main" val="1511153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3" name="Slide Number Placeholder 2"/>
          <p:cNvSpPr>
            <a:spLocks noGrp="1"/>
          </p:cNvSpPr>
          <p:nvPr>
            <p:ph type="sldNum" sz="quarter" idx="12"/>
          </p:nvPr>
        </p:nvSpPr>
        <p:spPr/>
        <p:txBody>
          <a:bodyPr/>
          <a:lstStyle/>
          <a:p>
            <a:fld id="{5DCC653A-8BE1-4A16-A754-27859D86C4A9}" type="slidenum">
              <a:rPr lang="en-US" smtClean="0"/>
              <a:t>156</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3445</TotalTime>
  <Words>10293</Words>
  <Application>Microsoft Office PowerPoint</Application>
  <PresentationFormat>Widescreen</PresentationFormat>
  <Paragraphs>1220</Paragraphs>
  <Slides>156</Slides>
  <Notes>63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156</vt:i4>
      </vt:variant>
    </vt:vector>
  </HeadingPairs>
  <TitlesOfParts>
    <vt:vector size="171" baseType="lpstr">
      <vt:lpstr>Arial</vt:lpstr>
      <vt:lpstr>Calibri</vt:lpstr>
      <vt:lpstr>Cambria Math</vt:lpstr>
      <vt:lpstr>Inter</vt:lpstr>
      <vt:lpstr>MJXc-TeX-ams-R</vt:lpstr>
      <vt:lpstr>MJXc-TeX-main-B</vt:lpstr>
      <vt:lpstr>MJXc-TeX-main-R</vt:lpstr>
      <vt:lpstr>MJXc-TeX-math-I</vt:lpstr>
      <vt:lpstr>Nunito</vt:lpstr>
      <vt:lpstr>PT Serif</vt:lpstr>
      <vt:lpstr>Roboto</vt:lpstr>
      <vt:lpstr>Times New Roman</vt:lpstr>
      <vt:lpstr>Verdana</vt:lpstr>
      <vt:lpstr>Wingdings</vt:lpstr>
      <vt:lpstr>Theme1</vt:lpstr>
      <vt:lpstr>Neural Network and Deep Learning 23CS8PENDL/23CS7PENDL</vt:lpstr>
      <vt:lpstr>Unit-2</vt:lpstr>
      <vt:lpstr>Linear Neurons and Limitations</vt:lpstr>
      <vt:lpstr>XOR – Non linearly separable function </vt:lpstr>
      <vt:lpstr>XOR – Non linearly separable function </vt:lpstr>
      <vt:lpstr>Multilayer Perceptron</vt:lpstr>
      <vt:lpstr>Question: Multilayer Perceptron</vt:lpstr>
      <vt:lpstr>Architectural graph of a multilayer perceptron </vt:lpstr>
      <vt:lpstr>Architectural graph of a multilayer perceptron (MLP)</vt:lpstr>
      <vt:lpstr>Multilayer Perceptron: Two kinds of Signal</vt:lpstr>
      <vt:lpstr>Batch learning and Online Learning: Background Information</vt:lpstr>
      <vt:lpstr>Batch learning: How weights are updated</vt:lpstr>
      <vt:lpstr>Batch learning: Advantages and Disadvantages</vt:lpstr>
      <vt:lpstr>Online learning: How weights are updated</vt:lpstr>
      <vt:lpstr>Online learning: Advantages and Disadvantages</vt:lpstr>
      <vt:lpstr>Question: Batch and Online learning</vt:lpstr>
      <vt:lpstr>MLP or Neural Network: Training process </vt:lpstr>
      <vt:lpstr>MLP or Neural Network: Training process </vt:lpstr>
      <vt:lpstr>Backpropagation</vt:lpstr>
      <vt:lpstr>How Backpropagation works?</vt:lpstr>
      <vt:lpstr>PowerPoint Presentation</vt:lpstr>
      <vt:lpstr>PowerPoint Presentation</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Question: Back Propagation algorithm</vt:lpstr>
      <vt:lpstr>Question: Back Propagation algorithm</vt:lpstr>
      <vt:lpstr>PowerPoint Presentation</vt:lpstr>
      <vt:lpstr>PowerPoint Presentation</vt:lpstr>
      <vt:lpstr>PowerPoint Presentation</vt:lpstr>
      <vt:lpstr>PowerPoint Presentation</vt:lpstr>
      <vt:lpstr>PowerPoint Presentation</vt:lpstr>
      <vt:lpstr>Question: Back Propagation algorithm</vt:lpstr>
      <vt:lpstr>Question: Back Propagation algorithm</vt:lpstr>
      <vt:lpstr>Question: Back Propagation algorithm</vt:lpstr>
      <vt:lpstr>Question:Back Propagation algorithm</vt:lpstr>
      <vt:lpstr>Hessian and its role in online learning</vt:lpstr>
      <vt:lpstr>Why Do We Need the Hessian?</vt:lpstr>
      <vt:lpstr>Definition of the Hessian Matrix</vt:lpstr>
      <vt:lpstr>Role of the Hessian in Neural Network Learning</vt:lpstr>
      <vt:lpstr>Eigenvalues of the Hessian</vt:lpstr>
      <vt:lpstr>Typical Eigenvalue Composition in MLPs</vt:lpstr>
      <vt:lpstr>Factors Affecting Hessian Eigenvalues</vt:lpstr>
      <vt:lpstr>Avoidance of Nonzero-mean Inputs</vt:lpstr>
      <vt:lpstr>How to Avoid Nonzero-Mean Signals in Neural Networks</vt:lpstr>
      <vt:lpstr>Asymptotic Behavior of On-line Learning</vt:lpstr>
      <vt:lpstr>Asymptotic Behavior of On-line Learning</vt:lpstr>
      <vt:lpstr>Asymptotic Behavior of On-line Learning</vt:lpstr>
      <vt:lpstr>Question: Hessian and its role in online learning</vt:lpstr>
      <vt:lpstr>Generalization</vt:lpstr>
      <vt:lpstr>Generalization</vt:lpstr>
      <vt:lpstr>Generalization</vt:lpstr>
      <vt:lpstr>Unit-2</vt:lpstr>
      <vt:lpstr>APPROXIMATIONS OF FUNCTIONS</vt:lpstr>
      <vt:lpstr>Universal Approximation Theorem</vt:lpstr>
      <vt:lpstr>Consider a Neural Network</vt:lpstr>
      <vt:lpstr>Consider a Neural Network</vt:lpstr>
      <vt:lpstr>Universal Approximation Theorem </vt:lpstr>
      <vt:lpstr>Theoretical Insights of the Theorem</vt:lpstr>
      <vt:lpstr>Practical Limitations of UAT</vt:lpstr>
      <vt:lpstr>Question: Approximation functions</vt:lpstr>
      <vt:lpstr>Cross-validation</vt:lpstr>
      <vt:lpstr>Cross Validation</vt:lpstr>
      <vt:lpstr>Cross-Validation for Model Selection</vt:lpstr>
      <vt:lpstr>Cross Validation: Early Stopping Method for Training</vt:lpstr>
      <vt:lpstr>Variants of Cross-Validation</vt:lpstr>
      <vt:lpstr>Variants of Cross-Validation</vt:lpstr>
      <vt:lpstr>Variants of Cross-Validation</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Unit-2</vt:lpstr>
      <vt:lpstr>What is machine learning optimization?</vt:lpstr>
      <vt:lpstr>SUPERVISED LEARNING VIEWED AS AN OPTIMIZATION PROBLEM</vt:lpstr>
      <vt:lpstr>SUPERVISED LEARNING VIEWED AS AN OPTIMIZATION PROBLEM</vt:lpstr>
      <vt:lpstr>SUPERVISED LEARNING VIEWED AS AN OPTIMIZATION PROBLEM</vt:lpstr>
      <vt:lpstr>Optimization Method</vt:lpstr>
      <vt:lpstr>Gradient descent</vt:lpstr>
      <vt:lpstr>Conjugate gradient descent</vt:lpstr>
      <vt:lpstr>Taylor Series</vt:lpstr>
      <vt:lpstr>Taylor Series of Error Function</vt:lpstr>
      <vt:lpstr>Taylor Series of Error Function</vt:lpstr>
      <vt:lpstr>Taylor Series of Error Function</vt:lpstr>
      <vt:lpstr>Conjugate Gradient Method</vt:lpstr>
      <vt:lpstr>Conjugate Gradient Method</vt:lpstr>
      <vt:lpstr>Conjugate Gradient Method</vt:lpstr>
      <vt:lpstr>Conjugate Gradient Method</vt:lpstr>
      <vt:lpstr>Conjugate Gradient Method</vt:lpstr>
      <vt:lpstr>Conjugate Gradient Method</vt:lpstr>
      <vt:lpstr>Conjugate Gradient Method</vt:lpstr>
      <vt:lpstr>Conjugate Gradient Method</vt:lpstr>
      <vt:lpstr>Recap: Supervised learning Viewed as Optimization</vt:lpstr>
      <vt:lpstr>Back Ground for “Summary of the Nonlinear Conjugate-Gradient Algorithm”</vt:lpstr>
      <vt:lpstr>Back Ground for “Summary of the Nonlinear Conjugate-Gradient Algorithm”</vt:lpstr>
      <vt:lpstr>Back Ground for “Summary of the Nonlinear Conjugate-Gradient Algorithm”</vt:lpstr>
      <vt:lpstr>Summary of the Nonlinear (Nonquadratic) Conjugate-Gradient Algorithm for the Supervised Training of a Multilayer Perceptron</vt:lpstr>
      <vt:lpstr>Summary of the Nonlinear (Nonquadratic) Conjugate-Gradient Algorithm for the Supervised Training of a Multilayer Perceptron (Contd…)</vt:lpstr>
      <vt:lpstr>Summary of the Nonlinear (Nonquadratic) Conjugate-Gradient Algorithm for the Supervised Training of a Multilayer Perceptron</vt:lpstr>
      <vt:lpstr>Problem</vt:lpstr>
      <vt:lpstr>Solution</vt:lpstr>
      <vt:lpstr>PowerPoint Presentation</vt:lpstr>
      <vt:lpstr>PowerPoint Presentation</vt:lpstr>
      <vt:lpstr>PowerPoint Presentation</vt:lpstr>
      <vt:lpstr>Optimization Method</vt:lpstr>
      <vt:lpstr>Quasi Newton Method</vt:lpstr>
      <vt:lpstr>Quasi Newton Method</vt:lpstr>
      <vt:lpstr>Quasi Newton Method</vt:lpstr>
      <vt:lpstr>Quasi Newton Method</vt:lpstr>
      <vt:lpstr>Quasi Newton Method</vt:lpstr>
      <vt:lpstr>Comparison between Conjugate Gradient and Quasi Newton</vt:lpstr>
      <vt:lpstr>Question: Supervised Learning viewed as an Optimization</vt:lpstr>
      <vt:lpstr>Non-linear filtering</vt:lpstr>
      <vt:lpstr>Non-linear filtering</vt:lpstr>
      <vt:lpstr>Non-linear filtering</vt:lpstr>
      <vt:lpstr>Non-linear filtering</vt:lpstr>
      <vt:lpstr>Implicit Representation of Time</vt:lpstr>
      <vt:lpstr>Implicit Representation of Time</vt:lpstr>
      <vt:lpstr>Implicit Representation of Time</vt:lpstr>
      <vt:lpstr>Explicit Representation of Time</vt:lpstr>
      <vt:lpstr>Explicit Representation of Time</vt:lpstr>
      <vt:lpstr>Explicit Representation of Time</vt:lpstr>
      <vt:lpstr>Difference between Implicit and Explicit Representation</vt:lpstr>
      <vt:lpstr>Nonlinear filter built on a static neural network</vt:lpstr>
      <vt:lpstr>Nonlinear filter built on a static neural network</vt:lpstr>
      <vt:lpstr>Short-Term Memory Structures</vt:lpstr>
      <vt:lpstr>Short-Term Memory Structures (Contd…)</vt:lpstr>
      <vt:lpstr>Short-Term Memory (Contd…)</vt:lpstr>
      <vt:lpstr>Short-Term Memory (Contd…)</vt:lpstr>
      <vt:lpstr>Short-Term Memory (Contd…)</vt:lpstr>
      <vt:lpstr>Short-Term Memory (Contd…)</vt:lpstr>
      <vt:lpstr>Short-Term Memory (Contd…)</vt:lpstr>
      <vt:lpstr>Short-Term Memory (Contd…)</vt:lpstr>
      <vt:lpstr>Short-Term Memory (Contd…)</vt:lpstr>
      <vt:lpstr>Short-Term Memory (Contd…)</vt:lpstr>
      <vt:lpstr>Short-Term Memory</vt:lpstr>
      <vt:lpstr>Short-Term Memory (Contd…)</vt:lpstr>
      <vt:lpstr>Question: Non-linear filtering</vt:lpstr>
      <vt:lpstr>Question: Multilayer Perceptron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312</cp:revision>
  <cp:lastPrinted>2014-08-07T03:39:40Z</cp:lastPrinted>
  <dcterms:created xsi:type="dcterms:W3CDTF">2014-08-06T04:28:49Z</dcterms:created>
  <dcterms:modified xsi:type="dcterms:W3CDTF">2026-03-14T10:45:46Z</dcterms:modified>
</cp:coreProperties>
</file>